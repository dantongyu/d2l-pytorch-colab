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4" r:id="rId1"/>
  </p:sldMasterIdLst>
  <p:notesMasterIdLst>
    <p:notesMasterId r:id="rId21"/>
  </p:notesMasterIdLst>
  <p:sldIdLst>
    <p:sldId id="394" r:id="rId2"/>
    <p:sldId id="367" r:id="rId3"/>
    <p:sldId id="368" r:id="rId4"/>
    <p:sldId id="396" r:id="rId5"/>
    <p:sldId id="395" r:id="rId6"/>
    <p:sldId id="397" r:id="rId7"/>
    <p:sldId id="377" r:id="rId8"/>
    <p:sldId id="398" r:id="rId9"/>
    <p:sldId id="399" r:id="rId10"/>
    <p:sldId id="400" r:id="rId11"/>
    <p:sldId id="376" r:id="rId12"/>
    <p:sldId id="401" r:id="rId13"/>
    <p:sldId id="402" r:id="rId14"/>
    <p:sldId id="403" r:id="rId15"/>
    <p:sldId id="404" r:id="rId16"/>
    <p:sldId id="405" r:id="rId17"/>
    <p:sldId id="406" r:id="rId18"/>
    <p:sldId id="407" r:id="rId19"/>
    <p:sldId id="408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325"/>
    <p:restoredTop sz="96349"/>
  </p:normalViewPr>
  <p:slideViewPr>
    <p:cSldViewPr snapToGrid="0">
      <p:cViewPr varScale="1">
        <p:scale>
          <a:sx n="112" d="100"/>
          <a:sy n="112" d="100"/>
        </p:scale>
        <p:origin x="200" y="1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92ADDB0-B6F9-1548-A2B0-B53C6DE44FC0}" type="datetimeFigureOut">
              <a:rPr lang="en-US" smtClean="0"/>
              <a:t>7/8/26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B63A5C7-4FA3-EF44-87A7-667CA384B9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73467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707532-839C-41A2-9E71-D5288AEAE66A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118489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707532-839C-41A2-9E71-D5288AEAE66A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117099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A_{l} = g(\omega_{0\,}+ WX_{l\,}+ UA_{l-1}), where W\in R^K\times p</a:t>
            </a:r>
          </a:p>
          <a:p>
            <a:endParaRPr lang="en-US" dirty="0"/>
          </a:p>
          <a:p>
            <a:r>
              <a:rPr lang="en-US" dirty="0"/>
              <a:t>\sum_{</a:t>
            </a:r>
            <a:r>
              <a:rPr lang="en-US" dirty="0" err="1"/>
              <a:t>i</a:t>
            </a:r>
            <a:r>
              <a:rPr lang="en-US" dirty="0"/>
              <a:t>=1}^n(</a:t>
            </a:r>
            <a:r>
              <a:rPr lang="en-US" dirty="0" err="1"/>
              <a:t>y_i</a:t>
            </a:r>
            <a:r>
              <a:rPr lang="en-US" dirty="0"/>
              <a:t> – o_{il})^2 =\sum_{</a:t>
            </a:r>
            <a:r>
              <a:rPr lang="en-US" dirty="0" err="1"/>
              <a:t>i</a:t>
            </a:r>
            <a:r>
              <a:rPr lang="en-US" dirty="0"/>
              <a:t>=1}^n(</a:t>
            </a:r>
            <a:r>
              <a:rPr lang="en-US" dirty="0" err="1"/>
              <a:t>y_i</a:t>
            </a:r>
            <a:r>
              <a:rPr lang="en-US" dirty="0"/>
              <a:t> - (\beta_0 + \Beta \</a:t>
            </a:r>
            <a:r>
              <a:rPr lang="en-US" dirty="0" err="1"/>
              <a:t>cdot</a:t>
            </a:r>
            <a:r>
              <a:rPr lang="en-US" dirty="0"/>
              <a:t> g(\omega_0 +WX_{</a:t>
            </a:r>
            <a:r>
              <a:rPr lang="en-US" dirty="0" err="1"/>
              <a:t>iL</a:t>
            </a:r>
            <a:r>
              <a:rPr lang="en-US" dirty="0"/>
              <a:t>}+  UA_{I,L-1}  )))^2</a:t>
            </a:r>
          </a:p>
          <a:p>
            <a:endParaRPr lang="en-US" dirty="0"/>
          </a:p>
          <a:p>
            <a:r>
              <a:rPr lang="en-US" dirty="0"/>
              <a:t>\sum_{</a:t>
            </a:r>
            <a:r>
              <a:rPr lang="en-US" dirty="0" err="1"/>
              <a:t>i</a:t>
            </a:r>
            <a:r>
              <a:rPr lang="en-US" dirty="0"/>
              <a:t>=1}^{n}(y_{</a:t>
            </a:r>
            <a:r>
              <a:rPr lang="en-US" dirty="0" err="1"/>
              <a:t>i</a:t>
            </a:r>
            <a:r>
              <a:rPr lang="en-US" dirty="0"/>
              <a:t>} - o_{il})^{2} ==\sum_{</a:t>
            </a:r>
            <a:r>
              <a:rPr lang="en-US" dirty="0" err="1"/>
              <a:t>i</a:t>
            </a:r>
            <a:r>
              <a:rPr lang="en-US" dirty="0"/>
              <a:t>=1}^{n}\left(y_{</a:t>
            </a:r>
            <a:r>
              <a:rPr lang="en-US" dirty="0" err="1"/>
              <a:t>i</a:t>
            </a:r>
            <a:r>
              <a:rPr lang="en-US" dirty="0"/>
              <a:t>\,}-\left(\right)\beta_{0} +B \</a:t>
            </a:r>
            <a:r>
              <a:rPr lang="en-US" dirty="0" err="1"/>
              <a:t>cdot</a:t>
            </a:r>
            <a:r>
              <a:rPr lang="en-US" dirty="0"/>
              <a:t> g(\omega_{0} +WX_{</a:t>
            </a:r>
            <a:r>
              <a:rPr lang="en-US" dirty="0" err="1"/>
              <a:t>iL</a:t>
            </a:r>
            <a:r>
              <a:rPr lang="en-US" dirty="0"/>
              <a:t>}+  UA_{I,L-1})\right)^{2}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707532-839C-41A2-9E71-D5288AEAE66A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480165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707532-839C-41A2-9E71-D5288AEAE66A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076256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707532-839C-41A2-9E71-D5288AEAE66A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98610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E311D2-02E7-FA1D-0A85-230B24410E3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>
            <a:normAutofit/>
          </a:bodyPr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638108B-60CF-D53D-0BD2-C0B04A0343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A6F872-B9B6-6EEB-7392-350301E413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DBDF95-EB8E-004C-8A01-68A493AB7DA7}" type="datetimeFigureOut">
              <a:rPr lang="en-US" smtClean="0"/>
              <a:t>7/8/26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93049C-F362-B2C0-33E3-E09E4F2A1A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F01A36-8592-996B-C083-4D0B517639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7509D9-0BFE-E743-81ED-98E96D25BE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37762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9D7BF1-51D2-E9F0-3D71-4F1831B10D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C5172C-4218-FCA1-9A91-6116F7CEC2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B6518F-B3F3-B868-D2EF-E1360F73E7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DBDF95-EB8E-004C-8A01-68A493AB7DA7}" type="datetimeFigureOut">
              <a:rPr lang="en-US" smtClean="0"/>
              <a:t>7/8/26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91A0C5-F7B8-BD5E-22E7-DEDDF0E491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15BEF1-CCBA-F49C-70CD-CBE94FE72E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7509D9-0BFE-E743-81ED-98E96D25BE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25137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E54D58-D0DB-6247-A9F4-CCD816F538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>
            <a:normAutofit/>
          </a:bodyPr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39D700-9CF8-8DF2-78E6-9B42420E94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EDEB1C-6E11-3307-2E04-47BBBAEEF9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DBDF95-EB8E-004C-8A01-68A493AB7DA7}" type="datetimeFigureOut">
              <a:rPr lang="en-US" smtClean="0"/>
              <a:t>7/8/26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3B71C1-6AB4-098D-1A15-3754570B56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C6E379-D4B4-BF8F-4FB1-2CCA9E55B9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7509D9-0BFE-E743-81ED-98E96D25BE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92194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9C08FA-2619-B0C7-6454-5BE5103A12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8189C2-D28B-8EF7-E3AB-DDF12A0F5FF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8F2E3E5-291A-9C13-B02B-ECA7834A77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8D730B-41EE-B9A8-4DA4-8AF3BF3029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DBDF95-EB8E-004C-8A01-68A493AB7DA7}" type="datetimeFigureOut">
              <a:rPr lang="en-US" smtClean="0"/>
              <a:t>7/8/26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7156F1-CF65-9B42-96AC-AD0B12126F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A042C8-D747-1896-E464-F12EEFBAD6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7509D9-0BFE-E743-81ED-98E96D25BE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93720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C8EC06-09B3-1ED8-51EF-EE52031A97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8764E7-1983-C5BC-C251-C698B41283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7B6E559-1954-4399-30A3-25AB5B4E53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8A6F4E1-682F-8537-4F2E-C0D05C367DC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7AC6FAE-66B8-C776-71C3-0AABB081C4E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D8EEDF7-0EC1-7B99-91A9-0BE7C9F3F1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DBDF95-EB8E-004C-8A01-68A493AB7DA7}" type="datetimeFigureOut">
              <a:rPr lang="en-US" smtClean="0"/>
              <a:t>7/8/26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74C2118-B69F-61AC-1F82-1099A0D100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CF73213-EF78-DACB-0999-07F4C4B968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7509D9-0BFE-E743-81ED-98E96D25BE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74494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429F49-FD80-6869-734B-753867C744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D51069D-2A28-14C6-5B42-75F3DE619E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DBDF95-EB8E-004C-8A01-68A493AB7DA7}" type="datetimeFigureOut">
              <a:rPr lang="en-US" smtClean="0"/>
              <a:t>7/8/26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72D965B-EA3D-87A2-B21F-681F295A67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1A93A8-74A5-D14F-B1E7-8CFE37AFD5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7509D9-0BFE-E743-81ED-98E96D25BE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65871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74D80CE-C61A-35CB-3233-D1454DAB6B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DBDF95-EB8E-004C-8A01-68A493AB7DA7}" type="datetimeFigureOut">
              <a:rPr lang="en-US" smtClean="0"/>
              <a:t>7/8/26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C623566-D12B-139B-81A2-87A853CC8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173B62-C7E3-37A8-0E18-66CAB3506B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7509D9-0BFE-E743-81ED-98E96D25BE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13882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3421DE-50FD-42DE-5363-BA6BBB805E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E83DEE-CF59-0271-4FD4-F5F622BF5B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0D08AE2-2F21-D182-94A7-939B43BDBF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CE13FFD-E9A2-F66B-79AE-81989BD578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DBDF95-EB8E-004C-8A01-68A493AB7DA7}" type="datetimeFigureOut">
              <a:rPr lang="en-US" smtClean="0"/>
              <a:t>7/8/26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5F65E1-1318-1A42-BEE1-F7EC41AE13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0A2A09-F683-B0AC-15E5-26A48891CE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7509D9-0BFE-E743-81ED-98E96D25BE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66898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F7D3D0-D129-2BC7-A4C4-5945D5B4C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CEB64A4-3D17-BBF0-1B2C-2D7559CA944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ACF3D10-A695-08AF-C0D4-B7C988F1405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1F0F3F0-4C62-2CDF-529F-B06A6AF55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DBDF95-EB8E-004C-8A01-68A493AB7DA7}" type="datetimeFigureOut">
              <a:rPr lang="en-US" smtClean="0"/>
              <a:t>7/8/26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B8C834-BF2D-6C2C-8916-B51C96D0CC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9BBF08-64C3-8871-1161-9A0E6884B2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7509D9-0BFE-E743-81ED-98E96D25BE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0918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4BE9D3-FFFB-24A1-98C9-3942CA7A3D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BF4375C-C2E0-C1B8-5A7E-E3298FF5113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C8FCEA-687C-E816-A870-DE0820EF3C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DBDF95-EB8E-004C-8A01-68A493AB7DA7}" type="datetimeFigureOut">
              <a:rPr lang="en-US" smtClean="0"/>
              <a:t>7/8/26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35FDF3-6558-BB97-C94A-C1AE7556A0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98F621-DB7F-CDCD-19BF-19EC55C789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7509D9-0BFE-E743-81ED-98E96D25BE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03510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C3AF770-388E-3510-436E-ABAC02BE0B6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117FF7C-F5C9-DA74-5B62-9E4E56F34FD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8C6E6F-58D3-7D48-DFFC-9AB67A262E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DBDF95-EB8E-004C-8A01-68A493AB7DA7}" type="datetimeFigureOut">
              <a:rPr lang="en-US" smtClean="0"/>
              <a:t>7/8/26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08E5E5-7A83-7A7A-001A-0F41D1B4DA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5CB406-05AF-ADC7-965B-562C1B7C37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7509D9-0BFE-E743-81ED-98E96D25BE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72664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9162351-22CC-4462-7F9F-0DE1A9FECF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B1C9DE-9403-D2EB-E5E3-A9E88B631F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E68E92-06EA-E128-C202-CB39778CF16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CDBDF95-EB8E-004C-8A01-68A493AB7DA7}" type="datetimeFigureOut">
              <a:rPr lang="en-US" smtClean="0"/>
              <a:t>7/8/26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9C0AD7-8C75-C704-D7EA-BE9F09140E9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FF270F-CE63-966E-84DE-F190C44C42E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D7509D9-0BFE-E743-81ED-98E96D25BE4C}" type="slidenum">
              <a:rPr lang="en-US" smtClean="0"/>
              <a:t>‹#›</a:t>
            </a:fld>
            <a:endParaRPr lang="en-US"/>
          </a:p>
        </p:txBody>
      </p:sp>
      <p:sp>
        <p:nvSpPr>
          <p:cNvPr id="9001" name="Accent Bar"/>
          <p:cNvSpPr/>
          <p:nvPr/>
        </p:nvSpPr>
        <p:spPr>
          <a:xfrm>
            <a:off x="0" y="6794500"/>
            <a:ext cx="12192000" cy="63500"/>
          </a:xfrm>
          <a:prstGeom prst="rect">
            <a:avLst/>
          </a:prstGeom>
          <a:solidFill>
            <a:srgbClr val="3B6E8F"/>
          </a:solidFill>
          <a:ln>
            <a:noFill/>
          </a:ln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1143486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rgbClr val="2F4858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rgbClr val="262523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paperswithcode.com/sota/sentiment-analysis-on-imdb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2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2C41852-89C0-D645-96D5-9AD4D45FBC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856935"/>
            <a:ext cx="9144000" cy="5144130"/>
          </a:xfrm>
          <a:prstGeom prst="rect">
            <a:avLst/>
          </a:prstGeom>
        </p:spPr>
      </p:pic>
      <p:sp>
        <p:nvSpPr>
          <p:cNvPr id="5" name="Title 2">
            <a:extLst>
              <a:ext uri="{FF2B5EF4-FFF2-40B4-BE49-F238E27FC236}">
                <a16:creationId xmlns:a16="http://schemas.microsoft.com/office/drawing/2014/main" id="{42CB744A-98BD-02FF-7929-981E3BEC98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545" y="-86819"/>
            <a:ext cx="10515600" cy="1325563"/>
          </a:xfrm>
        </p:spPr>
        <p:txBody>
          <a:bodyPr/>
          <a:lstStyle/>
          <a:p>
            <a:r>
              <a:rPr lang="en-US" dirty="0"/>
              <a:t>Recurrent Neural Networks</a:t>
            </a:r>
          </a:p>
        </p:txBody>
      </p:sp>
    </p:spTree>
    <p:extLst>
      <p:ext uri="{BB962C8B-B14F-4D97-AF65-F5344CB8AC3E}">
        <p14:creationId xmlns:p14="http://schemas.microsoft.com/office/powerpoint/2010/main" val="24806777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7EF9C5F-368B-634A-B642-93E3B0E60A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914400"/>
            <a:ext cx="9144000" cy="5144130"/>
          </a:xfrm>
          <a:prstGeom prst="rect">
            <a:avLst/>
          </a:prstGeom>
        </p:spPr>
      </p:pic>
      <p:sp>
        <p:nvSpPr>
          <p:cNvPr id="5" name="Title 2">
            <a:extLst>
              <a:ext uri="{FF2B5EF4-FFF2-40B4-BE49-F238E27FC236}">
                <a16:creationId xmlns:a16="http://schemas.microsoft.com/office/drawing/2014/main" id="{A94242A1-8B70-273C-AE9E-BF771D50BF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Recurrent Neural Networks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8713B4-1198-C835-D783-5C7040D7E2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73700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524000" y="857070"/>
            <a:ext cx="9144000" cy="5143482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DA45DE57-04FA-5A69-DACA-0401EFA8A0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Recurrent Neural Networks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D8106C2-C479-3482-A231-27E0DCAD71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38178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3975" rIns="0" bIns="0" rtlCol="0" anchor="ctr">
            <a:normAutofit/>
            <a:scene3d>
              <a:camera prst="orthographicFront"/>
              <a:lightRig rig="threePt" dir="t">
                <a:rot lat="0" lon="0" rev="4800000"/>
              </a:lightRig>
            </a:scene3d>
            <a:sp3d prstMaterial="matte">
              <a:bevelT w="50800" h="10160"/>
            </a:sp3d>
          </a:bodyPr>
          <a:lstStyle/>
          <a:p>
            <a:pPr marL="25168">
              <a:spcBef>
                <a:spcPts val="268"/>
              </a:spcBef>
            </a:pPr>
            <a:r>
              <a:rPr spc="109" dirty="0"/>
              <a:t>Recurrent</a:t>
            </a:r>
            <a:r>
              <a:rPr spc="495" dirty="0"/>
              <a:t> </a:t>
            </a:r>
            <a:r>
              <a:rPr dirty="0"/>
              <a:t>Neural</a:t>
            </a:r>
            <a:r>
              <a:rPr spc="495" dirty="0"/>
              <a:t> </a:t>
            </a:r>
            <a:r>
              <a:rPr spc="-20" dirty="0"/>
              <a:t>Networks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75B2F29-2C16-3510-BECC-AC5B9AAD42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FCB616-2C4B-6737-2FA4-DCE98D0EE0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12225-5612-419B-A8D5-4B8EEE4C217E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3" name="object 3"/>
          <p:cNvSpPr txBox="1"/>
          <p:nvPr/>
        </p:nvSpPr>
        <p:spPr>
          <a:xfrm>
            <a:off x="1006367" y="1114097"/>
            <a:ext cx="9440916" cy="5386430"/>
          </a:xfrm>
          <a:prstGeom prst="rect">
            <a:avLst/>
          </a:prstGeom>
        </p:spPr>
        <p:txBody>
          <a:bodyPr vert="horz" wrap="square" lIns="0" tIns="52851" rIns="0" bIns="0" rtlCol="0">
            <a:normAutofit/>
          </a:bodyPr>
          <a:lstStyle/>
          <a:p>
            <a:pPr marL="100670">
              <a:spcBef>
                <a:spcPts val="416"/>
              </a:spcBef>
            </a:pPr>
            <a:r>
              <a:rPr sz="2400" spc="-109" dirty="0">
                <a:latin typeface="Source Sans Pro"/>
                <a:cs typeface="Source Sans Pro"/>
              </a:rPr>
              <a:t>Often</a:t>
            </a:r>
            <a:r>
              <a:rPr sz="2400" spc="-30" dirty="0">
                <a:latin typeface="Source Sans Pro"/>
                <a:cs typeface="Source Sans Pro"/>
              </a:rPr>
              <a:t> </a:t>
            </a:r>
            <a:r>
              <a:rPr sz="2400" spc="-89" dirty="0">
                <a:latin typeface="Source Sans Pro"/>
                <a:cs typeface="Source Sans Pro"/>
              </a:rPr>
              <a:t>data</a:t>
            </a:r>
            <a:r>
              <a:rPr sz="2400" dirty="0">
                <a:latin typeface="Source Sans Pro"/>
                <a:cs typeface="Source Sans Pro"/>
              </a:rPr>
              <a:t> </a:t>
            </a:r>
            <a:r>
              <a:rPr sz="2400" spc="-139" dirty="0">
                <a:latin typeface="Source Sans Pro"/>
                <a:cs typeface="Source Sans Pro"/>
              </a:rPr>
              <a:t>arise</a:t>
            </a:r>
            <a:r>
              <a:rPr sz="2400" dirty="0">
                <a:latin typeface="Source Sans Pro"/>
                <a:cs typeface="Source Sans Pro"/>
              </a:rPr>
              <a:t> </a:t>
            </a:r>
            <a:r>
              <a:rPr sz="2400" spc="-198" dirty="0">
                <a:latin typeface="Source Sans Pro"/>
                <a:cs typeface="Source Sans Pro"/>
              </a:rPr>
              <a:t>as</a:t>
            </a:r>
            <a:r>
              <a:rPr sz="2400" spc="30" dirty="0">
                <a:latin typeface="Source Sans Pro"/>
                <a:cs typeface="Source Sans Pro"/>
              </a:rPr>
              <a:t> </a:t>
            </a:r>
            <a:r>
              <a:rPr sz="2400" spc="-20" dirty="0">
                <a:latin typeface="Source Sans Pro"/>
                <a:cs typeface="Source Sans Pro"/>
              </a:rPr>
              <a:t>sequences:</a:t>
            </a:r>
            <a:endParaRPr sz="2400" dirty="0">
              <a:latin typeface="Source Sans Pro"/>
              <a:cs typeface="Source Sans Pro"/>
            </a:endParaRPr>
          </a:p>
          <a:p>
            <a:pPr marL="649324" marR="449241" indent="-275585">
              <a:lnSpc>
                <a:spcPct val="102600"/>
              </a:lnSpc>
              <a:spcBef>
                <a:spcPts val="149"/>
              </a:spcBef>
              <a:buClr>
                <a:srgbClr val="3333B3"/>
              </a:buClr>
              <a:buFont typeface="Menlo"/>
              <a:buChar char="•"/>
              <a:tabLst>
                <a:tab pos="650582" algn="l"/>
              </a:tabLst>
            </a:pPr>
            <a:r>
              <a:rPr sz="2400" spc="-178" dirty="0">
                <a:latin typeface="Source Sans Pro"/>
                <a:cs typeface="Source Sans Pro"/>
              </a:rPr>
              <a:t>Documents</a:t>
            </a:r>
            <a:r>
              <a:rPr sz="2400" spc="40" dirty="0">
                <a:latin typeface="Source Sans Pro"/>
                <a:cs typeface="Source Sans Pro"/>
              </a:rPr>
              <a:t> </a:t>
            </a:r>
            <a:r>
              <a:rPr sz="2400" spc="-139" dirty="0">
                <a:latin typeface="Source Sans Pro"/>
                <a:cs typeface="Source Sans Pro"/>
              </a:rPr>
              <a:t>are</a:t>
            </a:r>
            <a:r>
              <a:rPr sz="2400" spc="50" dirty="0">
                <a:latin typeface="Source Sans Pro"/>
                <a:cs typeface="Source Sans Pro"/>
              </a:rPr>
              <a:t> </a:t>
            </a:r>
            <a:r>
              <a:rPr sz="2400" spc="-238" dirty="0">
                <a:latin typeface="Source Sans Pro"/>
                <a:cs typeface="Source Sans Pro"/>
              </a:rPr>
              <a:t>sequences</a:t>
            </a:r>
            <a:r>
              <a:rPr sz="2400" spc="50" dirty="0">
                <a:latin typeface="Source Sans Pro"/>
                <a:cs typeface="Source Sans Pro"/>
              </a:rPr>
              <a:t> </a:t>
            </a:r>
            <a:r>
              <a:rPr sz="2400" spc="-208" dirty="0">
                <a:latin typeface="Source Sans Pro"/>
                <a:cs typeface="Source Sans Pro"/>
              </a:rPr>
              <a:t>of</a:t>
            </a:r>
            <a:r>
              <a:rPr sz="2400" spc="40" dirty="0">
                <a:latin typeface="Source Sans Pro"/>
                <a:cs typeface="Source Sans Pro"/>
              </a:rPr>
              <a:t> </a:t>
            </a:r>
            <a:r>
              <a:rPr sz="2400" spc="-178" dirty="0">
                <a:latin typeface="Source Sans Pro"/>
                <a:cs typeface="Source Sans Pro"/>
              </a:rPr>
              <a:t>words,</a:t>
            </a:r>
            <a:r>
              <a:rPr sz="2400" spc="50" dirty="0">
                <a:latin typeface="Source Sans Pro"/>
                <a:cs typeface="Source Sans Pro"/>
              </a:rPr>
              <a:t> </a:t>
            </a:r>
            <a:r>
              <a:rPr sz="2400" spc="-129" dirty="0">
                <a:latin typeface="Source Sans Pro"/>
                <a:cs typeface="Source Sans Pro"/>
              </a:rPr>
              <a:t>and</a:t>
            </a:r>
            <a:r>
              <a:rPr sz="2400" spc="50" dirty="0">
                <a:latin typeface="Source Sans Pro"/>
                <a:cs typeface="Source Sans Pro"/>
              </a:rPr>
              <a:t> </a:t>
            </a:r>
            <a:r>
              <a:rPr sz="2400" spc="-89" dirty="0">
                <a:latin typeface="Source Sans Pro"/>
                <a:cs typeface="Source Sans Pro"/>
              </a:rPr>
              <a:t>their</a:t>
            </a:r>
            <a:r>
              <a:rPr sz="2400" spc="50" dirty="0">
                <a:latin typeface="Source Sans Pro"/>
                <a:cs typeface="Source Sans Pro"/>
              </a:rPr>
              <a:t> </a:t>
            </a:r>
            <a:r>
              <a:rPr sz="2400" spc="-89" dirty="0">
                <a:latin typeface="Source Sans Pro"/>
                <a:cs typeface="Source Sans Pro"/>
              </a:rPr>
              <a:t>relative </a:t>
            </a:r>
            <a:r>
              <a:rPr sz="2400" spc="-168" dirty="0">
                <a:latin typeface="Source Sans Pro"/>
                <a:cs typeface="Source Sans Pro"/>
              </a:rPr>
              <a:t>positions</a:t>
            </a:r>
            <a:r>
              <a:rPr sz="2400" spc="79" dirty="0">
                <a:latin typeface="Source Sans Pro"/>
                <a:cs typeface="Source Sans Pro"/>
              </a:rPr>
              <a:t> </a:t>
            </a:r>
            <a:r>
              <a:rPr sz="2400" spc="-168" dirty="0">
                <a:latin typeface="Source Sans Pro"/>
                <a:cs typeface="Source Sans Pro"/>
              </a:rPr>
              <a:t>have</a:t>
            </a:r>
            <a:r>
              <a:rPr sz="2400" spc="89" dirty="0">
                <a:latin typeface="Source Sans Pro"/>
                <a:cs typeface="Source Sans Pro"/>
              </a:rPr>
              <a:t> </a:t>
            </a:r>
            <a:r>
              <a:rPr sz="2400" spc="-20" dirty="0">
                <a:latin typeface="Source Sans Pro"/>
                <a:cs typeface="Source Sans Pro"/>
              </a:rPr>
              <a:t>meaning.</a:t>
            </a:r>
            <a:endParaRPr sz="2400" dirty="0">
              <a:latin typeface="Source Sans Pro"/>
              <a:cs typeface="Source Sans Pro"/>
            </a:endParaRPr>
          </a:p>
          <a:p>
            <a:pPr marL="649324" indent="-275585">
              <a:spcBef>
                <a:spcPts val="139"/>
              </a:spcBef>
              <a:buClr>
                <a:srgbClr val="3333B3"/>
              </a:buClr>
              <a:buFont typeface="Menlo"/>
              <a:buChar char="•"/>
              <a:tabLst>
                <a:tab pos="650582" algn="l"/>
              </a:tabLst>
            </a:pPr>
            <a:r>
              <a:rPr sz="2400" spc="-198" dirty="0">
                <a:latin typeface="Source Sans Pro"/>
                <a:cs typeface="Source Sans Pro"/>
              </a:rPr>
              <a:t>Time-series</a:t>
            </a:r>
            <a:r>
              <a:rPr sz="2400" spc="20" dirty="0">
                <a:latin typeface="Source Sans Pro"/>
                <a:cs typeface="Source Sans Pro"/>
              </a:rPr>
              <a:t> </a:t>
            </a:r>
            <a:r>
              <a:rPr sz="2400" spc="-208" dirty="0">
                <a:latin typeface="Source Sans Pro"/>
                <a:cs typeface="Source Sans Pro"/>
              </a:rPr>
              <a:t>such</a:t>
            </a:r>
            <a:r>
              <a:rPr sz="2400" spc="30" dirty="0">
                <a:latin typeface="Source Sans Pro"/>
                <a:cs typeface="Source Sans Pro"/>
              </a:rPr>
              <a:t> </a:t>
            </a:r>
            <a:r>
              <a:rPr sz="2400" spc="-198" dirty="0">
                <a:latin typeface="Source Sans Pro"/>
                <a:cs typeface="Source Sans Pro"/>
              </a:rPr>
              <a:t>as</a:t>
            </a:r>
            <a:r>
              <a:rPr sz="2400" spc="30" dirty="0">
                <a:latin typeface="Source Sans Pro"/>
                <a:cs typeface="Source Sans Pro"/>
              </a:rPr>
              <a:t> </a:t>
            </a:r>
            <a:r>
              <a:rPr sz="2400" spc="-149" dirty="0">
                <a:latin typeface="Source Sans Pro"/>
                <a:cs typeface="Source Sans Pro"/>
              </a:rPr>
              <a:t>weather</a:t>
            </a:r>
            <a:r>
              <a:rPr sz="2400" spc="30" dirty="0">
                <a:latin typeface="Source Sans Pro"/>
                <a:cs typeface="Source Sans Pro"/>
              </a:rPr>
              <a:t> </a:t>
            </a:r>
            <a:r>
              <a:rPr sz="2400" spc="-89" dirty="0">
                <a:latin typeface="Source Sans Pro"/>
                <a:cs typeface="Source Sans Pro"/>
              </a:rPr>
              <a:t>data</a:t>
            </a:r>
            <a:r>
              <a:rPr sz="2400" spc="20" dirty="0">
                <a:latin typeface="Source Sans Pro"/>
                <a:cs typeface="Source Sans Pro"/>
              </a:rPr>
              <a:t> </a:t>
            </a:r>
            <a:r>
              <a:rPr sz="2400" spc="-119" dirty="0">
                <a:latin typeface="Source Sans Pro"/>
                <a:cs typeface="Source Sans Pro"/>
              </a:rPr>
              <a:t>or</a:t>
            </a:r>
            <a:r>
              <a:rPr sz="2400" spc="30" dirty="0">
                <a:latin typeface="Source Sans Pro"/>
                <a:cs typeface="Source Sans Pro"/>
              </a:rPr>
              <a:t> </a:t>
            </a:r>
            <a:r>
              <a:rPr sz="2400" spc="-109" dirty="0">
                <a:latin typeface="Source Sans Pro"/>
                <a:cs typeface="Source Sans Pro"/>
              </a:rPr>
              <a:t>financial</a:t>
            </a:r>
            <a:r>
              <a:rPr sz="2400" spc="30" dirty="0">
                <a:latin typeface="Source Sans Pro"/>
                <a:cs typeface="Source Sans Pro"/>
              </a:rPr>
              <a:t> </a:t>
            </a:r>
            <a:r>
              <a:rPr sz="2400" spc="-20" dirty="0">
                <a:latin typeface="Source Sans Pro"/>
                <a:cs typeface="Source Sans Pro"/>
              </a:rPr>
              <a:t>indices.</a:t>
            </a:r>
            <a:endParaRPr sz="2400" dirty="0">
              <a:latin typeface="Source Sans Pro"/>
              <a:cs typeface="Source Sans Pro"/>
            </a:endParaRPr>
          </a:p>
          <a:p>
            <a:pPr marL="649324" indent="-275585">
              <a:spcBef>
                <a:spcPts val="129"/>
              </a:spcBef>
              <a:buClr>
                <a:srgbClr val="3333B3"/>
              </a:buClr>
              <a:buFont typeface="Menlo"/>
              <a:buChar char="•"/>
              <a:tabLst>
                <a:tab pos="650582" algn="l"/>
              </a:tabLst>
            </a:pPr>
            <a:r>
              <a:rPr sz="2400" spc="-149" dirty="0">
                <a:latin typeface="Source Sans Pro"/>
                <a:cs typeface="Source Sans Pro"/>
              </a:rPr>
              <a:t>Recorded</a:t>
            </a:r>
            <a:r>
              <a:rPr sz="2400" spc="40" dirty="0">
                <a:latin typeface="Source Sans Pro"/>
                <a:cs typeface="Source Sans Pro"/>
              </a:rPr>
              <a:t> </a:t>
            </a:r>
            <a:r>
              <a:rPr sz="2400" spc="-226" dirty="0">
                <a:latin typeface="Source Sans Pro"/>
                <a:cs typeface="Source Sans Pro"/>
              </a:rPr>
              <a:t>speech</a:t>
            </a:r>
            <a:r>
              <a:rPr sz="2400" spc="50" dirty="0">
                <a:latin typeface="Source Sans Pro"/>
                <a:cs typeface="Source Sans Pro"/>
              </a:rPr>
              <a:t> </a:t>
            </a:r>
            <a:r>
              <a:rPr sz="2400" spc="-119" dirty="0">
                <a:latin typeface="Source Sans Pro"/>
                <a:cs typeface="Source Sans Pro"/>
              </a:rPr>
              <a:t>or</a:t>
            </a:r>
            <a:r>
              <a:rPr sz="2400" spc="40" dirty="0">
                <a:latin typeface="Source Sans Pro"/>
                <a:cs typeface="Source Sans Pro"/>
              </a:rPr>
              <a:t> </a:t>
            </a:r>
            <a:r>
              <a:rPr sz="2400" spc="-20" dirty="0">
                <a:latin typeface="Source Sans Pro"/>
                <a:cs typeface="Source Sans Pro"/>
              </a:rPr>
              <a:t>music.</a:t>
            </a:r>
            <a:endParaRPr sz="2400" dirty="0">
              <a:latin typeface="Source Sans Pro"/>
              <a:cs typeface="Source Sans Pro"/>
            </a:endParaRPr>
          </a:p>
          <a:p>
            <a:pPr marL="649324" indent="-275585">
              <a:spcBef>
                <a:spcPts val="129"/>
              </a:spcBef>
              <a:buClr>
                <a:srgbClr val="3333B3"/>
              </a:buClr>
              <a:buFont typeface="Menlo"/>
              <a:buChar char="•"/>
              <a:tabLst>
                <a:tab pos="650582" algn="l"/>
              </a:tabLst>
            </a:pPr>
            <a:r>
              <a:rPr sz="2400" spc="-99" dirty="0">
                <a:latin typeface="Source Sans Pro"/>
                <a:cs typeface="Source Sans Pro"/>
              </a:rPr>
              <a:t>Handwriting,</a:t>
            </a:r>
            <a:r>
              <a:rPr sz="2400" spc="20" dirty="0">
                <a:latin typeface="Source Sans Pro"/>
                <a:cs typeface="Source Sans Pro"/>
              </a:rPr>
              <a:t> </a:t>
            </a:r>
            <a:r>
              <a:rPr sz="2400" spc="-208" dirty="0">
                <a:latin typeface="Source Sans Pro"/>
                <a:cs typeface="Source Sans Pro"/>
              </a:rPr>
              <a:t>such</a:t>
            </a:r>
            <a:r>
              <a:rPr sz="2400" spc="30" dirty="0">
                <a:latin typeface="Source Sans Pro"/>
                <a:cs typeface="Source Sans Pro"/>
              </a:rPr>
              <a:t> </a:t>
            </a:r>
            <a:r>
              <a:rPr sz="2400" spc="-198" dirty="0">
                <a:latin typeface="Source Sans Pro"/>
                <a:cs typeface="Source Sans Pro"/>
              </a:rPr>
              <a:t>as</a:t>
            </a:r>
            <a:r>
              <a:rPr sz="2400" spc="30" dirty="0">
                <a:latin typeface="Source Sans Pro"/>
                <a:cs typeface="Source Sans Pro"/>
              </a:rPr>
              <a:t> </a:t>
            </a:r>
            <a:r>
              <a:rPr sz="2400" spc="-159" dirty="0">
                <a:latin typeface="Source Sans Pro"/>
                <a:cs typeface="Source Sans Pro"/>
              </a:rPr>
              <a:t>doctor’s</a:t>
            </a:r>
            <a:r>
              <a:rPr sz="2400" spc="30" dirty="0">
                <a:latin typeface="Source Sans Pro"/>
                <a:cs typeface="Source Sans Pro"/>
              </a:rPr>
              <a:t> </a:t>
            </a:r>
            <a:r>
              <a:rPr sz="2400" spc="-20" dirty="0">
                <a:latin typeface="Source Sans Pro"/>
                <a:cs typeface="Source Sans Pro"/>
              </a:rPr>
              <a:t>notes.</a:t>
            </a:r>
            <a:endParaRPr sz="2400" dirty="0">
              <a:latin typeface="Source Sans Pro"/>
              <a:cs typeface="Source Sans Pro"/>
            </a:endParaRPr>
          </a:p>
          <a:p>
            <a:pPr marL="100670" marR="459309">
              <a:lnSpc>
                <a:spcPct val="102600"/>
              </a:lnSpc>
              <a:spcBef>
                <a:spcPts val="149"/>
              </a:spcBef>
            </a:pPr>
            <a:r>
              <a:rPr sz="2400" dirty="0">
                <a:latin typeface="Source Sans Pro"/>
                <a:cs typeface="Source Sans Pro"/>
              </a:rPr>
              <a:t>RNNs</a:t>
            </a:r>
            <a:r>
              <a:rPr sz="2400" spc="-59" dirty="0">
                <a:latin typeface="Source Sans Pro"/>
                <a:cs typeface="Source Sans Pro"/>
              </a:rPr>
              <a:t> </a:t>
            </a:r>
            <a:r>
              <a:rPr sz="2400" spc="-109" dirty="0">
                <a:latin typeface="Source Sans Pro"/>
                <a:cs typeface="Source Sans Pro"/>
              </a:rPr>
              <a:t>build</a:t>
            </a:r>
            <a:r>
              <a:rPr sz="2400" dirty="0">
                <a:latin typeface="Source Sans Pro"/>
                <a:cs typeface="Source Sans Pro"/>
              </a:rPr>
              <a:t> </a:t>
            </a:r>
            <a:r>
              <a:rPr sz="2400" spc="-208" dirty="0">
                <a:latin typeface="Source Sans Pro"/>
                <a:cs typeface="Source Sans Pro"/>
              </a:rPr>
              <a:t>models</a:t>
            </a:r>
            <a:r>
              <a:rPr sz="2400" spc="30" dirty="0">
                <a:latin typeface="Source Sans Pro"/>
                <a:cs typeface="Source Sans Pro"/>
              </a:rPr>
              <a:t> </a:t>
            </a:r>
            <a:r>
              <a:rPr sz="2400" spc="-20" dirty="0">
                <a:latin typeface="Source Sans Pro"/>
                <a:cs typeface="Source Sans Pro"/>
              </a:rPr>
              <a:t>that</a:t>
            </a:r>
            <a:r>
              <a:rPr sz="2400" spc="-10" dirty="0">
                <a:latin typeface="Source Sans Pro"/>
                <a:cs typeface="Source Sans Pro"/>
              </a:rPr>
              <a:t> </a:t>
            </a:r>
            <a:r>
              <a:rPr sz="2400" spc="-129" dirty="0">
                <a:latin typeface="Source Sans Pro"/>
                <a:cs typeface="Source Sans Pro"/>
              </a:rPr>
              <a:t>take</a:t>
            </a:r>
            <a:r>
              <a:rPr sz="2400" spc="-10" dirty="0">
                <a:latin typeface="Source Sans Pro"/>
                <a:cs typeface="Source Sans Pro"/>
              </a:rPr>
              <a:t> </a:t>
            </a:r>
            <a:r>
              <a:rPr sz="2400" spc="-109" dirty="0">
                <a:latin typeface="Source Sans Pro"/>
                <a:cs typeface="Source Sans Pro"/>
              </a:rPr>
              <a:t>into</a:t>
            </a:r>
            <a:r>
              <a:rPr sz="2400" spc="-10" dirty="0">
                <a:latin typeface="Source Sans Pro"/>
                <a:cs typeface="Source Sans Pro"/>
              </a:rPr>
              <a:t> </a:t>
            </a:r>
            <a:r>
              <a:rPr sz="2400" spc="-168" dirty="0">
                <a:latin typeface="Source Sans Pro"/>
                <a:cs typeface="Source Sans Pro"/>
              </a:rPr>
              <a:t>account</a:t>
            </a:r>
            <a:r>
              <a:rPr sz="2400" dirty="0">
                <a:latin typeface="Source Sans Pro"/>
                <a:cs typeface="Source Sans Pro"/>
              </a:rPr>
              <a:t> </a:t>
            </a:r>
            <a:r>
              <a:rPr sz="2400" spc="-99" dirty="0">
                <a:latin typeface="Source Sans Pro"/>
                <a:cs typeface="Source Sans Pro"/>
              </a:rPr>
              <a:t>this</a:t>
            </a:r>
            <a:r>
              <a:rPr sz="2400" spc="-10" dirty="0">
                <a:latin typeface="Source Sans Pro"/>
                <a:cs typeface="Source Sans Pro"/>
              </a:rPr>
              <a:t> </a:t>
            </a:r>
            <a:r>
              <a:rPr sz="2400" spc="-139" dirty="0">
                <a:latin typeface="Source Sans Pro"/>
                <a:cs typeface="Source Sans Pro"/>
              </a:rPr>
              <a:t>sequential </a:t>
            </a:r>
            <a:r>
              <a:rPr sz="2400" spc="-119" dirty="0">
                <a:latin typeface="Source Sans Pro"/>
                <a:cs typeface="Source Sans Pro"/>
              </a:rPr>
              <a:t>nature</a:t>
            </a:r>
            <a:r>
              <a:rPr sz="2400" spc="-59" dirty="0">
                <a:latin typeface="Source Sans Pro"/>
                <a:cs typeface="Source Sans Pro"/>
              </a:rPr>
              <a:t> </a:t>
            </a:r>
            <a:r>
              <a:rPr sz="2400" spc="-208" dirty="0">
                <a:latin typeface="Source Sans Pro"/>
                <a:cs typeface="Source Sans Pro"/>
              </a:rPr>
              <a:t>of</a:t>
            </a:r>
            <a:r>
              <a:rPr sz="2400" spc="30" dirty="0">
                <a:latin typeface="Source Sans Pro"/>
                <a:cs typeface="Source Sans Pro"/>
              </a:rPr>
              <a:t> </a:t>
            </a:r>
            <a:r>
              <a:rPr sz="2400" spc="-119" dirty="0">
                <a:latin typeface="Source Sans Pro"/>
                <a:cs typeface="Source Sans Pro"/>
              </a:rPr>
              <a:t>the</a:t>
            </a:r>
            <a:r>
              <a:rPr sz="2400" spc="-50" dirty="0">
                <a:latin typeface="Source Sans Pro"/>
                <a:cs typeface="Source Sans Pro"/>
              </a:rPr>
              <a:t> </a:t>
            </a:r>
            <a:r>
              <a:rPr sz="2400" spc="-79" dirty="0">
                <a:latin typeface="Source Sans Pro"/>
                <a:cs typeface="Source Sans Pro"/>
              </a:rPr>
              <a:t>data,</a:t>
            </a:r>
            <a:r>
              <a:rPr sz="2400" spc="-40" dirty="0">
                <a:latin typeface="Source Sans Pro"/>
                <a:cs typeface="Source Sans Pro"/>
              </a:rPr>
              <a:t> </a:t>
            </a:r>
            <a:r>
              <a:rPr sz="2400" spc="-129" dirty="0">
                <a:latin typeface="Source Sans Pro"/>
                <a:cs typeface="Source Sans Pro"/>
              </a:rPr>
              <a:t>and</a:t>
            </a:r>
            <a:r>
              <a:rPr sz="2400" spc="-10" dirty="0">
                <a:latin typeface="Source Sans Pro"/>
                <a:cs typeface="Source Sans Pro"/>
              </a:rPr>
              <a:t> </a:t>
            </a:r>
            <a:r>
              <a:rPr sz="2400" spc="-109" dirty="0">
                <a:latin typeface="Source Sans Pro"/>
                <a:cs typeface="Source Sans Pro"/>
              </a:rPr>
              <a:t>build</a:t>
            </a:r>
            <a:r>
              <a:rPr sz="2400" spc="-20" dirty="0">
                <a:latin typeface="Source Sans Pro"/>
                <a:cs typeface="Source Sans Pro"/>
              </a:rPr>
              <a:t> </a:t>
            </a:r>
            <a:r>
              <a:rPr sz="2400" dirty="0">
                <a:latin typeface="Source Sans Pro"/>
                <a:cs typeface="Source Sans Pro"/>
              </a:rPr>
              <a:t>a</a:t>
            </a:r>
            <a:r>
              <a:rPr sz="2400" spc="-10" dirty="0">
                <a:latin typeface="Source Sans Pro"/>
                <a:cs typeface="Source Sans Pro"/>
              </a:rPr>
              <a:t> </a:t>
            </a:r>
            <a:r>
              <a:rPr sz="2400" spc="-178" dirty="0">
                <a:latin typeface="Source Sans Pro"/>
                <a:cs typeface="Source Sans Pro"/>
              </a:rPr>
              <a:t>memory</a:t>
            </a:r>
            <a:r>
              <a:rPr sz="2400" spc="10" dirty="0">
                <a:latin typeface="Source Sans Pro"/>
                <a:cs typeface="Source Sans Pro"/>
              </a:rPr>
              <a:t> </a:t>
            </a:r>
            <a:r>
              <a:rPr sz="2400" spc="-208" dirty="0">
                <a:latin typeface="Source Sans Pro"/>
                <a:cs typeface="Source Sans Pro"/>
              </a:rPr>
              <a:t>of</a:t>
            </a:r>
            <a:r>
              <a:rPr sz="2400" spc="30" dirty="0">
                <a:latin typeface="Source Sans Pro"/>
                <a:cs typeface="Source Sans Pro"/>
              </a:rPr>
              <a:t> </a:t>
            </a:r>
            <a:r>
              <a:rPr sz="2400" spc="-119" dirty="0">
                <a:latin typeface="Source Sans Pro"/>
                <a:cs typeface="Source Sans Pro"/>
              </a:rPr>
              <a:t>the</a:t>
            </a:r>
            <a:r>
              <a:rPr sz="2400" spc="-20" dirty="0">
                <a:latin typeface="Source Sans Pro"/>
                <a:cs typeface="Source Sans Pro"/>
              </a:rPr>
              <a:t> </a:t>
            </a:r>
            <a:r>
              <a:rPr sz="2400" spc="-40" dirty="0">
                <a:latin typeface="Source Sans Pro"/>
                <a:cs typeface="Source Sans Pro"/>
              </a:rPr>
              <a:t>past.</a:t>
            </a:r>
            <a:endParaRPr sz="2400" dirty="0">
              <a:latin typeface="Source Sans Pro"/>
              <a:cs typeface="Source Sans Pro"/>
            </a:endParaRPr>
          </a:p>
          <a:p>
            <a:pPr marL="649324" indent="-275585">
              <a:buClr>
                <a:srgbClr val="3333B3"/>
              </a:buClr>
              <a:buFont typeface="Menlo"/>
              <a:buChar char="•"/>
              <a:tabLst>
                <a:tab pos="650582" algn="l"/>
              </a:tabLst>
            </a:pPr>
            <a:r>
              <a:rPr sz="2400" spc="-20" dirty="0">
                <a:latin typeface="Source Sans Pro"/>
                <a:cs typeface="Source Sans Pro"/>
              </a:rPr>
              <a:t>The</a:t>
            </a:r>
            <a:r>
              <a:rPr sz="2400" spc="-79" dirty="0">
                <a:latin typeface="Source Sans Pro"/>
                <a:cs typeface="Source Sans Pro"/>
              </a:rPr>
              <a:t> </a:t>
            </a:r>
            <a:r>
              <a:rPr sz="2400" spc="-129" dirty="0">
                <a:latin typeface="Source Sans Pro"/>
                <a:cs typeface="Source Sans Pro"/>
              </a:rPr>
              <a:t>feature</a:t>
            </a:r>
            <a:r>
              <a:rPr sz="2400" spc="10" dirty="0">
                <a:latin typeface="Source Sans Pro"/>
                <a:cs typeface="Source Sans Pro"/>
              </a:rPr>
              <a:t> </a:t>
            </a:r>
            <a:r>
              <a:rPr sz="2400" spc="-129" dirty="0">
                <a:latin typeface="Source Sans Pro"/>
                <a:cs typeface="Source Sans Pro"/>
              </a:rPr>
              <a:t>for</a:t>
            </a:r>
            <a:r>
              <a:rPr sz="2400" dirty="0">
                <a:latin typeface="Source Sans Pro"/>
                <a:cs typeface="Source Sans Pro"/>
              </a:rPr>
              <a:t> </a:t>
            </a:r>
            <a:r>
              <a:rPr sz="2400" spc="-198" dirty="0">
                <a:latin typeface="Source Sans Pro"/>
                <a:cs typeface="Source Sans Pro"/>
              </a:rPr>
              <a:t>each</a:t>
            </a:r>
            <a:r>
              <a:rPr sz="2400" spc="30" dirty="0">
                <a:latin typeface="Source Sans Pro"/>
                <a:cs typeface="Source Sans Pro"/>
              </a:rPr>
              <a:t> </a:t>
            </a:r>
            <a:r>
              <a:rPr sz="2400" spc="-168" dirty="0">
                <a:latin typeface="Source Sans Pro"/>
                <a:cs typeface="Source Sans Pro"/>
              </a:rPr>
              <a:t>observation</a:t>
            </a:r>
            <a:r>
              <a:rPr sz="2400" dirty="0">
                <a:latin typeface="Source Sans Pro"/>
                <a:cs typeface="Source Sans Pro"/>
              </a:rPr>
              <a:t> </a:t>
            </a:r>
            <a:r>
              <a:rPr sz="2400" spc="-99" dirty="0">
                <a:latin typeface="Source Sans Pro"/>
                <a:cs typeface="Source Sans Pro"/>
              </a:rPr>
              <a:t>is</a:t>
            </a:r>
            <a:r>
              <a:rPr sz="2400" dirty="0">
                <a:latin typeface="Source Sans Pro"/>
                <a:cs typeface="Source Sans Pro"/>
              </a:rPr>
              <a:t> a</a:t>
            </a:r>
            <a:r>
              <a:rPr sz="2400" spc="10" dirty="0">
                <a:latin typeface="Source Sans Pro"/>
                <a:cs typeface="Source Sans Pro"/>
              </a:rPr>
              <a:t> </a:t>
            </a:r>
            <a:r>
              <a:rPr sz="2400" i="1" spc="-337" dirty="0">
                <a:solidFill>
                  <a:srgbClr val="009900"/>
                </a:solidFill>
                <a:latin typeface="Menlo"/>
                <a:cs typeface="Menlo"/>
              </a:rPr>
              <a:t>sequence</a:t>
            </a:r>
            <a:r>
              <a:rPr sz="2400" i="1" spc="-595" dirty="0">
                <a:solidFill>
                  <a:srgbClr val="009900"/>
                </a:solidFill>
                <a:latin typeface="Menlo"/>
                <a:cs typeface="Menlo"/>
              </a:rPr>
              <a:t> </a:t>
            </a:r>
            <a:r>
              <a:rPr sz="2400" spc="-208" dirty="0">
                <a:latin typeface="Source Sans Pro"/>
                <a:cs typeface="Source Sans Pro"/>
              </a:rPr>
              <a:t>of</a:t>
            </a:r>
            <a:r>
              <a:rPr sz="2400" spc="30" dirty="0">
                <a:latin typeface="Source Sans Pro"/>
                <a:cs typeface="Source Sans Pro"/>
              </a:rPr>
              <a:t> </a:t>
            </a:r>
            <a:r>
              <a:rPr sz="2400" spc="-20" dirty="0">
                <a:latin typeface="Source Sans Pro"/>
                <a:cs typeface="Source Sans Pro"/>
              </a:rPr>
              <a:t>vectors</a:t>
            </a:r>
            <a:endParaRPr sz="2400" dirty="0">
              <a:latin typeface="Source Sans Pro"/>
              <a:cs typeface="Source Sans Pro"/>
            </a:endParaRPr>
          </a:p>
          <a:p>
            <a:pPr marL="649324">
              <a:spcBef>
                <a:spcPts val="69"/>
              </a:spcBef>
            </a:pPr>
            <a:r>
              <a:rPr sz="2400" spc="416" dirty="0">
                <a:latin typeface="Source Sans Pro"/>
                <a:cs typeface="Source Sans Pro"/>
              </a:rPr>
              <a:t>X</a:t>
            </a:r>
            <a:r>
              <a:rPr sz="2400" spc="129" dirty="0">
                <a:latin typeface="Source Sans Pro"/>
                <a:cs typeface="Source Sans Pro"/>
              </a:rPr>
              <a:t> </a:t>
            </a:r>
            <a:r>
              <a:rPr sz="2400" dirty="0">
                <a:latin typeface="Source Sans Pro"/>
                <a:cs typeface="Source Sans Pro"/>
              </a:rPr>
              <a:t>=</a:t>
            </a:r>
            <a:r>
              <a:rPr sz="2400" spc="-40" dirty="0">
                <a:latin typeface="Source Sans Pro"/>
                <a:cs typeface="Source Sans Pro"/>
              </a:rPr>
              <a:t> </a:t>
            </a:r>
            <a:r>
              <a:rPr sz="2400" i="1" dirty="0">
                <a:latin typeface="Menlo"/>
                <a:cs typeface="Menlo"/>
              </a:rPr>
              <a:t>{</a:t>
            </a:r>
            <a:r>
              <a:rPr sz="2400" dirty="0">
                <a:latin typeface="Source Sans Pro"/>
                <a:cs typeface="Source Sans Pro"/>
              </a:rPr>
              <a:t>X</a:t>
            </a:r>
            <a:r>
              <a:rPr sz="2400" baseline="-10416" dirty="0">
                <a:latin typeface="Source Sans Pro"/>
                <a:cs typeface="Source Sans Pro"/>
              </a:rPr>
              <a:t>1</a:t>
            </a:r>
            <a:r>
              <a:rPr sz="2400" dirty="0">
                <a:latin typeface="Source Sans Pro"/>
                <a:cs typeface="Source Sans Pro"/>
              </a:rPr>
              <a:t>,</a:t>
            </a:r>
            <a:r>
              <a:rPr sz="2400" spc="-297" dirty="0">
                <a:latin typeface="Source Sans Pro"/>
                <a:cs typeface="Source Sans Pro"/>
              </a:rPr>
              <a:t> </a:t>
            </a:r>
            <a:r>
              <a:rPr sz="2400" spc="178" dirty="0">
                <a:latin typeface="Source Sans Pro"/>
                <a:cs typeface="Source Sans Pro"/>
              </a:rPr>
              <a:t>X</a:t>
            </a:r>
            <a:r>
              <a:rPr sz="2400" spc="268" baseline="-10416" dirty="0">
                <a:latin typeface="Source Sans Pro"/>
                <a:cs typeface="Source Sans Pro"/>
              </a:rPr>
              <a:t>2</a:t>
            </a:r>
            <a:r>
              <a:rPr sz="2400" spc="178" dirty="0">
                <a:latin typeface="Source Sans Pro"/>
                <a:cs typeface="Source Sans Pro"/>
              </a:rPr>
              <a:t>,.</a:t>
            </a:r>
            <a:r>
              <a:rPr sz="2400" spc="-307" dirty="0">
                <a:latin typeface="Source Sans Pro"/>
                <a:cs typeface="Source Sans Pro"/>
              </a:rPr>
              <a:t> </a:t>
            </a:r>
            <a:r>
              <a:rPr sz="2400" spc="139" dirty="0">
                <a:latin typeface="Source Sans Pro"/>
                <a:cs typeface="Source Sans Pro"/>
              </a:rPr>
              <a:t>..,</a:t>
            </a:r>
            <a:r>
              <a:rPr sz="2400" spc="-317" dirty="0">
                <a:latin typeface="Source Sans Pro"/>
                <a:cs typeface="Source Sans Pro"/>
              </a:rPr>
              <a:t> </a:t>
            </a:r>
            <a:r>
              <a:rPr sz="2400" spc="69" dirty="0">
                <a:latin typeface="Source Sans Pro"/>
                <a:cs typeface="Source Sans Pro"/>
              </a:rPr>
              <a:t>X</a:t>
            </a:r>
            <a:r>
              <a:rPr sz="2400" spc="103" baseline="-10416" dirty="0">
                <a:latin typeface="Source Sans Pro"/>
                <a:cs typeface="Source Sans Pro"/>
              </a:rPr>
              <a:t>L</a:t>
            </a:r>
            <a:r>
              <a:rPr sz="2400" i="1" spc="69" dirty="0">
                <a:latin typeface="Menlo"/>
                <a:cs typeface="Menlo"/>
              </a:rPr>
              <a:t>}</a:t>
            </a:r>
            <a:r>
              <a:rPr sz="2400" spc="69" dirty="0">
                <a:latin typeface="Source Sans Pro"/>
                <a:cs typeface="Source Sans Pro"/>
              </a:rPr>
              <a:t>.</a:t>
            </a:r>
            <a:endParaRPr sz="2400" dirty="0">
              <a:latin typeface="Source Sans Pro"/>
              <a:cs typeface="Source Sans Pro"/>
            </a:endParaRPr>
          </a:p>
          <a:p>
            <a:pPr marL="649324" marR="259226" indent="-275585">
              <a:lnSpc>
                <a:spcPct val="102600"/>
              </a:lnSpc>
              <a:spcBef>
                <a:spcPts val="69"/>
              </a:spcBef>
              <a:buClr>
                <a:srgbClr val="3333B3"/>
              </a:buClr>
              <a:buFont typeface="Menlo"/>
              <a:buChar char="•"/>
              <a:tabLst>
                <a:tab pos="650582" algn="l"/>
              </a:tabLst>
            </a:pPr>
            <a:r>
              <a:rPr sz="2400" spc="-20" dirty="0">
                <a:latin typeface="Source Sans Pro"/>
                <a:cs typeface="Source Sans Pro"/>
              </a:rPr>
              <a:t>The</a:t>
            </a:r>
            <a:r>
              <a:rPr sz="2400" spc="-159" dirty="0">
                <a:latin typeface="Source Sans Pro"/>
                <a:cs typeface="Source Sans Pro"/>
              </a:rPr>
              <a:t> </a:t>
            </a:r>
            <a:r>
              <a:rPr sz="2400" spc="-99" dirty="0">
                <a:latin typeface="Source Sans Pro"/>
                <a:cs typeface="Source Sans Pro"/>
              </a:rPr>
              <a:t>target</a:t>
            </a:r>
            <a:r>
              <a:rPr sz="2400" spc="-69" dirty="0">
                <a:latin typeface="Source Sans Pro"/>
                <a:cs typeface="Source Sans Pro"/>
              </a:rPr>
              <a:t> </a:t>
            </a:r>
            <a:r>
              <a:rPr sz="2400" dirty="0">
                <a:latin typeface="Source Sans Pro"/>
                <a:cs typeface="Source Sans Pro"/>
              </a:rPr>
              <a:t>Y</a:t>
            </a:r>
            <a:r>
              <a:rPr sz="2400" spc="367" dirty="0">
                <a:latin typeface="Source Sans Pro"/>
                <a:cs typeface="Source Sans Pro"/>
              </a:rPr>
              <a:t> </a:t>
            </a:r>
            <a:r>
              <a:rPr sz="2400" spc="-99" dirty="0">
                <a:latin typeface="Source Sans Pro"/>
                <a:cs typeface="Source Sans Pro"/>
              </a:rPr>
              <a:t>is</a:t>
            </a:r>
            <a:r>
              <a:rPr sz="2400" spc="-50" dirty="0">
                <a:latin typeface="Source Sans Pro"/>
                <a:cs typeface="Source Sans Pro"/>
              </a:rPr>
              <a:t> </a:t>
            </a:r>
            <a:r>
              <a:rPr sz="2400" spc="-159" dirty="0">
                <a:latin typeface="Source Sans Pro"/>
                <a:cs typeface="Source Sans Pro"/>
              </a:rPr>
              <a:t>often</a:t>
            </a:r>
            <a:r>
              <a:rPr sz="2400" spc="-20" dirty="0">
                <a:latin typeface="Source Sans Pro"/>
                <a:cs typeface="Source Sans Pro"/>
              </a:rPr>
              <a:t> </a:t>
            </a:r>
            <a:r>
              <a:rPr sz="2400" spc="-208" dirty="0">
                <a:latin typeface="Source Sans Pro"/>
                <a:cs typeface="Source Sans Pro"/>
              </a:rPr>
              <a:t>of</a:t>
            </a:r>
            <a:r>
              <a:rPr sz="2400" spc="30" dirty="0">
                <a:latin typeface="Source Sans Pro"/>
                <a:cs typeface="Source Sans Pro"/>
              </a:rPr>
              <a:t> </a:t>
            </a:r>
            <a:r>
              <a:rPr sz="2400" spc="-119" dirty="0">
                <a:latin typeface="Source Sans Pro"/>
                <a:cs typeface="Source Sans Pro"/>
              </a:rPr>
              <a:t>the</a:t>
            </a:r>
            <a:r>
              <a:rPr sz="2400" spc="-50" dirty="0">
                <a:latin typeface="Source Sans Pro"/>
                <a:cs typeface="Source Sans Pro"/>
              </a:rPr>
              <a:t> </a:t>
            </a:r>
            <a:r>
              <a:rPr sz="2400" spc="-149" dirty="0">
                <a:latin typeface="Source Sans Pro"/>
                <a:cs typeface="Source Sans Pro"/>
              </a:rPr>
              <a:t>usual</a:t>
            </a:r>
            <a:r>
              <a:rPr sz="2400" spc="-20" dirty="0">
                <a:latin typeface="Source Sans Pro"/>
                <a:cs typeface="Source Sans Pro"/>
              </a:rPr>
              <a:t> </a:t>
            </a:r>
            <a:r>
              <a:rPr sz="2400" spc="-119" dirty="0">
                <a:latin typeface="Source Sans Pro"/>
                <a:cs typeface="Source Sans Pro"/>
              </a:rPr>
              <a:t>kind</a:t>
            </a:r>
            <a:r>
              <a:rPr sz="2400" spc="-50" dirty="0">
                <a:latin typeface="Source Sans Pro"/>
                <a:cs typeface="Source Sans Pro"/>
              </a:rPr>
              <a:t> </a:t>
            </a:r>
            <a:r>
              <a:rPr sz="2400" dirty="0">
                <a:latin typeface="Source Sans Pro"/>
                <a:cs typeface="Source Sans Pro"/>
              </a:rPr>
              <a:t>—</a:t>
            </a:r>
            <a:r>
              <a:rPr sz="2400" spc="-50" dirty="0">
                <a:latin typeface="Source Sans Pro"/>
                <a:cs typeface="Source Sans Pro"/>
              </a:rPr>
              <a:t> </a:t>
            </a:r>
            <a:r>
              <a:rPr sz="2400" spc="-119" dirty="0">
                <a:latin typeface="Source Sans Pro"/>
                <a:cs typeface="Source Sans Pro"/>
              </a:rPr>
              <a:t>e.g.</a:t>
            </a:r>
            <a:r>
              <a:rPr sz="2400" spc="168" dirty="0">
                <a:latin typeface="Source Sans Pro"/>
                <a:cs typeface="Source Sans Pro"/>
              </a:rPr>
              <a:t> </a:t>
            </a:r>
            <a:r>
              <a:rPr sz="2400" dirty="0">
                <a:latin typeface="Source Sans Pro"/>
                <a:cs typeface="Source Sans Pro"/>
              </a:rPr>
              <a:t>a</a:t>
            </a:r>
            <a:r>
              <a:rPr sz="2400" spc="-50" dirty="0">
                <a:latin typeface="Source Sans Pro"/>
                <a:cs typeface="Source Sans Pro"/>
              </a:rPr>
              <a:t> </a:t>
            </a:r>
            <a:r>
              <a:rPr sz="2400" spc="-149" dirty="0">
                <a:latin typeface="Source Sans Pro"/>
                <a:cs typeface="Source Sans Pro"/>
              </a:rPr>
              <a:t>single </a:t>
            </a:r>
            <a:r>
              <a:rPr sz="2400" spc="-109" dirty="0">
                <a:latin typeface="Source Sans Pro"/>
                <a:cs typeface="Source Sans Pro"/>
              </a:rPr>
              <a:t>variable</a:t>
            </a:r>
            <a:r>
              <a:rPr sz="2400" spc="-59" dirty="0">
                <a:latin typeface="Source Sans Pro"/>
                <a:cs typeface="Source Sans Pro"/>
              </a:rPr>
              <a:t> </a:t>
            </a:r>
            <a:r>
              <a:rPr sz="2400" spc="-208" dirty="0">
                <a:latin typeface="Source Sans Pro"/>
                <a:cs typeface="Source Sans Pro"/>
              </a:rPr>
              <a:t>such</a:t>
            </a:r>
            <a:r>
              <a:rPr sz="2400" spc="30" dirty="0">
                <a:latin typeface="Source Sans Pro"/>
                <a:cs typeface="Source Sans Pro"/>
              </a:rPr>
              <a:t> </a:t>
            </a:r>
            <a:r>
              <a:rPr sz="2400" spc="-198" dirty="0">
                <a:latin typeface="Source Sans Pro"/>
                <a:cs typeface="Source Sans Pro"/>
              </a:rPr>
              <a:t>as</a:t>
            </a:r>
            <a:r>
              <a:rPr sz="2400" spc="30" dirty="0">
                <a:latin typeface="Source Sans Pro"/>
                <a:cs typeface="Source Sans Pro"/>
              </a:rPr>
              <a:t> </a:t>
            </a:r>
            <a:r>
              <a:rPr sz="2400" spc="-188" dirty="0">
                <a:solidFill>
                  <a:srgbClr val="990000"/>
                </a:solidFill>
                <a:latin typeface="Courier New"/>
                <a:cs typeface="Courier New"/>
              </a:rPr>
              <a:t>Sentiment</a:t>
            </a:r>
            <a:r>
              <a:rPr sz="2400" spc="-188" dirty="0">
                <a:latin typeface="Source Sans Pro"/>
                <a:cs typeface="Source Sans Pro"/>
              </a:rPr>
              <a:t>,</a:t>
            </a:r>
            <a:r>
              <a:rPr sz="2400" spc="10" dirty="0">
                <a:latin typeface="Source Sans Pro"/>
                <a:cs typeface="Source Sans Pro"/>
              </a:rPr>
              <a:t> </a:t>
            </a:r>
            <a:r>
              <a:rPr sz="2400" spc="-119" dirty="0">
                <a:latin typeface="Source Sans Pro"/>
                <a:cs typeface="Source Sans Pro"/>
              </a:rPr>
              <a:t>or</a:t>
            </a:r>
            <a:r>
              <a:rPr sz="2400" spc="10" dirty="0">
                <a:latin typeface="Source Sans Pro"/>
                <a:cs typeface="Source Sans Pro"/>
              </a:rPr>
              <a:t> </a:t>
            </a:r>
            <a:r>
              <a:rPr sz="2400" dirty="0">
                <a:latin typeface="Source Sans Pro"/>
                <a:cs typeface="Source Sans Pro"/>
              </a:rPr>
              <a:t>a </a:t>
            </a:r>
            <a:r>
              <a:rPr sz="2400" spc="-317" dirty="0">
                <a:latin typeface="Source Sans Pro"/>
                <a:cs typeface="Source Sans Pro"/>
              </a:rPr>
              <a:t>one-</a:t>
            </a:r>
            <a:r>
              <a:rPr sz="2400" spc="-99" dirty="0">
                <a:latin typeface="Source Sans Pro"/>
                <a:cs typeface="Source Sans Pro"/>
              </a:rPr>
              <a:t>hot</a:t>
            </a:r>
            <a:r>
              <a:rPr sz="2400" spc="10" dirty="0">
                <a:latin typeface="Source Sans Pro"/>
                <a:cs typeface="Source Sans Pro"/>
              </a:rPr>
              <a:t> </a:t>
            </a:r>
            <a:r>
              <a:rPr sz="2400" spc="-129" dirty="0">
                <a:latin typeface="Source Sans Pro"/>
                <a:cs typeface="Source Sans Pro"/>
              </a:rPr>
              <a:t>vector</a:t>
            </a:r>
            <a:r>
              <a:rPr sz="2400" dirty="0">
                <a:latin typeface="Source Sans Pro"/>
                <a:cs typeface="Source Sans Pro"/>
              </a:rPr>
              <a:t> </a:t>
            </a:r>
            <a:r>
              <a:rPr sz="2400" spc="-50" dirty="0">
                <a:latin typeface="Source Sans Pro"/>
                <a:cs typeface="Source Sans Pro"/>
              </a:rPr>
              <a:t>for </a:t>
            </a:r>
            <a:r>
              <a:rPr sz="2400" spc="-20" dirty="0">
                <a:latin typeface="Source Sans Pro"/>
                <a:cs typeface="Source Sans Pro"/>
              </a:rPr>
              <a:t>multiclass.</a:t>
            </a:r>
            <a:endParaRPr sz="2400" dirty="0">
              <a:latin typeface="Source Sans Pro"/>
              <a:cs typeface="Source Sans Pro"/>
            </a:endParaRPr>
          </a:p>
          <a:p>
            <a:pPr marL="649324" marR="446725" indent="-275585">
              <a:lnSpc>
                <a:spcPct val="102699"/>
              </a:lnSpc>
              <a:spcBef>
                <a:spcPts val="59"/>
              </a:spcBef>
              <a:buClr>
                <a:srgbClr val="3333B3"/>
              </a:buClr>
              <a:buFont typeface="Menlo"/>
              <a:buChar char="•"/>
              <a:tabLst>
                <a:tab pos="650582" algn="l"/>
              </a:tabLst>
            </a:pPr>
            <a:r>
              <a:rPr sz="2400" spc="-168" dirty="0">
                <a:latin typeface="Source Sans Pro"/>
                <a:cs typeface="Source Sans Pro"/>
              </a:rPr>
              <a:t>However,</a:t>
            </a:r>
            <a:r>
              <a:rPr sz="2400" spc="-10" dirty="0">
                <a:latin typeface="Source Sans Pro"/>
                <a:cs typeface="Source Sans Pro"/>
              </a:rPr>
              <a:t> </a:t>
            </a:r>
            <a:r>
              <a:rPr sz="2400" dirty="0">
                <a:latin typeface="Source Sans Pro"/>
                <a:cs typeface="Source Sans Pro"/>
              </a:rPr>
              <a:t>Y</a:t>
            </a:r>
            <a:r>
              <a:rPr sz="2400" spc="466" dirty="0">
                <a:latin typeface="Source Sans Pro"/>
                <a:cs typeface="Source Sans Pro"/>
              </a:rPr>
              <a:t> </a:t>
            </a:r>
            <a:r>
              <a:rPr sz="2400" spc="-139" dirty="0">
                <a:latin typeface="Source Sans Pro"/>
                <a:cs typeface="Source Sans Pro"/>
              </a:rPr>
              <a:t>can</a:t>
            </a:r>
            <a:r>
              <a:rPr sz="2400" spc="10" dirty="0">
                <a:latin typeface="Source Sans Pro"/>
                <a:cs typeface="Source Sans Pro"/>
              </a:rPr>
              <a:t> </a:t>
            </a:r>
            <a:r>
              <a:rPr sz="2400" spc="-168" dirty="0">
                <a:latin typeface="Source Sans Pro"/>
                <a:cs typeface="Source Sans Pro"/>
              </a:rPr>
              <a:t>also</a:t>
            </a:r>
            <a:r>
              <a:rPr sz="2400" spc="20" dirty="0">
                <a:latin typeface="Source Sans Pro"/>
                <a:cs typeface="Source Sans Pro"/>
              </a:rPr>
              <a:t> </a:t>
            </a:r>
            <a:r>
              <a:rPr sz="2400" spc="-178" dirty="0">
                <a:latin typeface="Source Sans Pro"/>
                <a:cs typeface="Source Sans Pro"/>
              </a:rPr>
              <a:t>be</a:t>
            </a:r>
            <a:r>
              <a:rPr sz="2400" spc="10" dirty="0">
                <a:latin typeface="Source Sans Pro"/>
                <a:cs typeface="Source Sans Pro"/>
              </a:rPr>
              <a:t> </a:t>
            </a:r>
            <a:r>
              <a:rPr sz="2400" dirty="0">
                <a:latin typeface="Source Sans Pro"/>
                <a:cs typeface="Source Sans Pro"/>
              </a:rPr>
              <a:t>a</a:t>
            </a:r>
            <a:r>
              <a:rPr sz="2400" spc="20" dirty="0">
                <a:latin typeface="Source Sans Pro"/>
                <a:cs typeface="Source Sans Pro"/>
              </a:rPr>
              <a:t> </a:t>
            </a:r>
            <a:r>
              <a:rPr sz="2400" spc="-218" dirty="0">
                <a:latin typeface="Source Sans Pro"/>
                <a:cs typeface="Source Sans Pro"/>
              </a:rPr>
              <a:t>sequence,</a:t>
            </a:r>
            <a:r>
              <a:rPr sz="2400" spc="30" dirty="0">
                <a:latin typeface="Source Sans Pro"/>
                <a:cs typeface="Source Sans Pro"/>
              </a:rPr>
              <a:t> </a:t>
            </a:r>
            <a:r>
              <a:rPr sz="2400" spc="-208" dirty="0">
                <a:latin typeface="Source Sans Pro"/>
                <a:cs typeface="Source Sans Pro"/>
              </a:rPr>
              <a:t>such</a:t>
            </a:r>
            <a:r>
              <a:rPr sz="2400" spc="30" dirty="0">
                <a:latin typeface="Source Sans Pro"/>
                <a:cs typeface="Source Sans Pro"/>
              </a:rPr>
              <a:t> </a:t>
            </a:r>
            <a:r>
              <a:rPr sz="2400" spc="-198" dirty="0">
                <a:latin typeface="Source Sans Pro"/>
                <a:cs typeface="Source Sans Pro"/>
              </a:rPr>
              <a:t>as</a:t>
            </a:r>
            <a:r>
              <a:rPr sz="2400" spc="20" dirty="0">
                <a:latin typeface="Source Sans Pro"/>
                <a:cs typeface="Source Sans Pro"/>
              </a:rPr>
              <a:t> </a:t>
            </a:r>
            <a:r>
              <a:rPr sz="2400" spc="-119" dirty="0">
                <a:latin typeface="Source Sans Pro"/>
                <a:cs typeface="Source Sans Pro"/>
              </a:rPr>
              <a:t>the</a:t>
            </a:r>
            <a:r>
              <a:rPr sz="2400" spc="20" dirty="0">
                <a:latin typeface="Source Sans Pro"/>
                <a:cs typeface="Source Sans Pro"/>
              </a:rPr>
              <a:t> </a:t>
            </a:r>
            <a:r>
              <a:rPr sz="2400" spc="-168" dirty="0">
                <a:latin typeface="Source Sans Pro"/>
                <a:cs typeface="Source Sans Pro"/>
              </a:rPr>
              <a:t>same </a:t>
            </a:r>
            <a:r>
              <a:rPr sz="2400" spc="-188" dirty="0">
                <a:latin typeface="Source Sans Pro"/>
                <a:cs typeface="Source Sans Pro"/>
              </a:rPr>
              <a:t>document</a:t>
            </a:r>
            <a:r>
              <a:rPr sz="2400" spc="10" dirty="0">
                <a:latin typeface="Source Sans Pro"/>
                <a:cs typeface="Source Sans Pro"/>
              </a:rPr>
              <a:t> </a:t>
            </a:r>
            <a:r>
              <a:rPr sz="2400" dirty="0">
                <a:latin typeface="Source Sans Pro"/>
                <a:cs typeface="Source Sans Pro"/>
              </a:rPr>
              <a:t>in</a:t>
            </a:r>
            <a:r>
              <a:rPr sz="2400" spc="-30" dirty="0">
                <a:latin typeface="Source Sans Pro"/>
                <a:cs typeface="Source Sans Pro"/>
              </a:rPr>
              <a:t> </a:t>
            </a:r>
            <a:r>
              <a:rPr sz="2400" dirty="0">
                <a:latin typeface="Source Sans Pro"/>
                <a:cs typeface="Source Sans Pro"/>
              </a:rPr>
              <a:t>a</a:t>
            </a:r>
            <a:r>
              <a:rPr sz="2400" spc="10" dirty="0">
                <a:latin typeface="Source Sans Pro"/>
                <a:cs typeface="Source Sans Pro"/>
              </a:rPr>
              <a:t> </a:t>
            </a:r>
            <a:r>
              <a:rPr lang="en-US" sz="2400" spc="-258" dirty="0">
                <a:latin typeface="Source Sans Pro"/>
                <a:cs typeface="Source Sans Pro"/>
              </a:rPr>
              <a:t>different</a:t>
            </a:r>
            <a:r>
              <a:rPr sz="2400" spc="30" dirty="0">
                <a:latin typeface="Source Sans Pro"/>
                <a:cs typeface="Source Sans Pro"/>
              </a:rPr>
              <a:t> </a:t>
            </a:r>
            <a:r>
              <a:rPr sz="2400" spc="-20" dirty="0">
                <a:latin typeface="Source Sans Pro"/>
                <a:cs typeface="Source Sans Pro"/>
              </a:rPr>
              <a:t>language.</a:t>
            </a:r>
            <a:endParaRPr sz="2400" dirty="0">
              <a:latin typeface="Source Sans Pro"/>
              <a:cs typeface="Source Sans Pro"/>
            </a:endParaRPr>
          </a:p>
        </p:txBody>
      </p:sp>
    </p:spTree>
    <p:extLst>
      <p:ext uri="{BB962C8B-B14F-4D97-AF65-F5344CB8AC3E}">
        <p14:creationId xmlns:p14="http://schemas.microsoft.com/office/powerpoint/2010/main" val="41428121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3975" rIns="0" bIns="0" rtlCol="0" anchor="ctr">
            <a:normAutofit/>
            <a:scene3d>
              <a:camera prst="orthographicFront"/>
              <a:lightRig rig="threePt" dir="t">
                <a:rot lat="0" lon="0" rev="4800000"/>
              </a:lightRig>
            </a:scene3d>
            <a:sp3d prstMaterial="matte">
              <a:bevelT w="50800" h="10160"/>
            </a:sp3d>
          </a:bodyPr>
          <a:lstStyle/>
          <a:p>
            <a:pPr marL="85570">
              <a:spcBef>
                <a:spcPts val="268"/>
              </a:spcBef>
            </a:pPr>
            <a:r>
              <a:rPr dirty="0"/>
              <a:t>Simple</a:t>
            </a:r>
            <a:r>
              <a:rPr spc="535" dirty="0"/>
              <a:t> </a:t>
            </a:r>
            <a:r>
              <a:rPr spc="109" dirty="0"/>
              <a:t>Recurrent</a:t>
            </a:r>
            <a:r>
              <a:rPr spc="545" dirty="0"/>
              <a:t> </a:t>
            </a:r>
            <a:r>
              <a:rPr dirty="0"/>
              <a:t>Neural</a:t>
            </a:r>
            <a:r>
              <a:rPr spc="555" dirty="0"/>
              <a:t> </a:t>
            </a:r>
            <a:r>
              <a:rPr dirty="0"/>
              <a:t>Network</a:t>
            </a:r>
            <a:r>
              <a:rPr spc="545" dirty="0"/>
              <a:t> </a:t>
            </a:r>
            <a:r>
              <a:rPr spc="79" dirty="0"/>
              <a:t>Architecture</a:t>
            </a:r>
          </a:p>
        </p:txBody>
      </p:sp>
      <p:sp>
        <p:nvSpPr>
          <p:cNvPr id="93" name="Slide Number Placeholder 92">
            <a:extLst>
              <a:ext uri="{FF2B5EF4-FFF2-40B4-BE49-F238E27FC236}">
                <a16:creationId xmlns:a16="http://schemas.microsoft.com/office/drawing/2014/main" id="{2E572DE4-F546-0563-2E5A-B083AC8769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12225-5612-419B-A8D5-4B8EEE4C217E}" type="slidenum">
              <a:rPr lang="en-US" smtClean="0"/>
              <a:pPr/>
              <a:t>5</a:t>
            </a:fld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9" name="object 89"/>
              <p:cNvSpPr txBox="1"/>
              <p:nvPr/>
            </p:nvSpPr>
            <p:spPr>
              <a:xfrm>
                <a:off x="838200" y="3682638"/>
                <a:ext cx="10558274" cy="3577260"/>
              </a:xfrm>
              <a:prstGeom prst="rect">
                <a:avLst/>
              </a:prstGeom>
            </p:spPr>
            <p:txBody>
              <a:bodyPr vert="horz" wrap="square" lIns="0" tIns="13842" rIns="0" bIns="0" rtlCol="0">
                <a:normAutofit/>
              </a:bodyPr>
              <a:lstStyle/>
              <a:p>
                <a:pPr marL="176530" marR="55244" indent="-139065">
                  <a:lnSpc>
                    <a:spcPct val="102600"/>
                  </a:lnSpc>
                  <a:spcBef>
                    <a:spcPts val="55"/>
                  </a:spcBef>
                  <a:buClr>
                    <a:srgbClr val="3333B2"/>
                  </a:buClr>
                  <a:buFont typeface="Meiryo UI"/>
                  <a:buChar char="•"/>
                  <a:tabLst>
                    <a:tab pos="176530" algn="l"/>
                  </a:tabLst>
                </a:pPr>
                <a:r>
                  <a:rPr lang="en-US" sz="2800" spc="50" dirty="0">
                    <a:latin typeface="Source Sans Pro"/>
                    <a:cs typeface="Source Sans Pro"/>
                  </a:rPr>
                  <a:t>The</a:t>
                </a:r>
                <a:r>
                  <a:rPr lang="en-US" sz="2800" spc="145" dirty="0">
                    <a:latin typeface="Source Sans Pro"/>
                    <a:cs typeface="Source Sans Pro"/>
                  </a:rPr>
                  <a:t> </a:t>
                </a:r>
                <a:r>
                  <a:rPr lang="en-US" sz="2800" dirty="0">
                    <a:latin typeface="Source Sans Pro"/>
                    <a:cs typeface="Source Sans Pro"/>
                  </a:rPr>
                  <a:t>hidden</a:t>
                </a:r>
                <a:r>
                  <a:rPr lang="en-US" sz="2800" spc="155" dirty="0">
                    <a:latin typeface="Source Sans Pro"/>
                    <a:cs typeface="Source Sans Pro"/>
                  </a:rPr>
                  <a:t> </a:t>
                </a:r>
                <a:r>
                  <a:rPr lang="en-US" sz="2800" dirty="0">
                    <a:latin typeface="Source Sans Pro"/>
                    <a:cs typeface="Source Sans Pro"/>
                  </a:rPr>
                  <a:t>layer</a:t>
                </a:r>
                <a:r>
                  <a:rPr lang="en-US" sz="2800" spc="145" dirty="0">
                    <a:latin typeface="Source Sans Pro"/>
                    <a:cs typeface="Source Sans Pro"/>
                  </a:rPr>
                  <a:t> has</a:t>
                </a:r>
                <a:r>
                  <a:rPr lang="en-US" sz="2800" spc="150" dirty="0">
                    <a:latin typeface="Source Sans Pro"/>
                    <a:cs typeface="Source Sans Pro"/>
                  </a:rPr>
                  <a:t> </a:t>
                </a:r>
                <a:r>
                  <a:rPr lang="en-US" sz="2800" spc="50" dirty="0">
                    <a:latin typeface="Source Sans Pro"/>
                    <a:cs typeface="Source Sans Pro"/>
                  </a:rPr>
                  <a:t>a</a:t>
                </a:r>
                <a:r>
                  <a:rPr lang="en-US" sz="2800" spc="150" dirty="0">
                    <a:latin typeface="Source Sans Pro"/>
                    <a:cs typeface="Source Sans Pro"/>
                  </a:rPr>
                  <a:t> </a:t>
                </a:r>
                <a:r>
                  <a:rPr lang="en-US" sz="2800" dirty="0">
                    <a:latin typeface="Source Sans Pro"/>
                    <a:cs typeface="Source Sans Pro"/>
                  </a:rPr>
                  <a:t>sequence</a:t>
                </a:r>
                <a:r>
                  <a:rPr lang="en-US" sz="2800" spc="145" dirty="0">
                    <a:latin typeface="Source Sans Pro"/>
                    <a:cs typeface="Source Sans Pro"/>
                  </a:rPr>
                  <a:t> </a:t>
                </a:r>
                <a:r>
                  <a:rPr lang="en-US" sz="2800" dirty="0">
                    <a:latin typeface="Source Sans Pro"/>
                    <a:cs typeface="Source Sans Pro"/>
                  </a:rPr>
                  <a:t>of</a:t>
                </a:r>
                <a:r>
                  <a:rPr lang="en-US" sz="2800" spc="155" dirty="0">
                    <a:latin typeface="Source Sans Pro"/>
                    <a:cs typeface="Source Sans Pro"/>
                  </a:rPr>
                  <a:t> </a:t>
                </a:r>
                <a:r>
                  <a:rPr lang="en-US" sz="2800" dirty="0">
                    <a:latin typeface="Source Sans Pro"/>
                    <a:cs typeface="Source Sans Pro"/>
                  </a:rPr>
                  <a:t>vectors</a:t>
                </a:r>
                <a:r>
                  <a:rPr lang="en-US" sz="2800" spc="145" dirty="0">
                    <a:latin typeface="Source Sans Pro"/>
                    <a:cs typeface="Source Sans Pro"/>
                  </a:rPr>
                  <a:t> </a:t>
                </a:r>
                <a:r>
                  <a:rPr lang="en-US" sz="2800" i="1" dirty="0">
                    <a:latin typeface="Georgia"/>
                    <a:cs typeface="Georgia"/>
                  </a:rPr>
                  <a:t>A</a:t>
                </a:r>
                <a:r>
                  <a:rPr lang="en-US" sz="3200" i="1" baseline="-13888" dirty="0">
                    <a:latin typeface="Georgia"/>
                    <a:cs typeface="Georgia"/>
                  </a:rPr>
                  <a:t>£</a:t>
                </a:r>
                <a:r>
                  <a:rPr lang="en-US" sz="2800" i="1" baseline="-13888" dirty="0">
                    <a:latin typeface="Source Sans Pro"/>
                    <a:cs typeface="Source Sans Pro"/>
                  </a:rPr>
                  <a:t>. </a:t>
                </a:r>
                <a:r>
                  <a:rPr lang="en-US" sz="2800" spc="150" dirty="0">
                    <a:latin typeface="Source Sans Pro"/>
                    <a:cs typeface="Source Sans Pro"/>
                  </a:rPr>
                  <a:t> At the l-</a:t>
                </a:r>
                <a:r>
                  <a:rPr lang="en-US" sz="2800" spc="150" dirty="0" err="1">
                    <a:latin typeface="Source Sans Pro"/>
                    <a:cs typeface="Source Sans Pro"/>
                  </a:rPr>
                  <a:t>th</a:t>
                </a:r>
                <a:r>
                  <a:rPr lang="en-US" sz="2800" spc="150" dirty="0">
                    <a:latin typeface="Source Sans Pro"/>
                    <a:cs typeface="Source Sans Pro"/>
                  </a:rPr>
                  <a:t> step, the hidden unit </a:t>
                </a:r>
                <a:r>
                  <a:rPr lang="en-US" sz="2800" dirty="0">
                    <a:latin typeface="Source Sans Pro"/>
                    <a:cs typeface="Source Sans Pro"/>
                  </a:rPr>
                  <a:t>receives</a:t>
                </a:r>
                <a:r>
                  <a:rPr lang="en-US" sz="2800" spc="150" dirty="0">
                    <a:latin typeface="Source Sans Pro"/>
                    <a:cs typeface="Source Sans Pro"/>
                  </a:rPr>
                  <a:t> </a:t>
                </a:r>
                <a:r>
                  <a:rPr lang="en-US" sz="2800" spc="50" dirty="0">
                    <a:latin typeface="Source Sans Pro"/>
                    <a:cs typeface="Source Sans Pro"/>
                  </a:rPr>
                  <a:t>input</a:t>
                </a:r>
                <a:r>
                  <a:rPr lang="en-US" sz="2800" spc="120" dirty="0">
                    <a:latin typeface="Source Sans Pro"/>
                    <a:cs typeface="Source Sans Pro"/>
                  </a:rPr>
                  <a:t> </a:t>
                </a:r>
                <a:r>
                  <a:rPr lang="en-US" sz="2800" i="1" dirty="0" err="1">
                    <a:latin typeface="Georgia"/>
                    <a:cs typeface="Georgia"/>
                  </a:rPr>
                  <a:t>X</a:t>
                </a:r>
                <a:r>
                  <a:rPr lang="en-US" sz="3200" i="1" baseline="-13888" dirty="0" err="1">
                    <a:latin typeface="Georgia"/>
                    <a:cs typeface="Georgia"/>
                  </a:rPr>
                  <a:t>l</a:t>
                </a:r>
                <a:r>
                  <a:rPr lang="en-US" sz="3200" i="1" spc="375" baseline="-13888" dirty="0">
                    <a:latin typeface="Georgia"/>
                    <a:cs typeface="Georgia"/>
                  </a:rPr>
                  <a:t> </a:t>
                </a:r>
                <a:r>
                  <a:rPr lang="en-US" sz="2800" dirty="0">
                    <a:latin typeface="Source Sans Pro"/>
                    <a:cs typeface="Source Sans Pro"/>
                  </a:rPr>
                  <a:t>as</a:t>
                </a:r>
                <a:r>
                  <a:rPr lang="en-US" sz="2800" spc="120" dirty="0">
                    <a:latin typeface="Source Sans Pro"/>
                    <a:cs typeface="Source Sans Pro"/>
                  </a:rPr>
                  <a:t> </a:t>
                </a:r>
                <a:r>
                  <a:rPr lang="en-US" sz="2800" dirty="0">
                    <a:latin typeface="Source Sans Pro"/>
                    <a:cs typeface="Source Sans Pro"/>
                  </a:rPr>
                  <a:t>well</a:t>
                </a:r>
                <a:r>
                  <a:rPr lang="en-US" sz="2800" spc="125" dirty="0">
                    <a:latin typeface="Source Sans Pro"/>
                    <a:cs typeface="Source Sans Pro"/>
                  </a:rPr>
                  <a:t> </a:t>
                </a:r>
                <a:r>
                  <a:rPr lang="en-US" sz="2800" dirty="0">
                    <a:latin typeface="Source Sans Pro"/>
                    <a:cs typeface="Source Sans Pro"/>
                  </a:rPr>
                  <a:t>as</a:t>
                </a:r>
                <a:r>
                  <a:rPr lang="en-US" sz="2800" spc="120" dirty="0">
                    <a:latin typeface="Source Sans Pro"/>
                    <a:cs typeface="Source Sans Pro"/>
                  </a:rPr>
                  <a:t> </a:t>
                </a:r>
                <a:r>
                  <a:rPr lang="en-US" sz="2800" i="1" dirty="0">
                    <a:latin typeface="Georgia"/>
                    <a:cs typeface="Georgia"/>
                  </a:rPr>
                  <a:t>A</a:t>
                </a:r>
                <a:r>
                  <a:rPr lang="en-US" sz="3200" i="1" baseline="-13888" dirty="0">
                    <a:latin typeface="Georgia"/>
                    <a:cs typeface="Georgia"/>
                  </a:rPr>
                  <a:t>l</a:t>
                </a:r>
                <a:r>
                  <a:rPr lang="en-US" sz="3200" i="1" baseline="-13888" dirty="0">
                    <a:latin typeface="News Gothic Std"/>
                    <a:cs typeface="News Gothic Std"/>
                  </a:rPr>
                  <a:t>−</a:t>
                </a:r>
                <a:r>
                  <a:rPr lang="en-US" sz="3200" baseline="-13888" dirty="0">
                    <a:latin typeface="Georgia"/>
                    <a:cs typeface="Georgia"/>
                  </a:rPr>
                  <a:t>1</a:t>
                </a:r>
                <a:r>
                  <a:rPr lang="en-US" sz="2800" baseline="-13888" dirty="0">
                    <a:latin typeface="Source Sans Pro"/>
                    <a:cs typeface="Source Sans Pro"/>
                  </a:rPr>
                  <a:t>, </a:t>
                </a:r>
                <a:r>
                  <a:rPr lang="en-US" sz="2800" dirty="0">
                    <a:latin typeface="Source Sans Pro"/>
                    <a:cs typeface="Source Sans Pro"/>
                  </a:rPr>
                  <a:t>updates the hidden state</a:t>
                </a:r>
                <a:r>
                  <a:rPr lang="en-US" sz="2800" spc="125" dirty="0">
                    <a:latin typeface="Source Sans Pro"/>
                    <a:cs typeface="Source Sans Pro"/>
                  </a:rPr>
                  <a:t> </a:t>
                </a:r>
                <a:r>
                  <a:rPr lang="en-US" sz="2400" i="1" dirty="0">
                    <a:latin typeface="Georgia"/>
                    <a:cs typeface="Georgia"/>
                  </a:rPr>
                  <a:t>A</a:t>
                </a:r>
                <a:r>
                  <a:rPr lang="en-US" sz="2800" i="1" baseline="-13888" dirty="0">
                    <a:latin typeface="Georgia"/>
                    <a:cs typeface="Georgia"/>
                  </a:rPr>
                  <a:t>l, </a:t>
                </a:r>
                <a:r>
                  <a:rPr lang="en-US" sz="2800" spc="50" dirty="0">
                    <a:latin typeface="Source Sans Pro"/>
                    <a:cs typeface="Source Sans Pro"/>
                  </a:rPr>
                  <a:t>and generates an</a:t>
                </a:r>
                <a:r>
                  <a:rPr lang="en-US" sz="2800" spc="120" dirty="0">
                    <a:latin typeface="Source Sans Pro"/>
                    <a:cs typeface="Source Sans Pro"/>
                  </a:rPr>
                  <a:t> </a:t>
                </a:r>
                <a:r>
                  <a:rPr lang="en-US" sz="2800" spc="65" dirty="0">
                    <a:latin typeface="Source Sans Pro"/>
                    <a:cs typeface="Source Sans Pro"/>
                  </a:rPr>
                  <a:t>output</a:t>
                </a:r>
                <a:r>
                  <a:rPr lang="en-US" sz="2800" spc="125" dirty="0">
                    <a:latin typeface="Source Sans Pro"/>
                    <a:cs typeface="Source Sans Pro"/>
                  </a:rPr>
                  <a:t> </a:t>
                </a:r>
                <a:r>
                  <a:rPr lang="en-US" sz="2800" i="1" spc="-25" dirty="0" err="1">
                    <a:latin typeface="Georgia"/>
                    <a:cs typeface="Georgia"/>
                  </a:rPr>
                  <a:t>O</a:t>
                </a:r>
                <a:r>
                  <a:rPr lang="en-US" sz="3200" i="1" spc="-37" baseline="-13888" dirty="0" err="1">
                    <a:latin typeface="Georgia"/>
                    <a:cs typeface="Georgia"/>
                  </a:rPr>
                  <a:t>l</a:t>
                </a:r>
                <a:r>
                  <a:rPr lang="en-US" sz="2800" spc="-25" dirty="0">
                    <a:latin typeface="Source Sans Pro"/>
                    <a:cs typeface="Source Sans Pro"/>
                  </a:rPr>
                  <a:t>.</a:t>
                </a:r>
                <a:endParaRPr lang="en-US" sz="2800" dirty="0">
                  <a:latin typeface="Source Sans Pro"/>
                  <a:cs typeface="Source Sans Pro"/>
                </a:endParaRPr>
              </a:p>
              <a:p>
                <a:pPr marL="176530" marR="114300" indent="-139065">
                  <a:lnSpc>
                    <a:spcPct val="102600"/>
                  </a:lnSpc>
                  <a:spcBef>
                    <a:spcPts val="85"/>
                  </a:spcBef>
                  <a:buClr>
                    <a:srgbClr val="3333B2"/>
                  </a:buClr>
                  <a:buFont typeface="Meiryo UI"/>
                  <a:buChar char="•"/>
                  <a:tabLst>
                    <a:tab pos="176530" algn="l"/>
                  </a:tabLst>
                </a:pPr>
                <a:r>
                  <a:rPr lang="en-US" sz="2800" spc="50" dirty="0">
                    <a:latin typeface="Source Sans Pro"/>
                    <a:cs typeface="Source Sans Pro"/>
                  </a:rPr>
                  <a:t>The</a:t>
                </a:r>
                <a:r>
                  <a:rPr lang="en-US" sz="2800" spc="140" dirty="0">
                    <a:latin typeface="Source Sans Pro"/>
                    <a:cs typeface="Source Sans Pro"/>
                  </a:rPr>
                  <a:t> </a:t>
                </a:r>
                <a:r>
                  <a:rPr lang="en-US" sz="2800" i="1" dirty="0">
                    <a:solidFill>
                      <a:srgbClr val="009900"/>
                    </a:solidFill>
                    <a:latin typeface="Source Sans Pro"/>
                    <a:cs typeface="Source Sans Pro"/>
                  </a:rPr>
                  <a:t>same</a:t>
                </a:r>
                <a:r>
                  <a:rPr lang="en-US" sz="2800" i="1" spc="155" dirty="0">
                    <a:solidFill>
                      <a:srgbClr val="009900"/>
                    </a:solidFill>
                    <a:latin typeface="Source Sans Pro"/>
                    <a:cs typeface="Source Sans Pro"/>
                  </a:rPr>
                  <a:t> </a:t>
                </a:r>
                <a:r>
                  <a:rPr lang="en-US" sz="2800" dirty="0">
                    <a:latin typeface="Source Sans Pro"/>
                    <a:cs typeface="Source Sans Pro"/>
                  </a:rPr>
                  <a:t>weights</a:t>
                </a:r>
                <a:r>
                  <a:rPr lang="en-US" sz="2800" spc="150" dirty="0">
                    <a:latin typeface="Source Sans Pro"/>
                    <a:cs typeface="Source Sans Pro"/>
                  </a:rPr>
                  <a:t> </a:t>
                </a:r>
                <a:r>
                  <a:rPr lang="en-US" sz="2800" b="1" dirty="0">
                    <a:latin typeface="Georgia"/>
                    <a:cs typeface="Georgia"/>
                  </a:rPr>
                  <a:t>W</a:t>
                </a:r>
                <a:r>
                  <a:rPr lang="en-US" sz="2800" b="1" dirty="0">
                    <a:cs typeface="Source Sans Pro"/>
                  </a:rPr>
                  <a:t> </a:t>
                </a:r>
                <a14:m>
                  <m:oMath xmlns:m="http://schemas.openxmlformats.org/officeDocument/2006/math">
                    <m:r>
                      <a:rPr lang="en-US" sz="2800" b="1" i="1">
                        <a:latin typeface="Cambria Math" panose="02040503050406030204" pitchFamily="18" charset="0"/>
                        <a:cs typeface="Source Sans Pro"/>
                      </a:rPr>
                      <m:t>∈</m:t>
                    </m:r>
                    <m:sSup>
                      <m:sSupPr>
                        <m:ctrlPr>
                          <a:rPr lang="en-US" sz="2800" b="1" i="1">
                            <a:latin typeface="Cambria Math" panose="02040503050406030204" pitchFamily="18" charset="0"/>
                            <a:cs typeface="Source Sans Pro"/>
                          </a:rPr>
                        </m:ctrlPr>
                      </m:sSupPr>
                      <m:e>
                        <m:r>
                          <a:rPr lang="en-US" sz="2800" b="1" i="1">
                            <a:latin typeface="Cambria Math" panose="02040503050406030204" pitchFamily="18" charset="0"/>
                            <a:cs typeface="Source Sans Pro"/>
                          </a:rPr>
                          <m:t>𝑹</m:t>
                        </m:r>
                      </m:e>
                      <m:sup>
                        <m:r>
                          <a:rPr lang="en-US" sz="2800" b="1" i="1">
                            <a:latin typeface="Cambria Math" panose="02040503050406030204" pitchFamily="18" charset="0"/>
                            <a:cs typeface="Source Sans Pro"/>
                          </a:rPr>
                          <m:t>𝑲</m:t>
                        </m:r>
                        <m:r>
                          <a:rPr lang="en-US" sz="2800" b="1" i="1">
                            <a:latin typeface="Cambria Math" panose="02040503050406030204" pitchFamily="18" charset="0"/>
                            <a:cs typeface="Source Sans Pro"/>
                          </a:rPr>
                          <m:t>×</m:t>
                        </m:r>
                        <m:r>
                          <a:rPr lang="en-US" sz="2800" b="1" i="1">
                            <a:latin typeface="Cambria Math" panose="02040503050406030204" pitchFamily="18" charset="0"/>
                            <a:cs typeface="Source Sans Pro"/>
                          </a:rPr>
                          <m:t>𝒑</m:t>
                        </m:r>
                      </m:sup>
                    </m:sSup>
                  </m:oMath>
                </a14:m>
                <a:r>
                  <a:rPr lang="en-US" sz="2800" dirty="0">
                    <a:latin typeface="Source Sans Pro"/>
                    <a:cs typeface="Source Sans Pro"/>
                  </a:rPr>
                  <a:t>,</a:t>
                </a:r>
                <a:r>
                  <a:rPr lang="en-US" sz="2800" spc="150" dirty="0">
                    <a:latin typeface="Source Sans Pro"/>
                    <a:cs typeface="Source Sans Pro"/>
                  </a:rPr>
                  <a:t> </a:t>
                </a:r>
                <a:r>
                  <a:rPr lang="en-US" sz="2800" b="1" dirty="0">
                    <a:latin typeface="Georgia"/>
                    <a:cs typeface="Georgia"/>
                  </a:rPr>
                  <a:t>U</a:t>
                </a:r>
                <a:r>
                  <a:rPr lang="en-US" sz="2800" b="1" dirty="0">
                    <a:cs typeface="Source Sans Pro"/>
                  </a:rPr>
                  <a:t> </a:t>
                </a:r>
                <a14:m>
                  <m:oMath xmlns:m="http://schemas.openxmlformats.org/officeDocument/2006/math">
                    <m:r>
                      <a:rPr lang="en-US" sz="2800" b="1" i="1">
                        <a:latin typeface="Cambria Math" panose="02040503050406030204" pitchFamily="18" charset="0"/>
                        <a:cs typeface="Source Sans Pro"/>
                      </a:rPr>
                      <m:t>∈</m:t>
                    </m:r>
                    <m:sSup>
                      <m:sSupPr>
                        <m:ctrlPr>
                          <a:rPr lang="en-US" sz="2800" b="1" i="1">
                            <a:latin typeface="Cambria Math" panose="02040503050406030204" pitchFamily="18" charset="0"/>
                            <a:cs typeface="Source Sans Pro"/>
                          </a:rPr>
                        </m:ctrlPr>
                      </m:sSupPr>
                      <m:e>
                        <m:r>
                          <a:rPr lang="en-US" sz="2800" b="1" i="1">
                            <a:latin typeface="Cambria Math" panose="02040503050406030204" pitchFamily="18" charset="0"/>
                            <a:cs typeface="Source Sans Pro"/>
                          </a:rPr>
                          <m:t>𝑹</m:t>
                        </m:r>
                      </m:e>
                      <m:sup>
                        <m:r>
                          <a:rPr lang="en-US" sz="2800" b="1" i="1">
                            <a:latin typeface="Cambria Math" panose="02040503050406030204" pitchFamily="18" charset="0"/>
                            <a:cs typeface="Source Sans Pro"/>
                          </a:rPr>
                          <m:t>𝑲</m:t>
                        </m:r>
                        <m:r>
                          <a:rPr lang="en-US" sz="2800" b="1" i="1">
                            <a:latin typeface="Cambria Math" panose="02040503050406030204" pitchFamily="18" charset="0"/>
                            <a:cs typeface="Source Sans Pro"/>
                          </a:rPr>
                          <m:t>×</m:t>
                        </m:r>
                        <m:r>
                          <a:rPr lang="en-US" sz="2800" b="1" i="1">
                            <a:latin typeface="Cambria Math" panose="02040503050406030204" pitchFamily="18" charset="0"/>
                            <a:cs typeface="Source Sans Pro"/>
                          </a:rPr>
                          <m:t>𝑲</m:t>
                        </m:r>
                      </m:sup>
                    </m:sSup>
                  </m:oMath>
                </a14:m>
                <a:r>
                  <a:rPr lang="en-US" sz="2800" b="1" spc="150" dirty="0">
                    <a:latin typeface="Georgia"/>
                    <a:cs typeface="Georgia"/>
                  </a:rPr>
                  <a:t> </a:t>
                </a:r>
                <a:r>
                  <a:rPr lang="en-US" sz="2800" spc="50" dirty="0">
                    <a:latin typeface="Source Sans Pro"/>
                    <a:cs typeface="Source Sans Pro"/>
                  </a:rPr>
                  <a:t>and</a:t>
                </a:r>
                <a:r>
                  <a:rPr lang="en-US" sz="2800" spc="155" dirty="0">
                    <a:latin typeface="Source Sans Pro"/>
                    <a:cs typeface="Source Sans Pro"/>
                  </a:rPr>
                  <a:t> </a:t>
                </a:r>
                <a14:m>
                  <m:oMath xmlns:m="http://schemas.openxmlformats.org/officeDocument/2006/math">
                    <m:r>
                      <a:rPr lang="en-US" sz="2800" b="1">
                        <a:latin typeface="Cambria Math" panose="02040503050406030204" pitchFamily="18" charset="0"/>
                        <a:cs typeface="Source Sans Pro"/>
                      </a:rPr>
                      <m:t>𝚩</m:t>
                    </m:r>
                    <m:r>
                      <a:rPr lang="en-US" sz="2800" b="1" i="1">
                        <a:latin typeface="Cambria Math" panose="02040503050406030204" pitchFamily="18" charset="0"/>
                        <a:cs typeface="Source Sans Pro"/>
                      </a:rPr>
                      <m:t>∈</m:t>
                    </m:r>
                    <m:sSup>
                      <m:sSupPr>
                        <m:ctrlPr>
                          <a:rPr lang="en-US" sz="2800" b="1" i="1">
                            <a:latin typeface="Cambria Math" panose="02040503050406030204" pitchFamily="18" charset="0"/>
                            <a:cs typeface="Source Sans Pro"/>
                          </a:rPr>
                        </m:ctrlPr>
                      </m:sSupPr>
                      <m:e>
                        <m:r>
                          <a:rPr lang="en-US" sz="2800" b="1" i="1">
                            <a:latin typeface="Cambria Math" panose="02040503050406030204" pitchFamily="18" charset="0"/>
                            <a:cs typeface="Source Sans Pro"/>
                          </a:rPr>
                          <m:t>𝑹</m:t>
                        </m:r>
                      </m:e>
                      <m:sup>
                        <m:r>
                          <a:rPr lang="en-US" sz="2800" b="1" i="1">
                            <a:latin typeface="Cambria Math" panose="02040503050406030204" pitchFamily="18" charset="0"/>
                            <a:cs typeface="Source Sans Pro"/>
                          </a:rPr>
                          <m:t>𝑲</m:t>
                        </m:r>
                      </m:sup>
                    </m:sSup>
                  </m:oMath>
                </a14:m>
                <a:r>
                  <a:rPr lang="en-US" sz="2800" b="1" spc="140" dirty="0">
                    <a:latin typeface="Georgia"/>
                    <a:cs typeface="Georgia"/>
                  </a:rPr>
                  <a:t> </a:t>
                </a:r>
                <a:r>
                  <a:rPr lang="en-US" sz="2800" dirty="0">
                    <a:latin typeface="Source Sans Pro"/>
                    <a:cs typeface="Source Sans Pro"/>
                  </a:rPr>
                  <a:t>are</a:t>
                </a:r>
                <a:r>
                  <a:rPr lang="en-US" sz="2800" spc="155" dirty="0">
                    <a:latin typeface="Source Sans Pro"/>
                    <a:cs typeface="Source Sans Pro"/>
                  </a:rPr>
                  <a:t> </a:t>
                </a:r>
                <a:r>
                  <a:rPr lang="en-US" sz="2800" dirty="0">
                    <a:latin typeface="Source Sans Pro"/>
                    <a:cs typeface="Source Sans Pro"/>
                  </a:rPr>
                  <a:t>used</a:t>
                </a:r>
                <a:r>
                  <a:rPr lang="en-US" sz="2800" spc="155" dirty="0">
                    <a:latin typeface="Source Sans Pro"/>
                    <a:cs typeface="Source Sans Pro"/>
                  </a:rPr>
                  <a:t> </a:t>
                </a:r>
                <a:r>
                  <a:rPr lang="en-US" sz="2800" spc="90" dirty="0">
                    <a:latin typeface="Source Sans Pro"/>
                    <a:cs typeface="Source Sans Pro"/>
                  </a:rPr>
                  <a:t>at</a:t>
                </a:r>
                <a:r>
                  <a:rPr lang="en-US" sz="2800" spc="150" dirty="0">
                    <a:latin typeface="Source Sans Pro"/>
                    <a:cs typeface="Source Sans Pro"/>
                  </a:rPr>
                  <a:t> </a:t>
                </a:r>
                <a:r>
                  <a:rPr lang="en-US" sz="2800" dirty="0">
                    <a:latin typeface="Source Sans Pro"/>
                    <a:cs typeface="Source Sans Pro"/>
                  </a:rPr>
                  <a:t>each</a:t>
                </a:r>
                <a:r>
                  <a:rPr lang="en-US" sz="2800" spc="155" dirty="0">
                    <a:latin typeface="Source Sans Pro"/>
                    <a:cs typeface="Source Sans Pro"/>
                  </a:rPr>
                  <a:t> </a:t>
                </a:r>
                <a:r>
                  <a:rPr lang="en-US" sz="2800" dirty="0">
                    <a:latin typeface="Source Sans Pro"/>
                    <a:cs typeface="Source Sans Pro"/>
                  </a:rPr>
                  <a:t>step</a:t>
                </a:r>
                <a:r>
                  <a:rPr lang="en-US" sz="2800" spc="155" dirty="0">
                    <a:latin typeface="Source Sans Pro"/>
                    <a:cs typeface="Source Sans Pro"/>
                  </a:rPr>
                  <a:t> </a:t>
                </a:r>
                <a:r>
                  <a:rPr lang="en-US" sz="2800" spc="-25" dirty="0">
                    <a:latin typeface="Source Sans Pro"/>
                    <a:cs typeface="Source Sans Pro"/>
                  </a:rPr>
                  <a:t>in </a:t>
                </a:r>
                <a:r>
                  <a:rPr lang="en-US" sz="2800" spc="55" dirty="0">
                    <a:latin typeface="Source Sans Pro"/>
                    <a:cs typeface="Source Sans Pro"/>
                  </a:rPr>
                  <a:t>the</a:t>
                </a:r>
                <a:r>
                  <a:rPr lang="en-US" sz="2800" spc="114" dirty="0">
                    <a:latin typeface="Source Sans Pro"/>
                    <a:cs typeface="Source Sans Pro"/>
                  </a:rPr>
                  <a:t> </a:t>
                </a:r>
                <a:r>
                  <a:rPr lang="en-US" sz="2800" dirty="0">
                    <a:latin typeface="Source Sans Pro"/>
                    <a:cs typeface="Source Sans Pro"/>
                  </a:rPr>
                  <a:t>sequence</a:t>
                </a:r>
                <a:r>
                  <a:rPr lang="en-US" sz="2800" spc="120" dirty="0">
                    <a:latin typeface="Source Sans Pro"/>
                    <a:cs typeface="Source Sans Pro"/>
                  </a:rPr>
                  <a:t> </a:t>
                </a:r>
                <a:r>
                  <a:rPr lang="en-US" sz="2800" dirty="0">
                    <a:latin typeface="Source Sans Pro"/>
                    <a:cs typeface="Source Sans Pro"/>
                  </a:rPr>
                  <a:t>—</a:t>
                </a:r>
                <a:r>
                  <a:rPr lang="en-US" sz="2800" spc="120" dirty="0">
                    <a:latin typeface="Source Sans Pro"/>
                    <a:cs typeface="Source Sans Pro"/>
                  </a:rPr>
                  <a:t> </a:t>
                </a:r>
                <a:r>
                  <a:rPr lang="en-US" sz="2800" dirty="0">
                    <a:latin typeface="Source Sans Pro"/>
                    <a:cs typeface="Source Sans Pro"/>
                  </a:rPr>
                  <a:t>hence</a:t>
                </a:r>
                <a:r>
                  <a:rPr lang="en-US" sz="2800" spc="120" dirty="0">
                    <a:latin typeface="Source Sans Pro"/>
                    <a:cs typeface="Source Sans Pro"/>
                  </a:rPr>
                  <a:t> </a:t>
                </a:r>
                <a:r>
                  <a:rPr lang="en-US" sz="2800" spc="55" dirty="0">
                    <a:latin typeface="Source Sans Pro"/>
                    <a:cs typeface="Source Sans Pro"/>
                  </a:rPr>
                  <a:t>the</a:t>
                </a:r>
                <a:r>
                  <a:rPr lang="en-US" sz="2800" spc="114" dirty="0">
                    <a:latin typeface="Source Sans Pro"/>
                    <a:cs typeface="Source Sans Pro"/>
                  </a:rPr>
                  <a:t> </a:t>
                </a:r>
                <a:r>
                  <a:rPr lang="en-US" sz="2800" spc="60" dirty="0">
                    <a:latin typeface="Source Sans Pro"/>
                    <a:cs typeface="Source Sans Pro"/>
                  </a:rPr>
                  <a:t>term</a:t>
                </a:r>
                <a:r>
                  <a:rPr lang="en-US" sz="2800" spc="125" dirty="0">
                    <a:latin typeface="Source Sans Pro"/>
                    <a:cs typeface="Source Sans Pro"/>
                  </a:rPr>
                  <a:t> </a:t>
                </a:r>
                <a:r>
                  <a:rPr lang="en-US" sz="2800" i="1" spc="-10" dirty="0">
                    <a:solidFill>
                      <a:srgbClr val="009900"/>
                    </a:solidFill>
                    <a:latin typeface="Source Sans Pro"/>
                    <a:cs typeface="Source Sans Pro"/>
                  </a:rPr>
                  <a:t>recurrent</a:t>
                </a:r>
                <a:r>
                  <a:rPr lang="en-US" sz="2800" spc="-10" dirty="0">
                    <a:latin typeface="Source Sans Pro"/>
                    <a:cs typeface="Source Sans Pro"/>
                  </a:rPr>
                  <a:t>.</a:t>
                </a:r>
              </a:p>
              <a:p>
                <a:pPr marL="176530" marR="114300" indent="-139065">
                  <a:lnSpc>
                    <a:spcPct val="102600"/>
                  </a:lnSpc>
                  <a:spcBef>
                    <a:spcPts val="85"/>
                  </a:spcBef>
                  <a:buClr>
                    <a:srgbClr val="3333B2"/>
                  </a:buClr>
                  <a:buFont typeface="Meiryo UI"/>
                  <a:buChar char="•"/>
                  <a:tabLst>
                    <a:tab pos="176530" algn="l"/>
                  </a:tabLst>
                </a:pPr>
                <a:r>
                  <a:rPr lang="en-US" sz="2800" spc="50" dirty="0">
                    <a:latin typeface="Source Sans Pro"/>
                    <a:cs typeface="Source Sans Pro"/>
                  </a:rPr>
                  <a:t>The</a:t>
                </a:r>
                <a:r>
                  <a:rPr lang="en-US" sz="2800" spc="150" dirty="0">
                    <a:latin typeface="Source Sans Pro"/>
                    <a:cs typeface="Source Sans Pro"/>
                  </a:rPr>
                  <a:t> </a:t>
                </a:r>
                <a:r>
                  <a:rPr lang="en-US" sz="2800" i="1" dirty="0">
                    <a:latin typeface="Georgia"/>
                    <a:cs typeface="Georgia"/>
                  </a:rPr>
                  <a:t>A</a:t>
                </a:r>
                <a:r>
                  <a:rPr lang="en-US" sz="3200" i="1" baseline="-13888" dirty="0">
                    <a:latin typeface="Georgia"/>
                    <a:cs typeface="Georgia"/>
                  </a:rPr>
                  <a:t>l</a:t>
                </a:r>
                <a:r>
                  <a:rPr lang="en-US" sz="3200" i="1" spc="434" baseline="-13888" dirty="0">
                    <a:latin typeface="Georgia"/>
                    <a:cs typeface="Georgia"/>
                  </a:rPr>
                  <a:t> </a:t>
                </a:r>
                <a:r>
                  <a:rPr lang="en-US" sz="2800" dirty="0">
                    <a:latin typeface="Source Sans Pro"/>
                    <a:cs typeface="Source Sans Pro"/>
                  </a:rPr>
                  <a:t>sequence</a:t>
                </a:r>
                <a:r>
                  <a:rPr lang="en-US" sz="2800" spc="150" dirty="0">
                    <a:latin typeface="Source Sans Pro"/>
                    <a:cs typeface="Source Sans Pro"/>
                  </a:rPr>
                  <a:t> </a:t>
                </a:r>
                <a:r>
                  <a:rPr lang="en-US" sz="2800" dirty="0">
                    <a:latin typeface="Source Sans Pro"/>
                    <a:cs typeface="Source Sans Pro"/>
                  </a:rPr>
                  <a:t>represents</a:t>
                </a:r>
                <a:r>
                  <a:rPr lang="en-US" sz="2800" spc="155" dirty="0">
                    <a:latin typeface="Source Sans Pro"/>
                    <a:cs typeface="Source Sans Pro"/>
                  </a:rPr>
                  <a:t> </a:t>
                </a:r>
                <a:r>
                  <a:rPr lang="en-US" sz="2800" spc="50" dirty="0">
                    <a:latin typeface="Source Sans Pro"/>
                    <a:cs typeface="Source Sans Pro"/>
                  </a:rPr>
                  <a:t>an</a:t>
                </a:r>
                <a:r>
                  <a:rPr lang="en-US" sz="2800" spc="155" dirty="0">
                    <a:latin typeface="Source Sans Pro"/>
                    <a:cs typeface="Source Sans Pro"/>
                  </a:rPr>
                  <a:t> </a:t>
                </a:r>
                <a:r>
                  <a:rPr lang="en-US" sz="2800" dirty="0">
                    <a:latin typeface="Source Sans Pro"/>
                    <a:cs typeface="Source Sans Pro"/>
                  </a:rPr>
                  <a:t>evolving</a:t>
                </a:r>
                <a:r>
                  <a:rPr lang="en-US" sz="2800" spc="155" dirty="0">
                    <a:latin typeface="Source Sans Pro"/>
                    <a:cs typeface="Source Sans Pro"/>
                  </a:rPr>
                  <a:t> </a:t>
                </a:r>
                <a:r>
                  <a:rPr lang="en-US" sz="2800" dirty="0">
                    <a:latin typeface="Source Sans Pro"/>
                    <a:cs typeface="Source Sans Pro"/>
                  </a:rPr>
                  <a:t>model</a:t>
                </a:r>
                <a:r>
                  <a:rPr lang="en-US" sz="2800" spc="155" dirty="0">
                    <a:latin typeface="Source Sans Pro"/>
                    <a:cs typeface="Source Sans Pro"/>
                  </a:rPr>
                  <a:t> </a:t>
                </a:r>
                <a:r>
                  <a:rPr lang="en-US" sz="2800" dirty="0">
                    <a:latin typeface="Source Sans Pro"/>
                    <a:cs typeface="Source Sans Pro"/>
                  </a:rPr>
                  <a:t>for</a:t>
                </a:r>
                <a:r>
                  <a:rPr lang="en-US" sz="2800" spc="155" dirty="0">
                    <a:latin typeface="Source Sans Pro"/>
                    <a:cs typeface="Source Sans Pro"/>
                  </a:rPr>
                  <a:t> </a:t>
                </a:r>
                <a:r>
                  <a:rPr lang="en-US" sz="2800" spc="30" dirty="0">
                    <a:latin typeface="Source Sans Pro"/>
                    <a:cs typeface="Source Sans Pro"/>
                  </a:rPr>
                  <a:t>the </a:t>
                </a:r>
                <a:r>
                  <a:rPr lang="en-US" sz="2800" dirty="0">
                    <a:latin typeface="Source Sans Pro"/>
                    <a:cs typeface="Source Sans Pro"/>
                  </a:rPr>
                  <a:t>response</a:t>
                </a:r>
                <a:r>
                  <a:rPr lang="en-US" sz="2800" spc="130" dirty="0">
                    <a:latin typeface="Source Sans Pro"/>
                    <a:cs typeface="Source Sans Pro"/>
                  </a:rPr>
                  <a:t> </a:t>
                </a:r>
                <a:r>
                  <a:rPr lang="en-US" sz="2800" spc="85" dirty="0">
                    <a:latin typeface="Source Sans Pro"/>
                    <a:cs typeface="Source Sans Pro"/>
                  </a:rPr>
                  <a:t>that</a:t>
                </a:r>
                <a:r>
                  <a:rPr lang="en-US" sz="2800" spc="135" dirty="0">
                    <a:latin typeface="Source Sans Pro"/>
                    <a:cs typeface="Source Sans Pro"/>
                  </a:rPr>
                  <a:t> </a:t>
                </a:r>
                <a:r>
                  <a:rPr lang="en-US" sz="2800" dirty="0">
                    <a:latin typeface="Source Sans Pro"/>
                    <a:cs typeface="Source Sans Pro"/>
                  </a:rPr>
                  <a:t>is</a:t>
                </a:r>
                <a:r>
                  <a:rPr lang="en-US" sz="2800" spc="135" dirty="0">
                    <a:latin typeface="Source Sans Pro"/>
                    <a:cs typeface="Source Sans Pro"/>
                  </a:rPr>
                  <a:t> </a:t>
                </a:r>
                <a:r>
                  <a:rPr lang="en-US" sz="2800" spc="60" dirty="0">
                    <a:latin typeface="Source Sans Pro"/>
                    <a:cs typeface="Source Sans Pro"/>
                  </a:rPr>
                  <a:t>updated</a:t>
                </a:r>
                <a:r>
                  <a:rPr lang="en-US" sz="2800" spc="140" dirty="0">
                    <a:latin typeface="Source Sans Pro"/>
                    <a:cs typeface="Source Sans Pro"/>
                  </a:rPr>
                  <a:t> </a:t>
                </a:r>
                <a:r>
                  <a:rPr lang="en-US" sz="2800" dirty="0">
                    <a:latin typeface="Source Sans Pro"/>
                    <a:cs typeface="Source Sans Pro"/>
                  </a:rPr>
                  <a:t>as</a:t>
                </a:r>
                <a:r>
                  <a:rPr lang="en-US" sz="2800" spc="135" dirty="0">
                    <a:latin typeface="Source Sans Pro"/>
                    <a:cs typeface="Source Sans Pro"/>
                  </a:rPr>
                  <a:t> </a:t>
                </a:r>
                <a:r>
                  <a:rPr lang="en-US" sz="2800" dirty="0">
                    <a:latin typeface="Source Sans Pro"/>
                    <a:cs typeface="Source Sans Pro"/>
                  </a:rPr>
                  <a:t>each</a:t>
                </a:r>
                <a:r>
                  <a:rPr lang="en-US" sz="2800" spc="140" dirty="0">
                    <a:latin typeface="Source Sans Pro"/>
                    <a:cs typeface="Source Sans Pro"/>
                  </a:rPr>
                  <a:t> </a:t>
                </a:r>
                <a:r>
                  <a:rPr lang="en-US" sz="2800" dirty="0">
                    <a:latin typeface="Source Sans Pro"/>
                    <a:cs typeface="Source Sans Pro"/>
                  </a:rPr>
                  <a:t>element</a:t>
                </a:r>
                <a:r>
                  <a:rPr lang="en-US" sz="2800" spc="135" dirty="0">
                    <a:latin typeface="Source Sans Pro"/>
                    <a:cs typeface="Source Sans Pro"/>
                  </a:rPr>
                  <a:t> </a:t>
                </a:r>
                <a:r>
                  <a:rPr lang="en-US" sz="2800" i="1" dirty="0" err="1">
                    <a:latin typeface="Georgia"/>
                    <a:cs typeface="Georgia"/>
                  </a:rPr>
                  <a:t>X</a:t>
                </a:r>
                <a:r>
                  <a:rPr lang="en-US" sz="3200" i="1" baseline="-13888" dirty="0" err="1">
                    <a:latin typeface="Georgia"/>
                    <a:cs typeface="Georgia"/>
                  </a:rPr>
                  <a:t>l</a:t>
                </a:r>
                <a:r>
                  <a:rPr lang="en-US" sz="3200" i="1" spc="397" baseline="-13888" dirty="0">
                    <a:latin typeface="Georgia"/>
                    <a:cs typeface="Georgia"/>
                  </a:rPr>
                  <a:t> </a:t>
                </a:r>
                <a:r>
                  <a:rPr lang="en-US" sz="2800" dirty="0">
                    <a:latin typeface="Source Sans Pro"/>
                    <a:cs typeface="Source Sans Pro"/>
                  </a:rPr>
                  <a:t>is</a:t>
                </a:r>
                <a:r>
                  <a:rPr lang="en-US" sz="2800" spc="135" dirty="0">
                    <a:latin typeface="Source Sans Pro"/>
                    <a:cs typeface="Source Sans Pro"/>
                  </a:rPr>
                  <a:t> </a:t>
                </a:r>
                <a:r>
                  <a:rPr lang="en-US" sz="2800" spc="-10" dirty="0">
                    <a:latin typeface="Source Sans Pro"/>
                    <a:cs typeface="Source Sans Pro"/>
                  </a:rPr>
                  <a:t>processed.</a:t>
                </a:r>
                <a:endParaRPr lang="en-US" sz="2800" dirty="0">
                  <a:latin typeface="Source Sans Pro"/>
                  <a:cs typeface="Source Sans Pro"/>
                </a:endParaRPr>
              </a:p>
              <a:p>
                <a:pPr marL="176530" marR="114300" indent="-139065">
                  <a:lnSpc>
                    <a:spcPct val="102600"/>
                  </a:lnSpc>
                  <a:spcBef>
                    <a:spcPts val="85"/>
                  </a:spcBef>
                  <a:buClr>
                    <a:srgbClr val="3333B2"/>
                  </a:buClr>
                  <a:buFont typeface="Meiryo UI"/>
                  <a:buChar char="•"/>
                  <a:tabLst>
                    <a:tab pos="176530" algn="l"/>
                  </a:tabLst>
                </a:pPr>
                <a:endParaRPr sz="2800" dirty="0">
                  <a:latin typeface="Source Sans Pro"/>
                  <a:cs typeface="Source Sans Pro"/>
                </a:endParaRPr>
              </a:p>
            </p:txBody>
          </p:sp>
        </mc:Choice>
        <mc:Fallback>
          <p:sp>
            <p:nvSpPr>
              <p:cNvPr id="89" name="object 8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3682638"/>
                <a:ext cx="10558274" cy="3577260"/>
              </a:xfrm>
              <a:prstGeom prst="rect">
                <a:avLst/>
              </a:prstGeom>
              <a:blipFill>
                <a:blip r:embed="rId2"/>
                <a:stretch>
                  <a:fillRect l="-1923" t="-424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2" name="Picture 91">
            <a:extLst>
              <a:ext uri="{FF2B5EF4-FFF2-40B4-BE49-F238E27FC236}">
                <a16:creationId xmlns:a16="http://schemas.microsoft.com/office/drawing/2014/main" id="{060CEF70-C63E-B536-771F-5DB1E269651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0957" y="1030072"/>
            <a:ext cx="6991350" cy="278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11891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3975" rIns="0" bIns="0" rtlCol="0" anchor="ctr">
            <a:normAutofit/>
            <a:scene3d>
              <a:camera prst="orthographicFront"/>
              <a:lightRig rig="threePt" dir="t">
                <a:rot lat="0" lon="0" rev="4800000"/>
              </a:lightRig>
            </a:scene3d>
            <a:sp3d prstMaterial="matte">
              <a:bevelT w="50800" h="10160"/>
            </a:sp3d>
          </a:bodyPr>
          <a:lstStyle/>
          <a:p>
            <a:pPr marL="25168">
              <a:spcBef>
                <a:spcPts val="268"/>
              </a:spcBef>
            </a:pPr>
            <a:r>
              <a:rPr spc="109" dirty="0"/>
              <a:t>RNN</a:t>
            </a:r>
            <a:r>
              <a:rPr spc="307" dirty="0"/>
              <a:t> </a:t>
            </a:r>
            <a:r>
              <a:rPr dirty="0"/>
              <a:t>in</a:t>
            </a:r>
            <a:r>
              <a:rPr spc="317" dirty="0"/>
              <a:t> </a:t>
            </a:r>
            <a:r>
              <a:rPr spc="-20" dirty="0"/>
              <a:t>Detail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64A0BB6-D975-F4A2-DD73-D2604EB147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12225-5612-419B-A8D5-4B8EEE4C217E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37" name="object 3">
            <a:extLst>
              <a:ext uri="{FF2B5EF4-FFF2-40B4-BE49-F238E27FC236}">
                <a16:creationId xmlns:a16="http://schemas.microsoft.com/office/drawing/2014/main" id="{0CDF6287-8CBD-A7E8-95DE-D7EB99742CB2}"/>
              </a:ext>
            </a:extLst>
          </p:cNvPr>
          <p:cNvSpPr txBox="1"/>
          <p:nvPr/>
        </p:nvSpPr>
        <p:spPr>
          <a:xfrm>
            <a:off x="2013856" y="1363146"/>
            <a:ext cx="8349343" cy="4131708"/>
          </a:xfrm>
          <a:prstGeom prst="rect">
            <a:avLst/>
          </a:prstGeom>
        </p:spPr>
        <p:txBody>
          <a:bodyPr vert="horz" wrap="square" lIns="0" tIns="6985" rIns="0" bIns="0" rtlCol="0">
            <a:normAutofit/>
          </a:bodyPr>
          <a:lstStyle/>
          <a:p>
            <a:pPr marL="38100" marR="30480">
              <a:lnSpc>
                <a:spcPct val="102600"/>
              </a:lnSpc>
              <a:spcBef>
                <a:spcPts val="55"/>
              </a:spcBef>
            </a:pPr>
            <a:r>
              <a:rPr lang="en-US" sz="2400" b="1" dirty="0">
                <a:latin typeface="Source Sans Pro" panose="02020603050405020304" pitchFamily="18" charset="0"/>
                <a:cs typeface="Source Sans Pro" panose="02020603050405020304" pitchFamily="18" charset="0"/>
              </a:rPr>
              <a:t>Suppose</a:t>
            </a:r>
            <a:r>
              <a:rPr lang="en-US" sz="2400" b="1" spc="150" dirty="0">
                <a:latin typeface="Source Sans Pro" panose="02020603050405020304" pitchFamily="18" charset="0"/>
                <a:cs typeface="Source Sans Pro" panose="02020603050405020304" pitchFamily="18" charset="0"/>
              </a:rPr>
              <a:t> </a:t>
            </a:r>
            <a:r>
              <a:rPr lang="en-US" sz="2400" b="1" i="1" dirty="0" err="1">
                <a:latin typeface="Source Sans Pro" panose="02020603050405020304" pitchFamily="18" charset="0"/>
                <a:cs typeface="Source Sans Pro" panose="02020603050405020304" pitchFamily="18" charset="0"/>
              </a:rPr>
              <a:t>X</a:t>
            </a:r>
            <a:r>
              <a:rPr lang="en-US" sz="2800" b="1" i="1" baseline="-13888" dirty="0" err="1">
                <a:latin typeface="Source Sans Pro" panose="02020603050405020304" pitchFamily="18" charset="0"/>
                <a:cs typeface="Source Sans Pro" panose="02020603050405020304" pitchFamily="18" charset="0"/>
              </a:rPr>
              <a:t>l</a:t>
            </a:r>
            <a:r>
              <a:rPr lang="en-US" sz="2800" b="1" i="1" spc="322" baseline="-13888" dirty="0">
                <a:latin typeface="Source Sans Pro" panose="02020603050405020304" pitchFamily="18" charset="0"/>
                <a:cs typeface="Source Sans Pro" panose="02020603050405020304" pitchFamily="18" charset="0"/>
              </a:rPr>
              <a:t> </a:t>
            </a:r>
            <a:r>
              <a:rPr lang="en-US" sz="2400" b="1" spc="215" dirty="0">
                <a:latin typeface="Source Sans Pro" panose="02020603050405020304" pitchFamily="18" charset="0"/>
                <a:cs typeface="Source Sans Pro" panose="02020603050405020304" pitchFamily="18" charset="0"/>
              </a:rPr>
              <a:t>=</a:t>
            </a:r>
            <a:r>
              <a:rPr lang="en-US" sz="2400" b="1" spc="80" dirty="0">
                <a:latin typeface="Source Sans Pro" panose="02020603050405020304" pitchFamily="18" charset="0"/>
                <a:cs typeface="Source Sans Pro" panose="02020603050405020304" pitchFamily="18" charset="0"/>
              </a:rPr>
              <a:t> </a:t>
            </a:r>
            <a:r>
              <a:rPr lang="en-US" sz="2400" b="1" dirty="0">
                <a:latin typeface="Source Sans Pro" panose="02020603050405020304" pitchFamily="18" charset="0"/>
                <a:cs typeface="Source Sans Pro" panose="02020603050405020304" pitchFamily="18" charset="0"/>
              </a:rPr>
              <a:t>(</a:t>
            </a:r>
            <a:r>
              <a:rPr lang="en-US" sz="2400" b="1" i="1" dirty="0">
                <a:latin typeface="Source Sans Pro" panose="02020603050405020304" pitchFamily="18" charset="0"/>
                <a:cs typeface="Source Sans Pro" panose="02020603050405020304" pitchFamily="18" charset="0"/>
              </a:rPr>
              <a:t>X</a:t>
            </a:r>
            <a:r>
              <a:rPr lang="en-US" sz="2800" b="1" i="1" baseline="-13888" dirty="0">
                <a:latin typeface="Source Sans Pro" panose="02020603050405020304" pitchFamily="18" charset="0"/>
                <a:cs typeface="Source Sans Pro" panose="02020603050405020304" pitchFamily="18" charset="0"/>
              </a:rPr>
              <a:t>l1</a:t>
            </a:r>
            <a:r>
              <a:rPr lang="en-US" sz="2400" b="1" i="1" dirty="0">
                <a:latin typeface="Source Sans Pro" panose="02020603050405020304" pitchFamily="18" charset="0"/>
                <a:cs typeface="Source Sans Pro" panose="02020603050405020304" pitchFamily="18" charset="0"/>
              </a:rPr>
              <a:t>,</a:t>
            </a:r>
            <a:r>
              <a:rPr lang="en-US" sz="2400" b="1" i="1" spc="-50" dirty="0">
                <a:latin typeface="Source Sans Pro" panose="02020603050405020304" pitchFamily="18" charset="0"/>
                <a:cs typeface="Source Sans Pro" panose="02020603050405020304" pitchFamily="18" charset="0"/>
              </a:rPr>
              <a:t> </a:t>
            </a:r>
            <a:r>
              <a:rPr lang="en-US" sz="2400" b="1" i="1" spc="-10" dirty="0">
                <a:latin typeface="Source Sans Pro" panose="02020603050405020304" pitchFamily="18" charset="0"/>
                <a:cs typeface="Source Sans Pro" panose="02020603050405020304" pitchFamily="18" charset="0"/>
              </a:rPr>
              <a:t>X</a:t>
            </a:r>
            <a:r>
              <a:rPr lang="en-US" sz="2800" b="1" i="1" spc="-15" baseline="-13888" dirty="0">
                <a:latin typeface="Source Sans Pro" panose="02020603050405020304" pitchFamily="18" charset="0"/>
                <a:cs typeface="Source Sans Pro" panose="02020603050405020304" pitchFamily="18" charset="0"/>
              </a:rPr>
              <a:t>l</a:t>
            </a:r>
            <a:r>
              <a:rPr lang="en-US" sz="2800" b="1" spc="-15" baseline="-13888" dirty="0">
                <a:latin typeface="Source Sans Pro" panose="02020603050405020304" pitchFamily="18" charset="0"/>
                <a:cs typeface="Source Sans Pro" panose="02020603050405020304" pitchFamily="18" charset="0"/>
              </a:rPr>
              <a:t>2</a:t>
            </a:r>
            <a:r>
              <a:rPr lang="en-US" sz="2400" b="1" i="1" spc="-10" dirty="0">
                <a:latin typeface="Source Sans Pro" panose="02020603050405020304" pitchFamily="18" charset="0"/>
                <a:cs typeface="Source Sans Pro" panose="02020603050405020304" pitchFamily="18" charset="0"/>
              </a:rPr>
              <a:t>,</a:t>
            </a:r>
            <a:r>
              <a:rPr lang="en-US" sz="2400" b="1" i="1" spc="-50" dirty="0">
                <a:latin typeface="Source Sans Pro" panose="02020603050405020304" pitchFamily="18" charset="0"/>
                <a:cs typeface="Source Sans Pro" panose="02020603050405020304" pitchFamily="18" charset="0"/>
              </a:rPr>
              <a:t> </a:t>
            </a:r>
            <a:r>
              <a:rPr lang="en-US" sz="2400" b="1" i="1" dirty="0">
                <a:latin typeface="Source Sans Pro" panose="02020603050405020304" pitchFamily="18" charset="0"/>
                <a:cs typeface="Source Sans Pro" panose="02020603050405020304" pitchFamily="18" charset="0"/>
              </a:rPr>
              <a:t>.</a:t>
            </a:r>
            <a:r>
              <a:rPr lang="en-US" sz="2400" b="1" i="1" spc="-50" dirty="0">
                <a:latin typeface="Source Sans Pro" panose="02020603050405020304" pitchFamily="18" charset="0"/>
                <a:cs typeface="Source Sans Pro" panose="02020603050405020304" pitchFamily="18" charset="0"/>
              </a:rPr>
              <a:t> </a:t>
            </a:r>
            <a:r>
              <a:rPr lang="en-US" sz="2400" b="1" i="1" dirty="0">
                <a:latin typeface="Source Sans Pro" panose="02020603050405020304" pitchFamily="18" charset="0"/>
                <a:cs typeface="Source Sans Pro" panose="02020603050405020304" pitchFamily="18" charset="0"/>
              </a:rPr>
              <a:t>.</a:t>
            </a:r>
            <a:r>
              <a:rPr lang="en-US" sz="2400" b="1" i="1" spc="-55" dirty="0">
                <a:latin typeface="Source Sans Pro" panose="02020603050405020304" pitchFamily="18" charset="0"/>
                <a:cs typeface="Source Sans Pro" panose="02020603050405020304" pitchFamily="18" charset="0"/>
              </a:rPr>
              <a:t> </a:t>
            </a:r>
            <a:r>
              <a:rPr lang="en-US" sz="2400" b="1" i="1" dirty="0">
                <a:latin typeface="Source Sans Pro" panose="02020603050405020304" pitchFamily="18" charset="0"/>
                <a:cs typeface="Source Sans Pro" panose="02020603050405020304" pitchFamily="18" charset="0"/>
              </a:rPr>
              <a:t>.</a:t>
            </a:r>
            <a:r>
              <a:rPr lang="en-US" sz="2400" b="1" i="1" spc="-50" dirty="0">
                <a:latin typeface="Source Sans Pro" panose="02020603050405020304" pitchFamily="18" charset="0"/>
                <a:cs typeface="Source Sans Pro" panose="02020603050405020304" pitchFamily="18" charset="0"/>
              </a:rPr>
              <a:t> </a:t>
            </a:r>
            <a:r>
              <a:rPr lang="en-US" sz="2400" b="1" i="1" dirty="0">
                <a:latin typeface="Source Sans Pro" panose="02020603050405020304" pitchFamily="18" charset="0"/>
                <a:cs typeface="Source Sans Pro" panose="02020603050405020304" pitchFamily="18" charset="0"/>
              </a:rPr>
              <a:t>,</a:t>
            </a:r>
            <a:r>
              <a:rPr lang="en-US" sz="2400" b="1" i="1" spc="-50" dirty="0">
                <a:latin typeface="Source Sans Pro" panose="02020603050405020304" pitchFamily="18" charset="0"/>
                <a:cs typeface="Source Sans Pro" panose="02020603050405020304" pitchFamily="18" charset="0"/>
              </a:rPr>
              <a:t> </a:t>
            </a:r>
            <a:r>
              <a:rPr lang="en-US" sz="2400" b="1" i="1" dirty="0" err="1">
                <a:latin typeface="Source Sans Pro" panose="02020603050405020304" pitchFamily="18" charset="0"/>
                <a:cs typeface="Source Sans Pro" panose="02020603050405020304" pitchFamily="18" charset="0"/>
              </a:rPr>
              <a:t>X</a:t>
            </a:r>
            <a:r>
              <a:rPr lang="en-US" sz="2800" b="1" i="1" baseline="-13888" dirty="0" err="1">
                <a:latin typeface="Source Sans Pro" panose="02020603050405020304" pitchFamily="18" charset="0"/>
                <a:cs typeface="Source Sans Pro" panose="02020603050405020304" pitchFamily="18" charset="0"/>
              </a:rPr>
              <a:t>lp</a:t>
            </a:r>
            <a:r>
              <a:rPr lang="en-US" sz="2400" b="1" dirty="0">
                <a:latin typeface="Source Sans Pro" panose="02020603050405020304" pitchFamily="18" charset="0"/>
                <a:cs typeface="Source Sans Pro" panose="02020603050405020304" pitchFamily="18" charset="0"/>
              </a:rPr>
              <a:t>)</a:t>
            </a:r>
            <a:r>
              <a:rPr lang="en-US" sz="2400" b="1" spc="155" dirty="0">
                <a:latin typeface="Source Sans Pro" panose="02020603050405020304" pitchFamily="18" charset="0"/>
                <a:cs typeface="Source Sans Pro" panose="02020603050405020304" pitchFamily="18" charset="0"/>
              </a:rPr>
              <a:t> </a:t>
            </a:r>
            <a:r>
              <a:rPr lang="en-US" sz="2400" b="1" dirty="0">
                <a:latin typeface="Source Sans Pro" panose="02020603050405020304" pitchFamily="18" charset="0"/>
                <a:cs typeface="Source Sans Pro" panose="02020603050405020304" pitchFamily="18" charset="0"/>
              </a:rPr>
              <a:t>has</a:t>
            </a:r>
            <a:r>
              <a:rPr lang="en-US" sz="2400" b="1" spc="150" dirty="0">
                <a:latin typeface="Source Sans Pro" panose="02020603050405020304" pitchFamily="18" charset="0"/>
                <a:cs typeface="Source Sans Pro" panose="02020603050405020304" pitchFamily="18" charset="0"/>
              </a:rPr>
              <a:t> </a:t>
            </a:r>
            <a:r>
              <a:rPr lang="en-US" sz="2400" b="1" i="1" dirty="0">
                <a:latin typeface="Source Sans Pro" panose="02020603050405020304" pitchFamily="18" charset="0"/>
                <a:cs typeface="Source Sans Pro" panose="02020603050405020304" pitchFamily="18" charset="0"/>
              </a:rPr>
              <a:t>p</a:t>
            </a:r>
            <a:r>
              <a:rPr lang="en-US" sz="2400" b="1" i="1" spc="165" dirty="0">
                <a:latin typeface="Source Sans Pro" panose="02020603050405020304" pitchFamily="18" charset="0"/>
                <a:cs typeface="Source Sans Pro" panose="02020603050405020304" pitchFamily="18" charset="0"/>
              </a:rPr>
              <a:t> </a:t>
            </a:r>
            <a:r>
              <a:rPr lang="en-US" sz="2400" b="1" dirty="0">
                <a:latin typeface="Source Sans Pro" panose="02020603050405020304" pitchFamily="18" charset="0"/>
                <a:cs typeface="Source Sans Pro" panose="02020603050405020304" pitchFamily="18" charset="0"/>
              </a:rPr>
              <a:t>components,</a:t>
            </a:r>
            <a:r>
              <a:rPr lang="en-US" sz="2400" b="1" spc="155" dirty="0">
                <a:latin typeface="Source Sans Pro" panose="02020603050405020304" pitchFamily="18" charset="0"/>
                <a:cs typeface="Source Sans Pro" panose="02020603050405020304" pitchFamily="18" charset="0"/>
              </a:rPr>
              <a:t> </a:t>
            </a:r>
            <a:r>
              <a:rPr lang="en-US" sz="2400" b="1" spc="25" dirty="0">
                <a:latin typeface="Source Sans Pro" panose="02020603050405020304" pitchFamily="18" charset="0"/>
                <a:cs typeface="Source Sans Pro" panose="02020603050405020304" pitchFamily="18" charset="0"/>
              </a:rPr>
              <a:t>and </a:t>
            </a:r>
            <a:r>
              <a:rPr lang="en-US" sz="2400" b="1" i="1" dirty="0">
                <a:latin typeface="Source Sans Pro" panose="02020603050405020304" pitchFamily="18" charset="0"/>
                <a:cs typeface="Source Sans Pro" panose="02020603050405020304" pitchFamily="18" charset="0"/>
              </a:rPr>
              <a:t>A</a:t>
            </a:r>
            <a:r>
              <a:rPr lang="en-US" sz="2800" b="1" i="1" baseline="-13888" dirty="0">
                <a:latin typeface="Source Sans Pro" panose="02020603050405020304" pitchFamily="18" charset="0"/>
                <a:cs typeface="Source Sans Pro" panose="02020603050405020304" pitchFamily="18" charset="0"/>
              </a:rPr>
              <a:t>l</a:t>
            </a:r>
            <a:r>
              <a:rPr lang="en-US" sz="2800" b="1" i="1" spc="300" baseline="-13888" dirty="0">
                <a:latin typeface="Source Sans Pro" panose="02020603050405020304" pitchFamily="18" charset="0"/>
                <a:cs typeface="Source Sans Pro" panose="02020603050405020304" pitchFamily="18" charset="0"/>
              </a:rPr>
              <a:t> </a:t>
            </a:r>
            <a:r>
              <a:rPr lang="en-US" sz="2400" b="1" spc="215" dirty="0">
                <a:latin typeface="Source Sans Pro" panose="02020603050405020304" pitchFamily="18" charset="0"/>
                <a:cs typeface="Source Sans Pro" panose="02020603050405020304" pitchFamily="18" charset="0"/>
              </a:rPr>
              <a:t>=</a:t>
            </a:r>
            <a:r>
              <a:rPr lang="en-US" sz="2400" b="1" spc="70" dirty="0">
                <a:latin typeface="Source Sans Pro" panose="02020603050405020304" pitchFamily="18" charset="0"/>
                <a:cs typeface="Source Sans Pro" panose="02020603050405020304" pitchFamily="18" charset="0"/>
              </a:rPr>
              <a:t> </a:t>
            </a:r>
            <a:r>
              <a:rPr lang="en-US" sz="2400" b="1" dirty="0">
                <a:latin typeface="Source Sans Pro" panose="02020603050405020304" pitchFamily="18" charset="0"/>
                <a:cs typeface="Source Sans Pro" panose="02020603050405020304" pitchFamily="18" charset="0"/>
              </a:rPr>
              <a:t>(</a:t>
            </a:r>
            <a:r>
              <a:rPr lang="en-US" sz="2400" b="1" i="1" dirty="0">
                <a:latin typeface="Source Sans Pro" panose="02020603050405020304" pitchFamily="18" charset="0"/>
                <a:cs typeface="Source Sans Pro" panose="02020603050405020304" pitchFamily="18" charset="0"/>
              </a:rPr>
              <a:t>A</a:t>
            </a:r>
            <a:r>
              <a:rPr lang="en-US" sz="2800" b="1" i="1" baseline="-13888" dirty="0">
                <a:latin typeface="Source Sans Pro" panose="02020603050405020304" pitchFamily="18" charset="0"/>
                <a:cs typeface="Source Sans Pro" panose="02020603050405020304" pitchFamily="18" charset="0"/>
              </a:rPr>
              <a:t>l</a:t>
            </a:r>
            <a:r>
              <a:rPr lang="en-US" sz="2800" b="1" baseline="-13888" dirty="0">
                <a:latin typeface="Source Sans Pro" panose="02020603050405020304" pitchFamily="18" charset="0"/>
                <a:cs typeface="Source Sans Pro" panose="02020603050405020304" pitchFamily="18" charset="0"/>
              </a:rPr>
              <a:t>1</a:t>
            </a:r>
            <a:r>
              <a:rPr lang="en-US" sz="2400" b="1" i="1" dirty="0">
                <a:latin typeface="Source Sans Pro" panose="02020603050405020304" pitchFamily="18" charset="0"/>
                <a:cs typeface="Source Sans Pro" panose="02020603050405020304" pitchFamily="18" charset="0"/>
              </a:rPr>
              <a:t>,</a:t>
            </a:r>
            <a:r>
              <a:rPr lang="en-US" sz="2400" b="1" i="1" spc="-60" dirty="0">
                <a:latin typeface="Source Sans Pro" panose="02020603050405020304" pitchFamily="18" charset="0"/>
                <a:cs typeface="Source Sans Pro" panose="02020603050405020304" pitchFamily="18" charset="0"/>
              </a:rPr>
              <a:t> </a:t>
            </a:r>
            <a:r>
              <a:rPr lang="en-US" sz="2400" b="1" i="1" spc="-25" dirty="0">
                <a:latin typeface="Source Sans Pro" panose="02020603050405020304" pitchFamily="18" charset="0"/>
                <a:cs typeface="Source Sans Pro" panose="02020603050405020304" pitchFamily="18" charset="0"/>
              </a:rPr>
              <a:t>A</a:t>
            </a:r>
            <a:r>
              <a:rPr lang="en-US" sz="2800" b="1" i="1" spc="-37" baseline="-13888" dirty="0">
                <a:latin typeface="Source Sans Pro" panose="02020603050405020304" pitchFamily="18" charset="0"/>
                <a:cs typeface="Source Sans Pro" panose="02020603050405020304" pitchFamily="18" charset="0"/>
              </a:rPr>
              <a:t>l</a:t>
            </a:r>
            <a:r>
              <a:rPr lang="en-US" sz="2800" b="1" spc="-37" baseline="-13888" dirty="0">
                <a:latin typeface="Source Sans Pro" panose="02020603050405020304" pitchFamily="18" charset="0"/>
                <a:cs typeface="Source Sans Pro" panose="02020603050405020304" pitchFamily="18" charset="0"/>
              </a:rPr>
              <a:t>2</a:t>
            </a:r>
            <a:r>
              <a:rPr lang="en-US" sz="2400" b="1" i="1" spc="-25" dirty="0">
                <a:latin typeface="Source Sans Pro" panose="02020603050405020304" pitchFamily="18" charset="0"/>
                <a:cs typeface="Source Sans Pro" panose="02020603050405020304" pitchFamily="18" charset="0"/>
              </a:rPr>
              <a:t>,</a:t>
            </a:r>
            <a:r>
              <a:rPr lang="en-US" sz="2400" b="1" i="1" spc="-55" dirty="0">
                <a:latin typeface="Source Sans Pro" panose="02020603050405020304" pitchFamily="18" charset="0"/>
                <a:cs typeface="Source Sans Pro" panose="02020603050405020304" pitchFamily="18" charset="0"/>
              </a:rPr>
              <a:t> </a:t>
            </a:r>
            <a:r>
              <a:rPr lang="en-US" sz="2400" b="1" i="1" dirty="0">
                <a:latin typeface="Source Sans Pro" panose="02020603050405020304" pitchFamily="18" charset="0"/>
                <a:cs typeface="Source Sans Pro" panose="02020603050405020304" pitchFamily="18" charset="0"/>
              </a:rPr>
              <a:t>.</a:t>
            </a:r>
            <a:r>
              <a:rPr lang="en-US" sz="2400" b="1" i="1" spc="-60" dirty="0">
                <a:latin typeface="Source Sans Pro" panose="02020603050405020304" pitchFamily="18" charset="0"/>
                <a:cs typeface="Source Sans Pro" panose="02020603050405020304" pitchFamily="18" charset="0"/>
              </a:rPr>
              <a:t> </a:t>
            </a:r>
            <a:r>
              <a:rPr lang="en-US" sz="2400" b="1" i="1" dirty="0">
                <a:latin typeface="Source Sans Pro" panose="02020603050405020304" pitchFamily="18" charset="0"/>
                <a:cs typeface="Source Sans Pro" panose="02020603050405020304" pitchFamily="18" charset="0"/>
              </a:rPr>
              <a:t>.</a:t>
            </a:r>
            <a:r>
              <a:rPr lang="en-US" sz="2400" b="1" i="1" spc="-55" dirty="0">
                <a:latin typeface="Source Sans Pro" panose="02020603050405020304" pitchFamily="18" charset="0"/>
                <a:cs typeface="Source Sans Pro" panose="02020603050405020304" pitchFamily="18" charset="0"/>
              </a:rPr>
              <a:t> </a:t>
            </a:r>
            <a:r>
              <a:rPr lang="en-US" sz="2400" b="1" i="1" dirty="0">
                <a:latin typeface="Source Sans Pro" panose="02020603050405020304" pitchFamily="18" charset="0"/>
                <a:cs typeface="Source Sans Pro" panose="02020603050405020304" pitchFamily="18" charset="0"/>
              </a:rPr>
              <a:t>.</a:t>
            </a:r>
            <a:r>
              <a:rPr lang="en-US" sz="2400" b="1" i="1" spc="-60" dirty="0">
                <a:latin typeface="Source Sans Pro" panose="02020603050405020304" pitchFamily="18" charset="0"/>
                <a:cs typeface="Source Sans Pro" panose="02020603050405020304" pitchFamily="18" charset="0"/>
              </a:rPr>
              <a:t> </a:t>
            </a:r>
            <a:r>
              <a:rPr lang="en-US" sz="2400" b="1" i="1" dirty="0">
                <a:latin typeface="Source Sans Pro" panose="02020603050405020304" pitchFamily="18" charset="0"/>
                <a:cs typeface="Source Sans Pro" panose="02020603050405020304" pitchFamily="18" charset="0"/>
              </a:rPr>
              <a:t>,</a:t>
            </a:r>
            <a:r>
              <a:rPr lang="en-US" sz="2400" b="1" i="1" spc="-55" dirty="0">
                <a:latin typeface="Source Sans Pro" panose="02020603050405020304" pitchFamily="18" charset="0"/>
                <a:cs typeface="Source Sans Pro" panose="02020603050405020304" pitchFamily="18" charset="0"/>
              </a:rPr>
              <a:t> </a:t>
            </a:r>
            <a:r>
              <a:rPr lang="en-US" sz="2400" b="1" i="1" dirty="0" err="1">
                <a:latin typeface="Source Sans Pro" panose="02020603050405020304" pitchFamily="18" charset="0"/>
                <a:cs typeface="Source Sans Pro" panose="02020603050405020304" pitchFamily="18" charset="0"/>
              </a:rPr>
              <a:t>A</a:t>
            </a:r>
            <a:r>
              <a:rPr lang="en-US" sz="2800" b="1" i="1" baseline="-13888" dirty="0" err="1">
                <a:latin typeface="Source Sans Pro" panose="02020603050405020304" pitchFamily="18" charset="0"/>
                <a:cs typeface="Source Sans Pro" panose="02020603050405020304" pitchFamily="18" charset="0"/>
              </a:rPr>
              <a:t>lK</a:t>
            </a:r>
            <a:r>
              <a:rPr lang="en-US" sz="2800" b="1" i="1" spc="-112" baseline="-13888" dirty="0">
                <a:latin typeface="Source Sans Pro" panose="02020603050405020304" pitchFamily="18" charset="0"/>
                <a:cs typeface="Source Sans Pro" panose="02020603050405020304" pitchFamily="18" charset="0"/>
              </a:rPr>
              <a:t> </a:t>
            </a:r>
            <a:r>
              <a:rPr lang="en-US" sz="2400" b="1" spc="55" dirty="0">
                <a:latin typeface="Source Sans Pro" panose="02020603050405020304" pitchFamily="18" charset="0"/>
                <a:cs typeface="Source Sans Pro" panose="02020603050405020304" pitchFamily="18" charset="0"/>
              </a:rPr>
              <a:t>)</a:t>
            </a:r>
            <a:r>
              <a:rPr lang="en-US" sz="2400" b="1" spc="140" dirty="0">
                <a:latin typeface="Source Sans Pro" panose="02020603050405020304" pitchFamily="18" charset="0"/>
                <a:cs typeface="Source Sans Pro" panose="02020603050405020304" pitchFamily="18" charset="0"/>
              </a:rPr>
              <a:t> </a:t>
            </a:r>
            <a:r>
              <a:rPr lang="en-US" sz="2400" b="1" dirty="0">
                <a:latin typeface="Source Sans Pro" panose="02020603050405020304" pitchFamily="18" charset="0"/>
                <a:cs typeface="Source Sans Pro" panose="02020603050405020304" pitchFamily="18" charset="0"/>
              </a:rPr>
              <a:t>has</a:t>
            </a:r>
            <a:r>
              <a:rPr lang="en-US" sz="2400" b="1" spc="140" dirty="0">
                <a:latin typeface="Source Sans Pro" panose="02020603050405020304" pitchFamily="18" charset="0"/>
                <a:cs typeface="Source Sans Pro" panose="02020603050405020304" pitchFamily="18" charset="0"/>
              </a:rPr>
              <a:t> </a:t>
            </a:r>
            <a:r>
              <a:rPr lang="en-US" sz="2400" b="1" i="1" spc="160" dirty="0">
                <a:latin typeface="Source Sans Pro" panose="02020603050405020304" pitchFamily="18" charset="0"/>
                <a:cs typeface="Source Sans Pro" panose="02020603050405020304" pitchFamily="18" charset="0"/>
              </a:rPr>
              <a:t>K</a:t>
            </a:r>
            <a:r>
              <a:rPr lang="en-US" sz="2400" b="1" i="1" spc="235" dirty="0">
                <a:latin typeface="Source Sans Pro" panose="02020603050405020304" pitchFamily="18" charset="0"/>
                <a:cs typeface="Source Sans Pro" panose="02020603050405020304" pitchFamily="18" charset="0"/>
              </a:rPr>
              <a:t> </a:t>
            </a:r>
            <a:r>
              <a:rPr lang="en-US" sz="2400" b="1" dirty="0">
                <a:latin typeface="Source Sans Pro" panose="02020603050405020304" pitchFamily="18" charset="0"/>
                <a:cs typeface="Source Sans Pro" panose="02020603050405020304" pitchFamily="18" charset="0"/>
              </a:rPr>
              <a:t>components.</a:t>
            </a:r>
            <a:r>
              <a:rPr lang="en-US" sz="2400" b="1" spc="285" dirty="0">
                <a:latin typeface="Source Sans Pro" panose="02020603050405020304" pitchFamily="18" charset="0"/>
                <a:cs typeface="Source Sans Pro" panose="02020603050405020304" pitchFamily="18" charset="0"/>
              </a:rPr>
              <a:t> </a:t>
            </a:r>
            <a:r>
              <a:rPr lang="en-US" sz="2400" b="1" spc="50" dirty="0">
                <a:latin typeface="Source Sans Pro" panose="02020603050405020304" pitchFamily="18" charset="0"/>
                <a:cs typeface="Source Sans Pro" panose="02020603050405020304" pitchFamily="18" charset="0"/>
              </a:rPr>
              <a:t>Then</a:t>
            </a:r>
            <a:r>
              <a:rPr lang="en-US" sz="2400" b="1" spc="145" dirty="0">
                <a:latin typeface="Source Sans Pro" panose="02020603050405020304" pitchFamily="18" charset="0"/>
                <a:cs typeface="Source Sans Pro" panose="02020603050405020304" pitchFamily="18" charset="0"/>
              </a:rPr>
              <a:t> </a:t>
            </a:r>
            <a:r>
              <a:rPr lang="en-US" sz="2400" b="1" spc="30" dirty="0">
                <a:latin typeface="Source Sans Pro" panose="02020603050405020304" pitchFamily="18" charset="0"/>
                <a:cs typeface="Source Sans Pro" panose="02020603050405020304" pitchFamily="18" charset="0"/>
              </a:rPr>
              <a:t>the </a:t>
            </a:r>
            <a:r>
              <a:rPr lang="en-US" sz="2400" b="1" spc="20" dirty="0">
                <a:latin typeface="Source Sans Pro" panose="02020603050405020304" pitchFamily="18" charset="0"/>
                <a:cs typeface="Source Sans Pro" panose="02020603050405020304" pitchFamily="18" charset="0"/>
              </a:rPr>
              <a:t>computation</a:t>
            </a:r>
            <a:r>
              <a:rPr lang="en-US" sz="2400" b="1" spc="114" dirty="0">
                <a:latin typeface="Source Sans Pro" panose="02020603050405020304" pitchFamily="18" charset="0"/>
                <a:cs typeface="Source Sans Pro" panose="02020603050405020304" pitchFamily="18" charset="0"/>
              </a:rPr>
              <a:t> </a:t>
            </a:r>
            <a:r>
              <a:rPr lang="en-US" sz="2400" b="1" spc="90" dirty="0">
                <a:latin typeface="Source Sans Pro" panose="02020603050405020304" pitchFamily="18" charset="0"/>
                <a:cs typeface="Source Sans Pro" panose="02020603050405020304" pitchFamily="18" charset="0"/>
              </a:rPr>
              <a:t>at</a:t>
            </a:r>
            <a:r>
              <a:rPr lang="en-US" sz="2400" b="1" spc="120" dirty="0">
                <a:latin typeface="Source Sans Pro" panose="02020603050405020304" pitchFamily="18" charset="0"/>
                <a:cs typeface="Source Sans Pro" panose="02020603050405020304" pitchFamily="18" charset="0"/>
              </a:rPr>
              <a:t> </a:t>
            </a:r>
            <a:r>
              <a:rPr lang="en-US" sz="2400" b="1" spc="55" dirty="0">
                <a:latin typeface="Source Sans Pro" panose="02020603050405020304" pitchFamily="18" charset="0"/>
                <a:cs typeface="Source Sans Pro" panose="02020603050405020304" pitchFamily="18" charset="0"/>
              </a:rPr>
              <a:t>the</a:t>
            </a:r>
            <a:r>
              <a:rPr lang="en-US" sz="2400" b="1" spc="114" dirty="0">
                <a:latin typeface="Source Sans Pro" panose="02020603050405020304" pitchFamily="18" charset="0"/>
                <a:cs typeface="Source Sans Pro" panose="02020603050405020304" pitchFamily="18" charset="0"/>
              </a:rPr>
              <a:t> </a:t>
            </a:r>
            <a:r>
              <a:rPr lang="en-US" sz="2400" b="1" i="1" spc="65" dirty="0">
                <a:latin typeface="Source Sans Pro" panose="02020603050405020304" pitchFamily="18" charset="0"/>
                <a:cs typeface="Source Sans Pro" panose="02020603050405020304" pitchFamily="18" charset="0"/>
              </a:rPr>
              <a:t>k</a:t>
            </a:r>
            <a:r>
              <a:rPr lang="en-US" sz="2400" b="1" spc="65" dirty="0">
                <a:latin typeface="Source Sans Pro" panose="02020603050405020304" pitchFamily="18" charset="0"/>
                <a:cs typeface="Source Sans Pro" panose="02020603050405020304" pitchFamily="18" charset="0"/>
              </a:rPr>
              <a:t>th</a:t>
            </a:r>
            <a:r>
              <a:rPr lang="en-US" sz="2400" b="1" spc="114" dirty="0">
                <a:latin typeface="Source Sans Pro" panose="02020603050405020304" pitchFamily="18" charset="0"/>
                <a:cs typeface="Source Sans Pro" panose="02020603050405020304" pitchFamily="18" charset="0"/>
              </a:rPr>
              <a:t> </a:t>
            </a:r>
            <a:r>
              <a:rPr lang="en-US" sz="2400" b="1" spc="20" dirty="0">
                <a:latin typeface="Source Sans Pro" panose="02020603050405020304" pitchFamily="18" charset="0"/>
                <a:cs typeface="Source Sans Pro" panose="02020603050405020304" pitchFamily="18" charset="0"/>
              </a:rPr>
              <a:t>components</a:t>
            </a:r>
            <a:r>
              <a:rPr lang="en-US" sz="2400" b="1" spc="120" dirty="0">
                <a:latin typeface="Source Sans Pro" panose="02020603050405020304" pitchFamily="18" charset="0"/>
                <a:cs typeface="Source Sans Pro" panose="02020603050405020304" pitchFamily="18" charset="0"/>
              </a:rPr>
              <a:t> </a:t>
            </a:r>
            <a:r>
              <a:rPr lang="en-US" sz="2400" b="1" spc="20" dirty="0">
                <a:latin typeface="Source Sans Pro" panose="02020603050405020304" pitchFamily="18" charset="0"/>
                <a:cs typeface="Source Sans Pro" panose="02020603050405020304" pitchFamily="18" charset="0"/>
              </a:rPr>
              <a:t>of</a:t>
            </a:r>
            <a:r>
              <a:rPr lang="en-US" sz="2400" b="1" spc="114" dirty="0">
                <a:latin typeface="Source Sans Pro" panose="02020603050405020304" pitchFamily="18" charset="0"/>
                <a:cs typeface="Source Sans Pro" panose="02020603050405020304" pitchFamily="18" charset="0"/>
              </a:rPr>
              <a:t> </a:t>
            </a:r>
            <a:r>
              <a:rPr lang="en-US" sz="2400" b="1" spc="20" dirty="0">
                <a:latin typeface="Source Sans Pro" panose="02020603050405020304" pitchFamily="18" charset="0"/>
                <a:cs typeface="Source Sans Pro" panose="02020603050405020304" pitchFamily="18" charset="0"/>
              </a:rPr>
              <a:t>hidden</a:t>
            </a:r>
            <a:r>
              <a:rPr lang="en-US" sz="2400" b="1" spc="114" dirty="0">
                <a:latin typeface="Source Sans Pro" panose="02020603050405020304" pitchFamily="18" charset="0"/>
                <a:cs typeface="Source Sans Pro" panose="02020603050405020304" pitchFamily="18" charset="0"/>
              </a:rPr>
              <a:t> </a:t>
            </a:r>
            <a:r>
              <a:rPr lang="en-US" sz="2400" b="1" spc="55" dirty="0">
                <a:latin typeface="Source Sans Pro" panose="02020603050405020304" pitchFamily="18" charset="0"/>
                <a:cs typeface="Source Sans Pro" panose="02020603050405020304" pitchFamily="18" charset="0"/>
              </a:rPr>
              <a:t>unit</a:t>
            </a:r>
            <a:r>
              <a:rPr lang="en-US" sz="2400" b="1" spc="114" dirty="0">
                <a:latin typeface="Source Sans Pro" panose="02020603050405020304" pitchFamily="18" charset="0"/>
                <a:cs typeface="Source Sans Pro" panose="02020603050405020304" pitchFamily="18" charset="0"/>
              </a:rPr>
              <a:t> </a:t>
            </a:r>
            <a:r>
              <a:rPr lang="en-US" sz="2400" b="1" i="1" spc="20" dirty="0">
                <a:latin typeface="Source Sans Pro" panose="02020603050405020304" pitchFamily="18" charset="0"/>
                <a:cs typeface="Source Sans Pro" panose="02020603050405020304" pitchFamily="18" charset="0"/>
              </a:rPr>
              <a:t>A</a:t>
            </a:r>
            <a:r>
              <a:rPr lang="en-US" sz="2800" b="1" i="1" spc="30" baseline="-13888" dirty="0">
                <a:latin typeface="Source Sans Pro" panose="02020603050405020304" pitchFamily="18" charset="0"/>
                <a:cs typeface="Source Sans Pro" panose="02020603050405020304" pitchFamily="18" charset="0"/>
              </a:rPr>
              <a:t>l</a:t>
            </a:r>
            <a:r>
              <a:rPr lang="en-US" sz="2800" b="1" i="1" spc="367" baseline="-13888" dirty="0">
                <a:latin typeface="Source Sans Pro" panose="02020603050405020304" pitchFamily="18" charset="0"/>
                <a:cs typeface="Source Sans Pro" panose="02020603050405020304" pitchFamily="18" charset="0"/>
              </a:rPr>
              <a:t> </a:t>
            </a:r>
            <a:r>
              <a:rPr lang="en-US" sz="2400" b="1" spc="-25" dirty="0">
                <a:latin typeface="Source Sans Pro" panose="02020603050405020304" pitchFamily="18" charset="0"/>
                <a:cs typeface="Source Sans Pro" panose="02020603050405020304" pitchFamily="18" charset="0"/>
              </a:rPr>
              <a:t>is </a:t>
            </a:r>
          </a:p>
          <a:p>
            <a:pPr marL="38100" marR="30480">
              <a:lnSpc>
                <a:spcPct val="102600"/>
              </a:lnSpc>
              <a:spcBef>
                <a:spcPts val="55"/>
              </a:spcBef>
            </a:pPr>
            <a:endParaRPr lang="en-US" sz="2400" b="1" dirty="0">
              <a:latin typeface="Source Sans Pro"/>
              <a:cs typeface="Source Sans Pro"/>
            </a:endParaRPr>
          </a:p>
          <a:p>
            <a:pPr marL="38100" marR="30480">
              <a:lnSpc>
                <a:spcPct val="102600"/>
              </a:lnSpc>
              <a:spcBef>
                <a:spcPts val="55"/>
              </a:spcBef>
            </a:pPr>
            <a:endParaRPr lang="en-US" sz="2400" b="1" dirty="0">
              <a:latin typeface="Source Sans Pro"/>
              <a:cs typeface="Source Sans Pro"/>
            </a:endParaRPr>
          </a:p>
          <a:p>
            <a:pPr marL="38100" marR="30480">
              <a:lnSpc>
                <a:spcPct val="102600"/>
              </a:lnSpc>
              <a:spcBef>
                <a:spcPts val="55"/>
              </a:spcBef>
            </a:pPr>
            <a:endParaRPr lang="en-US" sz="2400" b="1" dirty="0">
              <a:latin typeface="Source Sans Pro"/>
              <a:cs typeface="Source Sans Pro"/>
            </a:endParaRPr>
          </a:p>
          <a:p>
            <a:pPr marL="38100" marR="30480">
              <a:lnSpc>
                <a:spcPct val="102600"/>
              </a:lnSpc>
              <a:spcBef>
                <a:spcPts val="55"/>
              </a:spcBef>
            </a:pPr>
            <a:endParaRPr lang="en-US" sz="2400" b="1" dirty="0">
              <a:latin typeface="Source Sans Pro"/>
              <a:cs typeface="Source Sans Pro"/>
            </a:endParaRPr>
          </a:p>
          <a:p>
            <a:pPr marL="38100" marR="30480">
              <a:lnSpc>
                <a:spcPct val="102600"/>
              </a:lnSpc>
              <a:spcBef>
                <a:spcPts val="55"/>
              </a:spcBef>
            </a:pPr>
            <a:endParaRPr lang="en-US" sz="2400" b="1" dirty="0">
              <a:latin typeface="Source Sans Pro"/>
              <a:cs typeface="Source Sans Pro"/>
            </a:endParaRPr>
          </a:p>
          <a:p>
            <a:pPr marL="38100" marR="30480">
              <a:lnSpc>
                <a:spcPct val="102600"/>
              </a:lnSpc>
              <a:spcBef>
                <a:spcPts val="55"/>
              </a:spcBef>
            </a:pPr>
            <a:r>
              <a:rPr lang="en-US" sz="2000" b="1" dirty="0">
                <a:latin typeface="Source Sans Pro"/>
                <a:cs typeface="Source Sans Pro"/>
              </a:rPr>
              <a:t>Often</a:t>
            </a:r>
            <a:r>
              <a:rPr lang="en-US" sz="2000" b="1" spc="170" dirty="0">
                <a:latin typeface="Source Sans Pro"/>
                <a:cs typeface="Source Sans Pro"/>
              </a:rPr>
              <a:t> </a:t>
            </a:r>
            <a:r>
              <a:rPr lang="en-US" sz="2000" b="1" dirty="0">
                <a:latin typeface="Source Sans Pro"/>
                <a:cs typeface="Source Sans Pro"/>
              </a:rPr>
              <a:t>we</a:t>
            </a:r>
            <a:r>
              <a:rPr lang="en-US" sz="2000" b="1" spc="175" dirty="0">
                <a:latin typeface="Source Sans Pro"/>
                <a:cs typeface="Source Sans Pro"/>
              </a:rPr>
              <a:t> </a:t>
            </a:r>
            <a:r>
              <a:rPr lang="en-US" sz="2000" b="1" dirty="0">
                <a:latin typeface="Source Sans Pro"/>
                <a:cs typeface="Source Sans Pro"/>
              </a:rPr>
              <a:t>are</a:t>
            </a:r>
            <a:r>
              <a:rPr lang="en-US" sz="2000" b="1" spc="170" dirty="0">
                <a:latin typeface="Source Sans Pro"/>
                <a:cs typeface="Source Sans Pro"/>
              </a:rPr>
              <a:t> </a:t>
            </a:r>
            <a:r>
              <a:rPr lang="en-US" sz="2000" b="1" dirty="0">
                <a:latin typeface="Source Sans Pro"/>
                <a:cs typeface="Source Sans Pro"/>
              </a:rPr>
              <a:t>concerned</a:t>
            </a:r>
            <a:r>
              <a:rPr lang="en-US" sz="2000" b="1" spc="180" dirty="0">
                <a:latin typeface="Source Sans Pro"/>
                <a:cs typeface="Source Sans Pro"/>
              </a:rPr>
              <a:t> </a:t>
            </a:r>
            <a:r>
              <a:rPr lang="en-US" sz="2000" b="1" dirty="0">
                <a:latin typeface="Source Sans Pro"/>
                <a:cs typeface="Source Sans Pro"/>
              </a:rPr>
              <a:t>only</a:t>
            </a:r>
            <a:r>
              <a:rPr lang="en-US" sz="2000" b="1" spc="175" dirty="0">
                <a:latin typeface="Source Sans Pro"/>
                <a:cs typeface="Source Sans Pro"/>
              </a:rPr>
              <a:t> </a:t>
            </a:r>
            <a:r>
              <a:rPr lang="en-US" sz="2000" b="1" dirty="0">
                <a:latin typeface="Source Sans Pro"/>
                <a:cs typeface="Source Sans Pro"/>
              </a:rPr>
              <a:t>with</a:t>
            </a:r>
            <a:r>
              <a:rPr lang="en-US" sz="2000" b="1" spc="170" dirty="0">
                <a:latin typeface="Source Sans Pro"/>
                <a:cs typeface="Source Sans Pro"/>
              </a:rPr>
              <a:t> </a:t>
            </a:r>
            <a:r>
              <a:rPr lang="en-US" sz="2000" b="1" spc="55" dirty="0">
                <a:latin typeface="Source Sans Pro"/>
                <a:cs typeface="Source Sans Pro"/>
              </a:rPr>
              <a:t>the</a:t>
            </a:r>
            <a:r>
              <a:rPr lang="en-US" sz="2000" b="1" spc="175" dirty="0">
                <a:latin typeface="Source Sans Pro"/>
                <a:cs typeface="Source Sans Pro"/>
              </a:rPr>
              <a:t> </a:t>
            </a:r>
            <a:r>
              <a:rPr lang="en-US" sz="2000" b="1" dirty="0">
                <a:latin typeface="Source Sans Pro"/>
                <a:cs typeface="Source Sans Pro"/>
              </a:rPr>
              <a:t>prediction</a:t>
            </a:r>
            <a:r>
              <a:rPr lang="en-US" sz="2000" b="1" spc="170" dirty="0">
                <a:latin typeface="Source Sans Pro"/>
                <a:cs typeface="Source Sans Pro"/>
              </a:rPr>
              <a:t> </a:t>
            </a:r>
            <a:r>
              <a:rPr lang="en-US" sz="2000" b="1" i="1" spc="55" dirty="0">
                <a:latin typeface="Georgia"/>
                <a:cs typeface="Georgia"/>
              </a:rPr>
              <a:t>O</a:t>
            </a:r>
            <a:r>
              <a:rPr lang="en-US" sz="2400" b="1" i="1" spc="82" baseline="-10416" dirty="0">
                <a:latin typeface="Georgia"/>
                <a:cs typeface="Georgia"/>
              </a:rPr>
              <a:t>L</a:t>
            </a:r>
            <a:r>
              <a:rPr lang="en-US" sz="2400" b="1" i="1" spc="465" baseline="-10416" dirty="0">
                <a:latin typeface="Georgia"/>
                <a:cs typeface="Georgia"/>
              </a:rPr>
              <a:t> </a:t>
            </a:r>
            <a:r>
              <a:rPr lang="en-US" sz="2000" b="1" spc="90" dirty="0">
                <a:latin typeface="Source Sans Pro"/>
                <a:cs typeface="Source Sans Pro"/>
              </a:rPr>
              <a:t>at</a:t>
            </a:r>
            <a:r>
              <a:rPr lang="en-US" sz="2000" b="1" spc="170" dirty="0">
                <a:latin typeface="Source Sans Pro"/>
                <a:cs typeface="Source Sans Pro"/>
              </a:rPr>
              <a:t> </a:t>
            </a:r>
            <a:r>
              <a:rPr lang="en-US" sz="2000" b="1" spc="55" dirty="0">
                <a:latin typeface="Source Sans Pro"/>
                <a:cs typeface="Source Sans Pro"/>
              </a:rPr>
              <a:t>the</a:t>
            </a:r>
            <a:r>
              <a:rPr lang="en-US" sz="2000" b="1" spc="175" dirty="0">
                <a:latin typeface="Source Sans Pro"/>
                <a:cs typeface="Source Sans Pro"/>
              </a:rPr>
              <a:t> </a:t>
            </a:r>
            <a:r>
              <a:rPr lang="en-US" sz="2000" b="1" spc="-20" dirty="0">
                <a:latin typeface="Source Sans Pro"/>
                <a:cs typeface="Source Sans Pro"/>
              </a:rPr>
              <a:t>last </a:t>
            </a:r>
            <a:r>
              <a:rPr lang="en-US" sz="2000" b="1" spc="50" dirty="0">
                <a:latin typeface="Source Sans Pro"/>
                <a:cs typeface="Source Sans Pro"/>
              </a:rPr>
              <a:t>unit.</a:t>
            </a:r>
            <a:r>
              <a:rPr lang="en-US" sz="2000" b="1" spc="260" dirty="0">
                <a:latin typeface="Source Sans Pro"/>
                <a:cs typeface="Source Sans Pro"/>
              </a:rPr>
              <a:t> </a:t>
            </a:r>
            <a:r>
              <a:rPr lang="en-US" sz="2000" b="1" spc="20" dirty="0">
                <a:latin typeface="Source Sans Pro"/>
                <a:cs typeface="Source Sans Pro"/>
              </a:rPr>
              <a:t>For</a:t>
            </a:r>
            <a:r>
              <a:rPr lang="en-US" sz="2000" b="1" spc="130" dirty="0">
                <a:latin typeface="Source Sans Pro"/>
                <a:cs typeface="Source Sans Pro"/>
              </a:rPr>
              <a:t> </a:t>
            </a:r>
            <a:r>
              <a:rPr lang="en-US" sz="2000" b="1" spc="20" dirty="0">
                <a:latin typeface="Source Sans Pro"/>
                <a:cs typeface="Source Sans Pro"/>
              </a:rPr>
              <a:t>squared</a:t>
            </a:r>
            <a:r>
              <a:rPr lang="en-US" sz="2000" b="1" spc="130" dirty="0">
                <a:latin typeface="Source Sans Pro"/>
                <a:cs typeface="Source Sans Pro"/>
              </a:rPr>
              <a:t> </a:t>
            </a:r>
            <a:r>
              <a:rPr lang="en-US" sz="2000" b="1" spc="20" dirty="0">
                <a:latin typeface="Source Sans Pro"/>
                <a:cs typeface="Source Sans Pro"/>
              </a:rPr>
              <a:t>error</a:t>
            </a:r>
            <a:r>
              <a:rPr lang="en-US" sz="2000" b="1" spc="125" dirty="0">
                <a:latin typeface="Source Sans Pro"/>
                <a:cs typeface="Source Sans Pro"/>
              </a:rPr>
              <a:t> </a:t>
            </a:r>
            <a:r>
              <a:rPr lang="en-US" sz="2000" b="1" spc="20" dirty="0">
                <a:latin typeface="Source Sans Pro"/>
                <a:cs typeface="Source Sans Pro"/>
              </a:rPr>
              <a:t>loss,</a:t>
            </a:r>
            <a:r>
              <a:rPr lang="en-US" sz="2000" b="1" spc="125" dirty="0">
                <a:latin typeface="Source Sans Pro"/>
                <a:cs typeface="Source Sans Pro"/>
              </a:rPr>
              <a:t> </a:t>
            </a:r>
            <a:r>
              <a:rPr lang="en-US" sz="2000" b="1" spc="50" dirty="0">
                <a:latin typeface="Source Sans Pro"/>
                <a:cs typeface="Source Sans Pro"/>
              </a:rPr>
              <a:t>and</a:t>
            </a:r>
            <a:r>
              <a:rPr lang="en-US" sz="2000" b="1" spc="120" dirty="0">
                <a:latin typeface="Source Sans Pro"/>
                <a:cs typeface="Source Sans Pro"/>
              </a:rPr>
              <a:t> </a:t>
            </a:r>
            <a:r>
              <a:rPr lang="en-US" sz="2000" b="1" i="1" spc="20" dirty="0">
                <a:latin typeface="Georgia"/>
                <a:cs typeface="Georgia"/>
              </a:rPr>
              <a:t>n</a:t>
            </a:r>
            <a:r>
              <a:rPr lang="en-US" sz="2000" b="1" i="1" spc="135" dirty="0">
                <a:latin typeface="Georgia"/>
                <a:cs typeface="Georgia"/>
              </a:rPr>
              <a:t> </a:t>
            </a:r>
            <a:r>
              <a:rPr lang="en-US" sz="2000" b="1" spc="20" dirty="0">
                <a:latin typeface="Source Sans Pro"/>
                <a:cs typeface="Source Sans Pro"/>
              </a:rPr>
              <a:t>sequence/response</a:t>
            </a:r>
            <a:r>
              <a:rPr lang="en-US" sz="2000" b="1" spc="125" dirty="0">
                <a:latin typeface="Source Sans Pro"/>
                <a:cs typeface="Source Sans Pro"/>
              </a:rPr>
              <a:t> </a:t>
            </a:r>
            <a:r>
              <a:rPr lang="en-US" sz="2000" b="1" spc="20" dirty="0">
                <a:latin typeface="Source Sans Pro"/>
                <a:cs typeface="Source Sans Pro"/>
              </a:rPr>
              <a:t>pairs,</a:t>
            </a:r>
            <a:r>
              <a:rPr lang="en-US" sz="2000" b="1" spc="135" dirty="0">
                <a:latin typeface="Source Sans Pro"/>
                <a:cs typeface="Source Sans Pro"/>
              </a:rPr>
              <a:t> </a:t>
            </a:r>
            <a:r>
              <a:rPr lang="en-US" sz="2000" b="1" spc="-25" dirty="0">
                <a:latin typeface="Source Sans Pro"/>
                <a:cs typeface="Source Sans Pro"/>
              </a:rPr>
              <a:t>we </a:t>
            </a:r>
            <a:r>
              <a:rPr lang="en-US" sz="2000" b="1" dirty="0">
                <a:latin typeface="Source Sans Pro"/>
                <a:cs typeface="Source Sans Pro"/>
              </a:rPr>
              <a:t>would</a:t>
            </a:r>
            <a:r>
              <a:rPr lang="en-US" sz="2000" b="1" spc="135" dirty="0">
                <a:latin typeface="Source Sans Pro"/>
                <a:cs typeface="Source Sans Pro"/>
              </a:rPr>
              <a:t> </a:t>
            </a:r>
            <a:r>
              <a:rPr lang="en-US" sz="2000" b="1" spc="-10" dirty="0">
                <a:latin typeface="Source Sans Pro"/>
                <a:cs typeface="Source Sans Pro"/>
              </a:rPr>
              <a:t>minimize</a:t>
            </a:r>
            <a:endParaRPr lang="en-US" sz="2000" b="1" dirty="0">
              <a:latin typeface="Source Sans Pro"/>
              <a:cs typeface="Source Sans Pro"/>
            </a:endParaRPr>
          </a:p>
          <a:p>
            <a:pPr marL="38100" marR="30480">
              <a:lnSpc>
                <a:spcPct val="102600"/>
              </a:lnSpc>
              <a:spcBef>
                <a:spcPts val="55"/>
              </a:spcBef>
            </a:pPr>
            <a:endParaRPr sz="2400" b="1" dirty="0">
              <a:latin typeface="Source Sans Pro" panose="02020603050405020304" pitchFamily="18" charset="0"/>
              <a:cs typeface="Source Sans Pro" panose="02020603050405020304" pitchFamily="18" charset="0"/>
            </a:endParaRPr>
          </a:p>
        </p:txBody>
      </p:sp>
      <p:sp>
        <p:nvSpPr>
          <p:cNvPr id="38" name="object 11">
            <a:extLst>
              <a:ext uri="{FF2B5EF4-FFF2-40B4-BE49-F238E27FC236}">
                <a16:creationId xmlns:a16="http://schemas.microsoft.com/office/drawing/2014/main" id="{E248C803-FB45-143E-8A73-9FF0999DF99A}"/>
              </a:ext>
            </a:extLst>
          </p:cNvPr>
          <p:cNvSpPr txBox="1"/>
          <p:nvPr/>
        </p:nvSpPr>
        <p:spPr>
          <a:xfrm>
            <a:off x="3291296" y="2295438"/>
            <a:ext cx="4277406" cy="368049"/>
          </a:xfrm>
          <a:prstGeom prst="rect">
            <a:avLst/>
          </a:prstGeom>
        </p:spPr>
        <p:txBody>
          <a:bodyPr vert="horz" wrap="square" lIns="0" tIns="151130" rIns="0" bIns="0" rtlCol="0">
            <a:normAutofit/>
          </a:bodyPr>
          <a:lstStyle/>
          <a:p>
            <a:pPr marL="12700">
              <a:spcBef>
                <a:spcPts val="1190"/>
              </a:spcBef>
              <a:tabLst>
                <a:tab pos="2091055" algn="l"/>
              </a:tabLst>
            </a:pPr>
            <a:r>
              <a:rPr sz="1400" dirty="0">
                <a:latin typeface="Source Sans Pro"/>
                <a:cs typeface="Source Sans Pro"/>
              </a:rPr>
              <a:t>	 </a:t>
            </a:r>
            <a:endParaRPr sz="1400">
              <a:latin typeface="Source Sans Pro"/>
              <a:cs typeface="Source Sans Pro"/>
            </a:endParaRPr>
          </a:p>
        </p:txBody>
      </p:sp>
      <p:pic>
        <p:nvPicPr>
          <p:cNvPr id="42" name="Picture 41" descr="A black and white math symbols&#10;&#10;Description automatically generated with medium confidence">
            <a:extLst>
              <a:ext uri="{FF2B5EF4-FFF2-40B4-BE49-F238E27FC236}">
                <a16:creationId xmlns:a16="http://schemas.microsoft.com/office/drawing/2014/main" id="{A130B638-0057-3B46-EFB0-73D5112E2C8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8801" y="2480903"/>
            <a:ext cx="5976257" cy="1954320"/>
          </a:xfrm>
          <a:prstGeom prst="rect">
            <a:avLst/>
          </a:prstGeom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44C57011-9EAE-25E9-6BEC-11A9F5E6786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58013" y="5134888"/>
            <a:ext cx="7423140" cy="88370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F9CDE3C-29CA-F994-A0B6-36BAEC616FA0}"/>
              </a:ext>
            </a:extLst>
          </p:cNvPr>
          <p:cNvPicPr>
            <a:picLocks/>
          </p:cNvPicPr>
          <p:nvPr/>
        </p:nvPicPr>
        <p:blipFill>
          <a:blip r:embed="rId5"/>
          <a:stretch>
            <a:fillRect/>
          </a:stretch>
        </p:blipFill>
        <p:spPr>
          <a:xfrm>
            <a:off x="7625767" y="2544325"/>
            <a:ext cx="2913459" cy="238323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889A6ED5-EE43-0CB8-EE88-AA4F123E89B0}"/>
              </a:ext>
            </a:extLst>
          </p:cNvPr>
          <p:cNvPicPr>
            <a:picLocks/>
          </p:cNvPicPr>
          <p:nvPr/>
        </p:nvPicPr>
        <p:blipFill>
          <a:blip r:embed="rId6"/>
          <a:stretch>
            <a:fillRect/>
          </a:stretch>
        </p:blipFill>
        <p:spPr>
          <a:xfrm>
            <a:off x="2258013" y="6131180"/>
            <a:ext cx="6920905" cy="3077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03956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43A50E-459B-AF13-9E23-A9356E35AA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B99DD2-4725-9242-8D0B-D70D6A86A5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Deep Learning Introduction</a:t>
            </a:r>
          </a:p>
          <a:p>
            <a:r>
              <a:rPr lang="en-US" dirty="0"/>
              <a:t>Deep Learning Model 1: Multilayer Perception </a:t>
            </a:r>
          </a:p>
          <a:p>
            <a:r>
              <a:rPr lang="en-US" dirty="0"/>
              <a:t>Deep Learning Model 2: Convolutional Neural Networks </a:t>
            </a:r>
          </a:p>
          <a:p>
            <a:r>
              <a:rPr lang="en-US" dirty="0"/>
              <a:t>Deep Learning Model 3: Recurrent Neural Networks</a:t>
            </a:r>
          </a:p>
          <a:p>
            <a:r>
              <a:rPr lang="en-US" dirty="0">
                <a:solidFill>
                  <a:srgbClr val="FF0000"/>
                </a:solidFill>
              </a:rPr>
              <a:t>Use case 1: Sentiment Prediction</a:t>
            </a:r>
          </a:p>
          <a:p>
            <a:r>
              <a:rPr lang="en-US" dirty="0"/>
              <a:t>Use case 2: Forecast</a:t>
            </a:r>
          </a:p>
          <a:p>
            <a:r>
              <a:rPr lang="en-US" dirty="0"/>
              <a:t>Deep Learning Optimization</a:t>
            </a:r>
          </a:p>
          <a:p>
            <a:r>
              <a:rPr lang="en-US" dirty="0"/>
              <a:t>A bag of tricks</a:t>
            </a:r>
          </a:p>
          <a:p>
            <a:r>
              <a:rPr lang="en-US" dirty="0"/>
              <a:t>Some Interesting Findings in Extremely Deep Neural Networks (</a:t>
            </a:r>
            <a:r>
              <a:rPr lang="en-US" dirty="0" err="1"/>
              <a:t>ChatGPT</a:t>
            </a:r>
            <a:r>
              <a:rPr lang="en-US" dirty="0"/>
              <a:t>)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950E81-9EB6-7DFB-72FE-1530F7A4F3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12225-5612-419B-A8D5-4B8EEE4C217E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57591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F95F33DE-41D1-A5AA-55DF-C97CD54E8B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pc="109" dirty="0"/>
              <a:t>RNN</a:t>
            </a:r>
            <a:r>
              <a:rPr lang="en-US" spc="347" dirty="0"/>
              <a:t> </a:t>
            </a:r>
            <a:r>
              <a:rPr lang="en-US" spc="149" dirty="0"/>
              <a:t>and</a:t>
            </a:r>
            <a:r>
              <a:rPr lang="en-US" spc="367" dirty="0"/>
              <a:t> </a:t>
            </a:r>
            <a:r>
              <a:rPr lang="en-US" dirty="0"/>
              <a:t>IMDB</a:t>
            </a:r>
            <a:r>
              <a:rPr lang="en-US" spc="357" dirty="0"/>
              <a:t> </a:t>
            </a:r>
            <a:r>
              <a:rPr lang="en-US" spc="-20" dirty="0"/>
              <a:t>Reviews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F72CF22-CD5C-8946-753B-D29852A911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12225-5612-419B-A8D5-4B8EEE4C217E}" type="slidenum">
              <a:rPr lang="en-US" smtClean="0"/>
              <a:pPr/>
              <a:t>8</a:t>
            </a:fld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object 4">
                <a:extLst>
                  <a:ext uri="{FF2B5EF4-FFF2-40B4-BE49-F238E27FC236}">
                    <a16:creationId xmlns:a16="http://schemas.microsoft.com/office/drawing/2014/main" id="{56B13424-06A5-2D28-7871-B3FA9216BFFA}"/>
                  </a:ext>
                </a:extLst>
              </p:cNvPr>
              <p:cNvSpPr txBox="1"/>
              <p:nvPr/>
            </p:nvSpPr>
            <p:spPr>
              <a:xfrm>
                <a:off x="457200" y="1160021"/>
                <a:ext cx="10896600" cy="5779018"/>
              </a:xfrm>
              <a:prstGeom prst="rect">
                <a:avLst/>
              </a:prstGeom>
            </p:spPr>
            <p:txBody>
              <a:bodyPr vert="horz" wrap="square" lIns="0" tIns="12065" rIns="0" bIns="0" rtlCol="0">
                <a:normAutofit/>
              </a:bodyPr>
              <a:lstStyle/>
              <a:p>
                <a:pPr marL="380365" marR="92075" indent="-342900">
                  <a:lnSpc>
                    <a:spcPct val="102600"/>
                  </a:lnSpc>
                  <a:spcBef>
                    <a:spcPts val="900"/>
                  </a:spcBef>
                  <a:buClr>
                    <a:srgbClr val="3333B2"/>
                  </a:buClr>
                  <a:buFont typeface="Source Sans Pro" panose="020B0604020202020204" pitchFamily="34" charset="0"/>
                  <a:buChar char="•"/>
                  <a:tabLst>
                    <a:tab pos="176530" algn="l"/>
                  </a:tabLst>
                </a:pPr>
                <a:r>
                  <a:rPr lang="en-US" sz="2800" spc="50" dirty="0">
                    <a:latin typeface="Source Sans Pro" panose="02020603050405020304" pitchFamily="18" charset="0"/>
                    <a:cs typeface="Source Sans Pro" panose="02020603050405020304" pitchFamily="18" charset="0"/>
                  </a:rPr>
                  <a:t>The</a:t>
                </a:r>
                <a:r>
                  <a:rPr lang="en-US" sz="2800" spc="140" dirty="0">
                    <a:latin typeface="Source Sans Pro" panose="02020603050405020304" pitchFamily="18" charset="0"/>
                    <a:cs typeface="Source Sans Pro" panose="02020603050405020304" pitchFamily="18" charset="0"/>
                  </a:rPr>
                  <a:t> </a:t>
                </a:r>
                <a:r>
                  <a:rPr lang="en-US" sz="2800" dirty="0">
                    <a:latin typeface="Source Sans Pro" panose="02020603050405020304" pitchFamily="18" charset="0"/>
                    <a:cs typeface="Source Sans Pro" panose="02020603050405020304" pitchFamily="18" charset="0"/>
                  </a:rPr>
                  <a:t>document</a:t>
                </a:r>
                <a:r>
                  <a:rPr lang="en-US" sz="2800" spc="150" dirty="0">
                    <a:latin typeface="Source Sans Pro" panose="02020603050405020304" pitchFamily="18" charset="0"/>
                    <a:cs typeface="Source Sans Pro" panose="02020603050405020304" pitchFamily="18" charset="0"/>
                  </a:rPr>
                  <a:t> </a:t>
                </a:r>
                <a:r>
                  <a:rPr lang="en-US" sz="2800" dirty="0">
                    <a:latin typeface="Source Sans Pro" panose="02020603050405020304" pitchFamily="18" charset="0"/>
                    <a:cs typeface="Source Sans Pro" panose="02020603050405020304" pitchFamily="18" charset="0"/>
                  </a:rPr>
                  <a:t>feature</a:t>
                </a:r>
                <a:r>
                  <a:rPr lang="en-US" sz="2800" spc="145" dirty="0">
                    <a:latin typeface="Source Sans Pro" panose="02020603050405020304" pitchFamily="18" charset="0"/>
                    <a:cs typeface="Source Sans Pro" panose="02020603050405020304" pitchFamily="18" charset="0"/>
                  </a:rPr>
                  <a:t> </a:t>
                </a:r>
                <a:r>
                  <a:rPr lang="en-US" sz="2800" dirty="0">
                    <a:latin typeface="Source Sans Pro" panose="02020603050405020304" pitchFamily="18" charset="0"/>
                    <a:cs typeface="Source Sans Pro" panose="02020603050405020304" pitchFamily="18" charset="0"/>
                  </a:rPr>
                  <a:t>is</a:t>
                </a:r>
                <a:r>
                  <a:rPr lang="en-US" sz="2800" spc="145" dirty="0">
                    <a:latin typeface="Source Sans Pro" panose="02020603050405020304" pitchFamily="18" charset="0"/>
                    <a:cs typeface="Source Sans Pro" panose="02020603050405020304" pitchFamily="18" charset="0"/>
                  </a:rPr>
                  <a:t> </a:t>
                </a:r>
                <a:r>
                  <a:rPr lang="en-US" sz="2800" spc="50" dirty="0">
                    <a:latin typeface="Source Sans Pro" panose="02020603050405020304" pitchFamily="18" charset="0"/>
                    <a:cs typeface="Source Sans Pro" panose="02020603050405020304" pitchFamily="18" charset="0"/>
                  </a:rPr>
                  <a:t>a</a:t>
                </a:r>
                <a:r>
                  <a:rPr lang="en-US" sz="2800" spc="145" dirty="0">
                    <a:latin typeface="Source Sans Pro" panose="02020603050405020304" pitchFamily="18" charset="0"/>
                    <a:cs typeface="Source Sans Pro" panose="02020603050405020304" pitchFamily="18" charset="0"/>
                  </a:rPr>
                  <a:t> </a:t>
                </a:r>
                <a:r>
                  <a:rPr lang="en-US" sz="2800" dirty="0">
                    <a:latin typeface="Source Sans Pro" panose="02020603050405020304" pitchFamily="18" charset="0"/>
                    <a:cs typeface="Source Sans Pro" panose="02020603050405020304" pitchFamily="18" charset="0"/>
                  </a:rPr>
                  <a:t>sequence</a:t>
                </a:r>
                <a:r>
                  <a:rPr lang="en-US" sz="2800" spc="145" dirty="0">
                    <a:latin typeface="Source Sans Pro" panose="02020603050405020304" pitchFamily="18" charset="0"/>
                    <a:cs typeface="Source Sans Pro" panose="02020603050405020304" pitchFamily="18" charset="0"/>
                  </a:rPr>
                  <a:t> </a:t>
                </a:r>
                <a:r>
                  <a:rPr lang="en-US" sz="2800" dirty="0">
                    <a:latin typeface="Source Sans Pro" panose="02020603050405020304" pitchFamily="18" charset="0"/>
                    <a:cs typeface="Source Sans Pro" panose="02020603050405020304" pitchFamily="18" charset="0"/>
                  </a:rPr>
                  <a:t>of</a:t>
                </a:r>
                <a:r>
                  <a:rPr lang="en-US" sz="2800" spc="145" dirty="0">
                    <a:latin typeface="Source Sans Pro" panose="02020603050405020304" pitchFamily="18" charset="0"/>
                    <a:cs typeface="Source Sans Pro" panose="02020603050405020304" pitchFamily="18" charset="0"/>
                  </a:rPr>
                  <a:t> </a:t>
                </a:r>
                <a:r>
                  <a:rPr lang="en-US" sz="2800" dirty="0">
                    <a:latin typeface="Source Sans Pro" panose="02020603050405020304" pitchFamily="18" charset="0"/>
                    <a:cs typeface="Source Sans Pro" panose="02020603050405020304" pitchFamily="18" charset="0"/>
                  </a:rPr>
                  <a:t>words</a:t>
                </a:r>
                <a:r>
                  <a:rPr lang="en-US" sz="2800" spc="150" dirty="0">
                    <a:latin typeface="Source Sans Pro" panose="02020603050405020304" pitchFamily="18" charset="0"/>
                    <a:cs typeface="Source Sans Pro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800" i="1" spc="150">
                        <a:latin typeface="Cambria Math" panose="02040503050406030204" pitchFamily="18" charset="0"/>
                        <a:cs typeface="Source Sans Pro" panose="02020603050405020304" pitchFamily="18" charset="0"/>
                      </a:rPr>
                      <m:t>{</m:t>
                    </m:r>
                    <m:sSubSup>
                      <m:sSubSupPr>
                        <m:ctrlPr>
                          <a:rPr lang="ar-AE" sz="2800" i="1" spc="150">
                            <a:latin typeface="Cambria Math" panose="02040503050406030204" pitchFamily="18" charset="0"/>
                            <a:cs typeface="Source Sans Pro" panose="02020603050405020304" pitchFamily="18" charset="0"/>
                          </a:rPr>
                        </m:ctrlPr>
                      </m:sSubSupPr>
                      <m:e>
                        <m:sSub>
                          <m:sSubPr>
                            <m:ctrlPr>
                              <a:rPr lang="ar-AE" sz="2800" i="1" spc="150">
                                <a:latin typeface="Cambria Math" panose="02040503050406030204" pitchFamily="18" charset="0"/>
                                <a:cs typeface="Source Sans Pro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ar-AE" sz="2800" i="1" spc="150">
                                <a:latin typeface="Cambria Math" panose="02040503050406030204" pitchFamily="18" charset="0"/>
                                <a:cs typeface="Source Sans Pro" panose="020206030504050203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ar-AE" sz="2800" i="1" spc="150">
                                <a:latin typeface="Cambria Math" panose="02040503050406030204" pitchFamily="18" charset="0"/>
                                <a:cs typeface="Source Sans Pro" panose="02020603050405020304" pitchFamily="18" charset="0"/>
                              </a:rPr>
                              <m:t>𝑙</m:t>
                            </m:r>
                          </m:sub>
                        </m:sSub>
                        <m:r>
                          <a:rPr lang="ar-AE" sz="2800" i="1" spc="150">
                            <a:latin typeface="Cambria Math" panose="02040503050406030204" pitchFamily="18" charset="0"/>
                            <a:cs typeface="Source Sans Pro" panose="02020603050405020304" pitchFamily="18" charset="0"/>
                          </a:rPr>
                          <m:t>}</m:t>
                        </m:r>
                      </m:e>
                      <m:sub>
                        <m:r>
                          <a:rPr lang="ar-AE" sz="2800" i="1" spc="150">
                            <a:latin typeface="Cambria Math" panose="02040503050406030204" pitchFamily="18" charset="0"/>
                            <a:cs typeface="Source Sans Pro" panose="02020603050405020304" pitchFamily="18" charset="0"/>
                          </a:rPr>
                          <m:t>1</m:t>
                        </m:r>
                      </m:sub>
                      <m:sup>
                        <m:r>
                          <a:rPr lang="ar-AE" sz="2800" i="1" spc="150">
                            <a:latin typeface="Cambria Math" panose="02040503050406030204" pitchFamily="18" charset="0"/>
                            <a:cs typeface="Source Sans Pro" panose="02020603050405020304" pitchFamily="18" charset="0"/>
                          </a:rPr>
                          <m:t>𝐿</m:t>
                        </m:r>
                      </m:sup>
                    </m:sSubSup>
                  </m:oMath>
                </a14:m>
                <a:r>
                  <a:rPr lang="ar-AE" sz="2800" spc="-10" dirty="0">
                    <a:latin typeface="Source Sans Pro" panose="02020603050405020304" pitchFamily="18" charset="0"/>
                    <a:cs typeface="Source Sans Pro" panose="02020603050405020304" pitchFamily="18" charset="0"/>
                  </a:rPr>
                  <a:t>.</a:t>
                </a:r>
                <a:r>
                  <a:rPr lang="ar-AE" sz="2800" spc="290" dirty="0">
                    <a:latin typeface="Source Sans Pro" panose="02020603050405020304" pitchFamily="18" charset="0"/>
                    <a:cs typeface="Source Sans Pro" panose="02020603050405020304" pitchFamily="18" charset="0"/>
                  </a:rPr>
                  <a:t> </a:t>
                </a:r>
                <a:r>
                  <a:rPr lang="en-US" sz="2800" spc="-25" dirty="0">
                    <a:latin typeface="Source Sans Pro" panose="02020603050405020304" pitchFamily="18" charset="0"/>
                    <a:cs typeface="Source Sans Pro" panose="02020603050405020304" pitchFamily="18" charset="0"/>
                  </a:rPr>
                  <a:t>We </a:t>
                </a:r>
                <a:r>
                  <a:rPr lang="en-US" sz="2800" dirty="0">
                    <a:latin typeface="Source Sans Pro" panose="02020603050405020304" pitchFamily="18" charset="0"/>
                    <a:cs typeface="Source Sans Pro" panose="02020603050405020304" pitchFamily="18" charset="0"/>
                  </a:rPr>
                  <a:t>typically</a:t>
                </a:r>
                <a:r>
                  <a:rPr lang="en-US" sz="2800" spc="185" dirty="0">
                    <a:latin typeface="Source Sans Pro" panose="02020603050405020304" pitchFamily="18" charset="0"/>
                    <a:cs typeface="Source Sans Pro" panose="02020603050405020304" pitchFamily="18" charset="0"/>
                  </a:rPr>
                  <a:t> </a:t>
                </a:r>
                <a:r>
                  <a:rPr lang="en-US" sz="2800" spc="70" dirty="0">
                    <a:latin typeface="Source Sans Pro" panose="02020603050405020304" pitchFamily="18" charset="0"/>
                    <a:cs typeface="Source Sans Pro" panose="02020603050405020304" pitchFamily="18" charset="0"/>
                  </a:rPr>
                  <a:t>truncate/pad</a:t>
                </a:r>
                <a:r>
                  <a:rPr lang="en-US" sz="2800" spc="190" dirty="0">
                    <a:latin typeface="Source Sans Pro" panose="02020603050405020304" pitchFamily="18" charset="0"/>
                    <a:cs typeface="Source Sans Pro" panose="02020603050405020304" pitchFamily="18" charset="0"/>
                  </a:rPr>
                  <a:t> </a:t>
                </a:r>
                <a:r>
                  <a:rPr lang="en-US" sz="2800" spc="55" dirty="0">
                    <a:latin typeface="Source Sans Pro" panose="02020603050405020304" pitchFamily="18" charset="0"/>
                    <a:cs typeface="Source Sans Pro" panose="02020603050405020304" pitchFamily="18" charset="0"/>
                  </a:rPr>
                  <a:t>the</a:t>
                </a:r>
                <a:r>
                  <a:rPr lang="en-US" sz="2800" spc="185" dirty="0">
                    <a:latin typeface="Source Sans Pro" panose="02020603050405020304" pitchFamily="18" charset="0"/>
                    <a:cs typeface="Source Sans Pro" panose="02020603050405020304" pitchFamily="18" charset="0"/>
                  </a:rPr>
                  <a:t> </a:t>
                </a:r>
                <a:r>
                  <a:rPr lang="en-US" sz="2800" dirty="0">
                    <a:latin typeface="Source Sans Pro" panose="02020603050405020304" pitchFamily="18" charset="0"/>
                    <a:cs typeface="Source Sans Pro" panose="02020603050405020304" pitchFamily="18" charset="0"/>
                  </a:rPr>
                  <a:t>documents</a:t>
                </a:r>
                <a:r>
                  <a:rPr lang="en-US" sz="2800" spc="185" dirty="0">
                    <a:latin typeface="Source Sans Pro" panose="02020603050405020304" pitchFamily="18" charset="0"/>
                    <a:cs typeface="Source Sans Pro" panose="02020603050405020304" pitchFamily="18" charset="0"/>
                  </a:rPr>
                  <a:t> </a:t>
                </a:r>
                <a:r>
                  <a:rPr lang="en-US" sz="2800" spc="55" dirty="0">
                    <a:latin typeface="Source Sans Pro" panose="02020603050405020304" pitchFamily="18" charset="0"/>
                    <a:cs typeface="Source Sans Pro" panose="02020603050405020304" pitchFamily="18" charset="0"/>
                  </a:rPr>
                  <a:t>to</a:t>
                </a:r>
                <a:r>
                  <a:rPr lang="en-US" sz="2800" spc="185" dirty="0">
                    <a:latin typeface="Source Sans Pro" panose="02020603050405020304" pitchFamily="18" charset="0"/>
                    <a:cs typeface="Source Sans Pro" panose="02020603050405020304" pitchFamily="18" charset="0"/>
                  </a:rPr>
                  <a:t> </a:t>
                </a:r>
                <a:r>
                  <a:rPr lang="en-US" sz="2800" spc="55" dirty="0">
                    <a:latin typeface="Source Sans Pro" panose="02020603050405020304" pitchFamily="18" charset="0"/>
                    <a:cs typeface="Source Sans Pro" panose="02020603050405020304" pitchFamily="18" charset="0"/>
                  </a:rPr>
                  <a:t>the</a:t>
                </a:r>
                <a:r>
                  <a:rPr lang="en-US" sz="2800" spc="185" dirty="0">
                    <a:latin typeface="Source Sans Pro" panose="02020603050405020304" pitchFamily="18" charset="0"/>
                    <a:cs typeface="Source Sans Pro" panose="02020603050405020304" pitchFamily="18" charset="0"/>
                  </a:rPr>
                  <a:t> </a:t>
                </a:r>
                <a:r>
                  <a:rPr lang="en-US" sz="2800" dirty="0">
                    <a:latin typeface="Source Sans Pro" panose="02020603050405020304" pitchFamily="18" charset="0"/>
                    <a:cs typeface="Source Sans Pro" panose="02020603050405020304" pitchFamily="18" charset="0"/>
                  </a:rPr>
                  <a:t>same</a:t>
                </a:r>
                <a:r>
                  <a:rPr lang="en-US" sz="2800" spc="185" dirty="0">
                    <a:latin typeface="Source Sans Pro" panose="02020603050405020304" pitchFamily="18" charset="0"/>
                    <a:cs typeface="Source Sans Pro" panose="02020603050405020304" pitchFamily="18" charset="0"/>
                  </a:rPr>
                  <a:t> </a:t>
                </a:r>
                <a:r>
                  <a:rPr lang="en-US" sz="2800" spc="-10" dirty="0">
                    <a:latin typeface="Source Sans Pro" panose="02020603050405020304" pitchFamily="18" charset="0"/>
                    <a:cs typeface="Source Sans Pro" panose="02020603050405020304" pitchFamily="18" charset="0"/>
                  </a:rPr>
                  <a:t>number</a:t>
                </a:r>
                <a:r>
                  <a:rPr lang="en-US" sz="2800" dirty="0">
                    <a:latin typeface="Source Sans Pro" panose="02020603050405020304" pitchFamily="18" charset="0"/>
                    <a:cs typeface="Source Sans Pro" panose="02020603050405020304" pitchFamily="18" charset="0"/>
                  </a:rPr>
                  <a:t> </a:t>
                </a:r>
                <a:r>
                  <a:rPr lang="en-US" sz="2800" i="1" spc="70" dirty="0">
                    <a:latin typeface="Source Sans Pro" panose="02020603050405020304" pitchFamily="18" charset="0"/>
                    <a:cs typeface="Source Sans Pro" panose="02020603050405020304" pitchFamily="18" charset="0"/>
                  </a:rPr>
                  <a:t>L</a:t>
                </a:r>
                <a:r>
                  <a:rPr lang="en-US" sz="2800" i="1" spc="105" dirty="0">
                    <a:latin typeface="Source Sans Pro" panose="02020603050405020304" pitchFamily="18" charset="0"/>
                    <a:cs typeface="Source Sans Pro" panose="02020603050405020304" pitchFamily="18" charset="0"/>
                  </a:rPr>
                  <a:t> </a:t>
                </a:r>
                <a:r>
                  <a:rPr lang="en-US" sz="2800" dirty="0">
                    <a:latin typeface="Source Sans Pro" panose="02020603050405020304" pitchFamily="18" charset="0"/>
                    <a:cs typeface="Source Sans Pro" panose="02020603050405020304" pitchFamily="18" charset="0"/>
                  </a:rPr>
                  <a:t>of</a:t>
                </a:r>
                <a:r>
                  <a:rPr lang="en-US" sz="2800" spc="95" dirty="0">
                    <a:latin typeface="Source Sans Pro" panose="02020603050405020304" pitchFamily="18" charset="0"/>
                    <a:cs typeface="Source Sans Pro" panose="02020603050405020304" pitchFamily="18" charset="0"/>
                  </a:rPr>
                  <a:t> </a:t>
                </a:r>
                <a:r>
                  <a:rPr lang="en-US" sz="2800" dirty="0">
                    <a:latin typeface="Source Sans Pro" panose="02020603050405020304" pitchFamily="18" charset="0"/>
                    <a:cs typeface="Source Sans Pro" panose="02020603050405020304" pitchFamily="18" charset="0"/>
                  </a:rPr>
                  <a:t>words</a:t>
                </a:r>
                <a:r>
                  <a:rPr lang="en-US" sz="2800" spc="100" dirty="0">
                    <a:latin typeface="Source Sans Pro" panose="02020603050405020304" pitchFamily="18" charset="0"/>
                    <a:cs typeface="Source Sans Pro" panose="02020603050405020304" pitchFamily="18" charset="0"/>
                  </a:rPr>
                  <a:t> </a:t>
                </a:r>
                <a:r>
                  <a:rPr lang="en-US" sz="2800" dirty="0">
                    <a:latin typeface="Source Sans Pro" panose="02020603050405020304" pitchFamily="18" charset="0"/>
                    <a:cs typeface="Source Sans Pro" panose="02020603050405020304" pitchFamily="18" charset="0"/>
                  </a:rPr>
                  <a:t>(we</a:t>
                </a:r>
                <a:r>
                  <a:rPr lang="en-US" sz="2800" spc="95" dirty="0">
                    <a:latin typeface="Source Sans Pro" panose="02020603050405020304" pitchFamily="18" charset="0"/>
                    <a:cs typeface="Source Sans Pro" panose="02020603050405020304" pitchFamily="18" charset="0"/>
                  </a:rPr>
                  <a:t> </a:t>
                </a:r>
                <a:r>
                  <a:rPr lang="en-US" sz="2800" dirty="0">
                    <a:latin typeface="Source Sans Pro" panose="02020603050405020304" pitchFamily="18" charset="0"/>
                    <a:cs typeface="Source Sans Pro" panose="02020603050405020304" pitchFamily="18" charset="0"/>
                  </a:rPr>
                  <a:t>use</a:t>
                </a:r>
                <a:r>
                  <a:rPr lang="en-US" sz="2800" spc="95" dirty="0">
                    <a:latin typeface="Source Sans Pro" panose="02020603050405020304" pitchFamily="18" charset="0"/>
                    <a:cs typeface="Source Sans Pro" panose="02020603050405020304" pitchFamily="18" charset="0"/>
                  </a:rPr>
                  <a:t> </a:t>
                </a:r>
                <a:r>
                  <a:rPr lang="en-US" sz="2800" i="1" spc="70" dirty="0">
                    <a:latin typeface="Source Sans Pro" panose="02020603050405020304" pitchFamily="18" charset="0"/>
                    <a:cs typeface="Source Sans Pro" panose="02020603050405020304" pitchFamily="18" charset="0"/>
                  </a:rPr>
                  <a:t>L</a:t>
                </a:r>
                <a:r>
                  <a:rPr lang="en-US" sz="2800" i="1" spc="45" dirty="0">
                    <a:latin typeface="Source Sans Pro" panose="02020603050405020304" pitchFamily="18" charset="0"/>
                    <a:cs typeface="Source Sans Pro" panose="02020603050405020304" pitchFamily="18" charset="0"/>
                  </a:rPr>
                  <a:t> </a:t>
                </a:r>
                <a:r>
                  <a:rPr lang="en-US" sz="2800" spc="215" dirty="0">
                    <a:latin typeface="Source Sans Pro" panose="02020603050405020304" pitchFamily="18" charset="0"/>
                    <a:cs typeface="Source Sans Pro" panose="02020603050405020304" pitchFamily="18" charset="0"/>
                  </a:rPr>
                  <a:t>=</a:t>
                </a:r>
                <a:r>
                  <a:rPr lang="en-US" sz="2800" spc="35" dirty="0">
                    <a:latin typeface="Source Sans Pro" panose="02020603050405020304" pitchFamily="18" charset="0"/>
                    <a:cs typeface="Source Sans Pro" panose="02020603050405020304" pitchFamily="18" charset="0"/>
                  </a:rPr>
                  <a:t> </a:t>
                </a:r>
                <a:r>
                  <a:rPr lang="en-US" sz="2800" spc="-10" dirty="0">
                    <a:latin typeface="Source Sans Pro" panose="02020603050405020304" pitchFamily="18" charset="0"/>
                    <a:cs typeface="Source Sans Pro" panose="02020603050405020304" pitchFamily="18" charset="0"/>
                  </a:rPr>
                  <a:t>500).</a:t>
                </a:r>
                <a:endParaRPr lang="en-US" sz="2800" dirty="0">
                  <a:latin typeface="Source Sans Pro" panose="02020603050405020304" pitchFamily="18" charset="0"/>
                  <a:cs typeface="Source Sans Pro" panose="02020603050405020304" pitchFamily="18" charset="0"/>
                </a:endParaRPr>
              </a:p>
              <a:p>
                <a:pPr marL="380365" marR="92075" indent="-342900">
                  <a:lnSpc>
                    <a:spcPct val="102600"/>
                  </a:lnSpc>
                  <a:spcBef>
                    <a:spcPts val="900"/>
                  </a:spcBef>
                  <a:buClr>
                    <a:srgbClr val="3333B2"/>
                  </a:buClr>
                  <a:buFont typeface="Source Sans Pro" panose="020B0604020202020204" pitchFamily="34" charset="0"/>
                  <a:buChar char="•"/>
                  <a:tabLst>
                    <a:tab pos="176530" algn="l"/>
                  </a:tabLst>
                </a:pPr>
                <a:r>
                  <a:rPr lang="en-US" sz="2800" dirty="0">
                    <a:latin typeface="Source Sans Pro" panose="02020603050405020304" pitchFamily="18" charset="0"/>
                    <a:cs typeface="Source Sans Pro" panose="02020603050405020304" pitchFamily="18" charset="0"/>
                  </a:rPr>
                  <a:t>Each</a:t>
                </a:r>
                <a:r>
                  <a:rPr lang="en-US" sz="2800" spc="150" dirty="0">
                    <a:latin typeface="Source Sans Pro" panose="02020603050405020304" pitchFamily="18" charset="0"/>
                    <a:cs typeface="Source Sans Pro" panose="02020603050405020304" pitchFamily="18" charset="0"/>
                  </a:rPr>
                  <a:t> </a:t>
                </a:r>
                <a:r>
                  <a:rPr lang="en-US" sz="2800" dirty="0">
                    <a:latin typeface="Source Sans Pro" panose="02020603050405020304" pitchFamily="18" charset="0"/>
                    <a:cs typeface="Source Sans Pro" panose="02020603050405020304" pitchFamily="18" charset="0"/>
                  </a:rPr>
                  <a:t>word</a:t>
                </a:r>
                <a:r>
                  <a:rPr lang="en-US" sz="2800" spc="150" dirty="0">
                    <a:latin typeface="Source Sans Pro" panose="02020603050405020304" pitchFamily="18" charset="0"/>
                    <a:cs typeface="Source Sans Pro" panose="02020603050405020304" pitchFamily="18" charset="0"/>
                  </a:rPr>
                  <a:t> </a:t>
                </a:r>
                <a:r>
                  <a:rPr lang="en-US" sz="2800" i="1" spc="-30" dirty="0" err="1">
                    <a:latin typeface="Source Sans Pro" panose="02020603050405020304" pitchFamily="18" charset="0"/>
                    <a:cs typeface="Source Sans Pro" panose="02020603050405020304" pitchFamily="18" charset="0"/>
                  </a:rPr>
                  <a:t>W</a:t>
                </a:r>
                <a:r>
                  <a:rPr lang="en-US" sz="3200" i="1" spc="-44" baseline="-13888" dirty="0" err="1">
                    <a:latin typeface="Source Sans Pro" panose="02020603050405020304" pitchFamily="18" charset="0"/>
                    <a:cs typeface="Source Sans Pro" panose="02020603050405020304" pitchFamily="18" charset="0"/>
                  </a:rPr>
                  <a:t>l</a:t>
                </a:r>
                <a:r>
                  <a:rPr lang="en-US" sz="3200" i="1" spc="419" baseline="-13888" dirty="0">
                    <a:latin typeface="Source Sans Pro" panose="02020603050405020304" pitchFamily="18" charset="0"/>
                    <a:cs typeface="Source Sans Pro" panose="02020603050405020304" pitchFamily="18" charset="0"/>
                  </a:rPr>
                  <a:t> </a:t>
                </a:r>
                <a:r>
                  <a:rPr lang="en-US" sz="2800" dirty="0">
                    <a:latin typeface="Source Sans Pro" panose="02020603050405020304" pitchFamily="18" charset="0"/>
                    <a:cs typeface="Source Sans Pro" panose="02020603050405020304" pitchFamily="18" charset="0"/>
                  </a:rPr>
                  <a:t>is</a:t>
                </a:r>
                <a:r>
                  <a:rPr lang="en-US" sz="2800" spc="150" dirty="0">
                    <a:latin typeface="Source Sans Pro" panose="02020603050405020304" pitchFamily="18" charset="0"/>
                    <a:cs typeface="Source Sans Pro" panose="02020603050405020304" pitchFamily="18" charset="0"/>
                  </a:rPr>
                  <a:t> </a:t>
                </a:r>
                <a:r>
                  <a:rPr lang="en-US" sz="2800" dirty="0">
                    <a:latin typeface="Source Sans Pro" panose="02020603050405020304" pitchFamily="18" charset="0"/>
                    <a:cs typeface="Source Sans Pro" panose="02020603050405020304" pitchFamily="18" charset="0"/>
                  </a:rPr>
                  <a:t>represented</a:t>
                </a:r>
                <a:r>
                  <a:rPr lang="en-US" sz="2800" spc="150" dirty="0">
                    <a:latin typeface="Source Sans Pro" panose="02020603050405020304" pitchFamily="18" charset="0"/>
                    <a:cs typeface="Source Sans Pro" panose="02020603050405020304" pitchFamily="18" charset="0"/>
                  </a:rPr>
                  <a:t> </a:t>
                </a:r>
                <a:r>
                  <a:rPr lang="en-US" sz="2800" dirty="0">
                    <a:latin typeface="Source Sans Pro" panose="02020603050405020304" pitchFamily="18" charset="0"/>
                    <a:cs typeface="Source Sans Pro" panose="02020603050405020304" pitchFamily="18" charset="0"/>
                  </a:rPr>
                  <a:t>as</a:t>
                </a:r>
                <a:r>
                  <a:rPr lang="en-US" sz="2800" spc="150" dirty="0">
                    <a:latin typeface="Source Sans Pro" panose="02020603050405020304" pitchFamily="18" charset="0"/>
                    <a:cs typeface="Source Sans Pro" panose="02020603050405020304" pitchFamily="18" charset="0"/>
                  </a:rPr>
                  <a:t> </a:t>
                </a:r>
                <a:r>
                  <a:rPr lang="en-US" sz="2800" spc="50" dirty="0">
                    <a:latin typeface="Source Sans Pro" panose="02020603050405020304" pitchFamily="18" charset="0"/>
                    <a:cs typeface="Source Sans Pro" panose="02020603050405020304" pitchFamily="18" charset="0"/>
                  </a:rPr>
                  <a:t>a</a:t>
                </a:r>
                <a:r>
                  <a:rPr lang="en-US" sz="2800" spc="150" dirty="0">
                    <a:latin typeface="Source Sans Pro" panose="02020603050405020304" pitchFamily="18" charset="0"/>
                    <a:cs typeface="Source Sans Pro" panose="02020603050405020304" pitchFamily="18" charset="0"/>
                  </a:rPr>
                  <a:t> </a:t>
                </a:r>
                <a:r>
                  <a:rPr lang="en-US" sz="2800" i="1" dirty="0">
                    <a:solidFill>
                      <a:srgbClr val="009900"/>
                    </a:solidFill>
                    <a:latin typeface="Source Sans Pro" panose="02020603050405020304" pitchFamily="18" charset="0"/>
                    <a:cs typeface="Source Sans Pro" panose="02020603050405020304" pitchFamily="18" charset="0"/>
                  </a:rPr>
                  <a:t>one-hot</a:t>
                </a:r>
                <a:r>
                  <a:rPr lang="en-US" sz="2800" i="1" spc="185" dirty="0">
                    <a:solidFill>
                      <a:srgbClr val="009900"/>
                    </a:solidFill>
                    <a:latin typeface="Source Sans Pro" panose="02020603050405020304" pitchFamily="18" charset="0"/>
                    <a:cs typeface="Source Sans Pro" panose="02020603050405020304" pitchFamily="18" charset="0"/>
                  </a:rPr>
                  <a:t> </a:t>
                </a:r>
                <a:r>
                  <a:rPr lang="en-US" sz="2800" i="1" dirty="0">
                    <a:solidFill>
                      <a:srgbClr val="009900"/>
                    </a:solidFill>
                    <a:latin typeface="Source Sans Pro" panose="02020603050405020304" pitchFamily="18" charset="0"/>
                    <a:cs typeface="Source Sans Pro" panose="02020603050405020304" pitchFamily="18" charset="0"/>
                  </a:rPr>
                  <a:t>encoded</a:t>
                </a:r>
                <a:r>
                  <a:rPr lang="en-US" sz="2800" i="1" spc="150" dirty="0">
                    <a:solidFill>
                      <a:srgbClr val="009900"/>
                    </a:solidFill>
                    <a:latin typeface="Source Sans Pro" panose="02020603050405020304" pitchFamily="18" charset="0"/>
                    <a:cs typeface="Source Sans Pro" panose="02020603050405020304" pitchFamily="18" charset="0"/>
                  </a:rPr>
                  <a:t> </a:t>
                </a:r>
                <a:r>
                  <a:rPr lang="en-US" sz="2800" spc="-10" dirty="0">
                    <a:latin typeface="Source Sans Pro" panose="02020603050405020304" pitchFamily="18" charset="0"/>
                    <a:cs typeface="Source Sans Pro" panose="02020603050405020304" pitchFamily="18" charset="0"/>
                  </a:rPr>
                  <a:t>binary </a:t>
                </a:r>
                <a:r>
                  <a:rPr lang="en-US" sz="2800" dirty="0">
                    <a:latin typeface="Source Sans Pro" panose="02020603050405020304" pitchFamily="18" charset="0"/>
                    <a:cs typeface="Source Sans Pro" panose="02020603050405020304" pitchFamily="18" charset="0"/>
                  </a:rPr>
                  <a:t>vector</a:t>
                </a:r>
                <a:r>
                  <a:rPr lang="en-US" sz="2800" spc="195" dirty="0">
                    <a:latin typeface="Source Sans Pro" panose="02020603050405020304" pitchFamily="18" charset="0"/>
                    <a:cs typeface="Source Sans Pro" panose="02020603050405020304" pitchFamily="18" charset="0"/>
                  </a:rPr>
                  <a:t> </a:t>
                </a:r>
                <a:r>
                  <a:rPr lang="en-US" sz="2800" i="1" dirty="0" err="1">
                    <a:latin typeface="Source Sans Pro" panose="02020603050405020304" pitchFamily="18" charset="0"/>
                    <a:cs typeface="Source Sans Pro" panose="02020603050405020304" pitchFamily="18" charset="0"/>
                  </a:rPr>
                  <a:t>X</a:t>
                </a:r>
                <a:r>
                  <a:rPr lang="en-US" sz="3200" i="1" baseline="-13888" dirty="0" err="1">
                    <a:latin typeface="Source Sans Pro" panose="02020603050405020304" pitchFamily="18" charset="0"/>
                    <a:cs typeface="Source Sans Pro" panose="02020603050405020304" pitchFamily="18" charset="0"/>
                  </a:rPr>
                  <a:t>l</a:t>
                </a:r>
                <a:r>
                  <a:rPr lang="en-US" sz="3200" i="1" spc="494" baseline="-13888" dirty="0">
                    <a:latin typeface="Source Sans Pro" panose="02020603050405020304" pitchFamily="18" charset="0"/>
                    <a:cs typeface="Source Sans Pro" panose="02020603050405020304" pitchFamily="18" charset="0"/>
                  </a:rPr>
                  <a:t> </a:t>
                </a:r>
                <a:r>
                  <a:rPr lang="en-US" sz="2800" dirty="0">
                    <a:latin typeface="Source Sans Pro" panose="02020603050405020304" pitchFamily="18" charset="0"/>
                    <a:cs typeface="Source Sans Pro" panose="02020603050405020304" pitchFamily="18" charset="0"/>
                  </a:rPr>
                  <a:t>(dummy</a:t>
                </a:r>
                <a:r>
                  <a:rPr lang="en-US" sz="2800" spc="204" dirty="0">
                    <a:latin typeface="Source Sans Pro" panose="02020603050405020304" pitchFamily="18" charset="0"/>
                    <a:cs typeface="Source Sans Pro" panose="02020603050405020304" pitchFamily="18" charset="0"/>
                  </a:rPr>
                  <a:t> </a:t>
                </a:r>
                <a:r>
                  <a:rPr lang="en-US" sz="2800" dirty="0">
                    <a:latin typeface="Source Sans Pro" panose="02020603050405020304" pitchFamily="18" charset="0"/>
                    <a:cs typeface="Source Sans Pro" panose="02020603050405020304" pitchFamily="18" charset="0"/>
                  </a:rPr>
                  <a:t>variable)</a:t>
                </a:r>
                <a:r>
                  <a:rPr lang="en-US" sz="2800" spc="195" dirty="0">
                    <a:latin typeface="Source Sans Pro" panose="02020603050405020304" pitchFamily="18" charset="0"/>
                    <a:cs typeface="Source Sans Pro" panose="02020603050405020304" pitchFamily="18" charset="0"/>
                  </a:rPr>
                  <a:t> </a:t>
                </a:r>
                <a:r>
                  <a:rPr lang="en-US" sz="2800" dirty="0">
                    <a:latin typeface="Source Sans Pro" panose="02020603050405020304" pitchFamily="18" charset="0"/>
                    <a:cs typeface="Source Sans Pro" panose="02020603050405020304" pitchFamily="18" charset="0"/>
                  </a:rPr>
                  <a:t>of</a:t>
                </a:r>
                <a:r>
                  <a:rPr lang="en-US" sz="2800" spc="195" dirty="0">
                    <a:latin typeface="Source Sans Pro" panose="02020603050405020304" pitchFamily="18" charset="0"/>
                    <a:cs typeface="Source Sans Pro" panose="02020603050405020304" pitchFamily="18" charset="0"/>
                  </a:rPr>
                  <a:t> </a:t>
                </a:r>
                <a:r>
                  <a:rPr lang="en-US" sz="2800" dirty="0">
                    <a:latin typeface="Source Sans Pro" panose="02020603050405020304" pitchFamily="18" charset="0"/>
                    <a:cs typeface="Source Sans Pro" panose="02020603050405020304" pitchFamily="18" charset="0"/>
                  </a:rPr>
                  <a:t>length</a:t>
                </a:r>
                <a:r>
                  <a:rPr lang="en-US" sz="2800" spc="204" dirty="0">
                    <a:latin typeface="Source Sans Pro" panose="02020603050405020304" pitchFamily="18" charset="0"/>
                    <a:cs typeface="Source Sans Pro" panose="02020603050405020304" pitchFamily="18" charset="0"/>
                  </a:rPr>
                  <a:t> </a:t>
                </a:r>
                <a:r>
                  <a:rPr lang="en-US" sz="2800" spc="60" dirty="0">
                    <a:latin typeface="Source Sans Pro" panose="02020603050405020304" pitchFamily="18" charset="0"/>
                    <a:cs typeface="Source Sans Pro" panose="02020603050405020304" pitchFamily="18" charset="0"/>
                  </a:rPr>
                  <a:t>10</a:t>
                </a:r>
                <a:r>
                  <a:rPr lang="en-US" sz="2800" i="1" spc="60" dirty="0">
                    <a:latin typeface="Source Sans Pro" panose="02020603050405020304" pitchFamily="18" charset="0"/>
                    <a:cs typeface="Source Sans Pro" panose="02020603050405020304" pitchFamily="18" charset="0"/>
                  </a:rPr>
                  <a:t>K</a:t>
                </a:r>
                <a:r>
                  <a:rPr lang="en-US" sz="2800" spc="60" dirty="0">
                    <a:latin typeface="Source Sans Pro" panose="02020603050405020304" pitchFamily="18" charset="0"/>
                    <a:cs typeface="Source Sans Pro" panose="02020603050405020304" pitchFamily="18" charset="0"/>
                  </a:rPr>
                  <a:t>,</a:t>
                </a:r>
                <a:r>
                  <a:rPr lang="en-US" sz="2800" spc="195" dirty="0">
                    <a:latin typeface="Source Sans Pro" panose="02020603050405020304" pitchFamily="18" charset="0"/>
                    <a:cs typeface="Source Sans Pro" panose="02020603050405020304" pitchFamily="18" charset="0"/>
                  </a:rPr>
                  <a:t> </a:t>
                </a:r>
                <a:r>
                  <a:rPr lang="en-US" sz="2800" dirty="0">
                    <a:latin typeface="Source Sans Pro" panose="02020603050405020304" pitchFamily="18" charset="0"/>
                    <a:cs typeface="Source Sans Pro" panose="02020603050405020304" pitchFamily="18" charset="0"/>
                  </a:rPr>
                  <a:t>with</a:t>
                </a:r>
                <a:r>
                  <a:rPr lang="en-US" sz="2800" spc="200" dirty="0">
                    <a:latin typeface="Source Sans Pro" panose="02020603050405020304" pitchFamily="18" charset="0"/>
                    <a:cs typeface="Source Sans Pro" panose="02020603050405020304" pitchFamily="18" charset="0"/>
                  </a:rPr>
                  <a:t> </a:t>
                </a:r>
                <a:r>
                  <a:rPr lang="en-US" sz="2800" dirty="0">
                    <a:latin typeface="Source Sans Pro" panose="02020603050405020304" pitchFamily="18" charset="0"/>
                    <a:cs typeface="Source Sans Pro" panose="02020603050405020304" pitchFamily="18" charset="0"/>
                  </a:rPr>
                  <a:t>all</a:t>
                </a:r>
                <a:r>
                  <a:rPr lang="en-US" sz="2800" spc="195" dirty="0">
                    <a:latin typeface="Source Sans Pro" panose="02020603050405020304" pitchFamily="18" charset="0"/>
                    <a:cs typeface="Source Sans Pro" panose="02020603050405020304" pitchFamily="18" charset="0"/>
                  </a:rPr>
                  <a:t> </a:t>
                </a:r>
                <a:r>
                  <a:rPr lang="en-US" sz="2800" spc="-20" dirty="0">
                    <a:latin typeface="Source Sans Pro" panose="02020603050405020304" pitchFamily="18" charset="0"/>
                    <a:cs typeface="Source Sans Pro" panose="02020603050405020304" pitchFamily="18" charset="0"/>
                  </a:rPr>
                  <a:t>zeros </a:t>
                </a:r>
                <a:r>
                  <a:rPr lang="en-US" sz="2800" spc="50" dirty="0">
                    <a:latin typeface="Source Sans Pro" panose="02020603050405020304" pitchFamily="18" charset="0"/>
                    <a:cs typeface="Source Sans Pro" panose="02020603050405020304" pitchFamily="18" charset="0"/>
                  </a:rPr>
                  <a:t>and</a:t>
                </a:r>
                <a:r>
                  <a:rPr lang="en-US" sz="2800" spc="135" dirty="0">
                    <a:latin typeface="Source Sans Pro" panose="02020603050405020304" pitchFamily="18" charset="0"/>
                    <a:cs typeface="Source Sans Pro" panose="02020603050405020304" pitchFamily="18" charset="0"/>
                  </a:rPr>
                  <a:t> </a:t>
                </a:r>
                <a:r>
                  <a:rPr lang="en-US" sz="2800" spc="50" dirty="0">
                    <a:latin typeface="Source Sans Pro" panose="02020603050405020304" pitchFamily="18" charset="0"/>
                    <a:cs typeface="Source Sans Pro" panose="02020603050405020304" pitchFamily="18" charset="0"/>
                  </a:rPr>
                  <a:t>a</a:t>
                </a:r>
                <a:r>
                  <a:rPr lang="en-US" sz="2800" spc="135" dirty="0">
                    <a:latin typeface="Source Sans Pro" panose="02020603050405020304" pitchFamily="18" charset="0"/>
                    <a:cs typeface="Source Sans Pro" panose="02020603050405020304" pitchFamily="18" charset="0"/>
                  </a:rPr>
                  <a:t> </a:t>
                </a:r>
                <a:r>
                  <a:rPr lang="en-US" sz="2800" dirty="0">
                    <a:latin typeface="Source Sans Pro" panose="02020603050405020304" pitchFamily="18" charset="0"/>
                    <a:cs typeface="Source Sans Pro" panose="02020603050405020304" pitchFamily="18" charset="0"/>
                  </a:rPr>
                  <a:t>single</a:t>
                </a:r>
                <a:r>
                  <a:rPr lang="en-US" sz="2800" spc="140" dirty="0">
                    <a:latin typeface="Source Sans Pro" panose="02020603050405020304" pitchFamily="18" charset="0"/>
                    <a:cs typeface="Source Sans Pro" panose="02020603050405020304" pitchFamily="18" charset="0"/>
                  </a:rPr>
                  <a:t> </a:t>
                </a:r>
                <a:r>
                  <a:rPr lang="en-US" sz="2800" dirty="0">
                    <a:latin typeface="Source Sans Pro" panose="02020603050405020304" pitchFamily="18" charset="0"/>
                    <a:cs typeface="Source Sans Pro" panose="02020603050405020304" pitchFamily="18" charset="0"/>
                  </a:rPr>
                  <a:t>one</a:t>
                </a:r>
                <a:r>
                  <a:rPr lang="en-US" sz="2800" spc="135" dirty="0">
                    <a:latin typeface="Source Sans Pro" panose="02020603050405020304" pitchFamily="18" charset="0"/>
                    <a:cs typeface="Source Sans Pro" panose="02020603050405020304" pitchFamily="18" charset="0"/>
                  </a:rPr>
                  <a:t> </a:t>
                </a:r>
                <a:r>
                  <a:rPr lang="en-US" sz="2800" dirty="0">
                    <a:latin typeface="Source Sans Pro" panose="02020603050405020304" pitchFamily="18" charset="0"/>
                    <a:cs typeface="Source Sans Pro" panose="02020603050405020304" pitchFamily="18" charset="0"/>
                  </a:rPr>
                  <a:t>in</a:t>
                </a:r>
                <a:r>
                  <a:rPr lang="en-US" sz="2800" spc="140" dirty="0">
                    <a:latin typeface="Source Sans Pro" panose="02020603050405020304" pitchFamily="18" charset="0"/>
                    <a:cs typeface="Source Sans Pro" panose="02020603050405020304" pitchFamily="18" charset="0"/>
                  </a:rPr>
                  <a:t> </a:t>
                </a:r>
                <a:r>
                  <a:rPr lang="en-US" sz="2800" spc="55" dirty="0">
                    <a:latin typeface="Source Sans Pro" panose="02020603050405020304" pitchFamily="18" charset="0"/>
                    <a:cs typeface="Source Sans Pro" panose="02020603050405020304" pitchFamily="18" charset="0"/>
                  </a:rPr>
                  <a:t>the</a:t>
                </a:r>
                <a:r>
                  <a:rPr lang="en-US" sz="2800" spc="135" dirty="0">
                    <a:latin typeface="Source Sans Pro" panose="02020603050405020304" pitchFamily="18" charset="0"/>
                    <a:cs typeface="Source Sans Pro" panose="02020603050405020304" pitchFamily="18" charset="0"/>
                  </a:rPr>
                  <a:t> </a:t>
                </a:r>
                <a:r>
                  <a:rPr lang="en-US" sz="2800" dirty="0">
                    <a:latin typeface="Source Sans Pro" panose="02020603050405020304" pitchFamily="18" charset="0"/>
                    <a:cs typeface="Source Sans Pro" panose="02020603050405020304" pitchFamily="18" charset="0"/>
                  </a:rPr>
                  <a:t>position</a:t>
                </a:r>
                <a:r>
                  <a:rPr lang="en-US" sz="2800" spc="135" dirty="0">
                    <a:latin typeface="Source Sans Pro" panose="02020603050405020304" pitchFamily="18" charset="0"/>
                    <a:cs typeface="Source Sans Pro" panose="02020603050405020304" pitchFamily="18" charset="0"/>
                  </a:rPr>
                  <a:t> </a:t>
                </a:r>
                <a:r>
                  <a:rPr lang="en-US" sz="2800" dirty="0">
                    <a:latin typeface="Source Sans Pro" panose="02020603050405020304" pitchFamily="18" charset="0"/>
                    <a:cs typeface="Source Sans Pro" panose="02020603050405020304" pitchFamily="18" charset="0"/>
                  </a:rPr>
                  <a:t>for</a:t>
                </a:r>
                <a:r>
                  <a:rPr lang="en-US" sz="2800" spc="140" dirty="0">
                    <a:latin typeface="Source Sans Pro" panose="02020603050405020304" pitchFamily="18" charset="0"/>
                    <a:cs typeface="Source Sans Pro" panose="02020603050405020304" pitchFamily="18" charset="0"/>
                  </a:rPr>
                  <a:t> </a:t>
                </a:r>
                <a:r>
                  <a:rPr lang="en-US" sz="2800" spc="85" dirty="0">
                    <a:latin typeface="Source Sans Pro" panose="02020603050405020304" pitchFamily="18" charset="0"/>
                    <a:cs typeface="Source Sans Pro" panose="02020603050405020304" pitchFamily="18" charset="0"/>
                  </a:rPr>
                  <a:t>that</a:t>
                </a:r>
                <a:r>
                  <a:rPr lang="en-US" sz="2800" spc="135" dirty="0">
                    <a:latin typeface="Source Sans Pro" panose="02020603050405020304" pitchFamily="18" charset="0"/>
                    <a:cs typeface="Source Sans Pro" panose="02020603050405020304" pitchFamily="18" charset="0"/>
                  </a:rPr>
                  <a:t> </a:t>
                </a:r>
                <a:r>
                  <a:rPr lang="en-US" sz="2800" dirty="0">
                    <a:latin typeface="Source Sans Pro" panose="02020603050405020304" pitchFamily="18" charset="0"/>
                    <a:cs typeface="Source Sans Pro" panose="02020603050405020304" pitchFamily="18" charset="0"/>
                  </a:rPr>
                  <a:t>word</a:t>
                </a:r>
                <a:r>
                  <a:rPr lang="en-US" sz="2800" spc="140" dirty="0">
                    <a:latin typeface="Source Sans Pro" panose="02020603050405020304" pitchFamily="18" charset="0"/>
                    <a:cs typeface="Source Sans Pro" panose="02020603050405020304" pitchFamily="18" charset="0"/>
                  </a:rPr>
                  <a:t> </a:t>
                </a:r>
                <a:r>
                  <a:rPr lang="en-US" sz="2800" dirty="0">
                    <a:latin typeface="Source Sans Pro" panose="02020603050405020304" pitchFamily="18" charset="0"/>
                    <a:cs typeface="Source Sans Pro" panose="02020603050405020304" pitchFamily="18" charset="0"/>
                  </a:rPr>
                  <a:t>in</a:t>
                </a:r>
                <a:r>
                  <a:rPr lang="en-US" sz="2800" spc="135" dirty="0">
                    <a:latin typeface="Source Sans Pro" panose="02020603050405020304" pitchFamily="18" charset="0"/>
                    <a:cs typeface="Source Sans Pro" panose="02020603050405020304" pitchFamily="18" charset="0"/>
                  </a:rPr>
                  <a:t> </a:t>
                </a:r>
                <a:r>
                  <a:rPr lang="en-US" sz="2800" spc="30" dirty="0">
                    <a:latin typeface="Source Sans Pro" panose="02020603050405020304" pitchFamily="18" charset="0"/>
                    <a:cs typeface="Source Sans Pro" panose="02020603050405020304" pitchFamily="18" charset="0"/>
                  </a:rPr>
                  <a:t>the </a:t>
                </a:r>
                <a:r>
                  <a:rPr lang="en-US" sz="2800" spc="-10" dirty="0">
                    <a:latin typeface="Source Sans Pro" panose="02020603050405020304" pitchFamily="18" charset="0"/>
                    <a:cs typeface="Source Sans Pro" panose="02020603050405020304" pitchFamily="18" charset="0"/>
                  </a:rPr>
                  <a:t>dictionary.</a:t>
                </a:r>
              </a:p>
              <a:p>
                <a:pPr marL="380365" marR="56515" indent="-342900">
                  <a:lnSpc>
                    <a:spcPct val="102600"/>
                  </a:lnSpc>
                  <a:spcBef>
                    <a:spcPts val="900"/>
                  </a:spcBef>
                  <a:buClr>
                    <a:srgbClr val="3333B2"/>
                  </a:buClr>
                  <a:buFont typeface="Source Sans Pro" panose="020B0604020202020204" pitchFamily="34" charset="0"/>
                  <a:buChar char="•"/>
                  <a:tabLst>
                    <a:tab pos="176530" algn="l"/>
                  </a:tabLst>
                </a:pPr>
                <a:r>
                  <a:rPr lang="en-US" sz="2800" dirty="0">
                    <a:latin typeface="Source Sans Pro" panose="02020603050405020304" pitchFamily="18" charset="0"/>
                    <a:cs typeface="Source Sans Pro" panose="02020603050405020304" pitchFamily="18" charset="0"/>
                  </a:rPr>
                  <a:t>This</a:t>
                </a:r>
                <a:r>
                  <a:rPr lang="en-US" sz="2800" spc="240" dirty="0">
                    <a:latin typeface="Source Sans Pro" panose="02020603050405020304" pitchFamily="18" charset="0"/>
                    <a:cs typeface="Source Sans Pro" panose="02020603050405020304" pitchFamily="18" charset="0"/>
                  </a:rPr>
                  <a:t> </a:t>
                </a:r>
                <a:r>
                  <a:rPr lang="en-US" sz="2800" dirty="0">
                    <a:latin typeface="Source Sans Pro" panose="02020603050405020304" pitchFamily="18" charset="0"/>
                    <a:cs typeface="Source Sans Pro" panose="02020603050405020304" pitchFamily="18" charset="0"/>
                  </a:rPr>
                  <a:t>results</a:t>
                </a:r>
                <a:r>
                  <a:rPr lang="en-US" sz="2800" spc="245" dirty="0">
                    <a:latin typeface="Source Sans Pro" panose="02020603050405020304" pitchFamily="18" charset="0"/>
                    <a:cs typeface="Source Sans Pro" panose="02020603050405020304" pitchFamily="18" charset="0"/>
                  </a:rPr>
                  <a:t> </a:t>
                </a:r>
                <a:r>
                  <a:rPr lang="en-US" sz="2800" dirty="0">
                    <a:latin typeface="Source Sans Pro" panose="02020603050405020304" pitchFamily="18" charset="0"/>
                    <a:cs typeface="Source Sans Pro" panose="02020603050405020304" pitchFamily="18" charset="0"/>
                  </a:rPr>
                  <a:t>in</a:t>
                </a:r>
                <a:r>
                  <a:rPr lang="en-US" sz="2800" spc="240" dirty="0">
                    <a:latin typeface="Source Sans Pro" panose="02020603050405020304" pitchFamily="18" charset="0"/>
                    <a:cs typeface="Source Sans Pro" panose="02020603050405020304" pitchFamily="18" charset="0"/>
                  </a:rPr>
                  <a:t> </a:t>
                </a:r>
                <a:r>
                  <a:rPr lang="en-US" sz="2800" spc="50" dirty="0">
                    <a:latin typeface="Source Sans Pro" panose="02020603050405020304" pitchFamily="18" charset="0"/>
                    <a:cs typeface="Source Sans Pro" panose="02020603050405020304" pitchFamily="18" charset="0"/>
                  </a:rPr>
                  <a:t>an</a:t>
                </a:r>
                <a:r>
                  <a:rPr lang="en-US" sz="2800" spc="245" dirty="0">
                    <a:latin typeface="Source Sans Pro" panose="02020603050405020304" pitchFamily="18" charset="0"/>
                    <a:cs typeface="Source Sans Pro" panose="02020603050405020304" pitchFamily="18" charset="0"/>
                  </a:rPr>
                  <a:t> </a:t>
                </a:r>
                <a:r>
                  <a:rPr lang="en-US" sz="2800" dirty="0">
                    <a:latin typeface="Source Sans Pro" panose="02020603050405020304" pitchFamily="18" charset="0"/>
                    <a:cs typeface="Source Sans Pro" panose="02020603050405020304" pitchFamily="18" charset="0"/>
                  </a:rPr>
                  <a:t>extremely</a:t>
                </a:r>
                <a:r>
                  <a:rPr lang="en-US" sz="2800" spc="250" dirty="0">
                    <a:latin typeface="Source Sans Pro" panose="02020603050405020304" pitchFamily="18" charset="0"/>
                    <a:cs typeface="Source Sans Pro" panose="02020603050405020304" pitchFamily="18" charset="0"/>
                  </a:rPr>
                  <a:t> </a:t>
                </a:r>
                <a:r>
                  <a:rPr lang="en-US" sz="2800" dirty="0">
                    <a:latin typeface="Source Sans Pro" panose="02020603050405020304" pitchFamily="18" charset="0"/>
                    <a:cs typeface="Source Sans Pro" panose="02020603050405020304" pitchFamily="18" charset="0"/>
                  </a:rPr>
                  <a:t>sparse</a:t>
                </a:r>
                <a:r>
                  <a:rPr lang="en-US" sz="2800" spc="245" dirty="0">
                    <a:latin typeface="Source Sans Pro" panose="02020603050405020304" pitchFamily="18" charset="0"/>
                    <a:cs typeface="Source Sans Pro" panose="02020603050405020304" pitchFamily="18" charset="0"/>
                  </a:rPr>
                  <a:t> </a:t>
                </a:r>
                <a:r>
                  <a:rPr lang="en-US" sz="2800" dirty="0">
                    <a:latin typeface="Source Sans Pro" panose="02020603050405020304" pitchFamily="18" charset="0"/>
                    <a:cs typeface="Source Sans Pro" panose="02020603050405020304" pitchFamily="18" charset="0"/>
                  </a:rPr>
                  <a:t>feature</a:t>
                </a:r>
                <a:r>
                  <a:rPr lang="en-US" sz="2800" spc="240" dirty="0">
                    <a:latin typeface="Source Sans Pro" panose="02020603050405020304" pitchFamily="18" charset="0"/>
                    <a:cs typeface="Source Sans Pro" panose="02020603050405020304" pitchFamily="18" charset="0"/>
                  </a:rPr>
                  <a:t> </a:t>
                </a:r>
                <a:r>
                  <a:rPr lang="en-US" sz="2800" spc="-10" dirty="0">
                    <a:latin typeface="Source Sans Pro" panose="02020603050405020304" pitchFamily="18" charset="0"/>
                    <a:cs typeface="Source Sans Pro" panose="02020603050405020304" pitchFamily="18" charset="0"/>
                  </a:rPr>
                  <a:t>representation, </a:t>
                </a:r>
                <a:r>
                  <a:rPr lang="en-US" sz="2800" spc="50" dirty="0">
                    <a:latin typeface="Source Sans Pro" panose="02020603050405020304" pitchFamily="18" charset="0"/>
                    <a:cs typeface="Source Sans Pro" panose="02020603050405020304" pitchFamily="18" charset="0"/>
                  </a:rPr>
                  <a:t>and</a:t>
                </a:r>
                <a:r>
                  <a:rPr lang="en-US" sz="2800" spc="105" dirty="0">
                    <a:latin typeface="Source Sans Pro" panose="02020603050405020304" pitchFamily="18" charset="0"/>
                    <a:cs typeface="Source Sans Pro" panose="02020603050405020304" pitchFamily="18" charset="0"/>
                  </a:rPr>
                  <a:t> </a:t>
                </a:r>
                <a:r>
                  <a:rPr lang="en-US" sz="2800" dirty="0">
                    <a:latin typeface="Source Sans Pro" panose="02020603050405020304" pitchFamily="18" charset="0"/>
                    <a:cs typeface="Source Sans Pro" panose="02020603050405020304" pitchFamily="18" charset="0"/>
                  </a:rPr>
                  <a:t>would</a:t>
                </a:r>
                <a:r>
                  <a:rPr lang="en-US" sz="2800" spc="110" dirty="0">
                    <a:latin typeface="Source Sans Pro" panose="02020603050405020304" pitchFamily="18" charset="0"/>
                    <a:cs typeface="Source Sans Pro" panose="02020603050405020304" pitchFamily="18" charset="0"/>
                  </a:rPr>
                  <a:t> </a:t>
                </a:r>
                <a:r>
                  <a:rPr lang="en-US" sz="2800" spc="55" dirty="0">
                    <a:latin typeface="Source Sans Pro" panose="02020603050405020304" pitchFamily="18" charset="0"/>
                    <a:cs typeface="Source Sans Pro" panose="02020603050405020304" pitchFamily="18" charset="0"/>
                  </a:rPr>
                  <a:t>not</a:t>
                </a:r>
                <a:r>
                  <a:rPr lang="en-US" sz="2800" spc="105" dirty="0">
                    <a:latin typeface="Source Sans Pro" panose="02020603050405020304" pitchFamily="18" charset="0"/>
                    <a:cs typeface="Source Sans Pro" panose="02020603050405020304" pitchFamily="18" charset="0"/>
                  </a:rPr>
                  <a:t> </a:t>
                </a:r>
                <a:r>
                  <a:rPr lang="en-US" sz="2800" dirty="0">
                    <a:latin typeface="Source Sans Pro" panose="02020603050405020304" pitchFamily="18" charset="0"/>
                    <a:cs typeface="Source Sans Pro" panose="02020603050405020304" pitchFamily="18" charset="0"/>
                  </a:rPr>
                  <a:t>work</a:t>
                </a:r>
                <a:r>
                  <a:rPr lang="en-US" sz="2800" spc="105" dirty="0">
                    <a:latin typeface="Source Sans Pro" panose="02020603050405020304" pitchFamily="18" charset="0"/>
                    <a:cs typeface="Source Sans Pro" panose="02020603050405020304" pitchFamily="18" charset="0"/>
                  </a:rPr>
                  <a:t> </a:t>
                </a:r>
                <a:r>
                  <a:rPr lang="en-US" sz="2800" spc="-20" dirty="0">
                    <a:latin typeface="Source Sans Pro" panose="02020603050405020304" pitchFamily="18" charset="0"/>
                    <a:cs typeface="Source Sans Pro" panose="02020603050405020304" pitchFamily="18" charset="0"/>
                  </a:rPr>
                  <a:t>well.</a:t>
                </a:r>
                <a:endParaRPr lang="en-US" sz="2800" dirty="0">
                  <a:latin typeface="Source Sans Pro" panose="02020603050405020304" pitchFamily="18" charset="0"/>
                  <a:cs typeface="Source Sans Pro" panose="02020603050405020304" pitchFamily="18" charset="0"/>
                </a:endParaRPr>
              </a:p>
              <a:p>
                <a:pPr marL="380365" marR="459740" indent="-342900">
                  <a:lnSpc>
                    <a:spcPct val="102600"/>
                  </a:lnSpc>
                  <a:spcBef>
                    <a:spcPts val="900"/>
                  </a:spcBef>
                  <a:buClr>
                    <a:srgbClr val="3333B2"/>
                  </a:buClr>
                  <a:buFont typeface="Source Sans Pro" panose="020B0604020202020204" pitchFamily="34" charset="0"/>
                  <a:buChar char="•"/>
                  <a:tabLst>
                    <a:tab pos="176530" algn="l"/>
                  </a:tabLst>
                </a:pPr>
                <a:r>
                  <a:rPr lang="en-US" sz="2800" dirty="0">
                    <a:latin typeface="Source Sans Pro" panose="02020603050405020304" pitchFamily="18" charset="0"/>
                    <a:cs typeface="Source Sans Pro" panose="02020603050405020304" pitchFamily="18" charset="0"/>
                  </a:rPr>
                  <a:t>Instead</a:t>
                </a:r>
                <a:r>
                  <a:rPr lang="en-US" sz="2800" spc="260" dirty="0">
                    <a:latin typeface="Source Sans Pro" panose="02020603050405020304" pitchFamily="18" charset="0"/>
                    <a:cs typeface="Source Sans Pro" panose="02020603050405020304" pitchFamily="18" charset="0"/>
                  </a:rPr>
                  <a:t> </a:t>
                </a:r>
                <a:r>
                  <a:rPr lang="en-US" sz="2800" dirty="0">
                    <a:latin typeface="Source Sans Pro" panose="02020603050405020304" pitchFamily="18" charset="0"/>
                    <a:cs typeface="Source Sans Pro" panose="02020603050405020304" pitchFamily="18" charset="0"/>
                  </a:rPr>
                  <a:t>we</a:t>
                </a:r>
                <a:r>
                  <a:rPr lang="en-US" sz="2800" spc="260" dirty="0">
                    <a:latin typeface="Source Sans Pro" panose="02020603050405020304" pitchFamily="18" charset="0"/>
                    <a:cs typeface="Source Sans Pro" panose="02020603050405020304" pitchFamily="18" charset="0"/>
                  </a:rPr>
                  <a:t> </a:t>
                </a:r>
                <a:r>
                  <a:rPr lang="en-US" sz="2800" dirty="0">
                    <a:latin typeface="Source Sans Pro" panose="02020603050405020304" pitchFamily="18" charset="0"/>
                    <a:cs typeface="Source Sans Pro" panose="02020603050405020304" pitchFamily="18" charset="0"/>
                  </a:rPr>
                  <a:t>use</a:t>
                </a:r>
                <a:r>
                  <a:rPr lang="en-US" sz="2800" spc="260" dirty="0">
                    <a:latin typeface="Source Sans Pro" panose="02020603050405020304" pitchFamily="18" charset="0"/>
                    <a:cs typeface="Source Sans Pro" panose="02020603050405020304" pitchFamily="18" charset="0"/>
                  </a:rPr>
                  <a:t> </a:t>
                </a:r>
                <a:r>
                  <a:rPr lang="en-US" sz="2800" spc="50" dirty="0">
                    <a:latin typeface="Source Sans Pro" panose="02020603050405020304" pitchFamily="18" charset="0"/>
                    <a:cs typeface="Source Sans Pro" panose="02020603050405020304" pitchFamily="18" charset="0"/>
                  </a:rPr>
                  <a:t>a</a:t>
                </a:r>
                <a:r>
                  <a:rPr lang="en-US" sz="2800" spc="260" dirty="0">
                    <a:latin typeface="Source Sans Pro" panose="02020603050405020304" pitchFamily="18" charset="0"/>
                    <a:cs typeface="Source Sans Pro" panose="02020603050405020304" pitchFamily="18" charset="0"/>
                  </a:rPr>
                  <a:t> </a:t>
                </a:r>
                <a:r>
                  <a:rPr lang="en-US" sz="2800" spc="-10" dirty="0">
                    <a:latin typeface="Source Sans Pro" panose="02020603050405020304" pitchFamily="18" charset="0"/>
                    <a:cs typeface="Source Sans Pro" panose="02020603050405020304" pitchFamily="18" charset="0"/>
                  </a:rPr>
                  <a:t>lower-</a:t>
                </a:r>
                <a:r>
                  <a:rPr lang="en-US" sz="2800" dirty="0">
                    <a:latin typeface="Source Sans Pro" panose="02020603050405020304" pitchFamily="18" charset="0"/>
                    <a:cs typeface="Source Sans Pro" panose="02020603050405020304" pitchFamily="18" charset="0"/>
                  </a:rPr>
                  <a:t>dimensional</a:t>
                </a:r>
                <a:r>
                  <a:rPr lang="en-US" sz="2800" spc="260" dirty="0">
                    <a:latin typeface="Source Sans Pro" panose="02020603050405020304" pitchFamily="18" charset="0"/>
                    <a:cs typeface="Source Sans Pro" panose="02020603050405020304" pitchFamily="18" charset="0"/>
                  </a:rPr>
                  <a:t> </a:t>
                </a:r>
                <a:r>
                  <a:rPr lang="en-US" sz="2800" dirty="0">
                    <a:latin typeface="Source Sans Pro" panose="02020603050405020304" pitchFamily="18" charset="0"/>
                    <a:cs typeface="Source Sans Pro" panose="02020603050405020304" pitchFamily="18" charset="0"/>
                  </a:rPr>
                  <a:t>pretrained</a:t>
                </a:r>
                <a:r>
                  <a:rPr lang="en-US" sz="2800" spc="254" dirty="0">
                    <a:latin typeface="Source Sans Pro" panose="02020603050405020304" pitchFamily="18" charset="0"/>
                    <a:cs typeface="Source Sans Pro" panose="02020603050405020304" pitchFamily="18" charset="0"/>
                  </a:rPr>
                  <a:t> </a:t>
                </a:r>
                <a:r>
                  <a:rPr lang="en-US" sz="2800" i="1" spc="-20" dirty="0">
                    <a:solidFill>
                      <a:srgbClr val="009900"/>
                    </a:solidFill>
                    <a:latin typeface="Source Sans Pro" panose="02020603050405020304" pitchFamily="18" charset="0"/>
                    <a:cs typeface="Source Sans Pro" panose="02020603050405020304" pitchFamily="18" charset="0"/>
                  </a:rPr>
                  <a:t>word </a:t>
                </a:r>
                <a:r>
                  <a:rPr lang="en-US" sz="2800" i="1" dirty="0">
                    <a:solidFill>
                      <a:srgbClr val="009900"/>
                    </a:solidFill>
                    <a:latin typeface="Source Sans Pro" panose="02020603050405020304" pitchFamily="18" charset="0"/>
                    <a:cs typeface="Source Sans Pro" panose="02020603050405020304" pitchFamily="18" charset="0"/>
                  </a:rPr>
                  <a:t>embedding</a:t>
                </a:r>
                <a:r>
                  <a:rPr lang="en-US" sz="2800" i="1" spc="135" dirty="0">
                    <a:solidFill>
                      <a:srgbClr val="009900"/>
                    </a:solidFill>
                    <a:latin typeface="Source Sans Pro" panose="02020603050405020304" pitchFamily="18" charset="0"/>
                    <a:cs typeface="Source Sans Pro" panose="02020603050405020304" pitchFamily="18" charset="0"/>
                  </a:rPr>
                  <a:t> </a:t>
                </a:r>
                <a:r>
                  <a:rPr lang="en-US" sz="2800" spc="50" dirty="0">
                    <a:latin typeface="Source Sans Pro" panose="02020603050405020304" pitchFamily="18" charset="0"/>
                    <a:cs typeface="Source Sans Pro" panose="02020603050405020304" pitchFamily="18" charset="0"/>
                  </a:rPr>
                  <a:t>matrix</a:t>
                </a:r>
                <a:r>
                  <a:rPr lang="en-US" sz="2800" spc="130" dirty="0">
                    <a:latin typeface="Source Sans Pro" panose="02020603050405020304" pitchFamily="18" charset="0"/>
                    <a:cs typeface="Source Sans Pro" panose="02020603050405020304" pitchFamily="18" charset="0"/>
                  </a:rPr>
                  <a:t> </a:t>
                </a:r>
                <a:r>
                  <a:rPr lang="en-US" sz="2800" b="1" dirty="0">
                    <a:latin typeface="Source Sans Pro" panose="02020603050405020304" pitchFamily="18" charset="0"/>
                    <a:cs typeface="Source Sans Pro" panose="02020603050405020304" pitchFamily="18" charset="0"/>
                  </a:rPr>
                  <a:t>E</a:t>
                </a:r>
                <a:r>
                  <a:rPr lang="en-US" sz="2800" b="1" spc="125" dirty="0">
                    <a:latin typeface="Source Sans Pro" panose="02020603050405020304" pitchFamily="18" charset="0"/>
                    <a:cs typeface="Source Sans Pro" panose="02020603050405020304" pitchFamily="18" charset="0"/>
                  </a:rPr>
                  <a:t> </a:t>
                </a:r>
                <a:r>
                  <a:rPr lang="en-US" sz="2800" dirty="0">
                    <a:latin typeface="Source Sans Pro" panose="02020603050405020304" pitchFamily="18" charset="0"/>
                    <a:cs typeface="Source Sans Pro" panose="02020603050405020304" pitchFamily="18" charset="0"/>
                  </a:rPr>
                  <a:t>(</a:t>
                </a:r>
                <a:r>
                  <a:rPr lang="en-US" sz="2800" i="1" dirty="0">
                    <a:latin typeface="Source Sans Pro" panose="02020603050405020304" pitchFamily="18" charset="0"/>
                    <a:cs typeface="Source Sans Pro" panose="02020603050405020304" pitchFamily="18" charset="0"/>
                  </a:rPr>
                  <a:t>m</a:t>
                </a:r>
                <a:r>
                  <a:rPr lang="en-US" sz="2800" i="1" spc="5" dirty="0">
                    <a:latin typeface="Source Sans Pro" panose="02020603050405020304" pitchFamily="18" charset="0"/>
                    <a:cs typeface="Source Sans Pro" panose="02020603050405020304" pitchFamily="18" charset="0"/>
                  </a:rPr>
                  <a:t> </a:t>
                </a:r>
                <a:r>
                  <a:rPr lang="en-US" sz="2800" i="1" spc="-50" dirty="0">
                    <a:latin typeface="Source Sans Pro" panose="02020603050405020304" pitchFamily="18" charset="0"/>
                    <a:cs typeface="Source Sans Pro" panose="02020603050405020304" pitchFamily="18" charset="0"/>
                  </a:rPr>
                  <a:t>×</a:t>
                </a:r>
                <a:r>
                  <a:rPr lang="en-US" sz="2800" i="1" spc="-105" dirty="0">
                    <a:latin typeface="Source Sans Pro" panose="02020603050405020304" pitchFamily="18" charset="0"/>
                    <a:cs typeface="Source Sans Pro" panose="02020603050405020304" pitchFamily="18" charset="0"/>
                  </a:rPr>
                  <a:t> </a:t>
                </a:r>
                <a:r>
                  <a:rPr lang="en-US" sz="2800" spc="60" dirty="0">
                    <a:latin typeface="Source Sans Pro" panose="02020603050405020304" pitchFamily="18" charset="0"/>
                    <a:cs typeface="Source Sans Pro" panose="02020603050405020304" pitchFamily="18" charset="0"/>
                  </a:rPr>
                  <a:t>10</a:t>
                </a:r>
                <a:r>
                  <a:rPr lang="en-US" sz="2800" i="1" spc="60" dirty="0">
                    <a:latin typeface="Source Sans Pro" panose="02020603050405020304" pitchFamily="18" charset="0"/>
                    <a:cs typeface="Source Sans Pro" panose="02020603050405020304" pitchFamily="18" charset="0"/>
                  </a:rPr>
                  <a:t>K</a:t>
                </a:r>
                <a:r>
                  <a:rPr lang="en-US" sz="2800" spc="60" dirty="0">
                    <a:latin typeface="Source Sans Pro" panose="02020603050405020304" pitchFamily="18" charset="0"/>
                    <a:cs typeface="Source Sans Pro" panose="02020603050405020304" pitchFamily="18" charset="0"/>
                  </a:rPr>
                  <a:t>,</a:t>
                </a:r>
                <a:r>
                  <a:rPr lang="en-US" sz="2800" spc="130" dirty="0">
                    <a:latin typeface="Source Sans Pro" panose="02020603050405020304" pitchFamily="18" charset="0"/>
                    <a:cs typeface="Source Sans Pro" panose="02020603050405020304" pitchFamily="18" charset="0"/>
                  </a:rPr>
                  <a:t> </a:t>
                </a:r>
                <a:r>
                  <a:rPr lang="en-US" sz="2800" dirty="0">
                    <a:latin typeface="Source Sans Pro" panose="02020603050405020304" pitchFamily="18" charset="0"/>
                    <a:cs typeface="Source Sans Pro" panose="02020603050405020304" pitchFamily="18" charset="0"/>
                  </a:rPr>
                  <a:t>next</a:t>
                </a:r>
                <a:r>
                  <a:rPr lang="en-US" sz="2800" spc="140" dirty="0">
                    <a:latin typeface="Source Sans Pro" panose="02020603050405020304" pitchFamily="18" charset="0"/>
                    <a:cs typeface="Source Sans Pro" panose="02020603050405020304" pitchFamily="18" charset="0"/>
                  </a:rPr>
                  <a:t> </a:t>
                </a:r>
                <a:r>
                  <a:rPr lang="en-US" sz="2800" spc="-10" dirty="0">
                    <a:latin typeface="Source Sans Pro" panose="02020603050405020304" pitchFamily="18" charset="0"/>
                    <a:cs typeface="Source Sans Pro" panose="02020603050405020304" pitchFamily="18" charset="0"/>
                  </a:rPr>
                  <a:t>slide).</a:t>
                </a:r>
                <a:endParaRPr lang="en-US" sz="2800" dirty="0">
                  <a:latin typeface="Source Sans Pro" panose="02020603050405020304" pitchFamily="18" charset="0"/>
                  <a:cs typeface="Source Sans Pro" panose="02020603050405020304" pitchFamily="18" charset="0"/>
                </a:endParaRPr>
              </a:p>
              <a:p>
                <a:pPr marL="380365" marR="90805" indent="-342900" algn="just">
                  <a:lnSpc>
                    <a:spcPct val="102600"/>
                  </a:lnSpc>
                  <a:spcBef>
                    <a:spcPts val="900"/>
                  </a:spcBef>
                  <a:buClr>
                    <a:srgbClr val="3333B2"/>
                  </a:buClr>
                  <a:buFont typeface="Source Sans Pro" panose="020B0604020202020204" pitchFamily="34" charset="0"/>
                  <a:buChar char="•"/>
                  <a:tabLst>
                    <a:tab pos="176530" algn="l"/>
                  </a:tabLst>
                </a:pPr>
                <a:r>
                  <a:rPr lang="en-US" sz="2800" dirty="0">
                    <a:latin typeface="Source Sans Pro" panose="02020603050405020304" pitchFamily="18" charset="0"/>
                    <a:cs typeface="Source Sans Pro" panose="02020603050405020304" pitchFamily="18" charset="0"/>
                  </a:rPr>
                  <a:t>This</a:t>
                </a:r>
                <a:r>
                  <a:rPr lang="en-US" sz="2800" spc="210" dirty="0">
                    <a:latin typeface="Source Sans Pro" panose="02020603050405020304" pitchFamily="18" charset="0"/>
                    <a:cs typeface="Source Sans Pro" panose="02020603050405020304" pitchFamily="18" charset="0"/>
                  </a:rPr>
                  <a:t> </a:t>
                </a:r>
                <a:r>
                  <a:rPr lang="en-US" sz="2800" dirty="0">
                    <a:latin typeface="Source Sans Pro" panose="02020603050405020304" pitchFamily="18" charset="0"/>
                    <a:cs typeface="Source Sans Pro" panose="02020603050405020304" pitchFamily="18" charset="0"/>
                  </a:rPr>
                  <a:t>reduces</a:t>
                </a:r>
                <a:r>
                  <a:rPr lang="en-US" sz="2800" spc="215" dirty="0">
                    <a:latin typeface="Source Sans Pro" panose="02020603050405020304" pitchFamily="18" charset="0"/>
                    <a:cs typeface="Source Sans Pro" panose="02020603050405020304" pitchFamily="18" charset="0"/>
                  </a:rPr>
                  <a:t> </a:t>
                </a:r>
                <a:r>
                  <a:rPr lang="en-US" sz="2800" spc="55" dirty="0">
                    <a:latin typeface="Source Sans Pro" panose="02020603050405020304" pitchFamily="18" charset="0"/>
                    <a:cs typeface="Source Sans Pro" panose="02020603050405020304" pitchFamily="18" charset="0"/>
                  </a:rPr>
                  <a:t>the</a:t>
                </a:r>
                <a:r>
                  <a:rPr lang="en-US" sz="2800" spc="215" dirty="0">
                    <a:latin typeface="Source Sans Pro" panose="02020603050405020304" pitchFamily="18" charset="0"/>
                    <a:cs typeface="Source Sans Pro" panose="02020603050405020304" pitchFamily="18" charset="0"/>
                  </a:rPr>
                  <a:t> </a:t>
                </a:r>
                <a:r>
                  <a:rPr lang="en-US" sz="2800" dirty="0">
                    <a:latin typeface="Source Sans Pro" panose="02020603050405020304" pitchFamily="18" charset="0"/>
                    <a:cs typeface="Source Sans Pro" panose="02020603050405020304" pitchFamily="18" charset="0"/>
                  </a:rPr>
                  <a:t>binary</a:t>
                </a:r>
                <a:r>
                  <a:rPr lang="en-US" sz="2800" spc="215" dirty="0">
                    <a:latin typeface="Source Sans Pro" panose="02020603050405020304" pitchFamily="18" charset="0"/>
                    <a:cs typeface="Source Sans Pro" panose="02020603050405020304" pitchFamily="18" charset="0"/>
                  </a:rPr>
                  <a:t> </a:t>
                </a:r>
                <a:r>
                  <a:rPr lang="en-US" sz="2800" dirty="0">
                    <a:latin typeface="Source Sans Pro" panose="02020603050405020304" pitchFamily="18" charset="0"/>
                    <a:cs typeface="Source Sans Pro" panose="02020603050405020304" pitchFamily="18" charset="0"/>
                  </a:rPr>
                  <a:t>feature</a:t>
                </a:r>
                <a:r>
                  <a:rPr lang="en-US" sz="2800" spc="215" dirty="0">
                    <a:latin typeface="Source Sans Pro" panose="02020603050405020304" pitchFamily="18" charset="0"/>
                    <a:cs typeface="Source Sans Pro" panose="02020603050405020304" pitchFamily="18" charset="0"/>
                  </a:rPr>
                  <a:t> </a:t>
                </a:r>
                <a:r>
                  <a:rPr lang="en-US" sz="2800" dirty="0">
                    <a:latin typeface="Source Sans Pro" panose="02020603050405020304" pitchFamily="18" charset="0"/>
                    <a:cs typeface="Source Sans Pro" panose="02020603050405020304" pitchFamily="18" charset="0"/>
                  </a:rPr>
                  <a:t>vector</a:t>
                </a:r>
                <a:r>
                  <a:rPr lang="en-US" sz="2800" spc="215" dirty="0">
                    <a:latin typeface="Source Sans Pro" panose="02020603050405020304" pitchFamily="18" charset="0"/>
                    <a:cs typeface="Source Sans Pro" panose="02020603050405020304" pitchFamily="18" charset="0"/>
                  </a:rPr>
                  <a:t> </a:t>
                </a:r>
                <a:r>
                  <a:rPr lang="en-US" sz="2800" dirty="0">
                    <a:latin typeface="Source Sans Pro" panose="02020603050405020304" pitchFamily="18" charset="0"/>
                    <a:cs typeface="Source Sans Pro" panose="02020603050405020304" pitchFamily="18" charset="0"/>
                  </a:rPr>
                  <a:t>of</a:t>
                </a:r>
                <a:r>
                  <a:rPr lang="en-US" sz="2800" spc="215" dirty="0">
                    <a:latin typeface="Source Sans Pro" panose="02020603050405020304" pitchFamily="18" charset="0"/>
                    <a:cs typeface="Source Sans Pro" panose="02020603050405020304" pitchFamily="18" charset="0"/>
                  </a:rPr>
                  <a:t> </a:t>
                </a:r>
                <a:r>
                  <a:rPr lang="en-US" sz="2800" dirty="0">
                    <a:latin typeface="Source Sans Pro" panose="02020603050405020304" pitchFamily="18" charset="0"/>
                    <a:cs typeface="Source Sans Pro" panose="02020603050405020304" pitchFamily="18" charset="0"/>
                  </a:rPr>
                  <a:t>length</a:t>
                </a:r>
                <a:r>
                  <a:rPr lang="en-US" sz="2800" spc="220" dirty="0">
                    <a:latin typeface="Source Sans Pro" panose="02020603050405020304" pitchFamily="18" charset="0"/>
                    <a:cs typeface="Source Sans Pro" panose="02020603050405020304" pitchFamily="18" charset="0"/>
                  </a:rPr>
                  <a:t> </a:t>
                </a:r>
                <a:r>
                  <a:rPr lang="en-US" sz="2800" dirty="0">
                    <a:latin typeface="Source Sans Pro" panose="02020603050405020304" pitchFamily="18" charset="0"/>
                    <a:cs typeface="Source Sans Pro" panose="02020603050405020304" pitchFamily="18" charset="0"/>
                  </a:rPr>
                  <a:t>10</a:t>
                </a:r>
                <a:r>
                  <a:rPr lang="en-US" sz="2800" i="1" dirty="0">
                    <a:latin typeface="Source Sans Pro" panose="02020603050405020304" pitchFamily="18" charset="0"/>
                    <a:cs typeface="Source Sans Pro" panose="02020603050405020304" pitchFamily="18" charset="0"/>
                  </a:rPr>
                  <a:t>K</a:t>
                </a:r>
                <a:r>
                  <a:rPr lang="en-US" sz="2800" i="1" spc="325" dirty="0">
                    <a:latin typeface="Source Sans Pro" panose="02020603050405020304" pitchFamily="18" charset="0"/>
                    <a:cs typeface="Source Sans Pro" panose="02020603050405020304" pitchFamily="18" charset="0"/>
                  </a:rPr>
                  <a:t> </a:t>
                </a:r>
                <a:r>
                  <a:rPr lang="en-US" sz="2800" spc="55" dirty="0">
                    <a:latin typeface="Source Sans Pro" panose="02020603050405020304" pitchFamily="18" charset="0"/>
                    <a:cs typeface="Source Sans Pro" panose="02020603050405020304" pitchFamily="18" charset="0"/>
                  </a:rPr>
                  <a:t>to</a:t>
                </a:r>
                <a:r>
                  <a:rPr lang="en-US" sz="2800" spc="215" dirty="0">
                    <a:latin typeface="Source Sans Pro" panose="02020603050405020304" pitchFamily="18" charset="0"/>
                    <a:cs typeface="Source Sans Pro" panose="02020603050405020304" pitchFamily="18" charset="0"/>
                  </a:rPr>
                  <a:t> </a:t>
                </a:r>
                <a:r>
                  <a:rPr lang="en-US" sz="2800" dirty="0">
                    <a:latin typeface="Source Sans Pro" panose="02020603050405020304" pitchFamily="18" charset="0"/>
                    <a:cs typeface="Source Sans Pro" panose="02020603050405020304" pitchFamily="18" charset="0"/>
                  </a:rPr>
                  <a:t>a real</a:t>
                </a:r>
                <a:r>
                  <a:rPr lang="en-US" sz="2800" spc="170" dirty="0">
                    <a:latin typeface="Source Sans Pro" panose="02020603050405020304" pitchFamily="18" charset="0"/>
                    <a:cs typeface="Source Sans Pro" panose="02020603050405020304" pitchFamily="18" charset="0"/>
                  </a:rPr>
                  <a:t> </a:t>
                </a:r>
                <a:r>
                  <a:rPr lang="en-US" sz="2800" dirty="0">
                    <a:latin typeface="Source Sans Pro" panose="02020603050405020304" pitchFamily="18" charset="0"/>
                    <a:cs typeface="Source Sans Pro" panose="02020603050405020304" pitchFamily="18" charset="0"/>
                  </a:rPr>
                  <a:t>feature</a:t>
                </a:r>
                <a:r>
                  <a:rPr lang="en-US" sz="2800" spc="170" dirty="0">
                    <a:latin typeface="Source Sans Pro" panose="02020603050405020304" pitchFamily="18" charset="0"/>
                    <a:cs typeface="Source Sans Pro" panose="02020603050405020304" pitchFamily="18" charset="0"/>
                  </a:rPr>
                  <a:t> </a:t>
                </a:r>
                <a:r>
                  <a:rPr lang="en-US" sz="2800" dirty="0">
                    <a:latin typeface="Source Sans Pro" panose="02020603050405020304" pitchFamily="18" charset="0"/>
                    <a:cs typeface="Source Sans Pro" panose="02020603050405020304" pitchFamily="18" charset="0"/>
                  </a:rPr>
                  <a:t>vector</a:t>
                </a:r>
                <a:r>
                  <a:rPr lang="en-US" sz="2800" spc="170" dirty="0">
                    <a:latin typeface="Source Sans Pro" panose="02020603050405020304" pitchFamily="18" charset="0"/>
                    <a:cs typeface="Source Sans Pro" panose="02020603050405020304" pitchFamily="18" charset="0"/>
                  </a:rPr>
                  <a:t> </a:t>
                </a:r>
                <a:r>
                  <a:rPr lang="en-US" sz="2800" dirty="0">
                    <a:latin typeface="Source Sans Pro" panose="02020603050405020304" pitchFamily="18" charset="0"/>
                    <a:cs typeface="Source Sans Pro" panose="02020603050405020304" pitchFamily="18" charset="0"/>
                  </a:rPr>
                  <a:t>of</a:t>
                </a:r>
                <a:r>
                  <a:rPr lang="en-US" sz="2800" spc="170" dirty="0">
                    <a:latin typeface="Source Sans Pro" panose="02020603050405020304" pitchFamily="18" charset="0"/>
                    <a:cs typeface="Source Sans Pro" panose="02020603050405020304" pitchFamily="18" charset="0"/>
                  </a:rPr>
                  <a:t> </a:t>
                </a:r>
                <a:r>
                  <a:rPr lang="en-US" sz="2800" dirty="0">
                    <a:latin typeface="Source Sans Pro" panose="02020603050405020304" pitchFamily="18" charset="0"/>
                    <a:cs typeface="Source Sans Pro" panose="02020603050405020304" pitchFamily="18" charset="0"/>
                  </a:rPr>
                  <a:t>dimension</a:t>
                </a:r>
                <a:r>
                  <a:rPr lang="en-US" sz="2800" i="1" spc="105" dirty="0">
                    <a:latin typeface="Source Sans Pro" panose="02020603050405020304" pitchFamily="18" charset="0"/>
                    <a:cs typeface="Source Sans Pro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800" i="1" spc="105">
                        <a:latin typeface="Cambria Math" panose="02040503050406030204" pitchFamily="18" charset="0"/>
                        <a:cs typeface="Source Sans Pro" panose="02020603050405020304" pitchFamily="18" charset="0"/>
                      </a:rPr>
                      <m:t>𝑚</m:t>
                    </m:r>
                    <m:r>
                      <a:rPr lang="en-US" sz="2800" i="1" spc="105">
                        <a:latin typeface="Cambria Math" panose="02040503050406030204" pitchFamily="18" charset="0"/>
                        <a:cs typeface="Source Sans Pro" panose="02020603050405020304" pitchFamily="18" charset="0"/>
                      </a:rPr>
                      <m:t>≪10</m:t>
                    </m:r>
                    <m:r>
                      <a:rPr lang="en-US" sz="2800" i="1" spc="105">
                        <a:latin typeface="Cambria Math" panose="02040503050406030204" pitchFamily="18" charset="0"/>
                        <a:cs typeface="Source Sans Pro" panose="02020603050405020304" pitchFamily="18" charset="0"/>
                      </a:rPr>
                      <m:t>𝐾</m:t>
                    </m:r>
                  </m:oMath>
                </a14:m>
                <a:r>
                  <a:rPr lang="en-US" sz="2800" i="1" spc="270" dirty="0">
                    <a:latin typeface="Source Sans Pro" panose="02020603050405020304" pitchFamily="18" charset="0"/>
                    <a:cs typeface="Source Sans Pro" panose="02020603050405020304" pitchFamily="18" charset="0"/>
                  </a:rPr>
                  <a:t> </a:t>
                </a:r>
                <a:r>
                  <a:rPr lang="en-US" sz="2800" dirty="0">
                    <a:latin typeface="Source Sans Pro" panose="02020603050405020304" pitchFamily="18" charset="0"/>
                    <a:cs typeface="Source Sans Pro" panose="02020603050405020304" pitchFamily="18" charset="0"/>
                  </a:rPr>
                  <a:t>(e.g.</a:t>
                </a:r>
                <a:r>
                  <a:rPr lang="en-US" sz="2800" spc="320" dirty="0">
                    <a:latin typeface="Source Sans Pro" panose="02020603050405020304" pitchFamily="18" charset="0"/>
                    <a:cs typeface="Source Sans Pro" panose="02020603050405020304" pitchFamily="18" charset="0"/>
                  </a:rPr>
                  <a:t> </a:t>
                </a:r>
                <a:r>
                  <a:rPr lang="en-US" sz="2800" i="1" dirty="0">
                    <a:latin typeface="Source Sans Pro" panose="02020603050405020304" pitchFamily="18" charset="0"/>
                    <a:cs typeface="Source Sans Pro" panose="02020603050405020304" pitchFamily="18" charset="0"/>
                  </a:rPr>
                  <a:t>m</a:t>
                </a:r>
                <a:r>
                  <a:rPr lang="en-US" sz="2800" i="1" spc="180" dirty="0">
                    <a:latin typeface="Source Sans Pro" panose="02020603050405020304" pitchFamily="18" charset="0"/>
                    <a:cs typeface="Source Sans Pro" panose="02020603050405020304" pitchFamily="18" charset="0"/>
                  </a:rPr>
                  <a:t> </a:t>
                </a:r>
                <a:r>
                  <a:rPr lang="en-US" sz="2800" dirty="0">
                    <a:latin typeface="Source Sans Pro" panose="02020603050405020304" pitchFamily="18" charset="0"/>
                    <a:cs typeface="Source Sans Pro" panose="02020603050405020304" pitchFamily="18" charset="0"/>
                  </a:rPr>
                  <a:t>in</a:t>
                </a:r>
                <a:r>
                  <a:rPr lang="en-US" sz="2800" spc="170" dirty="0">
                    <a:latin typeface="Source Sans Pro" panose="02020603050405020304" pitchFamily="18" charset="0"/>
                    <a:cs typeface="Source Sans Pro" panose="02020603050405020304" pitchFamily="18" charset="0"/>
                  </a:rPr>
                  <a:t> </a:t>
                </a:r>
                <a:r>
                  <a:rPr lang="en-US" sz="2800" spc="30" dirty="0">
                    <a:latin typeface="Source Sans Pro" panose="02020603050405020304" pitchFamily="18" charset="0"/>
                    <a:cs typeface="Source Sans Pro" panose="02020603050405020304" pitchFamily="18" charset="0"/>
                  </a:rPr>
                  <a:t>the </a:t>
                </a:r>
                <a:r>
                  <a:rPr lang="en-US" sz="2800" dirty="0">
                    <a:latin typeface="Source Sans Pro" panose="02020603050405020304" pitchFamily="18" charset="0"/>
                    <a:cs typeface="Source Sans Pro" panose="02020603050405020304" pitchFamily="18" charset="0"/>
                  </a:rPr>
                  <a:t>low</a:t>
                </a:r>
                <a:r>
                  <a:rPr lang="en-US" sz="2800" spc="25" dirty="0">
                    <a:latin typeface="Source Sans Pro" panose="02020603050405020304" pitchFamily="18" charset="0"/>
                    <a:cs typeface="Source Sans Pro" panose="02020603050405020304" pitchFamily="18" charset="0"/>
                  </a:rPr>
                  <a:t> </a:t>
                </a:r>
                <a:r>
                  <a:rPr lang="en-US" sz="2800" spc="-10" dirty="0">
                    <a:latin typeface="Source Sans Pro" panose="02020603050405020304" pitchFamily="18" charset="0"/>
                    <a:cs typeface="Source Sans Pro" panose="02020603050405020304" pitchFamily="18" charset="0"/>
                  </a:rPr>
                  <a:t>hundreds.)</a:t>
                </a:r>
                <a:endParaRPr sz="2800" dirty="0">
                  <a:latin typeface="Source Sans Pro" panose="02020603050405020304" pitchFamily="18" charset="0"/>
                  <a:cs typeface="Source Sans Pro" panose="02020603050405020304" pitchFamily="18" charset="0"/>
                </a:endParaRPr>
              </a:p>
            </p:txBody>
          </p:sp>
        </mc:Choice>
        <mc:Fallback>
          <p:sp>
            <p:nvSpPr>
              <p:cNvPr id="9" name="object 4">
                <a:extLst>
                  <a:ext uri="{FF2B5EF4-FFF2-40B4-BE49-F238E27FC236}">
                    <a16:creationId xmlns:a16="http://schemas.microsoft.com/office/drawing/2014/main" id="{56B13424-06A5-2D28-7871-B3FA9216BF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1160021"/>
                <a:ext cx="10896600" cy="5779018"/>
              </a:xfrm>
              <a:prstGeom prst="rect">
                <a:avLst/>
              </a:prstGeom>
              <a:blipFill>
                <a:blip r:embed="rId2"/>
                <a:stretch>
                  <a:fillRect l="-1746" t="-2193" r="-1164" b="-28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492123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3975" rIns="0" bIns="0" rtlCol="0" anchor="ctr">
            <a:normAutofit/>
            <a:scene3d>
              <a:camera prst="orthographicFront"/>
              <a:lightRig rig="threePt" dir="t">
                <a:rot lat="0" lon="0" rev="4800000"/>
              </a:lightRig>
            </a:scene3d>
            <a:sp3d prstMaterial="matte">
              <a:bevelT w="50800" h="10160"/>
            </a:sp3d>
          </a:bodyPr>
          <a:lstStyle/>
          <a:p>
            <a:pPr algn="ctr">
              <a:spcBef>
                <a:spcPts val="268"/>
              </a:spcBef>
            </a:pPr>
            <a:r>
              <a:rPr dirty="0"/>
              <a:t>Word</a:t>
            </a:r>
            <a:r>
              <a:rPr spc="535" dirty="0"/>
              <a:t> </a:t>
            </a:r>
            <a:r>
              <a:rPr spc="79" dirty="0"/>
              <a:t>Embedding</a:t>
            </a:r>
          </a:p>
        </p:txBody>
      </p:sp>
      <p:sp>
        <p:nvSpPr>
          <p:cNvPr id="162" name="Slide Number Placeholder 161">
            <a:extLst>
              <a:ext uri="{FF2B5EF4-FFF2-40B4-BE49-F238E27FC236}">
                <a16:creationId xmlns:a16="http://schemas.microsoft.com/office/drawing/2014/main" id="{9AF5DA57-0E22-2D14-3A8A-4440B21AB1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12225-5612-419B-A8D5-4B8EEE4C217E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160" name="object 160"/>
          <p:cNvSpPr txBox="1"/>
          <p:nvPr/>
        </p:nvSpPr>
        <p:spPr>
          <a:xfrm>
            <a:off x="1776583" y="4648201"/>
            <a:ext cx="8702242" cy="1433601"/>
          </a:xfrm>
          <a:prstGeom prst="rect">
            <a:avLst/>
          </a:prstGeom>
        </p:spPr>
        <p:txBody>
          <a:bodyPr vert="horz" wrap="square" lIns="0" tIns="33975" rIns="0" bIns="0" rtlCol="0">
            <a:normAutofit/>
          </a:bodyPr>
          <a:lstStyle/>
          <a:p>
            <a:pPr marR="529778">
              <a:lnSpc>
                <a:spcPts val="1883"/>
              </a:lnSpc>
              <a:spcBef>
                <a:spcPts val="268"/>
              </a:spcBef>
            </a:pPr>
            <a:r>
              <a:rPr spc="99" dirty="0">
                <a:solidFill>
                  <a:srgbClr val="009900"/>
                </a:solidFill>
                <a:latin typeface="Source Sans Pro"/>
                <a:cs typeface="Source Sans Pro"/>
              </a:rPr>
              <a:t>this</a:t>
            </a:r>
            <a:r>
              <a:rPr spc="297" dirty="0">
                <a:solidFill>
                  <a:srgbClr val="009900"/>
                </a:solidFill>
                <a:latin typeface="Source Sans Pro"/>
                <a:cs typeface="Source Sans Pro"/>
              </a:rPr>
              <a:t> </a:t>
            </a:r>
            <a:r>
              <a:rPr dirty="0">
                <a:solidFill>
                  <a:srgbClr val="009900"/>
                </a:solidFill>
                <a:latin typeface="Source Sans Pro"/>
                <a:cs typeface="Source Sans Pro"/>
              </a:rPr>
              <a:t>is</a:t>
            </a:r>
            <a:r>
              <a:rPr spc="307" dirty="0">
                <a:solidFill>
                  <a:srgbClr val="009900"/>
                </a:solidFill>
                <a:latin typeface="Source Sans Pro"/>
                <a:cs typeface="Source Sans Pro"/>
              </a:rPr>
              <a:t> </a:t>
            </a:r>
            <a:r>
              <a:rPr dirty="0">
                <a:solidFill>
                  <a:srgbClr val="009900"/>
                </a:solidFill>
                <a:latin typeface="Source Sans Pro"/>
                <a:cs typeface="Source Sans Pro"/>
              </a:rPr>
              <a:t>one</a:t>
            </a:r>
            <a:r>
              <a:rPr spc="297" dirty="0">
                <a:solidFill>
                  <a:srgbClr val="009900"/>
                </a:solidFill>
                <a:latin typeface="Source Sans Pro"/>
                <a:cs typeface="Source Sans Pro"/>
              </a:rPr>
              <a:t> </a:t>
            </a:r>
            <a:r>
              <a:rPr dirty="0">
                <a:solidFill>
                  <a:srgbClr val="009900"/>
                </a:solidFill>
                <a:latin typeface="Source Sans Pro"/>
                <a:cs typeface="Source Sans Pro"/>
              </a:rPr>
              <a:t>of</a:t>
            </a:r>
            <a:r>
              <a:rPr spc="307" dirty="0">
                <a:solidFill>
                  <a:srgbClr val="009900"/>
                </a:solidFill>
                <a:latin typeface="Source Sans Pro"/>
                <a:cs typeface="Source Sans Pro"/>
              </a:rPr>
              <a:t> </a:t>
            </a:r>
            <a:r>
              <a:rPr spc="129" dirty="0">
                <a:solidFill>
                  <a:srgbClr val="009900"/>
                </a:solidFill>
                <a:latin typeface="Source Sans Pro"/>
                <a:cs typeface="Source Sans Pro"/>
              </a:rPr>
              <a:t>the</a:t>
            </a:r>
            <a:r>
              <a:rPr spc="297" dirty="0">
                <a:solidFill>
                  <a:srgbClr val="009900"/>
                </a:solidFill>
                <a:latin typeface="Source Sans Pro"/>
                <a:cs typeface="Source Sans Pro"/>
              </a:rPr>
              <a:t> </a:t>
            </a:r>
            <a:r>
              <a:rPr spc="109" dirty="0">
                <a:solidFill>
                  <a:srgbClr val="009900"/>
                </a:solidFill>
                <a:latin typeface="Source Sans Pro"/>
                <a:cs typeface="Source Sans Pro"/>
              </a:rPr>
              <a:t>best</a:t>
            </a:r>
            <a:r>
              <a:rPr spc="307" dirty="0">
                <a:solidFill>
                  <a:srgbClr val="009900"/>
                </a:solidFill>
                <a:latin typeface="Source Sans Pro"/>
                <a:cs typeface="Source Sans Pro"/>
              </a:rPr>
              <a:t> </a:t>
            </a:r>
            <a:r>
              <a:rPr dirty="0">
                <a:solidFill>
                  <a:srgbClr val="009900"/>
                </a:solidFill>
                <a:latin typeface="Source Sans Pro"/>
                <a:cs typeface="Source Sans Pro"/>
              </a:rPr>
              <a:t>films</a:t>
            </a:r>
            <a:r>
              <a:rPr spc="307" dirty="0">
                <a:solidFill>
                  <a:srgbClr val="009900"/>
                </a:solidFill>
                <a:latin typeface="Source Sans Pro"/>
                <a:cs typeface="Source Sans Pro"/>
              </a:rPr>
              <a:t> </a:t>
            </a:r>
            <a:r>
              <a:rPr spc="99" dirty="0">
                <a:solidFill>
                  <a:srgbClr val="009900"/>
                </a:solidFill>
                <a:latin typeface="Source Sans Pro"/>
                <a:cs typeface="Source Sans Pro"/>
              </a:rPr>
              <a:t>actually</a:t>
            </a:r>
            <a:r>
              <a:rPr spc="307" dirty="0">
                <a:solidFill>
                  <a:srgbClr val="009900"/>
                </a:solidFill>
                <a:latin typeface="Source Sans Pro"/>
                <a:cs typeface="Source Sans Pro"/>
              </a:rPr>
              <a:t> </a:t>
            </a:r>
            <a:r>
              <a:rPr spc="119" dirty="0">
                <a:solidFill>
                  <a:srgbClr val="009900"/>
                </a:solidFill>
                <a:latin typeface="Source Sans Pro"/>
                <a:cs typeface="Source Sans Pro"/>
              </a:rPr>
              <a:t>the</a:t>
            </a:r>
            <a:r>
              <a:rPr spc="307" dirty="0">
                <a:solidFill>
                  <a:srgbClr val="009900"/>
                </a:solidFill>
                <a:latin typeface="Source Sans Pro"/>
                <a:cs typeface="Source Sans Pro"/>
              </a:rPr>
              <a:t> </a:t>
            </a:r>
            <a:r>
              <a:rPr spc="109" dirty="0">
                <a:solidFill>
                  <a:srgbClr val="009900"/>
                </a:solidFill>
                <a:latin typeface="Source Sans Pro"/>
                <a:cs typeface="Source Sans Pro"/>
              </a:rPr>
              <a:t>best</a:t>
            </a:r>
            <a:r>
              <a:rPr spc="307" dirty="0">
                <a:solidFill>
                  <a:srgbClr val="009900"/>
                </a:solidFill>
                <a:latin typeface="Source Sans Pro"/>
                <a:cs typeface="Source Sans Pro"/>
              </a:rPr>
              <a:t> </a:t>
            </a:r>
            <a:r>
              <a:rPr dirty="0">
                <a:solidFill>
                  <a:srgbClr val="009900"/>
                </a:solidFill>
                <a:latin typeface="Source Sans Pro"/>
                <a:cs typeface="Source Sans Pro"/>
              </a:rPr>
              <a:t>I</a:t>
            </a:r>
            <a:r>
              <a:rPr spc="297" dirty="0">
                <a:solidFill>
                  <a:srgbClr val="009900"/>
                </a:solidFill>
                <a:latin typeface="Source Sans Pro"/>
                <a:cs typeface="Source Sans Pro"/>
              </a:rPr>
              <a:t> </a:t>
            </a:r>
            <a:r>
              <a:rPr dirty="0">
                <a:solidFill>
                  <a:srgbClr val="009900"/>
                </a:solidFill>
                <a:latin typeface="Source Sans Pro"/>
                <a:cs typeface="Source Sans Pro"/>
              </a:rPr>
              <a:t>have</a:t>
            </a:r>
            <a:r>
              <a:rPr spc="307" dirty="0">
                <a:solidFill>
                  <a:srgbClr val="009900"/>
                </a:solidFill>
                <a:latin typeface="Source Sans Pro"/>
                <a:cs typeface="Source Sans Pro"/>
              </a:rPr>
              <a:t> </a:t>
            </a:r>
            <a:r>
              <a:rPr dirty="0">
                <a:solidFill>
                  <a:srgbClr val="009900"/>
                </a:solidFill>
                <a:latin typeface="Source Sans Pro"/>
                <a:cs typeface="Source Sans Pro"/>
              </a:rPr>
              <a:t>ever</a:t>
            </a:r>
            <a:r>
              <a:rPr spc="297" dirty="0">
                <a:solidFill>
                  <a:srgbClr val="009900"/>
                </a:solidFill>
                <a:latin typeface="Source Sans Pro"/>
                <a:cs typeface="Source Sans Pro"/>
              </a:rPr>
              <a:t> </a:t>
            </a:r>
            <a:r>
              <a:rPr dirty="0">
                <a:solidFill>
                  <a:srgbClr val="009900"/>
                </a:solidFill>
                <a:latin typeface="Source Sans Pro"/>
                <a:cs typeface="Source Sans Pro"/>
              </a:rPr>
              <a:t>seen</a:t>
            </a:r>
            <a:r>
              <a:rPr spc="307" dirty="0">
                <a:solidFill>
                  <a:srgbClr val="009900"/>
                </a:solidFill>
                <a:latin typeface="Source Sans Pro"/>
                <a:cs typeface="Source Sans Pro"/>
              </a:rPr>
              <a:t> </a:t>
            </a:r>
            <a:r>
              <a:rPr spc="129" dirty="0">
                <a:solidFill>
                  <a:srgbClr val="009900"/>
                </a:solidFill>
                <a:latin typeface="Source Sans Pro"/>
                <a:cs typeface="Source Sans Pro"/>
              </a:rPr>
              <a:t>the</a:t>
            </a:r>
            <a:r>
              <a:rPr spc="297" dirty="0">
                <a:solidFill>
                  <a:srgbClr val="009900"/>
                </a:solidFill>
                <a:latin typeface="Source Sans Pro"/>
                <a:cs typeface="Source Sans Pro"/>
              </a:rPr>
              <a:t> </a:t>
            </a:r>
            <a:r>
              <a:rPr spc="-40" dirty="0">
                <a:solidFill>
                  <a:srgbClr val="009900"/>
                </a:solidFill>
                <a:latin typeface="Source Sans Pro"/>
                <a:cs typeface="Source Sans Pro"/>
              </a:rPr>
              <a:t>film</a:t>
            </a:r>
            <a:r>
              <a:rPr spc="119" dirty="0">
                <a:solidFill>
                  <a:srgbClr val="009900"/>
                </a:solidFill>
                <a:latin typeface="Source Sans Pro"/>
                <a:cs typeface="Source Sans Pro"/>
              </a:rPr>
              <a:t> starts</a:t>
            </a:r>
            <a:r>
              <a:rPr spc="248" dirty="0">
                <a:solidFill>
                  <a:srgbClr val="009900"/>
                </a:solidFill>
                <a:latin typeface="Source Sans Pro"/>
                <a:cs typeface="Source Sans Pro"/>
              </a:rPr>
              <a:t> </a:t>
            </a:r>
            <a:r>
              <a:rPr dirty="0">
                <a:solidFill>
                  <a:srgbClr val="009900"/>
                </a:solidFill>
                <a:latin typeface="Source Sans Pro"/>
                <a:cs typeface="Source Sans Pro"/>
              </a:rPr>
              <a:t>one</a:t>
            </a:r>
            <a:r>
              <a:rPr spc="258" dirty="0">
                <a:solidFill>
                  <a:srgbClr val="009900"/>
                </a:solidFill>
                <a:latin typeface="Source Sans Pro"/>
                <a:cs typeface="Source Sans Pro"/>
              </a:rPr>
              <a:t> </a:t>
            </a:r>
            <a:r>
              <a:rPr dirty="0">
                <a:solidFill>
                  <a:srgbClr val="009900"/>
                </a:solidFill>
                <a:latin typeface="Source Sans Pro"/>
                <a:cs typeface="Source Sans Pro"/>
              </a:rPr>
              <a:t>fall</a:t>
            </a:r>
            <a:r>
              <a:rPr spc="258" dirty="0">
                <a:solidFill>
                  <a:srgbClr val="009900"/>
                </a:solidFill>
                <a:latin typeface="Source Sans Pro"/>
                <a:cs typeface="Source Sans Pro"/>
              </a:rPr>
              <a:t> </a:t>
            </a:r>
            <a:r>
              <a:rPr spc="99" dirty="0">
                <a:solidFill>
                  <a:srgbClr val="009900"/>
                </a:solidFill>
                <a:latin typeface="Source Sans Pro"/>
                <a:cs typeface="Source Sans Pro"/>
              </a:rPr>
              <a:t>day</a:t>
            </a:r>
            <a:r>
              <a:rPr spc="248" dirty="0">
                <a:solidFill>
                  <a:srgbClr val="009900"/>
                </a:solidFill>
                <a:latin typeface="Source Sans Pro"/>
                <a:cs typeface="Source Sans Pro"/>
              </a:rPr>
              <a:t> </a:t>
            </a:r>
            <a:r>
              <a:rPr i="1" spc="119" dirty="0">
                <a:solidFill>
                  <a:srgbClr val="009900"/>
                </a:solidFill>
                <a:latin typeface="Source Sans Pro"/>
                <a:cs typeface="Source Sans Pro"/>
              </a:rPr>
              <a:t>···</a:t>
            </a:r>
            <a:r>
              <a:rPr i="1" spc="-119" dirty="0">
                <a:solidFill>
                  <a:srgbClr val="009900"/>
                </a:solidFill>
                <a:latin typeface="Source Sans Pro"/>
                <a:cs typeface="Source Sans Pro"/>
              </a:rPr>
              <a:t> </a:t>
            </a:r>
            <a:r>
              <a:rPr spc="-99" dirty="0">
                <a:solidFill>
                  <a:srgbClr val="009900"/>
                </a:solidFill>
                <a:latin typeface="Source Sans Pro"/>
                <a:cs typeface="Source Sans Pro"/>
              </a:rPr>
              <a:t>.</a:t>
            </a:r>
            <a:endParaRPr lang="en-US" spc="-99" dirty="0">
              <a:solidFill>
                <a:srgbClr val="009900"/>
              </a:solidFill>
              <a:latin typeface="Source Sans Pro"/>
              <a:cs typeface="Source Sans Pro"/>
            </a:endParaRPr>
          </a:p>
          <a:p>
            <a:pPr marR="529778">
              <a:lnSpc>
                <a:spcPts val="1883"/>
              </a:lnSpc>
              <a:spcBef>
                <a:spcPts val="268"/>
              </a:spcBef>
            </a:pPr>
            <a:endParaRPr sz="1200" dirty="0">
              <a:latin typeface="Source Sans Pro"/>
              <a:cs typeface="Source Sans Pro"/>
            </a:endParaRPr>
          </a:p>
          <a:p>
            <a:pPr marL="25168" marR="10067">
              <a:lnSpc>
                <a:spcPct val="102600"/>
              </a:lnSpc>
              <a:spcBef>
                <a:spcPts val="10"/>
              </a:spcBef>
            </a:pPr>
            <a:r>
              <a:rPr sz="2000" spc="-149" dirty="0">
                <a:latin typeface="Source Sans Pro"/>
                <a:cs typeface="Source Sans Pro"/>
              </a:rPr>
              <a:t>Embeddings</a:t>
            </a:r>
            <a:r>
              <a:rPr sz="2000" spc="-20" dirty="0">
                <a:latin typeface="Source Sans Pro"/>
                <a:cs typeface="Source Sans Pro"/>
              </a:rPr>
              <a:t> </a:t>
            </a:r>
            <a:r>
              <a:rPr sz="2000" spc="-139" dirty="0">
                <a:latin typeface="Source Sans Pro"/>
                <a:cs typeface="Source Sans Pro"/>
              </a:rPr>
              <a:t>are</a:t>
            </a:r>
            <a:r>
              <a:rPr sz="2000" spc="20" dirty="0">
                <a:latin typeface="Source Sans Pro"/>
                <a:cs typeface="Source Sans Pro"/>
              </a:rPr>
              <a:t> </a:t>
            </a:r>
            <a:r>
              <a:rPr sz="2000" spc="-129" dirty="0">
                <a:latin typeface="Source Sans Pro"/>
                <a:cs typeface="Source Sans Pro"/>
              </a:rPr>
              <a:t>pretrained</a:t>
            </a:r>
            <a:r>
              <a:rPr sz="2000" spc="10" dirty="0">
                <a:latin typeface="Source Sans Pro"/>
                <a:cs typeface="Source Sans Pro"/>
              </a:rPr>
              <a:t> </a:t>
            </a:r>
            <a:r>
              <a:rPr sz="2000" spc="-218" dirty="0">
                <a:latin typeface="Source Sans Pro"/>
                <a:cs typeface="Source Sans Pro"/>
              </a:rPr>
              <a:t>on</a:t>
            </a:r>
            <a:r>
              <a:rPr sz="2000" spc="30" dirty="0">
                <a:latin typeface="Source Sans Pro"/>
                <a:cs typeface="Source Sans Pro"/>
              </a:rPr>
              <a:t> </a:t>
            </a:r>
            <a:r>
              <a:rPr sz="2000" spc="-59" dirty="0">
                <a:latin typeface="Source Sans Pro"/>
                <a:cs typeface="Source Sans Pro"/>
              </a:rPr>
              <a:t>very</a:t>
            </a:r>
            <a:r>
              <a:rPr sz="2000" spc="20" dirty="0">
                <a:latin typeface="Source Sans Pro"/>
                <a:cs typeface="Source Sans Pro"/>
              </a:rPr>
              <a:t> </a:t>
            </a:r>
            <a:r>
              <a:rPr sz="2000" spc="-149" dirty="0">
                <a:latin typeface="Source Sans Pro"/>
                <a:cs typeface="Source Sans Pro"/>
              </a:rPr>
              <a:t>large</a:t>
            </a:r>
            <a:r>
              <a:rPr sz="2000" spc="20" dirty="0">
                <a:latin typeface="Source Sans Pro"/>
                <a:cs typeface="Source Sans Pro"/>
              </a:rPr>
              <a:t> </a:t>
            </a:r>
            <a:r>
              <a:rPr sz="2000" spc="-159" dirty="0">
                <a:latin typeface="Source Sans Pro"/>
                <a:cs typeface="Source Sans Pro"/>
              </a:rPr>
              <a:t>corpora</a:t>
            </a:r>
            <a:r>
              <a:rPr sz="2000" spc="10" dirty="0">
                <a:latin typeface="Source Sans Pro"/>
                <a:cs typeface="Source Sans Pro"/>
              </a:rPr>
              <a:t> </a:t>
            </a:r>
            <a:r>
              <a:rPr sz="2000" spc="-208" dirty="0">
                <a:latin typeface="Source Sans Pro"/>
                <a:cs typeface="Source Sans Pro"/>
              </a:rPr>
              <a:t>of</a:t>
            </a:r>
            <a:r>
              <a:rPr sz="2000" spc="30" dirty="0">
                <a:latin typeface="Source Sans Pro"/>
                <a:cs typeface="Source Sans Pro"/>
              </a:rPr>
              <a:t> </a:t>
            </a:r>
            <a:r>
              <a:rPr sz="2000" spc="-159" dirty="0">
                <a:latin typeface="Source Sans Pro"/>
                <a:cs typeface="Source Sans Pro"/>
              </a:rPr>
              <a:t>documents, </a:t>
            </a:r>
            <a:r>
              <a:rPr sz="2000" spc="-188" dirty="0">
                <a:latin typeface="Source Sans Pro"/>
                <a:cs typeface="Source Sans Pro"/>
              </a:rPr>
              <a:t>using</a:t>
            </a:r>
            <a:r>
              <a:rPr sz="2000" spc="10" dirty="0">
                <a:latin typeface="Source Sans Pro"/>
                <a:cs typeface="Source Sans Pro"/>
              </a:rPr>
              <a:t> </a:t>
            </a:r>
            <a:r>
              <a:rPr sz="2000" spc="-188" dirty="0">
                <a:latin typeface="Source Sans Pro"/>
                <a:cs typeface="Source Sans Pro"/>
              </a:rPr>
              <a:t>methods</a:t>
            </a:r>
            <a:r>
              <a:rPr sz="2000" spc="20" dirty="0">
                <a:latin typeface="Source Sans Pro"/>
                <a:cs typeface="Source Sans Pro"/>
              </a:rPr>
              <a:t> </a:t>
            </a:r>
            <a:r>
              <a:rPr sz="2000" spc="-119" dirty="0">
                <a:latin typeface="Source Sans Pro"/>
                <a:cs typeface="Source Sans Pro"/>
              </a:rPr>
              <a:t>similar</a:t>
            </a:r>
            <a:r>
              <a:rPr sz="2000" spc="-59" dirty="0">
                <a:latin typeface="Source Sans Pro"/>
                <a:cs typeface="Source Sans Pro"/>
              </a:rPr>
              <a:t> to</a:t>
            </a:r>
            <a:r>
              <a:rPr sz="2000" spc="10" dirty="0">
                <a:latin typeface="Source Sans Pro"/>
                <a:cs typeface="Source Sans Pro"/>
              </a:rPr>
              <a:t> </a:t>
            </a:r>
            <a:r>
              <a:rPr sz="2000" spc="-99" dirty="0">
                <a:latin typeface="Source Sans Pro"/>
                <a:cs typeface="Source Sans Pro"/>
              </a:rPr>
              <a:t>principal</a:t>
            </a:r>
            <a:r>
              <a:rPr sz="2000" dirty="0">
                <a:latin typeface="Source Sans Pro"/>
                <a:cs typeface="Source Sans Pro"/>
              </a:rPr>
              <a:t> </a:t>
            </a:r>
            <a:r>
              <a:rPr sz="2000" spc="-168" dirty="0">
                <a:latin typeface="Source Sans Pro"/>
                <a:cs typeface="Source Sans Pro"/>
              </a:rPr>
              <a:t>components.</a:t>
            </a:r>
            <a:r>
              <a:rPr sz="2000" spc="226" dirty="0">
                <a:latin typeface="Source Sans Pro"/>
                <a:cs typeface="Source Sans Pro"/>
              </a:rPr>
              <a:t> </a:t>
            </a:r>
            <a:r>
              <a:rPr sz="2000" spc="-198" dirty="0">
                <a:solidFill>
                  <a:srgbClr val="990000"/>
                </a:solidFill>
                <a:latin typeface="Courier New"/>
                <a:cs typeface="Courier New"/>
              </a:rPr>
              <a:t>word2vec</a:t>
            </a:r>
            <a:r>
              <a:rPr sz="2000" spc="-595" dirty="0">
                <a:solidFill>
                  <a:srgbClr val="990000"/>
                </a:solidFill>
                <a:latin typeface="Courier New"/>
                <a:cs typeface="Courier New"/>
              </a:rPr>
              <a:t> </a:t>
            </a:r>
            <a:r>
              <a:rPr sz="2000" spc="-50" dirty="0">
                <a:latin typeface="Source Sans Pro"/>
                <a:cs typeface="Source Sans Pro"/>
              </a:rPr>
              <a:t>and </a:t>
            </a:r>
            <a:r>
              <a:rPr sz="2000" spc="-198" dirty="0">
                <a:solidFill>
                  <a:srgbClr val="990000"/>
                </a:solidFill>
                <a:latin typeface="Courier New"/>
                <a:cs typeface="Courier New"/>
              </a:rPr>
              <a:t>GloVe</a:t>
            </a:r>
            <a:r>
              <a:rPr sz="2000" spc="-575" dirty="0">
                <a:solidFill>
                  <a:srgbClr val="990000"/>
                </a:solidFill>
                <a:latin typeface="Courier New"/>
                <a:cs typeface="Courier New"/>
              </a:rPr>
              <a:t> </a:t>
            </a:r>
            <a:r>
              <a:rPr sz="2000" spc="-139" dirty="0">
                <a:latin typeface="Source Sans Pro"/>
                <a:cs typeface="Source Sans Pro"/>
              </a:rPr>
              <a:t>are</a:t>
            </a:r>
            <a:r>
              <a:rPr sz="2000" spc="50" dirty="0">
                <a:latin typeface="Source Sans Pro"/>
                <a:cs typeface="Source Sans Pro"/>
              </a:rPr>
              <a:t> </a:t>
            </a:r>
            <a:r>
              <a:rPr sz="2000" spc="-20" dirty="0">
                <a:latin typeface="Source Sans Pro"/>
                <a:cs typeface="Source Sans Pro"/>
              </a:rPr>
              <a:t>popular.</a:t>
            </a:r>
            <a:endParaRPr sz="2000" dirty="0">
              <a:latin typeface="Source Sans Pro"/>
              <a:cs typeface="Source Sans Pro"/>
            </a:endParaRPr>
          </a:p>
        </p:txBody>
      </p:sp>
      <p:pic>
        <p:nvPicPr>
          <p:cNvPr id="164" name="Picture 163">
            <a:extLst>
              <a:ext uri="{FF2B5EF4-FFF2-40B4-BE49-F238E27FC236}">
                <a16:creationId xmlns:a16="http://schemas.microsoft.com/office/drawing/2014/main" id="{BF9E22D9-83F7-A976-AD19-71455EDF595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2200" y="1295400"/>
            <a:ext cx="7315200" cy="2743200"/>
          </a:xfrm>
          <a:prstGeom prst="rect">
            <a:avLst/>
          </a:prstGeom>
        </p:spPr>
      </p:pic>
      <p:pic>
        <p:nvPicPr>
          <p:cNvPr id="166" name="Picture 165">
            <a:extLst>
              <a:ext uri="{FF2B5EF4-FFF2-40B4-BE49-F238E27FC236}">
                <a16:creationId xmlns:a16="http://schemas.microsoft.com/office/drawing/2014/main" id="{74C4EC96-3635-BABF-B5A9-E80A14456EB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78765" y="3848100"/>
            <a:ext cx="7315200" cy="723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93265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3975" rIns="0" bIns="0" rtlCol="0" anchor="ctr">
            <a:normAutofit/>
            <a:scene3d>
              <a:camera prst="orthographicFront"/>
              <a:lightRig rig="threePt" dir="t">
                <a:rot lat="0" lon="0" rev="4800000"/>
              </a:lightRig>
            </a:scene3d>
            <a:sp3d prstMaterial="matte">
              <a:bevelT w="50800" h="10160"/>
            </a:sp3d>
          </a:bodyPr>
          <a:lstStyle/>
          <a:p>
            <a:pPr>
              <a:spcBef>
                <a:spcPts val="268"/>
              </a:spcBef>
            </a:pPr>
            <a:r>
              <a:rPr spc="109" dirty="0"/>
              <a:t>RNN</a:t>
            </a:r>
            <a:r>
              <a:rPr spc="396" dirty="0"/>
              <a:t> </a:t>
            </a:r>
            <a:r>
              <a:rPr dirty="0"/>
              <a:t>on</a:t>
            </a:r>
            <a:r>
              <a:rPr spc="416" dirty="0"/>
              <a:t> </a:t>
            </a:r>
            <a:r>
              <a:rPr dirty="0"/>
              <a:t>IMDB</a:t>
            </a:r>
            <a:r>
              <a:rPr spc="404" dirty="0"/>
              <a:t> </a:t>
            </a:r>
            <a:r>
              <a:rPr spc="-20" dirty="0"/>
              <a:t>Reviews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02AD9F2-0353-1EA1-9672-C399224FF0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12225-5612-419B-A8D5-4B8EEE4C217E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3" name="object 3"/>
          <p:cNvSpPr txBox="1">
            <a:spLocks noGrp="1"/>
          </p:cNvSpPr>
          <p:nvPr>
            <p:ph type="body" idx="4294967295"/>
          </p:nvPr>
        </p:nvSpPr>
        <p:spPr>
          <a:xfrm>
            <a:off x="0" y="1598613"/>
            <a:ext cx="11201400" cy="4049712"/>
          </a:xfrm>
          <a:prstGeom prst="rect">
            <a:avLst/>
          </a:prstGeom>
        </p:spPr>
        <p:txBody>
          <a:bodyPr vert="horz" wrap="square" lIns="0" tIns="201687" rIns="0" bIns="0" rtlCol="0">
            <a:normAutofit/>
          </a:bodyPr>
          <a:lstStyle/>
          <a:p>
            <a:pPr marL="349830" marR="549912" indent="-275585">
              <a:lnSpc>
                <a:spcPct val="102600"/>
              </a:lnSpc>
              <a:spcBef>
                <a:spcPts val="109"/>
              </a:spcBef>
              <a:buClr>
                <a:srgbClr val="3333B3"/>
              </a:buClr>
              <a:buFont typeface="Menlo"/>
              <a:buChar char="•"/>
              <a:tabLst>
                <a:tab pos="351088" algn="l"/>
              </a:tabLst>
            </a:pPr>
            <a:r>
              <a:rPr sz="2600" spc="-40" dirty="0"/>
              <a:t>After</a:t>
            </a:r>
            <a:r>
              <a:rPr sz="2600" spc="-89" dirty="0"/>
              <a:t> </a:t>
            </a:r>
            <a:r>
              <a:rPr sz="2600" dirty="0"/>
              <a:t>a</a:t>
            </a:r>
            <a:r>
              <a:rPr sz="2600" spc="-30" dirty="0"/>
              <a:t> </a:t>
            </a:r>
            <a:r>
              <a:rPr sz="2600" spc="-40" dirty="0"/>
              <a:t>lot</a:t>
            </a:r>
            <a:r>
              <a:rPr sz="2600" spc="-30" dirty="0"/>
              <a:t> </a:t>
            </a:r>
            <a:r>
              <a:rPr sz="2600" spc="-208" dirty="0"/>
              <a:t>of</a:t>
            </a:r>
            <a:r>
              <a:rPr sz="2600" spc="30" dirty="0"/>
              <a:t> </a:t>
            </a:r>
            <a:r>
              <a:rPr sz="2600" spc="-149" dirty="0"/>
              <a:t>work,</a:t>
            </a:r>
            <a:r>
              <a:rPr sz="2600" spc="-20" dirty="0"/>
              <a:t> </a:t>
            </a:r>
            <a:r>
              <a:rPr sz="2600" spc="-119" dirty="0"/>
              <a:t>the</a:t>
            </a:r>
            <a:r>
              <a:rPr sz="2600" spc="-30" dirty="0"/>
              <a:t> </a:t>
            </a:r>
            <a:r>
              <a:rPr sz="2600" spc="-149" dirty="0"/>
              <a:t>results</a:t>
            </a:r>
            <a:r>
              <a:rPr sz="2600" spc="-20" dirty="0"/>
              <a:t> </a:t>
            </a:r>
            <a:r>
              <a:rPr sz="2600" spc="-139" dirty="0"/>
              <a:t>are</a:t>
            </a:r>
            <a:r>
              <a:rPr sz="2600" spc="-30" dirty="0"/>
              <a:t> </a:t>
            </a:r>
            <a:r>
              <a:rPr sz="2600" dirty="0"/>
              <a:t>a</a:t>
            </a:r>
            <a:r>
              <a:rPr sz="2600" spc="-20" dirty="0"/>
              <a:t> </a:t>
            </a:r>
            <a:r>
              <a:rPr sz="2600" spc="-149" dirty="0"/>
              <a:t>disappointing</a:t>
            </a:r>
            <a:r>
              <a:rPr sz="2600" spc="-30" dirty="0"/>
              <a:t> </a:t>
            </a:r>
            <a:r>
              <a:rPr sz="2600" spc="-50" dirty="0"/>
              <a:t>76% </a:t>
            </a:r>
            <a:r>
              <a:rPr sz="2600" spc="-20" dirty="0"/>
              <a:t>accuracy.</a:t>
            </a:r>
            <a:endParaRPr sz="2600" dirty="0"/>
          </a:p>
          <a:p>
            <a:pPr marL="349830" marR="60402" indent="-275585">
              <a:lnSpc>
                <a:spcPct val="102600"/>
              </a:lnSpc>
              <a:spcBef>
                <a:spcPts val="595"/>
              </a:spcBef>
              <a:buClr>
                <a:srgbClr val="3333B3"/>
              </a:buClr>
              <a:buFont typeface="Menlo"/>
              <a:buChar char="•"/>
              <a:tabLst>
                <a:tab pos="351088" algn="l"/>
              </a:tabLst>
            </a:pPr>
            <a:r>
              <a:rPr sz="2600" dirty="0"/>
              <a:t>We </a:t>
            </a:r>
            <a:r>
              <a:rPr sz="2600" spc="-139" dirty="0"/>
              <a:t>then</a:t>
            </a:r>
            <a:r>
              <a:rPr sz="2600" spc="10" dirty="0"/>
              <a:t> </a:t>
            </a:r>
            <a:r>
              <a:rPr sz="2600" spc="-40" dirty="0"/>
              <a:t>fit</a:t>
            </a:r>
            <a:r>
              <a:rPr sz="2600" spc="20" dirty="0"/>
              <a:t> </a:t>
            </a:r>
            <a:r>
              <a:rPr sz="2600" dirty="0"/>
              <a:t>a </a:t>
            </a:r>
            <a:r>
              <a:rPr sz="2600" spc="-218" dirty="0"/>
              <a:t>more</a:t>
            </a:r>
            <a:r>
              <a:rPr sz="2600" dirty="0"/>
              <a:t> </a:t>
            </a:r>
            <a:r>
              <a:rPr sz="2600" spc="-159" dirty="0"/>
              <a:t>exotic</a:t>
            </a:r>
            <a:r>
              <a:rPr sz="2600" spc="10" dirty="0"/>
              <a:t> </a:t>
            </a:r>
            <a:r>
              <a:rPr sz="2600" dirty="0"/>
              <a:t>RNN </a:t>
            </a:r>
            <a:r>
              <a:rPr sz="2600" spc="-99" dirty="0"/>
              <a:t>than</a:t>
            </a:r>
            <a:r>
              <a:rPr sz="2600" spc="10" dirty="0"/>
              <a:t> </a:t>
            </a:r>
            <a:r>
              <a:rPr sz="2600" spc="-119" dirty="0"/>
              <a:t>the</a:t>
            </a:r>
            <a:r>
              <a:rPr sz="2600" spc="10" dirty="0"/>
              <a:t> </a:t>
            </a:r>
            <a:r>
              <a:rPr sz="2600" spc="-238" dirty="0"/>
              <a:t>one</a:t>
            </a:r>
            <a:r>
              <a:rPr sz="2600" dirty="0"/>
              <a:t> </a:t>
            </a:r>
            <a:r>
              <a:rPr sz="2600" spc="-168" dirty="0"/>
              <a:t>displayed</a:t>
            </a:r>
            <a:r>
              <a:rPr sz="2600" spc="20" dirty="0"/>
              <a:t> </a:t>
            </a:r>
            <a:r>
              <a:rPr sz="2600" dirty="0"/>
              <a:t>— </a:t>
            </a:r>
            <a:r>
              <a:rPr lang="en-US" sz="2600" spc="-99" dirty="0"/>
              <a:t>an LSTM with long and short-term</a:t>
            </a:r>
            <a:r>
              <a:rPr sz="2600" i="1" spc="-545" dirty="0">
                <a:solidFill>
                  <a:srgbClr val="009900"/>
                </a:solidFill>
                <a:latin typeface="Menlo"/>
                <a:cs typeface="Menlo"/>
              </a:rPr>
              <a:t> </a:t>
            </a:r>
            <a:r>
              <a:rPr sz="2600" i="1" spc="-159" dirty="0">
                <a:solidFill>
                  <a:srgbClr val="009900"/>
                </a:solidFill>
                <a:latin typeface="Menlo"/>
                <a:cs typeface="Menlo"/>
              </a:rPr>
              <a:t>memory.</a:t>
            </a:r>
            <a:r>
              <a:rPr sz="2600" i="1" spc="-357" dirty="0">
                <a:solidFill>
                  <a:srgbClr val="009900"/>
                </a:solidFill>
                <a:latin typeface="Menlo"/>
                <a:cs typeface="Menlo"/>
              </a:rPr>
              <a:t> </a:t>
            </a:r>
            <a:r>
              <a:rPr sz="2600" spc="-129" dirty="0"/>
              <a:t>Here</a:t>
            </a:r>
            <a:r>
              <a:rPr lang="en-US" sz="2600" spc="-129" dirty="0"/>
              <a:t>, A</a:t>
            </a:r>
            <a:r>
              <a:rPr lang="en-US" sz="2600" b="1" spc="-129" baseline="-25000" dirty="0">
                <a:latin typeface="Source Sans Pro" panose="020B0604020202020204" pitchFamily="34" charset="0"/>
                <a:cs typeface="Source Sans Pro" panose="020B0604020202020204" pitchFamily="34" charset="0"/>
              </a:rPr>
              <a:t>l</a:t>
            </a:r>
            <a:r>
              <a:rPr lang="en-US" sz="2600" spc="-129" dirty="0"/>
              <a:t> receives input from A</a:t>
            </a:r>
            <a:r>
              <a:rPr lang="en-US" sz="2600" b="1" spc="-129" baseline="-25000" dirty="0"/>
              <a:t>l-1</a:t>
            </a:r>
            <a:r>
              <a:rPr lang="en-US" sz="2600" spc="-129" dirty="0"/>
              <a:t> (short-term memory) as well as from a version that reaches further back in time (long-term</a:t>
            </a:r>
            <a:r>
              <a:rPr sz="2600" spc="-40" dirty="0"/>
              <a:t> </a:t>
            </a:r>
            <a:r>
              <a:rPr sz="2600" spc="-99" dirty="0"/>
              <a:t>memory).</a:t>
            </a:r>
            <a:r>
              <a:rPr sz="2600" spc="89" dirty="0"/>
              <a:t> </a:t>
            </a:r>
            <a:r>
              <a:rPr sz="2600" spc="-129" dirty="0"/>
              <a:t>Now</a:t>
            </a:r>
            <a:r>
              <a:rPr sz="2600" spc="-10" dirty="0"/>
              <a:t> </a:t>
            </a:r>
            <a:r>
              <a:rPr sz="2600" spc="-248" dirty="0"/>
              <a:t>we</a:t>
            </a:r>
            <a:r>
              <a:rPr sz="2600" spc="30" dirty="0"/>
              <a:t> </a:t>
            </a:r>
            <a:r>
              <a:rPr sz="2600" spc="-178" dirty="0"/>
              <a:t>get</a:t>
            </a:r>
            <a:r>
              <a:rPr sz="2600" dirty="0"/>
              <a:t> </a:t>
            </a:r>
            <a:r>
              <a:rPr sz="2600" spc="-40" dirty="0"/>
              <a:t>87%</a:t>
            </a:r>
            <a:r>
              <a:rPr sz="2600" spc="-10" dirty="0"/>
              <a:t> </a:t>
            </a:r>
            <a:r>
              <a:rPr sz="2600" spc="-149" dirty="0"/>
              <a:t>accuracy,</a:t>
            </a:r>
            <a:r>
              <a:rPr sz="2600" spc="-20" dirty="0"/>
              <a:t> </a:t>
            </a:r>
            <a:r>
              <a:rPr sz="2600" spc="-99" dirty="0"/>
              <a:t>slightly</a:t>
            </a:r>
            <a:r>
              <a:rPr sz="2600" spc="-10" dirty="0"/>
              <a:t> </a:t>
            </a:r>
            <a:r>
              <a:rPr sz="2600" spc="-208" dirty="0"/>
              <a:t>less</a:t>
            </a:r>
            <a:r>
              <a:rPr sz="2600" spc="30" dirty="0"/>
              <a:t> </a:t>
            </a:r>
            <a:r>
              <a:rPr sz="2600" spc="-89" dirty="0"/>
              <a:t>than</a:t>
            </a:r>
            <a:r>
              <a:rPr sz="2600" spc="-20" dirty="0"/>
              <a:t> </a:t>
            </a:r>
            <a:r>
              <a:rPr sz="2600" spc="-50" dirty="0"/>
              <a:t>the </a:t>
            </a:r>
            <a:r>
              <a:rPr sz="2600" spc="-40" dirty="0"/>
              <a:t>88%</a:t>
            </a:r>
            <a:r>
              <a:rPr sz="2600" spc="-129" dirty="0"/>
              <a:t> </a:t>
            </a:r>
            <a:r>
              <a:rPr sz="2600" spc="-168" dirty="0"/>
              <a:t>achieved</a:t>
            </a:r>
            <a:r>
              <a:rPr sz="2600" dirty="0"/>
              <a:t> </a:t>
            </a:r>
            <a:r>
              <a:rPr sz="2600" spc="-40" dirty="0"/>
              <a:t>by</a:t>
            </a:r>
            <a:r>
              <a:rPr sz="2600" spc="-50" dirty="0"/>
              <a:t> </a:t>
            </a:r>
            <a:r>
              <a:rPr sz="2600" spc="-20" dirty="0">
                <a:solidFill>
                  <a:srgbClr val="990000"/>
                </a:solidFill>
                <a:latin typeface="Courier New"/>
                <a:cs typeface="Courier New"/>
              </a:rPr>
              <a:t>glmnet</a:t>
            </a:r>
            <a:r>
              <a:rPr sz="2600" spc="-20" dirty="0"/>
              <a:t>.</a:t>
            </a:r>
            <a:endParaRPr sz="2600" dirty="0">
              <a:latin typeface="Courier New"/>
              <a:cs typeface="Courier New"/>
            </a:endParaRPr>
          </a:p>
          <a:p>
            <a:pPr marL="349830" marR="60402" indent="-275585">
              <a:lnSpc>
                <a:spcPct val="102600"/>
              </a:lnSpc>
              <a:spcBef>
                <a:spcPts val="595"/>
              </a:spcBef>
              <a:buClr>
                <a:srgbClr val="3333B3"/>
              </a:buClr>
              <a:buFont typeface="Menlo"/>
              <a:buChar char="•"/>
              <a:tabLst>
                <a:tab pos="351088" algn="l"/>
              </a:tabLst>
            </a:pPr>
            <a:r>
              <a:rPr sz="2600" spc="-149" dirty="0"/>
              <a:t>These</a:t>
            </a:r>
            <a:r>
              <a:rPr sz="2600" spc="-30" dirty="0"/>
              <a:t> </a:t>
            </a:r>
            <a:r>
              <a:rPr sz="2600" spc="-89" dirty="0"/>
              <a:t>data</a:t>
            </a:r>
            <a:r>
              <a:rPr sz="2600" spc="20" dirty="0"/>
              <a:t> </a:t>
            </a:r>
            <a:r>
              <a:rPr sz="2600" spc="-168" dirty="0"/>
              <a:t>have</a:t>
            </a:r>
            <a:r>
              <a:rPr sz="2600" spc="10" dirty="0"/>
              <a:t> </a:t>
            </a:r>
            <a:r>
              <a:rPr sz="2600" spc="-198" dirty="0"/>
              <a:t>been</a:t>
            </a:r>
            <a:r>
              <a:rPr sz="2600" spc="30" dirty="0"/>
              <a:t> </a:t>
            </a:r>
            <a:r>
              <a:rPr sz="2600" spc="-218" dirty="0"/>
              <a:t>used</a:t>
            </a:r>
            <a:r>
              <a:rPr sz="2600" spc="30" dirty="0"/>
              <a:t> </a:t>
            </a:r>
            <a:r>
              <a:rPr sz="2600" spc="-198" dirty="0"/>
              <a:t>as</a:t>
            </a:r>
            <a:r>
              <a:rPr sz="2600" spc="30" dirty="0"/>
              <a:t> </a:t>
            </a:r>
            <a:r>
              <a:rPr sz="2600" dirty="0"/>
              <a:t>a</a:t>
            </a:r>
            <a:r>
              <a:rPr sz="2600" spc="10" dirty="0"/>
              <a:t> </a:t>
            </a:r>
            <a:r>
              <a:rPr sz="2600" spc="-178" dirty="0"/>
              <a:t>benchmark</a:t>
            </a:r>
            <a:r>
              <a:rPr sz="2600" spc="20" dirty="0"/>
              <a:t> </a:t>
            </a:r>
            <a:r>
              <a:rPr sz="2600" spc="-129" dirty="0"/>
              <a:t>for</a:t>
            </a:r>
            <a:r>
              <a:rPr sz="2600" spc="10" dirty="0"/>
              <a:t> </a:t>
            </a:r>
            <a:r>
              <a:rPr sz="2600" spc="-188" dirty="0"/>
              <a:t>new</a:t>
            </a:r>
            <a:r>
              <a:rPr sz="2600" spc="20" dirty="0"/>
              <a:t> </a:t>
            </a:r>
            <a:r>
              <a:rPr sz="2600" spc="-50" dirty="0"/>
              <a:t>RNN </a:t>
            </a:r>
            <a:r>
              <a:rPr sz="2600" spc="-119" dirty="0"/>
              <a:t>architectures.</a:t>
            </a:r>
            <a:r>
              <a:rPr sz="2600" spc="159" dirty="0"/>
              <a:t> </a:t>
            </a:r>
            <a:r>
              <a:rPr sz="2600" spc="-40" dirty="0"/>
              <a:t>The</a:t>
            </a:r>
            <a:r>
              <a:rPr sz="2600" spc="-30" dirty="0"/>
              <a:t> </a:t>
            </a:r>
            <a:r>
              <a:rPr lang="en-US" sz="2600" spc="-159" dirty="0"/>
              <a:t>best-reported</a:t>
            </a:r>
            <a:r>
              <a:rPr sz="2600" spc="-20" dirty="0"/>
              <a:t> </a:t>
            </a:r>
            <a:r>
              <a:rPr sz="2600" spc="-129" dirty="0"/>
              <a:t>result</a:t>
            </a:r>
            <a:r>
              <a:rPr sz="2600" spc="-30" dirty="0"/>
              <a:t> </a:t>
            </a:r>
            <a:r>
              <a:rPr sz="2600" spc="-198" dirty="0"/>
              <a:t>found</a:t>
            </a:r>
            <a:r>
              <a:rPr sz="2600" dirty="0"/>
              <a:t> at</a:t>
            </a:r>
            <a:r>
              <a:rPr sz="2600" spc="-30" dirty="0"/>
              <a:t> </a:t>
            </a:r>
            <a:r>
              <a:rPr sz="2600" spc="-119" dirty="0"/>
              <a:t>the</a:t>
            </a:r>
            <a:r>
              <a:rPr sz="2600" spc="-20" dirty="0"/>
              <a:t> </a:t>
            </a:r>
            <a:r>
              <a:rPr sz="2600" spc="-119" dirty="0"/>
              <a:t>time</a:t>
            </a:r>
            <a:r>
              <a:rPr sz="2600" spc="-30" dirty="0"/>
              <a:t> </a:t>
            </a:r>
            <a:r>
              <a:rPr sz="2600" spc="-69" dirty="0"/>
              <a:t>of </a:t>
            </a:r>
            <a:r>
              <a:rPr sz="2600" spc="-99" dirty="0"/>
              <a:t>writing</a:t>
            </a:r>
            <a:r>
              <a:rPr sz="2600" spc="-79" dirty="0"/>
              <a:t> </a:t>
            </a:r>
            <a:r>
              <a:rPr sz="2600" spc="-168" dirty="0"/>
              <a:t>(2020)</a:t>
            </a:r>
            <a:r>
              <a:rPr sz="2600" dirty="0"/>
              <a:t> </a:t>
            </a:r>
            <a:r>
              <a:rPr sz="2600" spc="-208" dirty="0"/>
              <a:t>was</a:t>
            </a:r>
            <a:r>
              <a:rPr sz="2600" spc="30" dirty="0"/>
              <a:t> </a:t>
            </a:r>
            <a:r>
              <a:rPr sz="2600" spc="-159" dirty="0"/>
              <a:t>around</a:t>
            </a:r>
            <a:r>
              <a:rPr sz="2600" spc="-20" dirty="0"/>
              <a:t> 95%.</a:t>
            </a:r>
            <a:r>
              <a:rPr sz="2600" spc="99" dirty="0"/>
              <a:t> </a:t>
            </a:r>
            <a:r>
              <a:rPr sz="2600" dirty="0"/>
              <a:t>We</a:t>
            </a:r>
            <a:r>
              <a:rPr sz="2600" spc="-30" dirty="0"/>
              <a:t> </a:t>
            </a:r>
            <a:r>
              <a:rPr sz="2600" spc="-119" dirty="0"/>
              <a:t>point</a:t>
            </a:r>
            <a:r>
              <a:rPr sz="2600" spc="-40" dirty="0"/>
              <a:t> </a:t>
            </a:r>
            <a:r>
              <a:rPr sz="2600" spc="-59" dirty="0"/>
              <a:t>to</a:t>
            </a:r>
            <a:r>
              <a:rPr sz="2600" spc="-40" dirty="0"/>
              <a:t> </a:t>
            </a:r>
            <a:r>
              <a:rPr sz="2600" dirty="0"/>
              <a:t>a</a:t>
            </a:r>
            <a:r>
              <a:rPr sz="2600" spc="-30" dirty="0"/>
              <a:t> </a:t>
            </a:r>
            <a:r>
              <a:rPr sz="2600" i="1" spc="-277" dirty="0">
                <a:solidFill>
                  <a:srgbClr val="009900"/>
                </a:solidFill>
                <a:latin typeface="Menlo"/>
                <a:cs typeface="Menlo"/>
                <a:hlinkClick r:id="rId3"/>
              </a:rPr>
              <a:t>leaderboard</a:t>
            </a:r>
            <a:r>
              <a:rPr lang="en-US" sz="2600" i="1" spc="-277" dirty="0">
                <a:solidFill>
                  <a:srgbClr val="009900"/>
                </a:solidFill>
                <a:latin typeface="Menlo"/>
                <a:cs typeface="Menlo"/>
              </a:rPr>
              <a:t> (</a:t>
            </a:r>
            <a:r>
              <a:rPr lang="en-US" sz="2600" i="1" spc="-277" dirty="0">
                <a:solidFill>
                  <a:srgbClr val="009900"/>
                </a:solidFill>
                <a:latin typeface="Menlo"/>
                <a:cs typeface="Menlo"/>
                <a:hlinkClick r:id="rId3"/>
              </a:rPr>
              <a:t>https://paperswithcode.com/sota/sentiment-analysis-on-imdb</a:t>
            </a:r>
            <a:r>
              <a:rPr lang="en-US" sz="2600" i="1" spc="-277" dirty="0">
                <a:solidFill>
                  <a:srgbClr val="009900"/>
                </a:solidFill>
                <a:latin typeface="Menlo"/>
                <a:cs typeface="Menlo"/>
              </a:rPr>
              <a:t>) </a:t>
            </a:r>
            <a:r>
              <a:rPr sz="2600" dirty="0"/>
              <a:t>in</a:t>
            </a:r>
            <a:r>
              <a:rPr sz="2600" spc="-159" dirty="0"/>
              <a:t> </a:t>
            </a:r>
            <a:r>
              <a:rPr sz="2600" spc="-109" dirty="0"/>
              <a:t>Section</a:t>
            </a:r>
            <a:r>
              <a:rPr sz="2600" spc="-59" dirty="0"/>
              <a:t> </a:t>
            </a:r>
            <a:r>
              <a:rPr sz="2600" spc="-20" dirty="0"/>
              <a:t>10.5.1.</a:t>
            </a:r>
            <a:r>
              <a:rPr lang="en-US" sz="2600" spc="-20" dirty="0"/>
              <a:t> </a:t>
            </a:r>
            <a:endParaRPr sz="2600" dirty="0">
              <a:latin typeface="Menlo"/>
              <a:cs typeface="Menlo"/>
            </a:endParaRPr>
          </a:p>
        </p:txBody>
      </p:sp>
    </p:spTree>
    <p:extLst>
      <p:ext uri="{BB962C8B-B14F-4D97-AF65-F5344CB8AC3E}">
        <p14:creationId xmlns:p14="http://schemas.microsoft.com/office/powerpoint/2010/main" val="30613371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43A50E-459B-AF13-9E23-A9356E35AA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B99DD2-4725-9242-8D0B-D70D6A86A5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Deep Learning Introduction</a:t>
            </a:r>
          </a:p>
          <a:p>
            <a:r>
              <a:rPr lang="en-US" dirty="0"/>
              <a:t>Deep Learning Model 1: Multilayer Perception </a:t>
            </a:r>
          </a:p>
          <a:p>
            <a:r>
              <a:rPr lang="en-US" dirty="0"/>
              <a:t>Deep Learning Model 2: Convolutional Neural Networks </a:t>
            </a:r>
          </a:p>
          <a:p>
            <a:r>
              <a:rPr lang="en-US" dirty="0"/>
              <a:t>Deep Learning Model 3: Recurrent Neural Networks</a:t>
            </a:r>
          </a:p>
          <a:p>
            <a:r>
              <a:rPr lang="en-US" dirty="0"/>
              <a:t>Use case 1: Sentiment Prediction</a:t>
            </a:r>
          </a:p>
          <a:p>
            <a:r>
              <a:rPr lang="en-US" dirty="0">
                <a:solidFill>
                  <a:srgbClr val="FF0000"/>
                </a:solidFill>
              </a:rPr>
              <a:t>Use case 2: Forecast</a:t>
            </a:r>
          </a:p>
          <a:p>
            <a:r>
              <a:rPr lang="en-US" dirty="0"/>
              <a:t>Deep Learning Optimization</a:t>
            </a:r>
          </a:p>
          <a:p>
            <a:r>
              <a:rPr lang="en-US" dirty="0"/>
              <a:t>A bag of tricks</a:t>
            </a:r>
          </a:p>
          <a:p>
            <a:r>
              <a:rPr lang="en-US" dirty="0"/>
              <a:t>Some Interesting Findings in Extremely Deep Neural Networks (</a:t>
            </a:r>
            <a:r>
              <a:rPr lang="en-US" dirty="0" err="1"/>
              <a:t>ChatGPT</a:t>
            </a:r>
            <a:r>
              <a:rPr lang="en-US" dirty="0"/>
              <a:t>)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950E81-9EB6-7DFB-72FE-1530F7A4F3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12225-5612-419B-A8D5-4B8EEE4C217E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45954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/>
          <p:cNvGrpSpPr/>
          <p:nvPr/>
        </p:nvGrpSpPr>
        <p:grpSpPr>
          <a:xfrm>
            <a:off x="3386212" y="1179579"/>
            <a:ext cx="5912980" cy="5253606"/>
            <a:chOff x="937610" y="595250"/>
            <a:chExt cx="2983865" cy="265112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80136" y="627496"/>
              <a:ext cx="2731907" cy="810795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937610" y="597353"/>
              <a:ext cx="2981960" cy="871219"/>
            </a:xfrm>
            <a:custGeom>
              <a:avLst/>
              <a:gdLst/>
              <a:ahLst/>
              <a:cxnLst/>
              <a:rect l="l" t="t" r="r" b="b"/>
              <a:pathLst>
                <a:path w="2981960" h="871219">
                  <a:moveTo>
                    <a:pt x="35554" y="728695"/>
                  </a:moveTo>
                  <a:lnTo>
                    <a:pt x="35554" y="45704"/>
                  </a:lnTo>
                </a:path>
                <a:path w="2981960" h="871219">
                  <a:moveTo>
                    <a:pt x="35554" y="728695"/>
                  </a:moveTo>
                  <a:lnTo>
                    <a:pt x="0" y="728695"/>
                  </a:lnTo>
                </a:path>
                <a:path w="2981960" h="871219">
                  <a:moveTo>
                    <a:pt x="35554" y="557933"/>
                  </a:moveTo>
                  <a:lnTo>
                    <a:pt x="0" y="557933"/>
                  </a:lnTo>
                </a:path>
                <a:path w="2981960" h="871219">
                  <a:moveTo>
                    <a:pt x="35554" y="387228"/>
                  </a:moveTo>
                  <a:lnTo>
                    <a:pt x="0" y="387228"/>
                  </a:lnTo>
                </a:path>
                <a:path w="2981960" h="871219">
                  <a:moveTo>
                    <a:pt x="35554" y="216466"/>
                  </a:moveTo>
                  <a:lnTo>
                    <a:pt x="0" y="216466"/>
                  </a:lnTo>
                </a:path>
                <a:path w="2981960" h="871219">
                  <a:moveTo>
                    <a:pt x="35554" y="45704"/>
                  </a:moveTo>
                  <a:lnTo>
                    <a:pt x="0" y="45704"/>
                  </a:lnTo>
                </a:path>
                <a:path w="2981960" h="871219">
                  <a:moveTo>
                    <a:pt x="35554" y="871081"/>
                  </a:moveTo>
                  <a:lnTo>
                    <a:pt x="2981460" y="871081"/>
                  </a:lnTo>
                  <a:lnTo>
                    <a:pt x="2981460" y="0"/>
                  </a:lnTo>
                  <a:lnTo>
                    <a:pt x="35554" y="0"/>
                  </a:lnTo>
                  <a:lnTo>
                    <a:pt x="35554" y="871081"/>
                  </a:lnTo>
                </a:path>
              </a:pathLst>
            </a:custGeom>
            <a:ln w="42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3567"/>
            </a:p>
          </p:txBody>
        </p:sp>
        <p:sp>
          <p:nvSpPr>
            <p:cNvPr id="6" name="object 6"/>
            <p:cNvSpPr/>
            <p:nvPr/>
          </p:nvSpPr>
          <p:spPr>
            <a:xfrm>
              <a:off x="3017483" y="597353"/>
              <a:ext cx="0" cy="871219"/>
            </a:xfrm>
            <a:custGeom>
              <a:avLst/>
              <a:gdLst/>
              <a:ahLst/>
              <a:cxnLst/>
              <a:rect l="l" t="t" r="r" b="b"/>
              <a:pathLst>
                <a:path h="871219">
                  <a:moveTo>
                    <a:pt x="0" y="871081"/>
                  </a:moveTo>
                  <a:lnTo>
                    <a:pt x="0" y="0"/>
                  </a:lnTo>
                </a:path>
              </a:pathLst>
            </a:custGeom>
            <a:ln w="8411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 sz="3567"/>
            </a:p>
          </p:txBody>
        </p:sp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80136" y="1498577"/>
              <a:ext cx="2731907" cy="810739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937610" y="1468434"/>
              <a:ext cx="2981960" cy="871219"/>
            </a:xfrm>
            <a:custGeom>
              <a:avLst/>
              <a:gdLst/>
              <a:ahLst/>
              <a:cxnLst/>
              <a:rect l="l" t="t" r="r" b="b"/>
              <a:pathLst>
                <a:path w="2981960" h="871219">
                  <a:moveTo>
                    <a:pt x="35554" y="778942"/>
                  </a:moveTo>
                  <a:lnTo>
                    <a:pt x="35554" y="111654"/>
                  </a:lnTo>
                </a:path>
                <a:path w="2981960" h="871219">
                  <a:moveTo>
                    <a:pt x="35554" y="778942"/>
                  </a:moveTo>
                  <a:lnTo>
                    <a:pt x="0" y="778942"/>
                  </a:lnTo>
                </a:path>
                <a:path w="2981960" h="871219">
                  <a:moveTo>
                    <a:pt x="35554" y="612106"/>
                  </a:moveTo>
                  <a:lnTo>
                    <a:pt x="0" y="612106"/>
                  </a:lnTo>
                </a:path>
                <a:path w="2981960" h="871219">
                  <a:moveTo>
                    <a:pt x="35554" y="445270"/>
                  </a:moveTo>
                  <a:lnTo>
                    <a:pt x="0" y="445270"/>
                  </a:lnTo>
                </a:path>
                <a:path w="2981960" h="871219">
                  <a:moveTo>
                    <a:pt x="35554" y="278434"/>
                  </a:moveTo>
                  <a:lnTo>
                    <a:pt x="0" y="278434"/>
                  </a:lnTo>
                </a:path>
                <a:path w="2981960" h="871219">
                  <a:moveTo>
                    <a:pt x="35554" y="111654"/>
                  </a:moveTo>
                  <a:lnTo>
                    <a:pt x="0" y="111654"/>
                  </a:lnTo>
                </a:path>
                <a:path w="2981960" h="871219">
                  <a:moveTo>
                    <a:pt x="35554" y="871081"/>
                  </a:moveTo>
                  <a:lnTo>
                    <a:pt x="2981460" y="871081"/>
                  </a:lnTo>
                  <a:lnTo>
                    <a:pt x="2981460" y="0"/>
                  </a:lnTo>
                  <a:lnTo>
                    <a:pt x="35554" y="0"/>
                  </a:lnTo>
                  <a:lnTo>
                    <a:pt x="35554" y="871081"/>
                  </a:lnTo>
                </a:path>
              </a:pathLst>
            </a:custGeom>
            <a:ln w="42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3567"/>
            </a:p>
          </p:txBody>
        </p:sp>
        <p:sp>
          <p:nvSpPr>
            <p:cNvPr id="9" name="object 9"/>
            <p:cNvSpPr/>
            <p:nvPr/>
          </p:nvSpPr>
          <p:spPr>
            <a:xfrm>
              <a:off x="3017483" y="1468434"/>
              <a:ext cx="0" cy="871219"/>
            </a:xfrm>
            <a:custGeom>
              <a:avLst/>
              <a:gdLst/>
              <a:ahLst/>
              <a:cxnLst/>
              <a:rect l="l" t="t" r="r" b="b"/>
              <a:pathLst>
                <a:path h="871219">
                  <a:moveTo>
                    <a:pt x="0" y="871081"/>
                  </a:moveTo>
                  <a:lnTo>
                    <a:pt x="0" y="0"/>
                  </a:lnTo>
                </a:path>
              </a:pathLst>
            </a:custGeom>
            <a:ln w="8411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 sz="3567"/>
            </a:p>
          </p:txBody>
        </p:sp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80136" y="2369658"/>
              <a:ext cx="2731907" cy="810739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937610" y="2339516"/>
              <a:ext cx="2981960" cy="906780"/>
            </a:xfrm>
            <a:custGeom>
              <a:avLst/>
              <a:gdLst/>
              <a:ahLst/>
              <a:cxnLst/>
              <a:rect l="l" t="t" r="r" b="b"/>
              <a:pathLst>
                <a:path w="2981960" h="906780">
                  <a:moveTo>
                    <a:pt x="380386" y="871025"/>
                  </a:moveTo>
                  <a:lnTo>
                    <a:pt x="2646218" y="871025"/>
                  </a:lnTo>
                </a:path>
                <a:path w="2981960" h="906780">
                  <a:moveTo>
                    <a:pt x="380386" y="871025"/>
                  </a:moveTo>
                  <a:lnTo>
                    <a:pt x="380386" y="906579"/>
                  </a:lnTo>
                </a:path>
                <a:path w="2981960" h="906780">
                  <a:moveTo>
                    <a:pt x="946788" y="871025"/>
                  </a:moveTo>
                  <a:lnTo>
                    <a:pt x="946788" y="906579"/>
                  </a:lnTo>
                </a:path>
                <a:path w="2981960" h="906780">
                  <a:moveTo>
                    <a:pt x="1513134" y="871025"/>
                  </a:moveTo>
                  <a:lnTo>
                    <a:pt x="1513134" y="906579"/>
                  </a:lnTo>
                </a:path>
                <a:path w="2981960" h="906780">
                  <a:moveTo>
                    <a:pt x="2079536" y="871025"/>
                  </a:moveTo>
                  <a:lnTo>
                    <a:pt x="2079536" y="906579"/>
                  </a:lnTo>
                </a:path>
                <a:path w="2981960" h="906780">
                  <a:moveTo>
                    <a:pt x="2646218" y="871025"/>
                  </a:moveTo>
                  <a:lnTo>
                    <a:pt x="2646218" y="906579"/>
                  </a:lnTo>
                </a:path>
                <a:path w="2981960" h="906780">
                  <a:moveTo>
                    <a:pt x="35554" y="820609"/>
                  </a:moveTo>
                  <a:lnTo>
                    <a:pt x="35554" y="106775"/>
                  </a:lnTo>
                </a:path>
                <a:path w="2981960" h="906780">
                  <a:moveTo>
                    <a:pt x="35554" y="820609"/>
                  </a:moveTo>
                  <a:lnTo>
                    <a:pt x="0" y="820609"/>
                  </a:lnTo>
                </a:path>
                <a:path w="2981960" h="906780">
                  <a:moveTo>
                    <a:pt x="35554" y="677831"/>
                  </a:moveTo>
                  <a:lnTo>
                    <a:pt x="0" y="677831"/>
                  </a:lnTo>
                </a:path>
                <a:path w="2981960" h="906780">
                  <a:moveTo>
                    <a:pt x="35554" y="535053"/>
                  </a:moveTo>
                  <a:lnTo>
                    <a:pt x="0" y="535053"/>
                  </a:lnTo>
                </a:path>
                <a:path w="2981960" h="906780">
                  <a:moveTo>
                    <a:pt x="35554" y="392331"/>
                  </a:moveTo>
                  <a:lnTo>
                    <a:pt x="0" y="392331"/>
                  </a:lnTo>
                </a:path>
                <a:path w="2981960" h="906780">
                  <a:moveTo>
                    <a:pt x="35554" y="249553"/>
                  </a:moveTo>
                  <a:lnTo>
                    <a:pt x="0" y="249553"/>
                  </a:lnTo>
                </a:path>
                <a:path w="2981960" h="906780">
                  <a:moveTo>
                    <a:pt x="35554" y="106775"/>
                  </a:moveTo>
                  <a:lnTo>
                    <a:pt x="0" y="106775"/>
                  </a:lnTo>
                </a:path>
                <a:path w="2981960" h="906780">
                  <a:moveTo>
                    <a:pt x="35554" y="871025"/>
                  </a:moveTo>
                  <a:lnTo>
                    <a:pt x="2981460" y="871025"/>
                  </a:lnTo>
                  <a:lnTo>
                    <a:pt x="2981460" y="0"/>
                  </a:lnTo>
                  <a:lnTo>
                    <a:pt x="35554" y="0"/>
                  </a:lnTo>
                  <a:lnTo>
                    <a:pt x="35554" y="871025"/>
                  </a:lnTo>
                </a:path>
              </a:pathLst>
            </a:custGeom>
            <a:ln w="42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3567"/>
            </a:p>
          </p:txBody>
        </p:sp>
        <p:pic>
          <p:nvPicPr>
            <p:cNvPr id="12" name="object 1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013277" y="2339516"/>
              <a:ext cx="798766" cy="871025"/>
            </a:xfrm>
            <a:prstGeom prst="rect">
              <a:avLst/>
            </a:prstGeom>
          </p:spPr>
        </p:pic>
      </p:grpSp>
      <p:sp>
        <p:nvSpPr>
          <p:cNvPr id="13" name="object 13"/>
          <p:cNvSpPr txBox="1"/>
          <p:nvPr/>
        </p:nvSpPr>
        <p:spPr>
          <a:xfrm>
            <a:off x="2886739" y="1460678"/>
            <a:ext cx="137282" cy="1172781"/>
          </a:xfrm>
          <a:prstGeom prst="rect">
            <a:avLst/>
          </a:prstGeom>
        </p:spPr>
        <p:txBody>
          <a:bodyPr vert="vert270" wrap="square" lIns="0" tIns="6292" rIns="0" bIns="0" rtlCol="0">
            <a:normAutofit/>
          </a:bodyPr>
          <a:lstStyle/>
          <a:p>
            <a:pPr marL="25168">
              <a:spcBef>
                <a:spcPts val="50"/>
              </a:spcBef>
            </a:pPr>
            <a:r>
              <a:rPr sz="892" dirty="0">
                <a:latin typeface="Helvetica"/>
                <a:cs typeface="Helvetica"/>
              </a:rPr>
              <a:t>Log(Trading</a:t>
            </a:r>
            <a:r>
              <a:rPr sz="892" spc="129" dirty="0">
                <a:latin typeface="Helvetica"/>
                <a:cs typeface="Helvetica"/>
              </a:rPr>
              <a:t> </a:t>
            </a:r>
            <a:r>
              <a:rPr sz="892" spc="-20" dirty="0">
                <a:latin typeface="Helvetica"/>
                <a:cs typeface="Helvetica"/>
              </a:rPr>
              <a:t>Volume)</a:t>
            </a:r>
            <a:endParaRPr sz="892">
              <a:latin typeface="Helvetica"/>
              <a:cs typeface="Helvetica"/>
            </a:endParaRPr>
          </a:p>
        </p:txBody>
      </p:sp>
      <p:sp>
        <p:nvSpPr>
          <p:cNvPr id="29" name="Title 28">
            <a:extLst>
              <a:ext uri="{FF2B5EF4-FFF2-40B4-BE49-F238E27FC236}">
                <a16:creationId xmlns:a16="http://schemas.microsoft.com/office/drawing/2014/main" id="{79005CCA-92E9-9787-C93D-1CFD21FFC9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7048"/>
            <a:ext cx="10515600" cy="1325563"/>
          </a:xfrm>
        </p:spPr>
        <p:txBody>
          <a:bodyPr>
            <a:normAutofit/>
          </a:bodyPr>
          <a:lstStyle/>
          <a:p>
            <a:r>
              <a:rPr lang="en-US" sz="4800" spc="109" dirty="0">
                <a:solidFill>
                  <a:srgbClr val="3333B3"/>
                </a:solidFill>
                <a:latin typeface="Source Sans Pro"/>
                <a:cs typeface="Source Sans Pro"/>
              </a:rPr>
              <a:t>Time</a:t>
            </a:r>
            <a:r>
              <a:rPr lang="en-US" sz="4800" spc="297" dirty="0">
                <a:solidFill>
                  <a:srgbClr val="3333B3"/>
                </a:solidFill>
                <a:latin typeface="Source Sans Pro"/>
                <a:cs typeface="Source Sans Pro"/>
              </a:rPr>
              <a:t> </a:t>
            </a:r>
            <a:r>
              <a:rPr lang="en-US" sz="4800" dirty="0">
                <a:solidFill>
                  <a:srgbClr val="3333B3"/>
                </a:solidFill>
                <a:latin typeface="Source Sans Pro"/>
                <a:cs typeface="Source Sans Pro"/>
              </a:rPr>
              <a:t>Series</a:t>
            </a:r>
            <a:r>
              <a:rPr lang="en-US" sz="4800" spc="307" dirty="0">
                <a:solidFill>
                  <a:srgbClr val="3333B3"/>
                </a:solidFill>
                <a:latin typeface="Source Sans Pro"/>
                <a:cs typeface="Source Sans Pro"/>
              </a:rPr>
              <a:t> </a:t>
            </a:r>
            <a:r>
              <a:rPr lang="en-US" sz="4800" spc="-20" dirty="0">
                <a:solidFill>
                  <a:srgbClr val="3333B3"/>
                </a:solidFill>
                <a:latin typeface="Source Sans Pro"/>
                <a:cs typeface="Source Sans Pro"/>
              </a:rPr>
              <a:t>Forecasting</a:t>
            </a:r>
            <a:endParaRPr lang="en-US" dirty="0"/>
          </a:p>
        </p:txBody>
      </p:sp>
      <p:sp>
        <p:nvSpPr>
          <p:cNvPr id="30" name="Slide Number Placeholder 29">
            <a:extLst>
              <a:ext uri="{FF2B5EF4-FFF2-40B4-BE49-F238E27FC236}">
                <a16:creationId xmlns:a16="http://schemas.microsoft.com/office/drawing/2014/main" id="{C1B76AFC-9B7E-D617-C908-CBACEFFF61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12225-5612-419B-A8D5-4B8EEE4C217E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14" name="object 14"/>
          <p:cNvSpPr txBox="1"/>
          <p:nvPr/>
        </p:nvSpPr>
        <p:spPr>
          <a:xfrm>
            <a:off x="3168342" y="2482019"/>
            <a:ext cx="137282" cy="291937"/>
          </a:xfrm>
          <a:prstGeom prst="rect">
            <a:avLst/>
          </a:prstGeom>
        </p:spPr>
        <p:txBody>
          <a:bodyPr vert="vert270" wrap="square" lIns="0" tIns="6292" rIns="0" bIns="0" rtlCol="0">
            <a:normAutofit/>
          </a:bodyPr>
          <a:lstStyle/>
          <a:p>
            <a:pPr marL="25168">
              <a:spcBef>
                <a:spcPts val="50"/>
              </a:spcBef>
            </a:pPr>
            <a:r>
              <a:rPr sz="892" spc="-40" dirty="0">
                <a:latin typeface="Helvetica"/>
                <a:cs typeface="Helvetica"/>
              </a:rPr>
              <a:t>−1.0</a:t>
            </a:r>
            <a:endParaRPr sz="892">
              <a:latin typeface="Helvetica"/>
              <a:cs typeface="Helvetic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168342" y="1164287"/>
            <a:ext cx="137282" cy="897203"/>
          </a:xfrm>
          <a:prstGeom prst="rect">
            <a:avLst/>
          </a:prstGeom>
        </p:spPr>
        <p:txBody>
          <a:bodyPr vert="vert270" wrap="square" lIns="0" tIns="6292" rIns="0" bIns="0" rtlCol="0">
            <a:normAutofit/>
          </a:bodyPr>
          <a:lstStyle/>
          <a:p>
            <a:pPr marL="25168">
              <a:spcBef>
                <a:spcPts val="50"/>
              </a:spcBef>
            </a:pPr>
            <a:r>
              <a:rPr sz="892" dirty="0">
                <a:latin typeface="Helvetica"/>
                <a:cs typeface="Helvetica"/>
              </a:rPr>
              <a:t>0.0</a:t>
            </a:r>
            <a:r>
              <a:rPr sz="892" spc="436" dirty="0">
                <a:latin typeface="Helvetica"/>
                <a:cs typeface="Helvetica"/>
              </a:rPr>
              <a:t>  </a:t>
            </a:r>
            <a:r>
              <a:rPr sz="892" dirty="0">
                <a:latin typeface="Helvetica"/>
                <a:cs typeface="Helvetica"/>
              </a:rPr>
              <a:t>0.5</a:t>
            </a:r>
            <a:r>
              <a:rPr sz="892" spc="446" dirty="0">
                <a:latin typeface="Helvetica"/>
                <a:cs typeface="Helvetica"/>
              </a:rPr>
              <a:t>  </a:t>
            </a:r>
            <a:r>
              <a:rPr sz="892" spc="-50" dirty="0">
                <a:latin typeface="Helvetica"/>
                <a:cs typeface="Helvetica"/>
              </a:rPr>
              <a:t>1.0</a:t>
            </a:r>
            <a:endParaRPr sz="892">
              <a:latin typeface="Helvetica"/>
              <a:cs typeface="Helvetic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886739" y="3244444"/>
            <a:ext cx="137282" cy="1057013"/>
          </a:xfrm>
          <a:prstGeom prst="rect">
            <a:avLst/>
          </a:prstGeom>
        </p:spPr>
        <p:txBody>
          <a:bodyPr vert="vert270" wrap="square" lIns="0" tIns="6292" rIns="0" bIns="0" rtlCol="0">
            <a:normAutofit/>
          </a:bodyPr>
          <a:lstStyle/>
          <a:p>
            <a:pPr marL="25168">
              <a:spcBef>
                <a:spcPts val="50"/>
              </a:spcBef>
            </a:pPr>
            <a:r>
              <a:rPr sz="892" dirty="0">
                <a:latin typeface="Helvetica"/>
                <a:cs typeface="Helvetica"/>
              </a:rPr>
              <a:t>Dow</a:t>
            </a:r>
            <a:r>
              <a:rPr sz="892" spc="129" dirty="0">
                <a:latin typeface="Helvetica"/>
                <a:cs typeface="Helvetica"/>
              </a:rPr>
              <a:t> </a:t>
            </a:r>
            <a:r>
              <a:rPr sz="892" dirty="0">
                <a:latin typeface="Helvetica"/>
                <a:cs typeface="Helvetica"/>
              </a:rPr>
              <a:t>Jones</a:t>
            </a:r>
            <a:r>
              <a:rPr sz="892" spc="159" dirty="0">
                <a:latin typeface="Helvetica"/>
                <a:cs typeface="Helvetica"/>
              </a:rPr>
              <a:t> </a:t>
            </a:r>
            <a:r>
              <a:rPr sz="892" spc="-20" dirty="0">
                <a:latin typeface="Helvetica"/>
                <a:cs typeface="Helvetica"/>
              </a:rPr>
              <a:t>Return</a:t>
            </a:r>
            <a:endParaRPr sz="892">
              <a:latin typeface="Helvetica"/>
              <a:cs typeface="Helvetic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168342" y="4273698"/>
            <a:ext cx="137282" cy="952570"/>
          </a:xfrm>
          <a:prstGeom prst="rect">
            <a:avLst/>
          </a:prstGeom>
        </p:spPr>
        <p:txBody>
          <a:bodyPr vert="vert270" wrap="square" lIns="0" tIns="6292" rIns="0" bIns="0" rtlCol="0">
            <a:normAutofit/>
          </a:bodyPr>
          <a:lstStyle/>
          <a:p>
            <a:pPr marL="25168">
              <a:spcBef>
                <a:spcPts val="50"/>
              </a:spcBef>
            </a:pPr>
            <a:r>
              <a:rPr sz="892" dirty="0">
                <a:latin typeface="Helvetica"/>
                <a:cs typeface="Helvetica"/>
              </a:rPr>
              <a:t>−9</a:t>
            </a:r>
            <a:r>
              <a:rPr sz="892" spc="941" dirty="0">
                <a:latin typeface="Helvetica"/>
                <a:cs typeface="Helvetica"/>
              </a:rPr>
              <a:t> </a:t>
            </a:r>
            <a:r>
              <a:rPr sz="892" dirty="0">
                <a:latin typeface="Helvetica"/>
                <a:cs typeface="Helvetica"/>
              </a:rPr>
              <a:t>−8</a:t>
            </a:r>
            <a:r>
              <a:rPr sz="892" spc="454" dirty="0">
                <a:latin typeface="Helvetica"/>
                <a:cs typeface="Helvetica"/>
              </a:rPr>
              <a:t>  </a:t>
            </a:r>
            <a:r>
              <a:rPr sz="892" spc="-20" dirty="0">
                <a:latin typeface="Helvetica"/>
                <a:cs typeface="Helvetica"/>
              </a:rPr>
              <a:t>−0.04</a:t>
            </a:r>
            <a:endParaRPr sz="892">
              <a:latin typeface="Helvetica"/>
              <a:cs typeface="Helvetic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168342" y="3648304"/>
            <a:ext cx="137282" cy="289420"/>
          </a:xfrm>
          <a:prstGeom prst="rect">
            <a:avLst/>
          </a:prstGeom>
        </p:spPr>
        <p:txBody>
          <a:bodyPr vert="vert270" wrap="square" lIns="0" tIns="6292" rIns="0" bIns="0" rtlCol="0">
            <a:normAutofit/>
          </a:bodyPr>
          <a:lstStyle/>
          <a:p>
            <a:pPr marL="25168">
              <a:spcBef>
                <a:spcPts val="50"/>
              </a:spcBef>
            </a:pPr>
            <a:r>
              <a:rPr sz="892" spc="-40" dirty="0">
                <a:latin typeface="Helvetica"/>
                <a:cs typeface="Helvetica"/>
              </a:rPr>
              <a:t>0.00</a:t>
            </a:r>
            <a:endParaRPr sz="892">
              <a:latin typeface="Helvetica"/>
              <a:cs typeface="Helvetic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168342" y="2987082"/>
            <a:ext cx="137282" cy="289420"/>
          </a:xfrm>
          <a:prstGeom prst="rect">
            <a:avLst/>
          </a:prstGeom>
        </p:spPr>
        <p:txBody>
          <a:bodyPr vert="vert270" wrap="square" lIns="0" tIns="6292" rIns="0" bIns="0" rtlCol="0">
            <a:normAutofit/>
          </a:bodyPr>
          <a:lstStyle/>
          <a:p>
            <a:pPr marL="25168">
              <a:spcBef>
                <a:spcPts val="50"/>
              </a:spcBef>
            </a:pPr>
            <a:r>
              <a:rPr sz="892" spc="-40" dirty="0">
                <a:latin typeface="Helvetica"/>
                <a:cs typeface="Helvetica"/>
              </a:rPr>
              <a:t>0.04</a:t>
            </a:r>
            <a:endParaRPr sz="892">
              <a:latin typeface="Helvetica"/>
              <a:cs typeface="Helvetic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3978927" y="6468250"/>
            <a:ext cx="323396" cy="171588"/>
          </a:xfrm>
          <a:prstGeom prst="rect">
            <a:avLst/>
          </a:prstGeom>
        </p:spPr>
        <p:txBody>
          <a:bodyPr vert="horz" wrap="square" lIns="0" tIns="33975" rIns="0" bIns="0" rtlCol="0">
            <a:normAutofit/>
          </a:bodyPr>
          <a:lstStyle/>
          <a:p>
            <a:pPr marL="25168">
              <a:spcBef>
                <a:spcPts val="268"/>
              </a:spcBef>
            </a:pPr>
            <a:r>
              <a:rPr sz="892" spc="-40" dirty="0">
                <a:latin typeface="Helvetica"/>
                <a:cs typeface="Helvetica"/>
              </a:rPr>
              <a:t>1965</a:t>
            </a:r>
            <a:endParaRPr sz="892">
              <a:latin typeface="Helvetica"/>
              <a:cs typeface="Helvetic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5101226" y="6468250"/>
            <a:ext cx="323396" cy="171588"/>
          </a:xfrm>
          <a:prstGeom prst="rect">
            <a:avLst/>
          </a:prstGeom>
        </p:spPr>
        <p:txBody>
          <a:bodyPr vert="horz" wrap="square" lIns="0" tIns="33975" rIns="0" bIns="0" rtlCol="0">
            <a:normAutofit/>
          </a:bodyPr>
          <a:lstStyle/>
          <a:p>
            <a:pPr marL="25168">
              <a:spcBef>
                <a:spcPts val="268"/>
              </a:spcBef>
            </a:pPr>
            <a:r>
              <a:rPr sz="892" spc="-40" dirty="0">
                <a:latin typeface="Helvetica"/>
                <a:cs typeface="Helvetica"/>
              </a:rPr>
              <a:t>1970</a:t>
            </a:r>
            <a:endParaRPr sz="892">
              <a:latin typeface="Helvetica"/>
              <a:cs typeface="Helvetic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6223637" y="6468250"/>
            <a:ext cx="323396" cy="171588"/>
          </a:xfrm>
          <a:prstGeom prst="rect">
            <a:avLst/>
          </a:prstGeom>
        </p:spPr>
        <p:txBody>
          <a:bodyPr vert="horz" wrap="square" lIns="0" tIns="33975" rIns="0" bIns="0" rtlCol="0">
            <a:normAutofit/>
          </a:bodyPr>
          <a:lstStyle/>
          <a:p>
            <a:pPr marL="25168">
              <a:spcBef>
                <a:spcPts val="268"/>
              </a:spcBef>
            </a:pPr>
            <a:r>
              <a:rPr sz="892" spc="-40" dirty="0">
                <a:latin typeface="Helvetica"/>
                <a:cs typeface="Helvetica"/>
              </a:rPr>
              <a:t>1975</a:t>
            </a:r>
            <a:endParaRPr sz="892">
              <a:latin typeface="Helvetica"/>
              <a:cs typeface="Helvetic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7346048" y="6468250"/>
            <a:ext cx="323396" cy="171588"/>
          </a:xfrm>
          <a:prstGeom prst="rect">
            <a:avLst/>
          </a:prstGeom>
        </p:spPr>
        <p:txBody>
          <a:bodyPr vert="horz" wrap="square" lIns="0" tIns="33975" rIns="0" bIns="0" rtlCol="0">
            <a:normAutofit/>
          </a:bodyPr>
          <a:lstStyle/>
          <a:p>
            <a:pPr marL="25168">
              <a:spcBef>
                <a:spcPts val="268"/>
              </a:spcBef>
            </a:pPr>
            <a:r>
              <a:rPr sz="892" spc="-40" dirty="0">
                <a:latin typeface="Helvetica"/>
                <a:cs typeface="Helvetica"/>
              </a:rPr>
              <a:t>1980</a:t>
            </a:r>
            <a:endParaRPr sz="892">
              <a:latin typeface="Helvetica"/>
              <a:cs typeface="Helvetica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8469014" y="6468250"/>
            <a:ext cx="323396" cy="171588"/>
          </a:xfrm>
          <a:prstGeom prst="rect">
            <a:avLst/>
          </a:prstGeom>
        </p:spPr>
        <p:txBody>
          <a:bodyPr vert="horz" wrap="square" lIns="0" tIns="33975" rIns="0" bIns="0" rtlCol="0">
            <a:normAutofit/>
          </a:bodyPr>
          <a:lstStyle/>
          <a:p>
            <a:pPr marL="25168">
              <a:spcBef>
                <a:spcPts val="268"/>
              </a:spcBef>
            </a:pPr>
            <a:r>
              <a:rPr sz="892" spc="-40" dirty="0">
                <a:latin typeface="Helvetica"/>
                <a:cs typeface="Helvetica"/>
              </a:rPr>
              <a:t>1985</a:t>
            </a:r>
            <a:endParaRPr sz="892">
              <a:latin typeface="Helvetica"/>
              <a:cs typeface="Helvetica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3168342" y="6133463"/>
            <a:ext cx="137282" cy="257961"/>
          </a:xfrm>
          <a:prstGeom prst="rect">
            <a:avLst/>
          </a:prstGeom>
        </p:spPr>
        <p:txBody>
          <a:bodyPr vert="vert270" wrap="square" lIns="0" tIns="6292" rIns="0" bIns="0" rtlCol="0">
            <a:normAutofit/>
          </a:bodyPr>
          <a:lstStyle/>
          <a:p>
            <a:pPr marL="25168">
              <a:spcBef>
                <a:spcPts val="50"/>
              </a:spcBef>
            </a:pPr>
            <a:r>
              <a:rPr sz="892" spc="-50" dirty="0">
                <a:latin typeface="Helvetica"/>
                <a:cs typeface="Helvetica"/>
              </a:rPr>
              <a:t>−13</a:t>
            </a:r>
            <a:endParaRPr sz="892">
              <a:latin typeface="Helvetica"/>
              <a:cs typeface="Helvetica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3168342" y="5567589"/>
            <a:ext cx="137282" cy="257961"/>
          </a:xfrm>
          <a:prstGeom prst="rect">
            <a:avLst/>
          </a:prstGeom>
        </p:spPr>
        <p:txBody>
          <a:bodyPr vert="vert270" wrap="square" lIns="0" tIns="6292" rIns="0" bIns="0" rtlCol="0">
            <a:normAutofit/>
          </a:bodyPr>
          <a:lstStyle/>
          <a:p>
            <a:pPr marL="25168">
              <a:spcBef>
                <a:spcPts val="50"/>
              </a:spcBef>
            </a:pPr>
            <a:r>
              <a:rPr sz="892" spc="-50" dirty="0">
                <a:latin typeface="Helvetica"/>
                <a:cs typeface="Helvetica"/>
              </a:rPr>
              <a:t>−11</a:t>
            </a:r>
            <a:endParaRPr sz="892">
              <a:latin typeface="Helvetica"/>
              <a:cs typeface="Helvetica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2886739" y="5108756"/>
            <a:ext cx="137282" cy="781434"/>
          </a:xfrm>
          <a:prstGeom prst="rect">
            <a:avLst/>
          </a:prstGeom>
        </p:spPr>
        <p:txBody>
          <a:bodyPr vert="vert270" wrap="square" lIns="0" tIns="6292" rIns="0" bIns="0" rtlCol="0">
            <a:normAutofit/>
          </a:bodyPr>
          <a:lstStyle/>
          <a:p>
            <a:pPr marL="25168">
              <a:spcBef>
                <a:spcPts val="50"/>
              </a:spcBef>
            </a:pPr>
            <a:r>
              <a:rPr sz="892" spc="-20" dirty="0">
                <a:latin typeface="Helvetica"/>
                <a:cs typeface="Helvetica"/>
              </a:rPr>
              <a:t>Log(Volatility)</a:t>
            </a:r>
            <a:endParaRPr sz="892">
              <a:latin typeface="Helvetica"/>
              <a:cs typeface="Helvetica"/>
            </a:endParaRPr>
          </a:p>
        </p:txBody>
      </p:sp>
    </p:spTree>
    <p:extLst>
      <p:ext uri="{BB962C8B-B14F-4D97-AF65-F5344CB8AC3E}">
        <p14:creationId xmlns:p14="http://schemas.microsoft.com/office/powerpoint/2010/main" val="31507883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1985476F-93BF-6F6C-5A91-B291C7D19B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New-York</a:t>
            </a:r>
            <a:r>
              <a:rPr lang="en-US" spc="614" dirty="0"/>
              <a:t> </a:t>
            </a:r>
            <a:r>
              <a:rPr lang="en-US" dirty="0"/>
              <a:t>Stock</a:t>
            </a:r>
            <a:r>
              <a:rPr lang="en-US" spc="595" dirty="0"/>
              <a:t> </a:t>
            </a:r>
            <a:r>
              <a:rPr lang="en-US" dirty="0"/>
              <a:t>Exchange</a:t>
            </a:r>
            <a:r>
              <a:rPr lang="en-US" spc="604" dirty="0"/>
              <a:t> </a:t>
            </a:r>
            <a:r>
              <a:rPr lang="en-US" spc="129" dirty="0"/>
              <a:t>Data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FFBD3FA-2E07-2DC6-06A5-0AE4437E16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12225-5612-419B-A8D5-4B8EEE4C217E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3" name="object 3"/>
          <p:cNvSpPr txBox="1"/>
          <p:nvPr/>
        </p:nvSpPr>
        <p:spPr>
          <a:xfrm>
            <a:off x="994411" y="1485916"/>
            <a:ext cx="10317479" cy="5211747"/>
          </a:xfrm>
          <a:prstGeom prst="rect">
            <a:avLst/>
          </a:prstGeom>
        </p:spPr>
        <p:txBody>
          <a:bodyPr vert="horz" wrap="square" lIns="0" tIns="13842" rIns="0" bIns="0" rtlCol="0">
            <a:normAutofit/>
          </a:bodyPr>
          <a:lstStyle/>
          <a:p>
            <a:pPr marL="75503" marR="60402">
              <a:lnSpc>
                <a:spcPct val="102699"/>
              </a:lnSpc>
              <a:spcBef>
                <a:spcPts val="109"/>
              </a:spcBef>
            </a:pPr>
            <a:r>
              <a:rPr sz="2400" spc="-159" dirty="0">
                <a:latin typeface="Source Sans Pro"/>
                <a:cs typeface="Source Sans Pro"/>
              </a:rPr>
              <a:t>Shown</a:t>
            </a:r>
            <a:r>
              <a:rPr sz="2400" spc="-10" dirty="0">
                <a:latin typeface="Source Sans Pro"/>
                <a:cs typeface="Source Sans Pro"/>
              </a:rPr>
              <a:t> </a:t>
            </a:r>
            <a:r>
              <a:rPr sz="2400" spc="-59" dirty="0">
                <a:latin typeface="Source Sans Pro"/>
                <a:cs typeface="Source Sans Pro"/>
              </a:rPr>
              <a:t>in</a:t>
            </a:r>
            <a:r>
              <a:rPr sz="2400" dirty="0">
                <a:latin typeface="Source Sans Pro"/>
                <a:cs typeface="Source Sans Pro"/>
              </a:rPr>
              <a:t> </a:t>
            </a:r>
            <a:r>
              <a:rPr lang="en-US" sz="2400" dirty="0">
                <a:latin typeface="Source Sans Pro"/>
                <a:cs typeface="Source Sans Pro"/>
              </a:rPr>
              <a:t>the </a:t>
            </a:r>
            <a:r>
              <a:rPr sz="2400" spc="-168" dirty="0">
                <a:latin typeface="Source Sans Pro"/>
                <a:cs typeface="Source Sans Pro"/>
              </a:rPr>
              <a:t>previous</a:t>
            </a:r>
            <a:r>
              <a:rPr sz="2400" spc="-10" dirty="0">
                <a:latin typeface="Source Sans Pro"/>
                <a:cs typeface="Source Sans Pro"/>
              </a:rPr>
              <a:t> </a:t>
            </a:r>
            <a:r>
              <a:rPr sz="2400" spc="-159" dirty="0">
                <a:latin typeface="Source Sans Pro"/>
                <a:cs typeface="Source Sans Pro"/>
              </a:rPr>
              <a:t>slide</a:t>
            </a:r>
            <a:r>
              <a:rPr sz="2400" dirty="0">
                <a:latin typeface="Source Sans Pro"/>
                <a:cs typeface="Source Sans Pro"/>
              </a:rPr>
              <a:t> </a:t>
            </a:r>
            <a:r>
              <a:rPr sz="2400" spc="-159" dirty="0">
                <a:latin typeface="Source Sans Pro"/>
                <a:cs typeface="Source Sans Pro"/>
              </a:rPr>
              <a:t>are</a:t>
            </a:r>
            <a:r>
              <a:rPr sz="2400" dirty="0">
                <a:latin typeface="Source Sans Pro"/>
                <a:cs typeface="Source Sans Pro"/>
              </a:rPr>
              <a:t> </a:t>
            </a:r>
            <a:r>
              <a:rPr sz="2400" spc="-149" dirty="0">
                <a:latin typeface="Source Sans Pro"/>
                <a:cs typeface="Source Sans Pro"/>
              </a:rPr>
              <a:t>three</a:t>
            </a:r>
            <a:r>
              <a:rPr sz="2400" spc="-10" dirty="0">
                <a:latin typeface="Source Sans Pro"/>
                <a:cs typeface="Source Sans Pro"/>
              </a:rPr>
              <a:t> </a:t>
            </a:r>
            <a:r>
              <a:rPr sz="2400" spc="-59" dirty="0">
                <a:latin typeface="Source Sans Pro"/>
                <a:cs typeface="Source Sans Pro"/>
              </a:rPr>
              <a:t>daily</a:t>
            </a:r>
            <a:r>
              <a:rPr sz="2400" dirty="0">
                <a:latin typeface="Source Sans Pro"/>
                <a:cs typeface="Source Sans Pro"/>
              </a:rPr>
              <a:t> </a:t>
            </a:r>
            <a:r>
              <a:rPr sz="2400" spc="-129" dirty="0">
                <a:latin typeface="Source Sans Pro"/>
                <a:cs typeface="Source Sans Pro"/>
              </a:rPr>
              <a:t>time</a:t>
            </a:r>
            <a:r>
              <a:rPr sz="2400" dirty="0">
                <a:latin typeface="Source Sans Pro"/>
                <a:cs typeface="Source Sans Pro"/>
              </a:rPr>
              <a:t> </a:t>
            </a:r>
            <a:r>
              <a:rPr sz="2400" spc="-198" dirty="0">
                <a:latin typeface="Source Sans Pro"/>
                <a:cs typeface="Source Sans Pro"/>
              </a:rPr>
              <a:t>series</a:t>
            </a:r>
            <a:r>
              <a:rPr sz="2400" spc="-10" dirty="0">
                <a:latin typeface="Source Sans Pro"/>
                <a:cs typeface="Source Sans Pro"/>
              </a:rPr>
              <a:t> </a:t>
            </a:r>
            <a:r>
              <a:rPr sz="2400" spc="-168" dirty="0">
                <a:latin typeface="Source Sans Pro"/>
                <a:cs typeface="Source Sans Pro"/>
              </a:rPr>
              <a:t>for</a:t>
            </a:r>
            <a:r>
              <a:rPr sz="2400" dirty="0">
                <a:latin typeface="Source Sans Pro"/>
                <a:cs typeface="Source Sans Pro"/>
              </a:rPr>
              <a:t> </a:t>
            </a:r>
            <a:r>
              <a:rPr sz="2400" spc="-129" dirty="0">
                <a:latin typeface="Source Sans Pro"/>
                <a:cs typeface="Source Sans Pro"/>
              </a:rPr>
              <a:t>the</a:t>
            </a:r>
            <a:r>
              <a:rPr sz="2400" dirty="0">
                <a:latin typeface="Source Sans Pro"/>
                <a:cs typeface="Source Sans Pro"/>
              </a:rPr>
              <a:t> </a:t>
            </a:r>
            <a:r>
              <a:rPr sz="2400" spc="-109" dirty="0">
                <a:latin typeface="Source Sans Pro"/>
                <a:cs typeface="Source Sans Pro"/>
              </a:rPr>
              <a:t>period </a:t>
            </a:r>
            <a:r>
              <a:rPr sz="2400" spc="-188" dirty="0">
                <a:latin typeface="Source Sans Pro"/>
                <a:cs typeface="Source Sans Pro"/>
              </a:rPr>
              <a:t>December</a:t>
            </a:r>
            <a:r>
              <a:rPr sz="2400" spc="59" dirty="0">
                <a:latin typeface="Source Sans Pro"/>
                <a:cs typeface="Source Sans Pro"/>
              </a:rPr>
              <a:t> </a:t>
            </a:r>
            <a:r>
              <a:rPr sz="2400" spc="-198" dirty="0">
                <a:latin typeface="Source Sans Pro"/>
                <a:cs typeface="Source Sans Pro"/>
              </a:rPr>
              <a:t>3,</a:t>
            </a:r>
            <a:r>
              <a:rPr sz="2400" spc="69" dirty="0">
                <a:latin typeface="Source Sans Pro"/>
                <a:cs typeface="Source Sans Pro"/>
              </a:rPr>
              <a:t> </a:t>
            </a:r>
            <a:r>
              <a:rPr sz="2400" spc="-317" dirty="0">
                <a:latin typeface="Source Sans Pro"/>
                <a:cs typeface="Source Sans Pro"/>
              </a:rPr>
              <a:t>1962</a:t>
            </a:r>
            <a:r>
              <a:rPr lang="en-US" sz="2400" spc="-317" dirty="0">
                <a:latin typeface="Source Sans Pro"/>
                <a:cs typeface="Source Sans Pro"/>
              </a:rPr>
              <a:t>,</a:t>
            </a:r>
            <a:r>
              <a:rPr sz="2400" spc="59" dirty="0">
                <a:latin typeface="Source Sans Pro"/>
                <a:cs typeface="Source Sans Pro"/>
              </a:rPr>
              <a:t> </a:t>
            </a:r>
            <a:r>
              <a:rPr sz="2400" spc="-59" dirty="0">
                <a:latin typeface="Source Sans Pro"/>
                <a:cs typeface="Source Sans Pro"/>
              </a:rPr>
              <a:t>to</a:t>
            </a:r>
            <a:r>
              <a:rPr sz="2400" spc="69" dirty="0">
                <a:latin typeface="Source Sans Pro"/>
                <a:cs typeface="Source Sans Pro"/>
              </a:rPr>
              <a:t> </a:t>
            </a:r>
            <a:r>
              <a:rPr sz="2400" spc="-188" dirty="0">
                <a:latin typeface="Source Sans Pro"/>
                <a:cs typeface="Source Sans Pro"/>
              </a:rPr>
              <a:t>December</a:t>
            </a:r>
            <a:r>
              <a:rPr sz="2400" spc="69" dirty="0">
                <a:latin typeface="Source Sans Pro"/>
                <a:cs typeface="Source Sans Pro"/>
              </a:rPr>
              <a:t> </a:t>
            </a:r>
            <a:r>
              <a:rPr sz="2400" spc="-248" dirty="0">
                <a:latin typeface="Source Sans Pro"/>
                <a:cs typeface="Source Sans Pro"/>
              </a:rPr>
              <a:t>31,</a:t>
            </a:r>
            <a:r>
              <a:rPr sz="2400" spc="59" dirty="0">
                <a:latin typeface="Source Sans Pro"/>
                <a:cs typeface="Source Sans Pro"/>
              </a:rPr>
              <a:t> </a:t>
            </a:r>
            <a:r>
              <a:rPr sz="2400" spc="-317" dirty="0">
                <a:latin typeface="Source Sans Pro"/>
                <a:cs typeface="Source Sans Pro"/>
              </a:rPr>
              <a:t>1986</a:t>
            </a:r>
            <a:r>
              <a:rPr sz="2400" spc="69" dirty="0">
                <a:latin typeface="Source Sans Pro"/>
                <a:cs typeface="Source Sans Pro"/>
              </a:rPr>
              <a:t> </a:t>
            </a:r>
            <a:r>
              <a:rPr sz="2400" spc="-208" dirty="0">
                <a:latin typeface="Source Sans Pro"/>
                <a:cs typeface="Source Sans Pro"/>
              </a:rPr>
              <a:t>(6,051</a:t>
            </a:r>
            <a:r>
              <a:rPr sz="2400" spc="59" dirty="0">
                <a:latin typeface="Source Sans Pro"/>
                <a:cs typeface="Source Sans Pro"/>
              </a:rPr>
              <a:t> </a:t>
            </a:r>
            <a:r>
              <a:rPr sz="2400" spc="-119" dirty="0">
                <a:latin typeface="Source Sans Pro"/>
                <a:cs typeface="Source Sans Pro"/>
              </a:rPr>
              <a:t>trading</a:t>
            </a:r>
            <a:r>
              <a:rPr sz="2400" spc="69" dirty="0">
                <a:latin typeface="Source Sans Pro"/>
                <a:cs typeface="Source Sans Pro"/>
              </a:rPr>
              <a:t> </a:t>
            </a:r>
            <a:r>
              <a:rPr sz="2400" spc="-20" dirty="0">
                <a:latin typeface="Source Sans Pro"/>
                <a:cs typeface="Source Sans Pro"/>
              </a:rPr>
              <a:t>days):</a:t>
            </a:r>
            <a:endParaRPr sz="2400" dirty="0">
              <a:latin typeface="Source Sans Pro"/>
              <a:cs typeface="Source Sans Pro"/>
            </a:endParaRPr>
          </a:p>
          <a:p>
            <a:pPr marL="624156" marR="60402" indent="-275585">
              <a:lnSpc>
                <a:spcPct val="102600"/>
              </a:lnSpc>
              <a:spcBef>
                <a:spcPts val="595"/>
              </a:spcBef>
              <a:buClr>
                <a:srgbClr val="3333B3"/>
              </a:buClr>
              <a:buFont typeface="Menlo"/>
              <a:buChar char="•"/>
              <a:tabLst>
                <a:tab pos="625415" algn="l"/>
              </a:tabLst>
            </a:pPr>
            <a:r>
              <a:rPr sz="2400" spc="-188" dirty="0">
                <a:solidFill>
                  <a:srgbClr val="990000"/>
                </a:solidFill>
                <a:latin typeface="Courier New"/>
                <a:cs typeface="Courier New"/>
              </a:rPr>
              <a:t>Log</a:t>
            </a:r>
            <a:r>
              <a:rPr sz="2400" spc="-178" dirty="0">
                <a:solidFill>
                  <a:srgbClr val="990000"/>
                </a:solidFill>
                <a:latin typeface="Courier New"/>
                <a:cs typeface="Courier New"/>
              </a:rPr>
              <a:t> </a:t>
            </a:r>
            <a:r>
              <a:rPr sz="2400" spc="-198" dirty="0">
                <a:solidFill>
                  <a:srgbClr val="990000"/>
                </a:solidFill>
                <a:latin typeface="Courier New"/>
                <a:cs typeface="Courier New"/>
              </a:rPr>
              <a:t>trading</a:t>
            </a:r>
            <a:r>
              <a:rPr sz="2400" spc="-178" dirty="0">
                <a:solidFill>
                  <a:srgbClr val="990000"/>
                </a:solidFill>
                <a:latin typeface="Courier New"/>
                <a:cs typeface="Courier New"/>
              </a:rPr>
              <a:t> </a:t>
            </a:r>
            <a:r>
              <a:rPr sz="2400" spc="-139" dirty="0">
                <a:solidFill>
                  <a:srgbClr val="990000"/>
                </a:solidFill>
                <a:latin typeface="Courier New"/>
                <a:cs typeface="Courier New"/>
              </a:rPr>
              <a:t>volume</a:t>
            </a:r>
            <a:r>
              <a:rPr sz="2400" spc="-139" dirty="0">
                <a:latin typeface="Source Sans Pro"/>
                <a:cs typeface="Source Sans Pro"/>
              </a:rPr>
              <a:t>.</a:t>
            </a:r>
            <a:r>
              <a:rPr sz="2400" spc="10" dirty="0">
                <a:latin typeface="Source Sans Pro"/>
                <a:cs typeface="Source Sans Pro"/>
              </a:rPr>
              <a:t> </a:t>
            </a:r>
            <a:r>
              <a:rPr sz="2400" spc="-40" dirty="0">
                <a:latin typeface="Source Sans Pro"/>
                <a:cs typeface="Source Sans Pro"/>
              </a:rPr>
              <a:t>This</a:t>
            </a:r>
            <a:r>
              <a:rPr sz="2400" spc="-20" dirty="0">
                <a:latin typeface="Source Sans Pro"/>
                <a:cs typeface="Source Sans Pro"/>
              </a:rPr>
              <a:t> </a:t>
            </a:r>
            <a:r>
              <a:rPr sz="2400" spc="-99" dirty="0">
                <a:latin typeface="Source Sans Pro"/>
                <a:cs typeface="Source Sans Pro"/>
              </a:rPr>
              <a:t>is</a:t>
            </a:r>
            <a:r>
              <a:rPr sz="2400" spc="-20" dirty="0">
                <a:latin typeface="Source Sans Pro"/>
                <a:cs typeface="Source Sans Pro"/>
              </a:rPr>
              <a:t> </a:t>
            </a:r>
            <a:r>
              <a:rPr sz="2400" spc="-119" dirty="0">
                <a:latin typeface="Source Sans Pro"/>
                <a:cs typeface="Source Sans Pro"/>
              </a:rPr>
              <a:t>the</a:t>
            </a:r>
            <a:r>
              <a:rPr sz="2400" spc="-20" dirty="0">
                <a:latin typeface="Source Sans Pro"/>
                <a:cs typeface="Source Sans Pro"/>
              </a:rPr>
              <a:t> </a:t>
            </a:r>
            <a:r>
              <a:rPr sz="2400" spc="-109" dirty="0">
                <a:latin typeface="Source Sans Pro"/>
                <a:cs typeface="Source Sans Pro"/>
              </a:rPr>
              <a:t>fraction</a:t>
            </a:r>
            <a:r>
              <a:rPr sz="2400" spc="-10" dirty="0">
                <a:latin typeface="Source Sans Pro"/>
                <a:cs typeface="Source Sans Pro"/>
              </a:rPr>
              <a:t> </a:t>
            </a:r>
            <a:r>
              <a:rPr sz="2400" spc="-208" dirty="0">
                <a:latin typeface="Source Sans Pro"/>
                <a:cs typeface="Source Sans Pro"/>
              </a:rPr>
              <a:t>of</a:t>
            </a:r>
            <a:r>
              <a:rPr sz="2400" spc="30" dirty="0">
                <a:latin typeface="Source Sans Pro"/>
                <a:cs typeface="Source Sans Pro"/>
              </a:rPr>
              <a:t> </a:t>
            </a:r>
            <a:r>
              <a:rPr sz="2400" spc="-50" dirty="0">
                <a:latin typeface="Source Sans Pro"/>
                <a:cs typeface="Source Sans Pro"/>
              </a:rPr>
              <a:t>all </a:t>
            </a:r>
            <a:r>
              <a:rPr sz="2400" spc="-159" dirty="0">
                <a:latin typeface="Source Sans Pro"/>
                <a:cs typeface="Source Sans Pro"/>
              </a:rPr>
              <a:t>outstanding</a:t>
            </a:r>
            <a:r>
              <a:rPr sz="2400" spc="-20" dirty="0">
                <a:latin typeface="Source Sans Pro"/>
                <a:cs typeface="Source Sans Pro"/>
              </a:rPr>
              <a:t> </a:t>
            </a:r>
            <a:r>
              <a:rPr sz="2400" spc="-198" dirty="0">
                <a:latin typeface="Source Sans Pro"/>
                <a:cs typeface="Source Sans Pro"/>
              </a:rPr>
              <a:t>shares</a:t>
            </a:r>
            <a:r>
              <a:rPr sz="2400" spc="30" dirty="0">
                <a:latin typeface="Source Sans Pro"/>
                <a:cs typeface="Source Sans Pro"/>
              </a:rPr>
              <a:t> </a:t>
            </a:r>
            <a:r>
              <a:rPr sz="2400" spc="-20" dirty="0">
                <a:latin typeface="Source Sans Pro"/>
                <a:cs typeface="Source Sans Pro"/>
              </a:rPr>
              <a:t>that</a:t>
            </a:r>
            <a:r>
              <a:rPr sz="2400" spc="-50" dirty="0">
                <a:latin typeface="Source Sans Pro"/>
                <a:cs typeface="Source Sans Pro"/>
              </a:rPr>
              <a:t> </a:t>
            </a:r>
            <a:r>
              <a:rPr sz="2400" spc="-139" dirty="0">
                <a:latin typeface="Source Sans Pro"/>
                <a:cs typeface="Source Sans Pro"/>
              </a:rPr>
              <a:t>are</a:t>
            </a:r>
            <a:r>
              <a:rPr sz="2400" dirty="0">
                <a:latin typeface="Source Sans Pro"/>
                <a:cs typeface="Source Sans Pro"/>
              </a:rPr>
              <a:t> </a:t>
            </a:r>
            <a:r>
              <a:rPr sz="2400" spc="-129" dirty="0">
                <a:latin typeface="Source Sans Pro"/>
                <a:cs typeface="Source Sans Pro"/>
              </a:rPr>
              <a:t>traded</a:t>
            </a:r>
            <a:r>
              <a:rPr sz="2400" dirty="0">
                <a:latin typeface="Source Sans Pro"/>
                <a:cs typeface="Source Sans Pro"/>
              </a:rPr>
              <a:t> </a:t>
            </a:r>
            <a:r>
              <a:rPr sz="2400" spc="-218" dirty="0">
                <a:latin typeface="Source Sans Pro"/>
                <a:cs typeface="Source Sans Pro"/>
              </a:rPr>
              <a:t>on</a:t>
            </a:r>
            <a:r>
              <a:rPr sz="2400" spc="30" dirty="0">
                <a:latin typeface="Source Sans Pro"/>
                <a:cs typeface="Source Sans Pro"/>
              </a:rPr>
              <a:t> </a:t>
            </a:r>
            <a:r>
              <a:rPr sz="2400" spc="-20" dirty="0">
                <a:latin typeface="Source Sans Pro"/>
                <a:cs typeface="Source Sans Pro"/>
              </a:rPr>
              <a:t>that</a:t>
            </a:r>
            <a:r>
              <a:rPr sz="2400" dirty="0">
                <a:latin typeface="Source Sans Pro"/>
                <a:cs typeface="Source Sans Pro"/>
              </a:rPr>
              <a:t> </a:t>
            </a:r>
            <a:r>
              <a:rPr sz="2400" spc="-159" dirty="0">
                <a:latin typeface="Source Sans Pro"/>
                <a:cs typeface="Source Sans Pro"/>
              </a:rPr>
              <a:t>day</a:t>
            </a:r>
            <a:r>
              <a:rPr lang="en-US" sz="2400" spc="-159" dirty="0">
                <a:latin typeface="Source Sans Pro"/>
                <a:cs typeface="Source Sans Pro"/>
              </a:rPr>
              <a:t> relative to a 100-day moving average of past turnover,</a:t>
            </a:r>
            <a:r>
              <a:rPr sz="2400" dirty="0">
                <a:latin typeface="Source Sans Pro"/>
                <a:cs typeface="Source Sans Pro"/>
              </a:rPr>
              <a:t> </a:t>
            </a:r>
            <a:r>
              <a:rPr sz="2400" spc="-226" dirty="0">
                <a:latin typeface="Source Sans Pro"/>
                <a:cs typeface="Source Sans Pro"/>
              </a:rPr>
              <a:t>on</a:t>
            </a:r>
            <a:r>
              <a:rPr sz="2400" dirty="0">
                <a:latin typeface="Source Sans Pro"/>
                <a:cs typeface="Source Sans Pro"/>
              </a:rPr>
              <a:t> </a:t>
            </a:r>
            <a:r>
              <a:rPr sz="2400" spc="-149" dirty="0">
                <a:latin typeface="Source Sans Pro"/>
                <a:cs typeface="Source Sans Pro"/>
              </a:rPr>
              <a:t>the</a:t>
            </a:r>
            <a:r>
              <a:rPr sz="2400" spc="-10" dirty="0">
                <a:latin typeface="Source Sans Pro"/>
                <a:cs typeface="Source Sans Pro"/>
              </a:rPr>
              <a:t> </a:t>
            </a:r>
            <a:r>
              <a:rPr sz="2400" spc="-208" dirty="0">
                <a:latin typeface="Source Sans Pro"/>
                <a:cs typeface="Source Sans Pro"/>
              </a:rPr>
              <a:t>log</a:t>
            </a:r>
            <a:r>
              <a:rPr sz="2400" spc="-10" dirty="0">
                <a:latin typeface="Source Sans Pro"/>
                <a:cs typeface="Source Sans Pro"/>
              </a:rPr>
              <a:t> </a:t>
            </a:r>
            <a:r>
              <a:rPr sz="2400" spc="-119" dirty="0">
                <a:latin typeface="Source Sans Pro"/>
                <a:cs typeface="Source Sans Pro"/>
              </a:rPr>
              <a:t>scale.</a:t>
            </a:r>
            <a:endParaRPr sz="2400" dirty="0">
              <a:latin typeface="Source Sans Pro"/>
              <a:cs typeface="Source Sans Pro"/>
            </a:endParaRPr>
          </a:p>
          <a:p>
            <a:pPr marL="624156" marR="222733" indent="-275585">
              <a:lnSpc>
                <a:spcPct val="102600"/>
              </a:lnSpc>
              <a:spcBef>
                <a:spcPts val="595"/>
              </a:spcBef>
              <a:buClr>
                <a:srgbClr val="3333B3"/>
              </a:buClr>
              <a:buFont typeface="Menlo"/>
              <a:buChar char="•"/>
              <a:tabLst>
                <a:tab pos="625415" algn="l"/>
              </a:tabLst>
            </a:pPr>
            <a:r>
              <a:rPr sz="2400" spc="-188" dirty="0">
                <a:solidFill>
                  <a:srgbClr val="990000"/>
                </a:solidFill>
                <a:latin typeface="Courier New"/>
                <a:cs typeface="Courier New"/>
              </a:rPr>
              <a:t>Dow</a:t>
            </a:r>
            <a:r>
              <a:rPr sz="2400" spc="-178" dirty="0">
                <a:solidFill>
                  <a:srgbClr val="990000"/>
                </a:solidFill>
                <a:latin typeface="Courier New"/>
                <a:cs typeface="Courier New"/>
              </a:rPr>
              <a:t> </a:t>
            </a:r>
            <a:r>
              <a:rPr sz="2400" spc="-198" dirty="0">
                <a:solidFill>
                  <a:srgbClr val="990000"/>
                </a:solidFill>
                <a:latin typeface="Courier New"/>
                <a:cs typeface="Courier New"/>
              </a:rPr>
              <a:t>Jones</a:t>
            </a:r>
            <a:r>
              <a:rPr sz="2400" spc="-178" dirty="0">
                <a:solidFill>
                  <a:srgbClr val="990000"/>
                </a:solidFill>
                <a:latin typeface="Courier New"/>
                <a:cs typeface="Courier New"/>
              </a:rPr>
              <a:t> </a:t>
            </a:r>
            <a:r>
              <a:rPr sz="2400" spc="-139" dirty="0">
                <a:solidFill>
                  <a:srgbClr val="990000"/>
                </a:solidFill>
                <a:latin typeface="Courier New"/>
                <a:cs typeface="Courier New"/>
              </a:rPr>
              <a:t>return</a:t>
            </a:r>
            <a:r>
              <a:rPr sz="2400" spc="-139" dirty="0">
                <a:latin typeface="Source Sans Pro"/>
                <a:cs typeface="Source Sans Pro"/>
              </a:rPr>
              <a:t>.</a:t>
            </a:r>
            <a:r>
              <a:rPr sz="2400" spc="79" dirty="0">
                <a:latin typeface="Source Sans Pro"/>
                <a:cs typeface="Source Sans Pro"/>
              </a:rPr>
              <a:t> </a:t>
            </a:r>
            <a:r>
              <a:rPr sz="2400" spc="-40" dirty="0">
                <a:latin typeface="Source Sans Pro"/>
                <a:cs typeface="Source Sans Pro"/>
              </a:rPr>
              <a:t>This</a:t>
            </a:r>
            <a:r>
              <a:rPr sz="2400" dirty="0">
                <a:latin typeface="Source Sans Pro"/>
                <a:cs typeface="Source Sans Pro"/>
              </a:rPr>
              <a:t> </a:t>
            </a:r>
            <a:r>
              <a:rPr sz="2400" spc="-99" dirty="0">
                <a:latin typeface="Source Sans Pro"/>
                <a:cs typeface="Source Sans Pro"/>
              </a:rPr>
              <a:t>is</a:t>
            </a:r>
            <a:r>
              <a:rPr sz="2400" dirty="0">
                <a:latin typeface="Source Sans Pro"/>
                <a:cs typeface="Source Sans Pro"/>
              </a:rPr>
              <a:t> </a:t>
            </a:r>
            <a:r>
              <a:rPr sz="2400" spc="-119" dirty="0">
                <a:latin typeface="Source Sans Pro"/>
                <a:cs typeface="Source Sans Pro"/>
              </a:rPr>
              <a:t>the</a:t>
            </a:r>
            <a:r>
              <a:rPr sz="2400" dirty="0">
                <a:latin typeface="Source Sans Pro"/>
                <a:cs typeface="Source Sans Pro"/>
              </a:rPr>
              <a:t> </a:t>
            </a:r>
            <a:r>
              <a:rPr lang="en-US" sz="2400" spc="-268" dirty="0">
                <a:latin typeface="Source Sans Pro"/>
                <a:cs typeface="Source Sans Pro"/>
              </a:rPr>
              <a:t>difference</a:t>
            </a:r>
            <a:r>
              <a:rPr sz="2400" spc="30" dirty="0">
                <a:latin typeface="Source Sans Pro"/>
                <a:cs typeface="Source Sans Pro"/>
              </a:rPr>
              <a:t> </a:t>
            </a:r>
            <a:r>
              <a:rPr sz="2400" spc="-188" dirty="0">
                <a:latin typeface="Source Sans Pro"/>
                <a:cs typeface="Source Sans Pro"/>
              </a:rPr>
              <a:t>between</a:t>
            </a:r>
            <a:r>
              <a:rPr sz="2400" spc="10" dirty="0">
                <a:latin typeface="Source Sans Pro"/>
                <a:cs typeface="Source Sans Pro"/>
              </a:rPr>
              <a:t> </a:t>
            </a:r>
            <a:r>
              <a:rPr sz="2400" spc="-119" dirty="0">
                <a:latin typeface="Source Sans Pro"/>
                <a:cs typeface="Source Sans Pro"/>
              </a:rPr>
              <a:t>the</a:t>
            </a:r>
            <a:r>
              <a:rPr sz="2400" dirty="0">
                <a:latin typeface="Source Sans Pro"/>
                <a:cs typeface="Source Sans Pro"/>
              </a:rPr>
              <a:t> </a:t>
            </a:r>
            <a:r>
              <a:rPr sz="2400" spc="-99" dirty="0">
                <a:latin typeface="Source Sans Pro"/>
                <a:cs typeface="Source Sans Pro"/>
              </a:rPr>
              <a:t>log </a:t>
            </a:r>
            <a:r>
              <a:rPr sz="2400" spc="-208" dirty="0">
                <a:latin typeface="Source Sans Pro"/>
                <a:cs typeface="Source Sans Pro"/>
              </a:rPr>
              <a:t>of</a:t>
            </a:r>
            <a:r>
              <a:rPr sz="2400" spc="30" dirty="0">
                <a:latin typeface="Source Sans Pro"/>
                <a:cs typeface="Source Sans Pro"/>
              </a:rPr>
              <a:t> </a:t>
            </a:r>
            <a:r>
              <a:rPr sz="2400" spc="-119" dirty="0">
                <a:latin typeface="Source Sans Pro"/>
                <a:cs typeface="Source Sans Pro"/>
              </a:rPr>
              <a:t>the</a:t>
            </a:r>
            <a:r>
              <a:rPr sz="2400" spc="-59" dirty="0">
                <a:latin typeface="Source Sans Pro"/>
                <a:cs typeface="Source Sans Pro"/>
              </a:rPr>
              <a:t> </a:t>
            </a:r>
            <a:r>
              <a:rPr sz="2400" spc="-129" dirty="0">
                <a:latin typeface="Source Sans Pro"/>
                <a:cs typeface="Source Sans Pro"/>
              </a:rPr>
              <a:t>Dow</a:t>
            </a:r>
            <a:r>
              <a:rPr sz="2400" spc="-30" dirty="0">
                <a:latin typeface="Source Sans Pro"/>
                <a:cs typeface="Source Sans Pro"/>
              </a:rPr>
              <a:t> </a:t>
            </a:r>
            <a:r>
              <a:rPr sz="2400" spc="-99" dirty="0">
                <a:latin typeface="Source Sans Pro"/>
                <a:cs typeface="Source Sans Pro"/>
              </a:rPr>
              <a:t>Jones</a:t>
            </a:r>
            <a:r>
              <a:rPr sz="2400" dirty="0">
                <a:latin typeface="Source Sans Pro"/>
                <a:cs typeface="Source Sans Pro"/>
              </a:rPr>
              <a:t> </a:t>
            </a:r>
            <a:r>
              <a:rPr sz="2400" spc="-79" dirty="0">
                <a:latin typeface="Source Sans Pro"/>
                <a:cs typeface="Source Sans Pro"/>
              </a:rPr>
              <a:t>Industrial</a:t>
            </a:r>
            <a:r>
              <a:rPr sz="2400" spc="-10" dirty="0">
                <a:latin typeface="Source Sans Pro"/>
                <a:cs typeface="Source Sans Pro"/>
              </a:rPr>
              <a:t> </a:t>
            </a:r>
            <a:r>
              <a:rPr sz="2400" spc="-119" dirty="0">
                <a:latin typeface="Source Sans Pro"/>
                <a:cs typeface="Source Sans Pro"/>
              </a:rPr>
              <a:t>Index</a:t>
            </a:r>
            <a:r>
              <a:rPr sz="2400" spc="-10" dirty="0">
                <a:latin typeface="Source Sans Pro"/>
                <a:cs typeface="Source Sans Pro"/>
              </a:rPr>
              <a:t> </a:t>
            </a:r>
            <a:r>
              <a:rPr sz="2400" spc="-218" dirty="0">
                <a:latin typeface="Source Sans Pro"/>
                <a:cs typeface="Source Sans Pro"/>
              </a:rPr>
              <a:t>on</a:t>
            </a:r>
            <a:r>
              <a:rPr sz="2400" spc="30" dirty="0">
                <a:latin typeface="Source Sans Pro"/>
                <a:cs typeface="Source Sans Pro"/>
              </a:rPr>
              <a:t> </a:t>
            </a:r>
            <a:r>
              <a:rPr sz="2400" spc="-159" dirty="0">
                <a:latin typeface="Source Sans Pro"/>
                <a:cs typeface="Source Sans Pro"/>
              </a:rPr>
              <a:t>consecutive</a:t>
            </a:r>
            <a:r>
              <a:rPr sz="2400" dirty="0">
                <a:latin typeface="Source Sans Pro"/>
                <a:cs typeface="Source Sans Pro"/>
              </a:rPr>
              <a:t> </a:t>
            </a:r>
            <a:r>
              <a:rPr sz="2400" spc="-20" dirty="0">
                <a:latin typeface="Source Sans Pro"/>
                <a:cs typeface="Source Sans Pro"/>
              </a:rPr>
              <a:t>trading days.</a:t>
            </a:r>
            <a:endParaRPr sz="2400" dirty="0">
              <a:latin typeface="Source Sans Pro"/>
              <a:cs typeface="Source Sans Pro"/>
            </a:endParaRPr>
          </a:p>
          <a:p>
            <a:pPr marL="624156" marR="354863" indent="-275585">
              <a:lnSpc>
                <a:spcPct val="102600"/>
              </a:lnSpc>
              <a:spcBef>
                <a:spcPts val="585"/>
              </a:spcBef>
              <a:buClr>
                <a:srgbClr val="3333B3"/>
              </a:buClr>
              <a:buFont typeface="Menlo"/>
              <a:buChar char="•"/>
              <a:tabLst>
                <a:tab pos="625415" algn="l"/>
              </a:tabLst>
            </a:pPr>
            <a:r>
              <a:rPr sz="2400" spc="-188" dirty="0">
                <a:solidFill>
                  <a:srgbClr val="990000"/>
                </a:solidFill>
                <a:latin typeface="Courier New"/>
                <a:cs typeface="Courier New"/>
              </a:rPr>
              <a:t>Log</a:t>
            </a:r>
            <a:r>
              <a:rPr sz="2400" spc="-178" dirty="0">
                <a:solidFill>
                  <a:srgbClr val="990000"/>
                </a:solidFill>
                <a:latin typeface="Courier New"/>
                <a:cs typeface="Courier New"/>
              </a:rPr>
              <a:t> </a:t>
            </a:r>
            <a:r>
              <a:rPr sz="2400" spc="-159" dirty="0">
                <a:solidFill>
                  <a:srgbClr val="990000"/>
                </a:solidFill>
                <a:latin typeface="Courier New"/>
                <a:cs typeface="Courier New"/>
              </a:rPr>
              <a:t>volatility</a:t>
            </a:r>
            <a:r>
              <a:rPr sz="2400" spc="-159" dirty="0">
                <a:latin typeface="Source Sans Pro"/>
                <a:cs typeface="Source Sans Pro"/>
              </a:rPr>
              <a:t>.</a:t>
            </a:r>
            <a:r>
              <a:rPr sz="2400" spc="89" dirty="0">
                <a:latin typeface="Source Sans Pro"/>
                <a:cs typeface="Source Sans Pro"/>
              </a:rPr>
              <a:t> </a:t>
            </a:r>
            <a:r>
              <a:rPr sz="2400" spc="-40" dirty="0">
                <a:latin typeface="Source Sans Pro"/>
                <a:cs typeface="Source Sans Pro"/>
              </a:rPr>
              <a:t>This</a:t>
            </a:r>
            <a:r>
              <a:rPr sz="2400" dirty="0">
                <a:latin typeface="Source Sans Pro"/>
                <a:cs typeface="Source Sans Pro"/>
              </a:rPr>
              <a:t> </a:t>
            </a:r>
            <a:r>
              <a:rPr sz="2400" spc="-99" dirty="0">
                <a:latin typeface="Source Sans Pro"/>
                <a:cs typeface="Source Sans Pro"/>
              </a:rPr>
              <a:t>is</a:t>
            </a:r>
            <a:r>
              <a:rPr sz="2400" spc="-10" dirty="0">
                <a:latin typeface="Source Sans Pro"/>
                <a:cs typeface="Source Sans Pro"/>
              </a:rPr>
              <a:t> </a:t>
            </a:r>
            <a:r>
              <a:rPr sz="2400" spc="-208" dirty="0">
                <a:latin typeface="Source Sans Pro"/>
                <a:cs typeface="Source Sans Pro"/>
              </a:rPr>
              <a:t>based</a:t>
            </a:r>
            <a:r>
              <a:rPr sz="2400" spc="30" dirty="0">
                <a:latin typeface="Source Sans Pro"/>
                <a:cs typeface="Source Sans Pro"/>
              </a:rPr>
              <a:t> </a:t>
            </a:r>
            <a:r>
              <a:rPr sz="2400" spc="-218" dirty="0">
                <a:latin typeface="Source Sans Pro"/>
                <a:cs typeface="Source Sans Pro"/>
              </a:rPr>
              <a:t>on</a:t>
            </a:r>
            <a:r>
              <a:rPr sz="2400" spc="30" dirty="0">
                <a:latin typeface="Source Sans Pro"/>
                <a:cs typeface="Source Sans Pro"/>
              </a:rPr>
              <a:t> </a:t>
            </a:r>
            <a:r>
              <a:rPr sz="2400" spc="-119" dirty="0">
                <a:latin typeface="Source Sans Pro"/>
                <a:cs typeface="Source Sans Pro"/>
              </a:rPr>
              <a:t>the</a:t>
            </a:r>
            <a:r>
              <a:rPr sz="2400" spc="-10" dirty="0">
                <a:latin typeface="Source Sans Pro"/>
                <a:cs typeface="Source Sans Pro"/>
              </a:rPr>
              <a:t> </a:t>
            </a:r>
            <a:r>
              <a:rPr sz="2400" spc="-168" dirty="0">
                <a:latin typeface="Source Sans Pro"/>
                <a:cs typeface="Source Sans Pro"/>
              </a:rPr>
              <a:t>absolute</a:t>
            </a:r>
            <a:r>
              <a:rPr sz="2400" dirty="0">
                <a:latin typeface="Source Sans Pro"/>
                <a:cs typeface="Source Sans Pro"/>
              </a:rPr>
              <a:t> </a:t>
            </a:r>
            <a:r>
              <a:rPr sz="2400" spc="-159" dirty="0">
                <a:latin typeface="Source Sans Pro"/>
                <a:cs typeface="Source Sans Pro"/>
              </a:rPr>
              <a:t>values</a:t>
            </a:r>
            <a:r>
              <a:rPr sz="2400" spc="-10" dirty="0">
                <a:latin typeface="Source Sans Pro"/>
                <a:cs typeface="Source Sans Pro"/>
              </a:rPr>
              <a:t> </a:t>
            </a:r>
            <a:r>
              <a:rPr sz="2400" spc="-69" dirty="0">
                <a:latin typeface="Source Sans Pro"/>
                <a:cs typeface="Source Sans Pro"/>
              </a:rPr>
              <a:t>of </a:t>
            </a:r>
            <a:r>
              <a:rPr sz="2400" spc="-50" dirty="0">
                <a:latin typeface="Source Sans Pro"/>
                <a:cs typeface="Source Sans Pro"/>
              </a:rPr>
              <a:t>daily</a:t>
            </a:r>
            <a:r>
              <a:rPr sz="2400" spc="-69" dirty="0">
                <a:latin typeface="Source Sans Pro"/>
                <a:cs typeface="Source Sans Pro"/>
              </a:rPr>
              <a:t> </a:t>
            </a:r>
            <a:r>
              <a:rPr sz="2400" spc="-129" dirty="0">
                <a:latin typeface="Source Sans Pro"/>
                <a:cs typeface="Source Sans Pro"/>
              </a:rPr>
              <a:t>price</a:t>
            </a:r>
            <a:r>
              <a:rPr sz="2400" spc="-50" dirty="0">
                <a:latin typeface="Source Sans Pro"/>
                <a:cs typeface="Source Sans Pro"/>
              </a:rPr>
              <a:t> </a:t>
            </a:r>
            <a:r>
              <a:rPr sz="2400" spc="-20" dirty="0">
                <a:latin typeface="Source Sans Pro"/>
                <a:cs typeface="Source Sans Pro"/>
              </a:rPr>
              <a:t>movements.</a:t>
            </a:r>
            <a:endParaRPr sz="2400" dirty="0">
              <a:latin typeface="Source Sans Pro"/>
              <a:cs typeface="Source Sans Pro"/>
            </a:endParaRPr>
          </a:p>
          <a:p>
            <a:pPr marL="75503" marR="700917">
              <a:lnSpc>
                <a:spcPct val="102600"/>
              </a:lnSpc>
              <a:spcBef>
                <a:spcPts val="595"/>
              </a:spcBef>
            </a:pPr>
            <a:r>
              <a:rPr sz="2400" spc="-20" dirty="0">
                <a:latin typeface="Source Sans Pro"/>
                <a:cs typeface="Source Sans Pro"/>
              </a:rPr>
              <a:t>Goal:</a:t>
            </a:r>
            <a:r>
              <a:rPr sz="2400" spc="208" dirty="0">
                <a:latin typeface="Source Sans Pro"/>
                <a:cs typeface="Source Sans Pro"/>
              </a:rPr>
              <a:t> </a:t>
            </a:r>
            <a:r>
              <a:rPr sz="2400" spc="-109" dirty="0">
                <a:latin typeface="Source Sans Pro"/>
                <a:cs typeface="Source Sans Pro"/>
              </a:rPr>
              <a:t>predict</a:t>
            </a:r>
            <a:r>
              <a:rPr sz="2400" spc="20" dirty="0">
                <a:latin typeface="Source Sans Pro"/>
                <a:cs typeface="Source Sans Pro"/>
              </a:rPr>
              <a:t> </a:t>
            </a:r>
            <a:r>
              <a:rPr sz="2400" spc="-188" dirty="0">
                <a:solidFill>
                  <a:srgbClr val="990000"/>
                </a:solidFill>
                <a:latin typeface="Courier New"/>
                <a:cs typeface="Courier New"/>
              </a:rPr>
              <a:t>Log</a:t>
            </a:r>
            <a:r>
              <a:rPr sz="2400" spc="-178" dirty="0">
                <a:solidFill>
                  <a:srgbClr val="990000"/>
                </a:solidFill>
                <a:latin typeface="Courier New"/>
                <a:cs typeface="Courier New"/>
              </a:rPr>
              <a:t> </a:t>
            </a:r>
            <a:r>
              <a:rPr sz="2400" spc="-198" dirty="0">
                <a:solidFill>
                  <a:srgbClr val="990000"/>
                </a:solidFill>
                <a:latin typeface="Courier New"/>
                <a:cs typeface="Courier New"/>
              </a:rPr>
              <a:t>trading</a:t>
            </a:r>
            <a:r>
              <a:rPr sz="2400" spc="-178" dirty="0">
                <a:solidFill>
                  <a:srgbClr val="990000"/>
                </a:solidFill>
                <a:latin typeface="Courier New"/>
                <a:cs typeface="Courier New"/>
              </a:rPr>
              <a:t> </a:t>
            </a:r>
            <a:r>
              <a:rPr sz="2400" spc="-198" dirty="0">
                <a:solidFill>
                  <a:srgbClr val="990000"/>
                </a:solidFill>
                <a:latin typeface="Courier New"/>
                <a:cs typeface="Courier New"/>
              </a:rPr>
              <a:t>volume</a:t>
            </a:r>
            <a:r>
              <a:rPr sz="2400" spc="-595" dirty="0">
                <a:solidFill>
                  <a:srgbClr val="990000"/>
                </a:solidFill>
                <a:latin typeface="Courier New"/>
                <a:cs typeface="Courier New"/>
              </a:rPr>
              <a:t> </a:t>
            </a:r>
            <a:r>
              <a:rPr sz="2400" spc="-168" dirty="0">
                <a:latin typeface="Source Sans Pro"/>
                <a:cs typeface="Source Sans Pro"/>
              </a:rPr>
              <a:t>tomorrow,</a:t>
            </a:r>
            <a:r>
              <a:rPr sz="2400" spc="20" dirty="0">
                <a:latin typeface="Source Sans Pro"/>
                <a:cs typeface="Source Sans Pro"/>
              </a:rPr>
              <a:t> </a:t>
            </a:r>
            <a:r>
              <a:rPr sz="2400" spc="-159" dirty="0">
                <a:latin typeface="Source Sans Pro"/>
                <a:cs typeface="Source Sans Pro"/>
              </a:rPr>
              <a:t>given</a:t>
            </a:r>
            <a:r>
              <a:rPr sz="2400" spc="20" dirty="0">
                <a:latin typeface="Source Sans Pro"/>
                <a:cs typeface="Source Sans Pro"/>
              </a:rPr>
              <a:t> </a:t>
            </a:r>
            <a:r>
              <a:rPr sz="2400" spc="-50" dirty="0">
                <a:latin typeface="Source Sans Pro"/>
                <a:cs typeface="Source Sans Pro"/>
              </a:rPr>
              <a:t>its </a:t>
            </a:r>
            <a:r>
              <a:rPr sz="2400" spc="-198" dirty="0">
                <a:latin typeface="Source Sans Pro"/>
                <a:cs typeface="Source Sans Pro"/>
              </a:rPr>
              <a:t>observed</a:t>
            </a:r>
            <a:r>
              <a:rPr sz="2400" dirty="0">
                <a:latin typeface="Source Sans Pro"/>
                <a:cs typeface="Source Sans Pro"/>
              </a:rPr>
              <a:t> </a:t>
            </a:r>
            <a:r>
              <a:rPr sz="2400" spc="-168" dirty="0">
                <a:latin typeface="Source Sans Pro"/>
                <a:cs typeface="Source Sans Pro"/>
              </a:rPr>
              <a:t>values</a:t>
            </a:r>
            <a:r>
              <a:rPr sz="2400" dirty="0">
                <a:latin typeface="Source Sans Pro"/>
                <a:cs typeface="Source Sans Pro"/>
              </a:rPr>
              <a:t> </a:t>
            </a:r>
            <a:r>
              <a:rPr sz="2400" spc="-139" dirty="0">
                <a:latin typeface="Source Sans Pro"/>
                <a:cs typeface="Source Sans Pro"/>
              </a:rPr>
              <a:t>up</a:t>
            </a:r>
            <a:r>
              <a:rPr sz="2400" spc="-10" dirty="0">
                <a:latin typeface="Source Sans Pro"/>
                <a:cs typeface="Source Sans Pro"/>
              </a:rPr>
              <a:t> </a:t>
            </a:r>
            <a:r>
              <a:rPr sz="2400" spc="-59" dirty="0">
                <a:latin typeface="Source Sans Pro"/>
                <a:cs typeface="Source Sans Pro"/>
              </a:rPr>
              <a:t>to</a:t>
            </a:r>
            <a:r>
              <a:rPr sz="2400" spc="20" dirty="0">
                <a:latin typeface="Source Sans Pro"/>
                <a:cs typeface="Source Sans Pro"/>
              </a:rPr>
              <a:t> </a:t>
            </a:r>
            <a:r>
              <a:rPr sz="2400" spc="-139" dirty="0">
                <a:latin typeface="Source Sans Pro"/>
                <a:cs typeface="Source Sans Pro"/>
              </a:rPr>
              <a:t>today,</a:t>
            </a:r>
            <a:r>
              <a:rPr sz="2400" spc="20" dirty="0">
                <a:latin typeface="Source Sans Pro"/>
                <a:cs typeface="Source Sans Pro"/>
              </a:rPr>
              <a:t> </a:t>
            </a:r>
            <a:r>
              <a:rPr sz="2400" spc="-198" dirty="0">
                <a:latin typeface="Source Sans Pro"/>
                <a:cs typeface="Source Sans Pro"/>
              </a:rPr>
              <a:t>as</a:t>
            </a:r>
            <a:r>
              <a:rPr sz="2400" spc="30" dirty="0">
                <a:latin typeface="Source Sans Pro"/>
                <a:cs typeface="Source Sans Pro"/>
              </a:rPr>
              <a:t> </a:t>
            </a:r>
            <a:r>
              <a:rPr sz="2400" spc="-119" dirty="0">
                <a:latin typeface="Source Sans Pro"/>
                <a:cs typeface="Source Sans Pro"/>
              </a:rPr>
              <a:t>well</a:t>
            </a:r>
            <a:r>
              <a:rPr sz="2400" spc="20" dirty="0">
                <a:latin typeface="Source Sans Pro"/>
                <a:cs typeface="Source Sans Pro"/>
              </a:rPr>
              <a:t> </a:t>
            </a:r>
            <a:r>
              <a:rPr sz="2400" spc="-198" dirty="0">
                <a:latin typeface="Source Sans Pro"/>
                <a:cs typeface="Source Sans Pro"/>
              </a:rPr>
              <a:t>as</a:t>
            </a:r>
            <a:r>
              <a:rPr sz="2400" spc="30" dirty="0">
                <a:latin typeface="Source Sans Pro"/>
                <a:cs typeface="Source Sans Pro"/>
              </a:rPr>
              <a:t> </a:t>
            </a:r>
            <a:r>
              <a:rPr sz="2400" spc="-188" dirty="0">
                <a:latin typeface="Source Sans Pro"/>
                <a:cs typeface="Source Sans Pro"/>
              </a:rPr>
              <a:t>those</a:t>
            </a:r>
            <a:r>
              <a:rPr sz="2400" spc="20" dirty="0">
                <a:latin typeface="Source Sans Pro"/>
                <a:cs typeface="Source Sans Pro"/>
              </a:rPr>
              <a:t> </a:t>
            </a:r>
            <a:r>
              <a:rPr sz="2400" spc="-208" dirty="0">
                <a:latin typeface="Source Sans Pro"/>
                <a:cs typeface="Source Sans Pro"/>
              </a:rPr>
              <a:t>of</a:t>
            </a:r>
            <a:r>
              <a:rPr sz="2400" spc="30" dirty="0">
                <a:latin typeface="Source Sans Pro"/>
                <a:cs typeface="Source Sans Pro"/>
              </a:rPr>
              <a:t> </a:t>
            </a:r>
            <a:r>
              <a:rPr sz="2400" spc="-188" dirty="0">
                <a:solidFill>
                  <a:srgbClr val="990000"/>
                </a:solidFill>
                <a:latin typeface="Courier New"/>
                <a:cs typeface="Courier New"/>
              </a:rPr>
              <a:t>Dow</a:t>
            </a:r>
            <a:r>
              <a:rPr sz="2400" spc="-178" dirty="0">
                <a:solidFill>
                  <a:srgbClr val="990000"/>
                </a:solidFill>
                <a:latin typeface="Courier New"/>
                <a:cs typeface="Courier New"/>
              </a:rPr>
              <a:t> </a:t>
            </a:r>
            <a:r>
              <a:rPr sz="2400" spc="-129" dirty="0">
                <a:solidFill>
                  <a:srgbClr val="990000"/>
                </a:solidFill>
                <a:latin typeface="Courier New"/>
                <a:cs typeface="Courier New"/>
              </a:rPr>
              <a:t>Jones </a:t>
            </a:r>
            <a:r>
              <a:rPr sz="2400" spc="-198" dirty="0">
                <a:solidFill>
                  <a:srgbClr val="990000"/>
                </a:solidFill>
                <a:latin typeface="Courier New"/>
                <a:cs typeface="Courier New"/>
              </a:rPr>
              <a:t>return</a:t>
            </a:r>
            <a:r>
              <a:rPr sz="2400" spc="-595" dirty="0">
                <a:solidFill>
                  <a:srgbClr val="990000"/>
                </a:solidFill>
                <a:latin typeface="Courier New"/>
                <a:cs typeface="Courier New"/>
              </a:rPr>
              <a:t> </a:t>
            </a:r>
            <a:r>
              <a:rPr sz="2400" spc="-129" dirty="0">
                <a:latin typeface="Source Sans Pro"/>
                <a:cs typeface="Source Sans Pro"/>
              </a:rPr>
              <a:t>and</a:t>
            </a:r>
            <a:r>
              <a:rPr sz="2400" spc="40" dirty="0">
                <a:latin typeface="Source Sans Pro"/>
                <a:cs typeface="Source Sans Pro"/>
              </a:rPr>
              <a:t> </a:t>
            </a:r>
            <a:r>
              <a:rPr sz="2400" spc="-188" dirty="0">
                <a:solidFill>
                  <a:srgbClr val="990000"/>
                </a:solidFill>
                <a:latin typeface="Courier New"/>
                <a:cs typeface="Courier New"/>
              </a:rPr>
              <a:t>Log</a:t>
            </a:r>
            <a:r>
              <a:rPr sz="2400" spc="-159" dirty="0">
                <a:solidFill>
                  <a:srgbClr val="990000"/>
                </a:solidFill>
                <a:latin typeface="Courier New"/>
                <a:cs typeface="Courier New"/>
              </a:rPr>
              <a:t> </a:t>
            </a:r>
            <a:r>
              <a:rPr sz="2400" spc="-20" dirty="0">
                <a:solidFill>
                  <a:srgbClr val="990000"/>
                </a:solidFill>
                <a:latin typeface="Courier New"/>
                <a:cs typeface="Courier New"/>
              </a:rPr>
              <a:t>volatility</a:t>
            </a:r>
            <a:r>
              <a:rPr sz="2400" spc="-20" dirty="0">
                <a:latin typeface="Source Sans Pro"/>
                <a:cs typeface="Source Sans Pro"/>
              </a:rPr>
              <a:t>.</a:t>
            </a:r>
            <a:endParaRPr sz="2400" dirty="0">
              <a:latin typeface="Source Sans Pro"/>
              <a:cs typeface="Source Sans Pro"/>
            </a:endParaRPr>
          </a:p>
          <a:p>
            <a:pPr marL="75503" marR="451758">
              <a:lnSpc>
                <a:spcPts val="2675"/>
              </a:lnSpc>
              <a:spcBef>
                <a:spcPts val="109"/>
              </a:spcBef>
            </a:pPr>
            <a:r>
              <a:rPr sz="2400" spc="-129" dirty="0">
                <a:solidFill>
                  <a:srgbClr val="0000FF"/>
                </a:solidFill>
                <a:latin typeface="Source Sans Pro"/>
                <a:cs typeface="Source Sans Pro"/>
              </a:rPr>
              <a:t>These</a:t>
            </a:r>
            <a:r>
              <a:rPr sz="2400" spc="-30" dirty="0">
                <a:solidFill>
                  <a:srgbClr val="0000FF"/>
                </a:solidFill>
                <a:latin typeface="Source Sans Pro"/>
                <a:cs typeface="Source Sans Pro"/>
              </a:rPr>
              <a:t> </a:t>
            </a:r>
            <a:r>
              <a:rPr sz="2400" spc="-59" dirty="0">
                <a:solidFill>
                  <a:srgbClr val="0000FF"/>
                </a:solidFill>
                <a:latin typeface="Source Sans Pro"/>
                <a:cs typeface="Source Sans Pro"/>
              </a:rPr>
              <a:t>data</a:t>
            </a:r>
            <a:r>
              <a:rPr sz="2400" spc="-40" dirty="0">
                <a:solidFill>
                  <a:srgbClr val="0000FF"/>
                </a:solidFill>
                <a:latin typeface="Source Sans Pro"/>
                <a:cs typeface="Source Sans Pro"/>
              </a:rPr>
              <a:t> </a:t>
            </a:r>
            <a:r>
              <a:rPr sz="2400" spc="-168" dirty="0">
                <a:solidFill>
                  <a:srgbClr val="0000FF"/>
                </a:solidFill>
                <a:latin typeface="Source Sans Pro"/>
                <a:cs typeface="Source Sans Pro"/>
              </a:rPr>
              <a:t>were</a:t>
            </a:r>
            <a:r>
              <a:rPr sz="2400" spc="10" dirty="0">
                <a:solidFill>
                  <a:srgbClr val="0000FF"/>
                </a:solidFill>
                <a:latin typeface="Source Sans Pro"/>
                <a:cs typeface="Source Sans Pro"/>
              </a:rPr>
              <a:t> </a:t>
            </a:r>
            <a:r>
              <a:rPr sz="2400" spc="-198" dirty="0">
                <a:solidFill>
                  <a:srgbClr val="0000FF"/>
                </a:solidFill>
                <a:latin typeface="Source Sans Pro"/>
                <a:cs typeface="Source Sans Pro"/>
              </a:rPr>
              <a:t>assembled</a:t>
            </a:r>
            <a:r>
              <a:rPr sz="2400" spc="30" dirty="0">
                <a:solidFill>
                  <a:srgbClr val="0000FF"/>
                </a:solidFill>
                <a:latin typeface="Source Sans Pro"/>
                <a:cs typeface="Source Sans Pro"/>
              </a:rPr>
              <a:t> </a:t>
            </a:r>
            <a:r>
              <a:rPr sz="2400" spc="-40" dirty="0">
                <a:solidFill>
                  <a:srgbClr val="0000FF"/>
                </a:solidFill>
                <a:latin typeface="Source Sans Pro"/>
                <a:cs typeface="Source Sans Pro"/>
              </a:rPr>
              <a:t>by</a:t>
            </a:r>
            <a:r>
              <a:rPr sz="2400" spc="-10" dirty="0">
                <a:solidFill>
                  <a:srgbClr val="0000FF"/>
                </a:solidFill>
                <a:latin typeface="Source Sans Pro"/>
                <a:cs typeface="Source Sans Pro"/>
              </a:rPr>
              <a:t> </a:t>
            </a:r>
            <a:r>
              <a:rPr sz="2400" spc="-40" dirty="0">
                <a:solidFill>
                  <a:srgbClr val="0000FF"/>
                </a:solidFill>
                <a:latin typeface="Source Sans Pro"/>
                <a:cs typeface="Source Sans Pro"/>
              </a:rPr>
              <a:t>LeBaron</a:t>
            </a:r>
            <a:r>
              <a:rPr sz="2400" spc="-10" dirty="0">
                <a:solidFill>
                  <a:srgbClr val="0000FF"/>
                </a:solidFill>
                <a:latin typeface="Source Sans Pro"/>
                <a:cs typeface="Source Sans Pro"/>
              </a:rPr>
              <a:t> </a:t>
            </a:r>
            <a:r>
              <a:rPr sz="2400" spc="-119" dirty="0">
                <a:solidFill>
                  <a:srgbClr val="0000FF"/>
                </a:solidFill>
                <a:latin typeface="Source Sans Pro"/>
                <a:cs typeface="Source Sans Pro"/>
              </a:rPr>
              <a:t>and</a:t>
            </a:r>
            <a:r>
              <a:rPr sz="2400" dirty="0">
                <a:solidFill>
                  <a:srgbClr val="0000FF"/>
                </a:solidFill>
                <a:latin typeface="Source Sans Pro"/>
                <a:cs typeface="Source Sans Pro"/>
              </a:rPr>
              <a:t> </a:t>
            </a:r>
            <a:r>
              <a:rPr sz="2400" spc="-119" dirty="0">
                <a:solidFill>
                  <a:srgbClr val="0000FF"/>
                </a:solidFill>
                <a:latin typeface="Source Sans Pro"/>
                <a:cs typeface="Source Sans Pro"/>
              </a:rPr>
              <a:t>Weigend</a:t>
            </a:r>
            <a:r>
              <a:rPr sz="2400" spc="-10" dirty="0">
                <a:solidFill>
                  <a:srgbClr val="0000FF"/>
                </a:solidFill>
                <a:latin typeface="Source Sans Pro"/>
                <a:cs typeface="Source Sans Pro"/>
              </a:rPr>
              <a:t> </a:t>
            </a:r>
            <a:r>
              <a:rPr sz="2400" spc="-149" dirty="0">
                <a:solidFill>
                  <a:srgbClr val="0000FF"/>
                </a:solidFill>
                <a:latin typeface="Source Sans Pro"/>
                <a:cs typeface="Source Sans Pro"/>
              </a:rPr>
              <a:t>(1998)</a:t>
            </a:r>
            <a:r>
              <a:rPr sz="2400" spc="-10" dirty="0">
                <a:solidFill>
                  <a:srgbClr val="0000FF"/>
                </a:solidFill>
                <a:latin typeface="Source Sans Pro"/>
                <a:cs typeface="Source Sans Pro"/>
              </a:rPr>
              <a:t> </a:t>
            </a:r>
            <a:r>
              <a:rPr sz="2400" i="1" spc="-40" dirty="0">
                <a:solidFill>
                  <a:srgbClr val="0000FF"/>
                </a:solidFill>
                <a:latin typeface="Menlo"/>
                <a:cs typeface="Menlo"/>
              </a:rPr>
              <a:t>IEEE </a:t>
            </a:r>
            <a:r>
              <a:rPr sz="2400" i="1" spc="-297" dirty="0">
                <a:solidFill>
                  <a:srgbClr val="0000FF"/>
                </a:solidFill>
                <a:latin typeface="Menlo"/>
                <a:cs typeface="Menlo"/>
              </a:rPr>
              <a:t>Transactions</a:t>
            </a:r>
            <a:r>
              <a:rPr sz="2400" i="1" spc="-466" dirty="0">
                <a:solidFill>
                  <a:srgbClr val="0000FF"/>
                </a:solidFill>
                <a:latin typeface="Menlo"/>
                <a:cs typeface="Menlo"/>
              </a:rPr>
              <a:t> </a:t>
            </a:r>
            <a:r>
              <a:rPr sz="2400" i="1" spc="-159" dirty="0">
                <a:solidFill>
                  <a:srgbClr val="0000FF"/>
                </a:solidFill>
                <a:latin typeface="Menlo"/>
                <a:cs typeface="Menlo"/>
              </a:rPr>
              <a:t>on</a:t>
            </a:r>
            <a:r>
              <a:rPr sz="2400" i="1" spc="-466" dirty="0">
                <a:solidFill>
                  <a:srgbClr val="0000FF"/>
                </a:solidFill>
                <a:latin typeface="Menlo"/>
                <a:cs typeface="Menlo"/>
              </a:rPr>
              <a:t> </a:t>
            </a:r>
            <a:r>
              <a:rPr sz="2400" i="1" spc="-268" dirty="0">
                <a:solidFill>
                  <a:srgbClr val="0000FF"/>
                </a:solidFill>
                <a:latin typeface="Menlo"/>
                <a:cs typeface="Menlo"/>
              </a:rPr>
              <a:t>Neural</a:t>
            </a:r>
            <a:r>
              <a:rPr sz="2400" i="1" spc="-466" dirty="0">
                <a:solidFill>
                  <a:srgbClr val="0000FF"/>
                </a:solidFill>
                <a:latin typeface="Menlo"/>
                <a:cs typeface="Menlo"/>
              </a:rPr>
              <a:t> </a:t>
            </a:r>
            <a:r>
              <a:rPr sz="2400" i="1" spc="-218" dirty="0">
                <a:solidFill>
                  <a:srgbClr val="0000FF"/>
                </a:solidFill>
                <a:latin typeface="Menlo"/>
                <a:cs typeface="Menlo"/>
              </a:rPr>
              <a:t>Networks</a:t>
            </a:r>
            <a:r>
              <a:rPr sz="2400" spc="-218" dirty="0">
                <a:solidFill>
                  <a:srgbClr val="0000FF"/>
                </a:solidFill>
                <a:latin typeface="Source Sans Pro"/>
                <a:cs typeface="Source Sans Pro"/>
              </a:rPr>
              <a:t>,</a:t>
            </a:r>
            <a:r>
              <a:rPr sz="2400" spc="59" dirty="0">
                <a:solidFill>
                  <a:srgbClr val="0000FF"/>
                </a:solidFill>
                <a:latin typeface="Source Sans Pro"/>
                <a:cs typeface="Source Sans Pro"/>
              </a:rPr>
              <a:t> </a:t>
            </a:r>
            <a:r>
              <a:rPr sz="2400" spc="-20" dirty="0">
                <a:solidFill>
                  <a:srgbClr val="0000FF"/>
                </a:solidFill>
                <a:latin typeface="Source Sans Pro"/>
                <a:cs typeface="Source Sans Pro"/>
              </a:rPr>
              <a:t>9(1):</a:t>
            </a:r>
            <a:r>
              <a:rPr sz="2400" spc="277" dirty="0">
                <a:solidFill>
                  <a:srgbClr val="0000FF"/>
                </a:solidFill>
                <a:latin typeface="Source Sans Pro"/>
                <a:cs typeface="Source Sans Pro"/>
              </a:rPr>
              <a:t> </a:t>
            </a:r>
            <a:r>
              <a:rPr sz="2400" spc="-20" dirty="0">
                <a:solidFill>
                  <a:srgbClr val="0000FF"/>
                </a:solidFill>
                <a:latin typeface="Source Sans Pro"/>
                <a:cs typeface="Source Sans Pro"/>
              </a:rPr>
              <a:t>213–220.</a:t>
            </a:r>
            <a:endParaRPr sz="2400" dirty="0">
              <a:solidFill>
                <a:srgbClr val="0000FF"/>
              </a:solidFill>
              <a:latin typeface="Source Sans Pro"/>
              <a:cs typeface="Source Sans Pro"/>
            </a:endParaRPr>
          </a:p>
        </p:txBody>
      </p:sp>
    </p:spTree>
    <p:extLst>
      <p:ext uri="{BB962C8B-B14F-4D97-AF65-F5344CB8AC3E}">
        <p14:creationId xmlns:p14="http://schemas.microsoft.com/office/powerpoint/2010/main" val="261454376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3975" rIns="0" bIns="0" rtlCol="0" anchor="ctr">
            <a:normAutofit/>
            <a:scene3d>
              <a:camera prst="orthographicFront"/>
              <a:lightRig rig="threePt" dir="t">
                <a:rot lat="0" lon="0" rev="4800000"/>
              </a:lightRig>
            </a:scene3d>
            <a:sp3d prstMaterial="matte">
              <a:bevelT w="50800" h="10160"/>
            </a:sp3d>
          </a:bodyPr>
          <a:lstStyle/>
          <a:p>
            <a:pPr marL="2487816">
              <a:spcBef>
                <a:spcPts val="268"/>
              </a:spcBef>
            </a:pPr>
            <a:r>
              <a:rPr spc="109" dirty="0"/>
              <a:t>RNN</a:t>
            </a:r>
            <a:r>
              <a:rPr spc="238" dirty="0"/>
              <a:t> </a:t>
            </a:r>
            <a:r>
              <a:rPr spc="-20" dirty="0"/>
              <a:t>Forecaster</a:t>
            </a:r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87EAF210-1A77-C12D-827B-EB1336473D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12225-5612-419B-A8D5-4B8EEE4C217E}" type="slidenum">
              <a:rPr lang="en-US" smtClean="0"/>
              <a:pPr/>
              <a:t>14</a:t>
            </a:fld>
            <a:endParaRPr lang="en-US"/>
          </a:p>
        </p:txBody>
      </p:sp>
      <p:sp>
        <p:nvSpPr>
          <p:cNvPr id="13" name="object 13"/>
          <p:cNvSpPr txBox="1"/>
          <p:nvPr/>
        </p:nvSpPr>
        <p:spPr>
          <a:xfrm>
            <a:off x="1582342" y="1219200"/>
            <a:ext cx="8628458" cy="4504226"/>
          </a:xfrm>
          <a:prstGeom prst="rect">
            <a:avLst/>
          </a:prstGeom>
        </p:spPr>
        <p:txBody>
          <a:bodyPr vert="horz" wrap="square" lIns="0" tIns="22650" rIns="0" bIns="0" rtlCol="0">
            <a:normAutofit/>
          </a:bodyPr>
          <a:lstStyle/>
          <a:p>
            <a:pPr marL="125838">
              <a:spcBef>
                <a:spcPts val="178"/>
              </a:spcBef>
            </a:pPr>
            <a:r>
              <a:rPr sz="2400" dirty="0">
                <a:latin typeface="Source Sans Pro" panose="02020603050405020304" pitchFamily="18" charset="0"/>
                <a:cs typeface="Source Sans Pro" panose="02020603050405020304" pitchFamily="18" charset="0"/>
              </a:rPr>
              <a:t>We</a:t>
            </a:r>
            <a:r>
              <a:rPr sz="2400" spc="-40" dirty="0">
                <a:latin typeface="Source Sans Pro" panose="02020603050405020304" pitchFamily="18" charset="0"/>
                <a:cs typeface="Source Sans Pro" panose="02020603050405020304" pitchFamily="18" charset="0"/>
              </a:rPr>
              <a:t> </a:t>
            </a:r>
            <a:r>
              <a:rPr sz="2400" spc="-109" dirty="0">
                <a:latin typeface="Source Sans Pro" panose="02020603050405020304" pitchFamily="18" charset="0"/>
                <a:cs typeface="Source Sans Pro" panose="02020603050405020304" pitchFamily="18" charset="0"/>
              </a:rPr>
              <a:t>only</a:t>
            </a:r>
            <a:r>
              <a:rPr sz="2400" spc="-10" dirty="0">
                <a:latin typeface="Source Sans Pro" panose="02020603050405020304" pitchFamily="18" charset="0"/>
                <a:cs typeface="Source Sans Pro" panose="02020603050405020304" pitchFamily="18" charset="0"/>
              </a:rPr>
              <a:t> </a:t>
            </a:r>
            <a:r>
              <a:rPr sz="2400" spc="-178" dirty="0">
                <a:latin typeface="Source Sans Pro" panose="02020603050405020304" pitchFamily="18" charset="0"/>
                <a:cs typeface="Source Sans Pro" panose="02020603050405020304" pitchFamily="18" charset="0"/>
              </a:rPr>
              <a:t>have</a:t>
            </a:r>
            <a:r>
              <a:rPr sz="2400" spc="-10" dirty="0">
                <a:latin typeface="Source Sans Pro" panose="02020603050405020304" pitchFamily="18" charset="0"/>
                <a:cs typeface="Source Sans Pro" panose="02020603050405020304" pitchFamily="18" charset="0"/>
              </a:rPr>
              <a:t> </a:t>
            </a:r>
            <a:r>
              <a:rPr sz="2400" spc="-248" dirty="0">
                <a:latin typeface="Source Sans Pro" panose="02020603050405020304" pitchFamily="18" charset="0"/>
                <a:cs typeface="Source Sans Pro" panose="02020603050405020304" pitchFamily="18" charset="0"/>
              </a:rPr>
              <a:t>one</a:t>
            </a:r>
            <a:r>
              <a:rPr sz="2400" spc="-20" dirty="0">
                <a:latin typeface="Source Sans Pro" panose="02020603050405020304" pitchFamily="18" charset="0"/>
                <a:cs typeface="Source Sans Pro" panose="02020603050405020304" pitchFamily="18" charset="0"/>
              </a:rPr>
              <a:t> </a:t>
            </a:r>
            <a:r>
              <a:rPr sz="2400" spc="-198" dirty="0">
                <a:latin typeface="Source Sans Pro" panose="02020603050405020304" pitchFamily="18" charset="0"/>
                <a:cs typeface="Source Sans Pro" panose="02020603050405020304" pitchFamily="18" charset="0"/>
              </a:rPr>
              <a:t>series</a:t>
            </a:r>
            <a:r>
              <a:rPr sz="2400" spc="-10" dirty="0">
                <a:latin typeface="Source Sans Pro" panose="02020603050405020304" pitchFamily="18" charset="0"/>
                <a:cs typeface="Source Sans Pro" panose="02020603050405020304" pitchFamily="18" charset="0"/>
              </a:rPr>
              <a:t> </a:t>
            </a:r>
            <a:r>
              <a:rPr sz="2400" spc="-218" dirty="0">
                <a:latin typeface="Source Sans Pro" panose="02020603050405020304" pitchFamily="18" charset="0"/>
                <a:cs typeface="Source Sans Pro" panose="02020603050405020304" pitchFamily="18" charset="0"/>
              </a:rPr>
              <a:t>of</a:t>
            </a:r>
            <a:r>
              <a:rPr sz="2400" spc="-10" dirty="0">
                <a:latin typeface="Source Sans Pro" panose="02020603050405020304" pitchFamily="18" charset="0"/>
                <a:cs typeface="Source Sans Pro" panose="02020603050405020304" pitchFamily="18" charset="0"/>
              </a:rPr>
              <a:t> </a:t>
            </a:r>
            <a:r>
              <a:rPr sz="2400" spc="-50" dirty="0">
                <a:latin typeface="Source Sans Pro" panose="02020603050405020304" pitchFamily="18" charset="0"/>
                <a:cs typeface="Source Sans Pro" panose="02020603050405020304" pitchFamily="18" charset="0"/>
              </a:rPr>
              <a:t>data!</a:t>
            </a:r>
            <a:r>
              <a:rPr sz="2400" spc="258" dirty="0">
                <a:latin typeface="Source Sans Pro" panose="02020603050405020304" pitchFamily="18" charset="0"/>
                <a:cs typeface="Source Sans Pro" panose="02020603050405020304" pitchFamily="18" charset="0"/>
              </a:rPr>
              <a:t> </a:t>
            </a:r>
            <a:r>
              <a:rPr sz="2400" spc="-168" dirty="0">
                <a:latin typeface="Source Sans Pro" panose="02020603050405020304" pitchFamily="18" charset="0"/>
                <a:cs typeface="Source Sans Pro" panose="02020603050405020304" pitchFamily="18" charset="0"/>
              </a:rPr>
              <a:t>How</a:t>
            </a:r>
            <a:r>
              <a:rPr sz="2400" spc="-20" dirty="0">
                <a:latin typeface="Source Sans Pro" panose="02020603050405020304" pitchFamily="18" charset="0"/>
                <a:cs typeface="Source Sans Pro" panose="02020603050405020304" pitchFamily="18" charset="0"/>
              </a:rPr>
              <a:t> </a:t>
            </a:r>
            <a:r>
              <a:rPr sz="2400" spc="-226" dirty="0">
                <a:latin typeface="Source Sans Pro" panose="02020603050405020304" pitchFamily="18" charset="0"/>
                <a:cs typeface="Source Sans Pro" panose="02020603050405020304" pitchFamily="18" charset="0"/>
              </a:rPr>
              <a:t>do</a:t>
            </a:r>
            <a:r>
              <a:rPr sz="2400" spc="-10" dirty="0">
                <a:latin typeface="Source Sans Pro" panose="02020603050405020304" pitchFamily="18" charset="0"/>
                <a:cs typeface="Source Sans Pro" panose="02020603050405020304" pitchFamily="18" charset="0"/>
              </a:rPr>
              <a:t> </a:t>
            </a:r>
            <a:r>
              <a:rPr sz="2400" spc="-238" dirty="0">
                <a:latin typeface="Source Sans Pro" panose="02020603050405020304" pitchFamily="18" charset="0"/>
                <a:cs typeface="Source Sans Pro" panose="02020603050405020304" pitchFamily="18" charset="0"/>
              </a:rPr>
              <a:t>we</a:t>
            </a:r>
            <a:r>
              <a:rPr sz="2400" spc="-20" dirty="0">
                <a:latin typeface="Source Sans Pro" panose="02020603050405020304" pitchFamily="18" charset="0"/>
                <a:cs typeface="Source Sans Pro" panose="02020603050405020304" pitchFamily="18" charset="0"/>
              </a:rPr>
              <a:t> </a:t>
            </a:r>
            <a:r>
              <a:rPr sz="2400" spc="-188" dirty="0">
                <a:latin typeface="Source Sans Pro" panose="02020603050405020304" pitchFamily="18" charset="0"/>
                <a:cs typeface="Source Sans Pro" panose="02020603050405020304" pitchFamily="18" charset="0"/>
              </a:rPr>
              <a:t>set</a:t>
            </a:r>
            <a:r>
              <a:rPr sz="2400" spc="-10" dirty="0">
                <a:latin typeface="Source Sans Pro" panose="02020603050405020304" pitchFamily="18" charset="0"/>
                <a:cs typeface="Source Sans Pro" panose="02020603050405020304" pitchFamily="18" charset="0"/>
              </a:rPr>
              <a:t> </a:t>
            </a:r>
            <a:r>
              <a:rPr sz="2400" spc="-188" dirty="0">
                <a:latin typeface="Source Sans Pro" panose="02020603050405020304" pitchFamily="18" charset="0"/>
                <a:cs typeface="Source Sans Pro" panose="02020603050405020304" pitchFamily="18" charset="0"/>
              </a:rPr>
              <a:t>up</a:t>
            </a:r>
            <a:r>
              <a:rPr sz="2400" spc="-10" dirty="0">
                <a:latin typeface="Source Sans Pro" panose="02020603050405020304" pitchFamily="18" charset="0"/>
                <a:cs typeface="Source Sans Pro" panose="02020603050405020304" pitchFamily="18" charset="0"/>
              </a:rPr>
              <a:t> </a:t>
            </a:r>
            <a:r>
              <a:rPr sz="2400" spc="-159" dirty="0">
                <a:latin typeface="Source Sans Pro" panose="02020603050405020304" pitchFamily="18" charset="0"/>
                <a:cs typeface="Source Sans Pro" panose="02020603050405020304" pitchFamily="18" charset="0"/>
              </a:rPr>
              <a:t>for</a:t>
            </a:r>
            <a:r>
              <a:rPr sz="2400" spc="-10" dirty="0">
                <a:latin typeface="Source Sans Pro" panose="02020603050405020304" pitchFamily="18" charset="0"/>
                <a:cs typeface="Source Sans Pro" panose="02020603050405020304" pitchFamily="18" charset="0"/>
              </a:rPr>
              <a:t> </a:t>
            </a:r>
            <a:r>
              <a:rPr sz="2400" spc="-129" dirty="0">
                <a:latin typeface="Source Sans Pro" panose="02020603050405020304" pitchFamily="18" charset="0"/>
                <a:cs typeface="Source Sans Pro" panose="02020603050405020304" pitchFamily="18" charset="0"/>
              </a:rPr>
              <a:t>an</a:t>
            </a:r>
            <a:r>
              <a:rPr sz="2400" spc="-10" dirty="0">
                <a:latin typeface="Source Sans Pro" panose="02020603050405020304" pitchFamily="18" charset="0"/>
                <a:cs typeface="Source Sans Pro" panose="02020603050405020304" pitchFamily="18" charset="0"/>
              </a:rPr>
              <a:t> </a:t>
            </a:r>
            <a:r>
              <a:rPr sz="2400" spc="-40" dirty="0">
                <a:latin typeface="Source Sans Pro" panose="02020603050405020304" pitchFamily="18" charset="0"/>
                <a:cs typeface="Source Sans Pro" panose="02020603050405020304" pitchFamily="18" charset="0"/>
              </a:rPr>
              <a:t>RNN?</a:t>
            </a:r>
            <a:endParaRPr sz="2400" dirty="0">
              <a:latin typeface="Source Sans Pro" panose="02020603050405020304" pitchFamily="18" charset="0"/>
              <a:cs typeface="Source Sans Pro" panose="02020603050405020304" pitchFamily="18" charset="0"/>
            </a:endParaRPr>
          </a:p>
          <a:p>
            <a:pPr marL="125838"/>
            <a:r>
              <a:rPr sz="2400" dirty="0">
                <a:latin typeface="Source Sans Pro" panose="02020603050405020304" pitchFamily="18" charset="0"/>
                <a:cs typeface="Source Sans Pro" panose="02020603050405020304" pitchFamily="18" charset="0"/>
              </a:rPr>
              <a:t>We</a:t>
            </a:r>
            <a:r>
              <a:rPr sz="2400" spc="-69" dirty="0">
                <a:latin typeface="Source Sans Pro" panose="02020603050405020304" pitchFamily="18" charset="0"/>
                <a:cs typeface="Source Sans Pro" panose="02020603050405020304" pitchFamily="18" charset="0"/>
              </a:rPr>
              <a:t> </a:t>
            </a:r>
            <a:r>
              <a:rPr sz="2400" spc="-99" dirty="0">
                <a:latin typeface="Source Sans Pro" panose="02020603050405020304" pitchFamily="18" charset="0"/>
                <a:cs typeface="Source Sans Pro" panose="02020603050405020304" pitchFamily="18" charset="0"/>
              </a:rPr>
              <a:t>extract</a:t>
            </a:r>
            <a:r>
              <a:rPr sz="2400" spc="-10" dirty="0">
                <a:latin typeface="Source Sans Pro" panose="02020603050405020304" pitchFamily="18" charset="0"/>
                <a:cs typeface="Source Sans Pro" panose="02020603050405020304" pitchFamily="18" charset="0"/>
              </a:rPr>
              <a:t> </a:t>
            </a:r>
            <a:r>
              <a:rPr sz="2400" spc="-129" dirty="0">
                <a:latin typeface="Source Sans Pro" panose="02020603050405020304" pitchFamily="18" charset="0"/>
                <a:cs typeface="Source Sans Pro" panose="02020603050405020304" pitchFamily="18" charset="0"/>
              </a:rPr>
              <a:t>many</a:t>
            </a:r>
            <a:r>
              <a:rPr sz="2400" dirty="0">
                <a:latin typeface="Source Sans Pro" panose="02020603050405020304" pitchFamily="18" charset="0"/>
                <a:cs typeface="Source Sans Pro" panose="02020603050405020304" pitchFamily="18" charset="0"/>
              </a:rPr>
              <a:t> </a:t>
            </a:r>
            <a:r>
              <a:rPr sz="2400" spc="-139" dirty="0">
                <a:latin typeface="Source Sans Pro" panose="02020603050405020304" pitchFamily="18" charset="0"/>
                <a:cs typeface="Source Sans Pro" panose="02020603050405020304" pitchFamily="18" charset="0"/>
              </a:rPr>
              <a:t>short</a:t>
            </a:r>
            <a:r>
              <a:rPr sz="2400" spc="-10" dirty="0">
                <a:latin typeface="Source Sans Pro" panose="02020603050405020304" pitchFamily="18" charset="0"/>
                <a:cs typeface="Source Sans Pro" panose="02020603050405020304" pitchFamily="18" charset="0"/>
              </a:rPr>
              <a:t> </a:t>
            </a:r>
            <a:r>
              <a:rPr sz="2400" spc="-218" dirty="0">
                <a:latin typeface="Source Sans Pro" panose="02020603050405020304" pitchFamily="18" charset="0"/>
                <a:cs typeface="Source Sans Pro" panose="02020603050405020304" pitchFamily="18" charset="0"/>
              </a:rPr>
              <a:t>mini-</a:t>
            </a:r>
            <a:r>
              <a:rPr sz="2400" spc="-198" dirty="0">
                <a:latin typeface="Source Sans Pro" panose="02020603050405020304" pitchFamily="18" charset="0"/>
                <a:cs typeface="Source Sans Pro" panose="02020603050405020304" pitchFamily="18" charset="0"/>
              </a:rPr>
              <a:t>series</a:t>
            </a:r>
            <a:r>
              <a:rPr sz="2400" spc="30" dirty="0">
                <a:latin typeface="Source Sans Pro" panose="02020603050405020304" pitchFamily="18" charset="0"/>
                <a:cs typeface="Source Sans Pro" panose="02020603050405020304" pitchFamily="18" charset="0"/>
              </a:rPr>
              <a:t> </a:t>
            </a:r>
            <a:r>
              <a:rPr sz="2400" spc="-208" dirty="0">
                <a:latin typeface="Source Sans Pro" panose="02020603050405020304" pitchFamily="18" charset="0"/>
                <a:cs typeface="Source Sans Pro" panose="02020603050405020304" pitchFamily="18" charset="0"/>
              </a:rPr>
              <a:t>of</a:t>
            </a:r>
            <a:r>
              <a:rPr sz="2400" spc="30" dirty="0">
                <a:latin typeface="Source Sans Pro" panose="02020603050405020304" pitchFamily="18" charset="0"/>
                <a:cs typeface="Source Sans Pro" panose="02020603050405020304" pitchFamily="18" charset="0"/>
              </a:rPr>
              <a:t> </a:t>
            </a:r>
            <a:r>
              <a:rPr sz="2400" spc="-79" dirty="0">
                <a:latin typeface="Source Sans Pro" panose="02020603050405020304" pitchFamily="18" charset="0"/>
                <a:cs typeface="Source Sans Pro" panose="02020603050405020304" pitchFamily="18" charset="0"/>
              </a:rPr>
              <a:t>input</a:t>
            </a:r>
            <a:r>
              <a:rPr sz="2400" spc="-10" dirty="0">
                <a:latin typeface="Source Sans Pro" panose="02020603050405020304" pitchFamily="18" charset="0"/>
                <a:cs typeface="Source Sans Pro" panose="02020603050405020304" pitchFamily="18" charset="0"/>
              </a:rPr>
              <a:t> </a:t>
            </a:r>
            <a:r>
              <a:rPr sz="2400" spc="-20" dirty="0">
                <a:latin typeface="Source Sans Pro" panose="02020603050405020304" pitchFamily="18" charset="0"/>
                <a:cs typeface="Source Sans Pro" panose="02020603050405020304" pitchFamily="18" charset="0"/>
              </a:rPr>
              <a:t>sequences</a:t>
            </a:r>
            <a:endParaRPr sz="2400" dirty="0">
              <a:latin typeface="Source Sans Pro" panose="02020603050405020304" pitchFamily="18" charset="0"/>
              <a:cs typeface="Source Sans Pro" panose="02020603050405020304" pitchFamily="18" charset="0"/>
            </a:endParaRPr>
          </a:p>
          <a:p>
            <a:pPr marL="125838">
              <a:spcBef>
                <a:spcPts val="69"/>
              </a:spcBef>
            </a:pPr>
            <a:r>
              <a:rPr sz="2400" spc="416" dirty="0">
                <a:latin typeface="Source Sans Pro" panose="02020603050405020304" pitchFamily="18" charset="0"/>
                <a:cs typeface="Source Sans Pro" panose="02020603050405020304" pitchFamily="18" charset="0"/>
              </a:rPr>
              <a:t>X</a:t>
            </a:r>
            <a:r>
              <a:rPr sz="2400" spc="79" dirty="0">
                <a:latin typeface="Source Sans Pro" panose="02020603050405020304" pitchFamily="18" charset="0"/>
                <a:cs typeface="Source Sans Pro" panose="02020603050405020304" pitchFamily="18" charset="0"/>
              </a:rPr>
              <a:t> </a:t>
            </a:r>
            <a:r>
              <a:rPr sz="2400" dirty="0">
                <a:latin typeface="Source Sans Pro" panose="02020603050405020304" pitchFamily="18" charset="0"/>
                <a:cs typeface="Source Sans Pro" panose="02020603050405020304" pitchFamily="18" charset="0"/>
              </a:rPr>
              <a:t>=</a:t>
            </a:r>
            <a:r>
              <a:rPr sz="2400" spc="-89" dirty="0">
                <a:latin typeface="Source Sans Pro" panose="02020603050405020304" pitchFamily="18" charset="0"/>
                <a:cs typeface="Source Sans Pro" panose="02020603050405020304" pitchFamily="18" charset="0"/>
              </a:rPr>
              <a:t> </a:t>
            </a:r>
            <a:r>
              <a:rPr sz="2400" i="1" dirty="0">
                <a:latin typeface="Source Sans Pro" panose="02020603050405020304" pitchFamily="18" charset="0"/>
                <a:cs typeface="Source Sans Pro" panose="02020603050405020304" pitchFamily="18" charset="0"/>
              </a:rPr>
              <a:t>{</a:t>
            </a:r>
            <a:r>
              <a:rPr sz="2400" dirty="0">
                <a:latin typeface="Source Sans Pro" panose="02020603050405020304" pitchFamily="18" charset="0"/>
                <a:cs typeface="Source Sans Pro" panose="02020603050405020304" pitchFamily="18" charset="0"/>
              </a:rPr>
              <a:t>X</a:t>
            </a:r>
            <a:r>
              <a:rPr sz="2400" baseline="-10416" dirty="0">
                <a:latin typeface="Source Sans Pro" panose="02020603050405020304" pitchFamily="18" charset="0"/>
                <a:cs typeface="Source Sans Pro" panose="02020603050405020304" pitchFamily="18" charset="0"/>
              </a:rPr>
              <a:t>1</a:t>
            </a:r>
            <a:r>
              <a:rPr sz="2400" dirty="0">
                <a:latin typeface="Source Sans Pro" panose="02020603050405020304" pitchFamily="18" charset="0"/>
                <a:cs typeface="Source Sans Pro" panose="02020603050405020304" pitchFamily="18" charset="0"/>
              </a:rPr>
              <a:t>,</a:t>
            </a:r>
            <a:r>
              <a:rPr sz="2400" spc="-317" dirty="0">
                <a:latin typeface="Source Sans Pro" panose="02020603050405020304" pitchFamily="18" charset="0"/>
                <a:cs typeface="Source Sans Pro" panose="02020603050405020304" pitchFamily="18" charset="0"/>
              </a:rPr>
              <a:t> </a:t>
            </a:r>
            <a:r>
              <a:rPr sz="2400" spc="178" dirty="0">
                <a:latin typeface="Source Sans Pro" panose="02020603050405020304" pitchFamily="18" charset="0"/>
                <a:cs typeface="Source Sans Pro" panose="02020603050405020304" pitchFamily="18" charset="0"/>
              </a:rPr>
              <a:t>X</a:t>
            </a:r>
            <a:r>
              <a:rPr sz="2400" spc="268" baseline="-10416" dirty="0">
                <a:latin typeface="Source Sans Pro" panose="02020603050405020304" pitchFamily="18" charset="0"/>
                <a:cs typeface="Source Sans Pro" panose="02020603050405020304" pitchFamily="18" charset="0"/>
              </a:rPr>
              <a:t>2</a:t>
            </a:r>
            <a:r>
              <a:rPr sz="2400" spc="178" dirty="0">
                <a:latin typeface="Source Sans Pro" panose="02020603050405020304" pitchFamily="18" charset="0"/>
                <a:cs typeface="Source Sans Pro" panose="02020603050405020304" pitchFamily="18" charset="0"/>
              </a:rPr>
              <a:t>,.</a:t>
            </a:r>
            <a:r>
              <a:rPr sz="2400" spc="-337" dirty="0">
                <a:latin typeface="Source Sans Pro" panose="02020603050405020304" pitchFamily="18" charset="0"/>
                <a:cs typeface="Source Sans Pro" panose="02020603050405020304" pitchFamily="18" charset="0"/>
              </a:rPr>
              <a:t> </a:t>
            </a:r>
            <a:r>
              <a:rPr sz="2400" spc="139" dirty="0">
                <a:latin typeface="Source Sans Pro" panose="02020603050405020304" pitchFamily="18" charset="0"/>
                <a:cs typeface="Source Sans Pro" panose="02020603050405020304" pitchFamily="18" charset="0"/>
              </a:rPr>
              <a:t>..,</a:t>
            </a:r>
            <a:r>
              <a:rPr sz="2400" spc="-337" dirty="0">
                <a:latin typeface="Source Sans Pro" panose="02020603050405020304" pitchFamily="18" charset="0"/>
                <a:cs typeface="Source Sans Pro" panose="02020603050405020304" pitchFamily="18" charset="0"/>
              </a:rPr>
              <a:t> </a:t>
            </a:r>
            <a:r>
              <a:rPr sz="2400" spc="188" dirty="0">
                <a:latin typeface="Source Sans Pro" panose="02020603050405020304" pitchFamily="18" charset="0"/>
                <a:cs typeface="Source Sans Pro" panose="02020603050405020304" pitchFamily="18" charset="0"/>
              </a:rPr>
              <a:t>X</a:t>
            </a:r>
            <a:r>
              <a:rPr sz="2400" spc="281" baseline="-10416" dirty="0">
                <a:latin typeface="Source Sans Pro" panose="02020603050405020304" pitchFamily="18" charset="0"/>
                <a:cs typeface="Source Sans Pro" panose="02020603050405020304" pitchFamily="18" charset="0"/>
              </a:rPr>
              <a:t>L</a:t>
            </a:r>
            <a:r>
              <a:rPr sz="2400" i="1" spc="188" dirty="0">
                <a:latin typeface="Source Sans Pro" panose="02020603050405020304" pitchFamily="18" charset="0"/>
                <a:cs typeface="Source Sans Pro" panose="02020603050405020304" pitchFamily="18" charset="0"/>
              </a:rPr>
              <a:t>}</a:t>
            </a:r>
            <a:r>
              <a:rPr sz="2400" i="1" spc="-585" dirty="0">
                <a:latin typeface="Source Sans Pro" panose="02020603050405020304" pitchFamily="18" charset="0"/>
                <a:cs typeface="Source Sans Pro" panose="02020603050405020304" pitchFamily="18" charset="0"/>
              </a:rPr>
              <a:t> </a:t>
            </a:r>
            <a:r>
              <a:rPr sz="2400" spc="-40" dirty="0">
                <a:latin typeface="Source Sans Pro" panose="02020603050405020304" pitchFamily="18" charset="0"/>
                <a:cs typeface="Source Sans Pro" panose="02020603050405020304" pitchFamily="18" charset="0"/>
              </a:rPr>
              <a:t>with</a:t>
            </a:r>
            <a:r>
              <a:rPr sz="2400" spc="30" dirty="0">
                <a:latin typeface="Source Sans Pro" panose="02020603050405020304" pitchFamily="18" charset="0"/>
                <a:cs typeface="Source Sans Pro" panose="02020603050405020304" pitchFamily="18" charset="0"/>
              </a:rPr>
              <a:t> </a:t>
            </a:r>
            <a:r>
              <a:rPr sz="2400" dirty="0">
                <a:latin typeface="Source Sans Pro" panose="02020603050405020304" pitchFamily="18" charset="0"/>
                <a:cs typeface="Source Sans Pro" panose="02020603050405020304" pitchFamily="18" charset="0"/>
              </a:rPr>
              <a:t>a</a:t>
            </a:r>
            <a:r>
              <a:rPr sz="2400" spc="40" dirty="0">
                <a:latin typeface="Source Sans Pro" panose="02020603050405020304" pitchFamily="18" charset="0"/>
                <a:cs typeface="Source Sans Pro" panose="02020603050405020304" pitchFamily="18" charset="0"/>
              </a:rPr>
              <a:t> </a:t>
            </a:r>
            <a:r>
              <a:rPr sz="2400" spc="-188" dirty="0">
                <a:latin typeface="Source Sans Pro" panose="02020603050405020304" pitchFamily="18" charset="0"/>
                <a:cs typeface="Source Sans Pro" panose="02020603050405020304" pitchFamily="18" charset="0"/>
              </a:rPr>
              <a:t>predefined</a:t>
            </a:r>
            <a:r>
              <a:rPr sz="2400" spc="30" dirty="0">
                <a:latin typeface="Source Sans Pro" panose="02020603050405020304" pitchFamily="18" charset="0"/>
                <a:cs typeface="Source Sans Pro" panose="02020603050405020304" pitchFamily="18" charset="0"/>
              </a:rPr>
              <a:t> </a:t>
            </a:r>
            <a:r>
              <a:rPr sz="2400" spc="-149" dirty="0">
                <a:latin typeface="Source Sans Pro" panose="02020603050405020304" pitchFamily="18" charset="0"/>
                <a:cs typeface="Source Sans Pro" panose="02020603050405020304" pitchFamily="18" charset="0"/>
              </a:rPr>
              <a:t>length</a:t>
            </a:r>
            <a:r>
              <a:rPr sz="2400" spc="40" dirty="0">
                <a:latin typeface="Source Sans Pro" panose="02020603050405020304" pitchFamily="18" charset="0"/>
                <a:cs typeface="Source Sans Pro" panose="02020603050405020304" pitchFamily="18" charset="0"/>
              </a:rPr>
              <a:t> </a:t>
            </a:r>
            <a:r>
              <a:rPr sz="2400" spc="297" dirty="0">
                <a:latin typeface="Source Sans Pro" panose="02020603050405020304" pitchFamily="18" charset="0"/>
                <a:cs typeface="Source Sans Pro" panose="02020603050405020304" pitchFamily="18" charset="0"/>
              </a:rPr>
              <a:t>L</a:t>
            </a:r>
            <a:r>
              <a:rPr sz="2400" spc="30" dirty="0">
                <a:latin typeface="Source Sans Pro" panose="02020603050405020304" pitchFamily="18" charset="0"/>
                <a:cs typeface="Source Sans Pro" panose="02020603050405020304" pitchFamily="18" charset="0"/>
              </a:rPr>
              <a:t> </a:t>
            </a:r>
            <a:r>
              <a:rPr sz="2400" spc="-188" dirty="0">
                <a:latin typeface="Source Sans Pro" panose="02020603050405020304" pitchFamily="18" charset="0"/>
                <a:cs typeface="Source Sans Pro" panose="02020603050405020304" pitchFamily="18" charset="0"/>
              </a:rPr>
              <a:t>known</a:t>
            </a:r>
            <a:r>
              <a:rPr sz="2400" spc="30" dirty="0">
                <a:latin typeface="Source Sans Pro" panose="02020603050405020304" pitchFamily="18" charset="0"/>
                <a:cs typeface="Source Sans Pro" panose="02020603050405020304" pitchFamily="18" charset="0"/>
              </a:rPr>
              <a:t> </a:t>
            </a:r>
            <a:r>
              <a:rPr sz="2400" spc="-198" dirty="0">
                <a:latin typeface="Source Sans Pro" panose="02020603050405020304" pitchFamily="18" charset="0"/>
                <a:cs typeface="Source Sans Pro" panose="02020603050405020304" pitchFamily="18" charset="0"/>
              </a:rPr>
              <a:t>as</a:t>
            </a:r>
            <a:r>
              <a:rPr sz="2400" spc="40" dirty="0">
                <a:latin typeface="Source Sans Pro" panose="02020603050405020304" pitchFamily="18" charset="0"/>
                <a:cs typeface="Source Sans Pro" panose="02020603050405020304" pitchFamily="18" charset="0"/>
              </a:rPr>
              <a:t> </a:t>
            </a:r>
            <a:r>
              <a:rPr sz="2400" spc="-50" dirty="0">
                <a:latin typeface="Source Sans Pro" panose="02020603050405020304" pitchFamily="18" charset="0"/>
                <a:cs typeface="Source Sans Pro" panose="02020603050405020304" pitchFamily="18" charset="0"/>
              </a:rPr>
              <a:t>the</a:t>
            </a:r>
            <a:r>
              <a:rPr lang="en-US" sz="2400" spc="-50" dirty="0">
                <a:latin typeface="Source Sans Pro" panose="02020603050405020304" pitchFamily="18" charset="0"/>
                <a:cs typeface="Source Sans Pro" panose="02020603050405020304" pitchFamily="18" charset="0"/>
              </a:rPr>
              <a:t> </a:t>
            </a:r>
            <a:r>
              <a:rPr sz="2400" i="1" spc="-40" dirty="0">
                <a:solidFill>
                  <a:srgbClr val="009900"/>
                </a:solidFill>
                <a:latin typeface="Source Sans Pro" panose="02020603050405020304" pitchFamily="18" charset="0"/>
                <a:cs typeface="Source Sans Pro" panose="02020603050405020304" pitchFamily="18" charset="0"/>
              </a:rPr>
              <a:t>lag</a:t>
            </a:r>
            <a:r>
              <a:rPr sz="2400" spc="-40" dirty="0">
                <a:latin typeface="Source Sans Pro" panose="02020603050405020304" pitchFamily="18" charset="0"/>
                <a:cs typeface="Source Sans Pro" panose="02020603050405020304" pitchFamily="18" charset="0"/>
              </a:rPr>
              <a:t>:</a:t>
            </a:r>
            <a:endParaRPr lang="en-US" sz="2400" spc="-40" dirty="0">
              <a:latin typeface="Source Sans Pro" panose="02020603050405020304" pitchFamily="18" charset="0"/>
              <a:cs typeface="Source Sans Pro" panose="02020603050405020304" pitchFamily="18" charset="0"/>
            </a:endParaRPr>
          </a:p>
          <a:p>
            <a:pPr marL="125838">
              <a:spcBef>
                <a:spcPts val="69"/>
              </a:spcBef>
            </a:pPr>
            <a:endParaRPr lang="en-US" sz="2400" baseline="50505" dirty="0">
              <a:latin typeface="Source Sans Pro"/>
              <a:cs typeface="Source Sans Pro"/>
            </a:endParaRPr>
          </a:p>
          <a:p>
            <a:pPr marL="50800" marR="167640">
              <a:lnSpc>
                <a:spcPct val="102600"/>
              </a:lnSpc>
              <a:spcBef>
                <a:spcPts val="894"/>
              </a:spcBef>
            </a:pPr>
            <a:endParaRPr lang="en-US" sz="2400" dirty="0">
              <a:latin typeface="Source Sans Pro"/>
              <a:cs typeface="Source Sans Pro"/>
            </a:endParaRPr>
          </a:p>
          <a:p>
            <a:pPr marL="50800" marR="167640">
              <a:lnSpc>
                <a:spcPct val="102600"/>
              </a:lnSpc>
              <a:spcBef>
                <a:spcPts val="894"/>
              </a:spcBef>
            </a:pPr>
            <a:endParaRPr lang="en-US" sz="2400" dirty="0">
              <a:latin typeface="Source Sans Pro"/>
              <a:cs typeface="Source Sans Pro"/>
            </a:endParaRPr>
          </a:p>
          <a:p>
            <a:pPr marL="50800" marR="167640">
              <a:lnSpc>
                <a:spcPct val="102600"/>
              </a:lnSpc>
              <a:spcBef>
                <a:spcPts val="894"/>
              </a:spcBef>
            </a:pPr>
            <a:endParaRPr lang="en-US" sz="2400" dirty="0">
              <a:latin typeface="Source Sans Pro"/>
              <a:cs typeface="Source Sans Pro"/>
            </a:endParaRPr>
          </a:p>
          <a:p>
            <a:pPr marL="50800" marR="167640">
              <a:lnSpc>
                <a:spcPct val="102600"/>
              </a:lnSpc>
              <a:spcBef>
                <a:spcPts val="894"/>
              </a:spcBef>
            </a:pPr>
            <a:r>
              <a:rPr lang="en-US" sz="2400" dirty="0">
                <a:latin typeface="Source Sans Pro"/>
                <a:cs typeface="Source Sans Pro"/>
              </a:rPr>
              <a:t>Since</a:t>
            </a:r>
            <a:r>
              <a:rPr lang="en-US" sz="2400" spc="120" dirty="0">
                <a:latin typeface="Source Sans Pro"/>
                <a:cs typeface="Source Sans Pro"/>
              </a:rPr>
              <a:t> </a:t>
            </a:r>
            <a:r>
              <a:rPr lang="en-US" sz="2400" i="1" dirty="0">
                <a:latin typeface="Georgia"/>
                <a:cs typeface="Georgia"/>
              </a:rPr>
              <a:t>T</a:t>
            </a:r>
            <a:r>
              <a:rPr lang="en-US" sz="2400" spc="215" dirty="0">
                <a:latin typeface="Source Sans Pro"/>
                <a:cs typeface="Source Sans Pro"/>
              </a:rPr>
              <a:t>=</a:t>
            </a:r>
            <a:r>
              <a:rPr lang="en-US" sz="2400" spc="-10" dirty="0">
                <a:latin typeface="Source Sans Pro"/>
                <a:cs typeface="Source Sans Pro"/>
              </a:rPr>
              <a:t>6</a:t>
            </a:r>
            <a:r>
              <a:rPr lang="en-US" sz="2400" i="1" spc="-10" dirty="0">
                <a:latin typeface="Georgia"/>
                <a:cs typeface="Georgia"/>
              </a:rPr>
              <a:t>,</a:t>
            </a:r>
            <a:r>
              <a:rPr lang="en-US" sz="2400" dirty="0">
                <a:latin typeface="Source Sans Pro"/>
                <a:cs typeface="Source Sans Pro"/>
              </a:rPr>
              <a:t>051, with</a:t>
            </a:r>
            <a:r>
              <a:rPr lang="en-US" sz="2400" spc="120" dirty="0">
                <a:latin typeface="Source Sans Pro"/>
                <a:cs typeface="Source Sans Pro"/>
              </a:rPr>
              <a:t> </a:t>
            </a:r>
            <a:r>
              <a:rPr lang="en-US" sz="2400" i="1" spc="70" dirty="0">
                <a:latin typeface="Georgia"/>
                <a:cs typeface="Georgia"/>
              </a:rPr>
              <a:t>L</a:t>
            </a:r>
            <a:r>
              <a:rPr lang="en-US" sz="2400" i="1" spc="60" dirty="0">
                <a:latin typeface="Georgia"/>
                <a:cs typeface="Georgia"/>
              </a:rPr>
              <a:t> </a:t>
            </a:r>
            <a:r>
              <a:rPr lang="en-US" sz="2400" spc="215" dirty="0">
                <a:latin typeface="Source Sans Pro"/>
                <a:cs typeface="Source Sans Pro"/>
              </a:rPr>
              <a:t>=</a:t>
            </a:r>
            <a:r>
              <a:rPr lang="en-US" sz="2400" dirty="0">
                <a:latin typeface="Source Sans Pro"/>
                <a:cs typeface="Source Sans Pro"/>
              </a:rPr>
              <a:t>5</a:t>
            </a:r>
            <a:r>
              <a:rPr lang="en-US" sz="2400" spc="120" dirty="0">
                <a:latin typeface="Source Sans Pro"/>
                <a:cs typeface="Source Sans Pro"/>
              </a:rPr>
              <a:t> </a:t>
            </a:r>
            <a:r>
              <a:rPr lang="en-US" sz="2400" dirty="0">
                <a:latin typeface="Source Sans Pro"/>
                <a:cs typeface="Source Sans Pro"/>
              </a:rPr>
              <a:t>we</a:t>
            </a:r>
            <a:r>
              <a:rPr lang="en-US" sz="2400" spc="120" dirty="0">
                <a:latin typeface="Source Sans Pro"/>
                <a:cs typeface="Source Sans Pro"/>
              </a:rPr>
              <a:t> </a:t>
            </a:r>
            <a:r>
              <a:rPr lang="en-US" sz="2400" dirty="0">
                <a:latin typeface="Source Sans Pro"/>
                <a:cs typeface="Source Sans Pro"/>
              </a:rPr>
              <a:t>can</a:t>
            </a:r>
            <a:r>
              <a:rPr lang="en-US" sz="2400" spc="120" dirty="0">
                <a:latin typeface="Source Sans Pro"/>
                <a:cs typeface="Source Sans Pro"/>
              </a:rPr>
              <a:t> </a:t>
            </a:r>
            <a:r>
              <a:rPr lang="en-US" sz="2400" dirty="0">
                <a:latin typeface="Source Sans Pro"/>
                <a:cs typeface="Source Sans Pro"/>
              </a:rPr>
              <a:t>create</a:t>
            </a:r>
            <a:r>
              <a:rPr lang="en-US" sz="2400" spc="120" dirty="0">
                <a:latin typeface="Source Sans Pro"/>
                <a:cs typeface="Source Sans Pro"/>
              </a:rPr>
              <a:t> </a:t>
            </a:r>
            <a:r>
              <a:rPr lang="en-US" sz="2400" spc="-10" dirty="0">
                <a:latin typeface="Source Sans Pro"/>
                <a:cs typeface="Source Sans Pro"/>
              </a:rPr>
              <a:t>6</a:t>
            </a:r>
            <a:r>
              <a:rPr lang="en-US" sz="2400" i="1" spc="-10" dirty="0">
                <a:latin typeface="Georgia"/>
                <a:cs typeface="Georgia"/>
              </a:rPr>
              <a:t>,</a:t>
            </a:r>
            <a:r>
              <a:rPr lang="en-US" sz="2400" dirty="0">
                <a:latin typeface="Source Sans Pro"/>
                <a:cs typeface="Source Sans Pro"/>
              </a:rPr>
              <a:t>046</a:t>
            </a:r>
            <a:r>
              <a:rPr lang="en-US" sz="2400" spc="120" dirty="0">
                <a:latin typeface="Source Sans Pro"/>
                <a:cs typeface="Source Sans Pro"/>
              </a:rPr>
              <a:t> </a:t>
            </a:r>
            <a:r>
              <a:rPr lang="en-US" sz="2400" dirty="0">
                <a:latin typeface="Source Sans Pro"/>
                <a:cs typeface="Source Sans Pro"/>
              </a:rPr>
              <a:t>such</a:t>
            </a:r>
            <a:r>
              <a:rPr lang="en-US" sz="2400" spc="120" dirty="0">
                <a:latin typeface="Source Sans Pro"/>
                <a:cs typeface="Source Sans Pro"/>
              </a:rPr>
              <a:t> </a:t>
            </a:r>
            <a:r>
              <a:rPr lang="en-US" sz="2400" spc="60" dirty="0">
                <a:latin typeface="Source Sans Pro"/>
                <a:cs typeface="Source Sans Pro"/>
              </a:rPr>
              <a:t>(</a:t>
            </a:r>
            <a:r>
              <a:rPr lang="en-US" sz="2400" i="1" spc="60" dirty="0">
                <a:latin typeface="Georgia"/>
                <a:cs typeface="Georgia"/>
              </a:rPr>
              <a:t>X,</a:t>
            </a:r>
            <a:r>
              <a:rPr lang="en-US" sz="2400" i="1" spc="-70" dirty="0">
                <a:latin typeface="Georgia"/>
                <a:cs typeface="Georgia"/>
              </a:rPr>
              <a:t> </a:t>
            </a:r>
            <a:r>
              <a:rPr lang="en-US" sz="2400" i="1" spc="-50" dirty="0">
                <a:latin typeface="Georgia"/>
                <a:cs typeface="Georgia"/>
              </a:rPr>
              <a:t>Y</a:t>
            </a:r>
            <a:r>
              <a:rPr lang="en-US" sz="2400" i="1" dirty="0">
                <a:latin typeface="Georgia"/>
                <a:cs typeface="Georgia"/>
              </a:rPr>
              <a:t> </a:t>
            </a:r>
            <a:r>
              <a:rPr lang="en-US" sz="2400" spc="5" dirty="0">
                <a:latin typeface="Source Sans Pro"/>
                <a:cs typeface="Source Sans Pro"/>
              </a:rPr>
              <a:t>) </a:t>
            </a:r>
            <a:r>
              <a:rPr lang="en-US" sz="2400" spc="-10" dirty="0">
                <a:latin typeface="Source Sans Pro"/>
                <a:cs typeface="Source Sans Pro"/>
              </a:rPr>
              <a:t>pairs.</a:t>
            </a:r>
            <a:endParaRPr lang="en-US" sz="2400" dirty="0">
              <a:latin typeface="Source Sans Pro"/>
              <a:cs typeface="Source Sans Pro"/>
            </a:endParaRPr>
          </a:p>
          <a:p>
            <a:pPr marL="50800" marR="43180" indent="-635">
              <a:lnSpc>
                <a:spcPct val="102600"/>
              </a:lnSpc>
            </a:pPr>
            <a:r>
              <a:rPr lang="en-US" sz="2400" dirty="0">
                <a:latin typeface="Source Sans Pro"/>
                <a:cs typeface="Source Sans Pro"/>
              </a:rPr>
              <a:t>We</a:t>
            </a:r>
            <a:r>
              <a:rPr lang="en-US" sz="2400" spc="125" dirty="0">
                <a:latin typeface="Source Sans Pro"/>
                <a:cs typeface="Source Sans Pro"/>
              </a:rPr>
              <a:t> </a:t>
            </a:r>
            <a:r>
              <a:rPr lang="en-US" sz="2400" dirty="0">
                <a:latin typeface="Source Sans Pro"/>
                <a:cs typeface="Source Sans Pro"/>
              </a:rPr>
              <a:t>use</a:t>
            </a:r>
            <a:r>
              <a:rPr lang="en-US" sz="2400" spc="130" dirty="0">
                <a:latin typeface="Source Sans Pro"/>
                <a:cs typeface="Source Sans Pro"/>
              </a:rPr>
              <a:t> </a:t>
            </a:r>
            <a:r>
              <a:rPr lang="en-US" sz="2400" spc="55" dirty="0">
                <a:latin typeface="Source Sans Pro"/>
                <a:cs typeface="Source Sans Pro"/>
              </a:rPr>
              <a:t>the</a:t>
            </a:r>
            <a:r>
              <a:rPr lang="en-US" sz="2400" spc="130" dirty="0">
                <a:latin typeface="Source Sans Pro"/>
                <a:cs typeface="Source Sans Pro"/>
              </a:rPr>
              <a:t> </a:t>
            </a:r>
            <a:r>
              <a:rPr lang="en-US" sz="2400" dirty="0">
                <a:latin typeface="Source Sans Pro"/>
                <a:cs typeface="Source Sans Pro"/>
              </a:rPr>
              <a:t>first</a:t>
            </a:r>
            <a:r>
              <a:rPr lang="en-US" sz="2400" spc="130" dirty="0">
                <a:latin typeface="Source Sans Pro"/>
                <a:cs typeface="Source Sans Pro"/>
              </a:rPr>
              <a:t> </a:t>
            </a:r>
            <a:r>
              <a:rPr lang="en-US" sz="2400" spc="-10" dirty="0">
                <a:latin typeface="Source Sans Pro"/>
                <a:cs typeface="Source Sans Pro"/>
              </a:rPr>
              <a:t>4</a:t>
            </a:r>
            <a:r>
              <a:rPr lang="en-US" sz="2400" i="1" spc="-10" dirty="0">
                <a:latin typeface="Georgia"/>
                <a:cs typeface="Georgia"/>
              </a:rPr>
              <a:t>,</a:t>
            </a:r>
            <a:r>
              <a:rPr lang="en-US" sz="2400" dirty="0">
                <a:latin typeface="Source Sans Pro"/>
                <a:cs typeface="Source Sans Pro"/>
              </a:rPr>
              <a:t>281 as</a:t>
            </a:r>
            <a:r>
              <a:rPr lang="en-US" sz="2400" spc="130" dirty="0">
                <a:latin typeface="Source Sans Pro"/>
                <a:cs typeface="Source Sans Pro"/>
              </a:rPr>
              <a:t> </a:t>
            </a:r>
            <a:r>
              <a:rPr lang="en-US" sz="2400" dirty="0">
                <a:latin typeface="Source Sans Pro"/>
                <a:cs typeface="Source Sans Pro"/>
              </a:rPr>
              <a:t>training</a:t>
            </a:r>
            <a:r>
              <a:rPr lang="en-US" sz="2400" spc="130" dirty="0">
                <a:latin typeface="Source Sans Pro"/>
                <a:cs typeface="Source Sans Pro"/>
              </a:rPr>
              <a:t> </a:t>
            </a:r>
            <a:r>
              <a:rPr lang="en-US" sz="2400" spc="60" dirty="0">
                <a:latin typeface="Source Sans Pro"/>
                <a:cs typeface="Source Sans Pro"/>
              </a:rPr>
              <a:t>data,</a:t>
            </a:r>
            <a:r>
              <a:rPr lang="en-US" sz="2400" spc="130" dirty="0">
                <a:latin typeface="Source Sans Pro"/>
                <a:cs typeface="Source Sans Pro"/>
              </a:rPr>
              <a:t> </a:t>
            </a:r>
            <a:r>
              <a:rPr lang="en-US" sz="2400" spc="50" dirty="0">
                <a:latin typeface="Source Sans Pro"/>
                <a:cs typeface="Source Sans Pro"/>
              </a:rPr>
              <a:t>and</a:t>
            </a:r>
            <a:r>
              <a:rPr lang="en-US" sz="2400" spc="130" dirty="0">
                <a:latin typeface="Source Sans Pro"/>
                <a:cs typeface="Source Sans Pro"/>
              </a:rPr>
              <a:t> </a:t>
            </a:r>
            <a:r>
              <a:rPr lang="en-US" sz="2400" spc="55" dirty="0">
                <a:latin typeface="Source Sans Pro"/>
                <a:cs typeface="Source Sans Pro"/>
              </a:rPr>
              <a:t>the</a:t>
            </a:r>
            <a:r>
              <a:rPr lang="en-US" sz="2400" spc="130" dirty="0">
                <a:latin typeface="Source Sans Pro"/>
                <a:cs typeface="Source Sans Pro"/>
              </a:rPr>
              <a:t> </a:t>
            </a:r>
            <a:r>
              <a:rPr lang="en-US" sz="2400" dirty="0">
                <a:latin typeface="Source Sans Pro"/>
                <a:cs typeface="Source Sans Pro"/>
              </a:rPr>
              <a:t>following</a:t>
            </a:r>
            <a:r>
              <a:rPr lang="en-US" sz="2400" spc="130" dirty="0">
                <a:latin typeface="Source Sans Pro"/>
                <a:cs typeface="Source Sans Pro"/>
              </a:rPr>
              <a:t> </a:t>
            </a:r>
            <a:r>
              <a:rPr lang="en-US" sz="2400" spc="-10" dirty="0">
                <a:latin typeface="Source Sans Pro"/>
                <a:cs typeface="Source Sans Pro"/>
              </a:rPr>
              <a:t>1</a:t>
            </a:r>
            <a:r>
              <a:rPr lang="en-US" sz="2400" i="1" spc="-10" dirty="0">
                <a:latin typeface="Georgia"/>
                <a:cs typeface="Georgia"/>
              </a:rPr>
              <a:t>,</a:t>
            </a:r>
            <a:r>
              <a:rPr lang="en-US" sz="2400" spc="-25" dirty="0">
                <a:latin typeface="Source Sans Pro"/>
                <a:cs typeface="Source Sans Pro"/>
              </a:rPr>
              <a:t>770 </a:t>
            </a:r>
            <a:r>
              <a:rPr lang="en-US" sz="2400" dirty="0">
                <a:latin typeface="Source Sans Pro"/>
                <a:cs typeface="Source Sans Pro"/>
              </a:rPr>
              <a:t>as</a:t>
            </a:r>
            <a:r>
              <a:rPr lang="en-US" sz="2400" spc="155" dirty="0">
                <a:latin typeface="Source Sans Pro"/>
                <a:cs typeface="Source Sans Pro"/>
              </a:rPr>
              <a:t> </a:t>
            </a:r>
            <a:r>
              <a:rPr lang="en-US" sz="2400" spc="60" dirty="0">
                <a:latin typeface="Source Sans Pro"/>
                <a:cs typeface="Source Sans Pro"/>
              </a:rPr>
              <a:t>test</a:t>
            </a:r>
            <a:r>
              <a:rPr lang="en-US" sz="2400" spc="165" dirty="0">
                <a:latin typeface="Source Sans Pro"/>
                <a:cs typeface="Source Sans Pro"/>
              </a:rPr>
              <a:t> </a:t>
            </a:r>
            <a:r>
              <a:rPr lang="en-US" sz="2400" spc="60" dirty="0">
                <a:latin typeface="Source Sans Pro"/>
                <a:cs typeface="Source Sans Pro"/>
              </a:rPr>
              <a:t>data.</a:t>
            </a:r>
            <a:r>
              <a:rPr lang="en-US" sz="2400" spc="310" dirty="0">
                <a:latin typeface="Source Sans Pro"/>
                <a:cs typeface="Source Sans Pro"/>
              </a:rPr>
              <a:t> </a:t>
            </a:r>
            <a:r>
              <a:rPr lang="en-US" sz="2400" dirty="0">
                <a:latin typeface="Source Sans Pro"/>
                <a:cs typeface="Source Sans Pro"/>
              </a:rPr>
              <a:t>We</a:t>
            </a:r>
            <a:r>
              <a:rPr lang="en-US" sz="2400" spc="160" dirty="0">
                <a:latin typeface="Source Sans Pro"/>
                <a:cs typeface="Source Sans Pro"/>
              </a:rPr>
              <a:t> </a:t>
            </a:r>
            <a:r>
              <a:rPr lang="en-US" sz="2400" dirty="0">
                <a:latin typeface="Source Sans Pro"/>
                <a:cs typeface="Source Sans Pro"/>
              </a:rPr>
              <a:t>fit</a:t>
            </a:r>
            <a:r>
              <a:rPr lang="en-US" sz="2400" spc="160" dirty="0">
                <a:latin typeface="Source Sans Pro"/>
                <a:cs typeface="Source Sans Pro"/>
              </a:rPr>
              <a:t> </a:t>
            </a:r>
            <a:r>
              <a:rPr lang="en-US" sz="2400" spc="50" dirty="0">
                <a:latin typeface="Source Sans Pro"/>
                <a:cs typeface="Source Sans Pro"/>
              </a:rPr>
              <a:t>an</a:t>
            </a:r>
            <a:r>
              <a:rPr lang="en-US" sz="2400" spc="165" dirty="0">
                <a:latin typeface="Source Sans Pro"/>
                <a:cs typeface="Source Sans Pro"/>
              </a:rPr>
              <a:t> </a:t>
            </a:r>
            <a:r>
              <a:rPr lang="en-US" sz="2400" dirty="0">
                <a:latin typeface="Source Sans Pro"/>
                <a:cs typeface="Source Sans Pro"/>
              </a:rPr>
              <a:t>RNN</a:t>
            </a:r>
            <a:r>
              <a:rPr lang="en-US" sz="2400" spc="160" dirty="0">
                <a:latin typeface="Source Sans Pro"/>
                <a:cs typeface="Source Sans Pro"/>
              </a:rPr>
              <a:t> </a:t>
            </a:r>
            <a:r>
              <a:rPr lang="en-US" sz="2400" dirty="0">
                <a:latin typeface="Source Sans Pro"/>
                <a:cs typeface="Source Sans Pro"/>
              </a:rPr>
              <a:t>with</a:t>
            </a:r>
            <a:r>
              <a:rPr lang="en-US" sz="2400" spc="160" dirty="0">
                <a:latin typeface="Source Sans Pro"/>
                <a:cs typeface="Source Sans Pro"/>
              </a:rPr>
              <a:t> </a:t>
            </a:r>
            <a:r>
              <a:rPr lang="en-US" sz="2400" dirty="0">
                <a:latin typeface="Source Sans Pro"/>
                <a:cs typeface="Source Sans Pro"/>
              </a:rPr>
              <a:t>12</a:t>
            </a:r>
            <a:r>
              <a:rPr lang="en-US" sz="2400" spc="155" dirty="0">
                <a:latin typeface="Source Sans Pro"/>
                <a:cs typeface="Source Sans Pro"/>
              </a:rPr>
              <a:t> </a:t>
            </a:r>
            <a:r>
              <a:rPr lang="en-US" sz="2400" dirty="0">
                <a:latin typeface="Source Sans Pro"/>
                <a:cs typeface="Source Sans Pro"/>
              </a:rPr>
              <a:t>hidden</a:t>
            </a:r>
            <a:r>
              <a:rPr lang="en-US" sz="2400" spc="160" dirty="0">
                <a:latin typeface="Source Sans Pro"/>
                <a:cs typeface="Source Sans Pro"/>
              </a:rPr>
              <a:t> </a:t>
            </a:r>
            <a:r>
              <a:rPr lang="en-US" sz="2400" dirty="0">
                <a:latin typeface="Source Sans Pro"/>
                <a:cs typeface="Source Sans Pro"/>
              </a:rPr>
              <a:t>units</a:t>
            </a:r>
            <a:r>
              <a:rPr lang="en-US" sz="2400" spc="160" dirty="0">
                <a:latin typeface="Source Sans Pro"/>
                <a:cs typeface="Source Sans Pro"/>
              </a:rPr>
              <a:t> </a:t>
            </a:r>
            <a:r>
              <a:rPr lang="en-US" sz="2400" dirty="0">
                <a:latin typeface="Source Sans Pro"/>
                <a:cs typeface="Source Sans Pro"/>
              </a:rPr>
              <a:t>per</a:t>
            </a:r>
            <a:r>
              <a:rPr lang="en-US" sz="2400" spc="160" dirty="0">
                <a:latin typeface="Source Sans Pro"/>
                <a:cs typeface="Source Sans Pro"/>
              </a:rPr>
              <a:t> </a:t>
            </a:r>
            <a:r>
              <a:rPr lang="en-US" sz="2400" dirty="0">
                <a:latin typeface="Source Sans Pro"/>
                <a:cs typeface="Source Sans Pro"/>
              </a:rPr>
              <a:t>lag</a:t>
            </a:r>
            <a:r>
              <a:rPr lang="en-US" sz="2400" spc="160" dirty="0">
                <a:latin typeface="Source Sans Pro"/>
                <a:cs typeface="Source Sans Pro"/>
              </a:rPr>
              <a:t> </a:t>
            </a:r>
            <a:r>
              <a:rPr lang="en-US" sz="2400" spc="-20" dirty="0">
                <a:latin typeface="Source Sans Pro"/>
                <a:cs typeface="Source Sans Pro"/>
              </a:rPr>
              <a:t>step </a:t>
            </a:r>
            <a:r>
              <a:rPr lang="en-US" sz="2400" dirty="0">
                <a:latin typeface="Source Sans Pro"/>
                <a:cs typeface="Source Sans Pro"/>
              </a:rPr>
              <a:t>(i.e. per</a:t>
            </a:r>
            <a:r>
              <a:rPr lang="en-US" sz="2400" spc="190" dirty="0">
                <a:latin typeface="Source Sans Pro"/>
                <a:cs typeface="Source Sans Pro"/>
              </a:rPr>
              <a:t> </a:t>
            </a:r>
            <a:r>
              <a:rPr lang="en-US" sz="2400" i="1" spc="-20" dirty="0">
                <a:latin typeface="Georgia"/>
                <a:cs typeface="Georgia"/>
              </a:rPr>
              <a:t>A</a:t>
            </a:r>
            <a:r>
              <a:rPr lang="en-US" sz="2400" i="1" spc="-30" baseline="-13888" dirty="0">
                <a:latin typeface="Georgia"/>
                <a:cs typeface="Georgia"/>
              </a:rPr>
              <a:t>l</a:t>
            </a:r>
            <a:r>
              <a:rPr lang="en-US" sz="2400" spc="-20" dirty="0">
                <a:latin typeface="Source Sans Pro"/>
                <a:cs typeface="Source Sans Pro"/>
              </a:rPr>
              <a:t>.)</a:t>
            </a:r>
            <a:endParaRPr sz="2400" baseline="50505" dirty="0">
              <a:latin typeface="Source Sans Pro"/>
              <a:cs typeface="Source Sans Pro"/>
            </a:endParaRPr>
          </a:p>
        </p:txBody>
      </p:sp>
      <p:pic>
        <p:nvPicPr>
          <p:cNvPr id="20" name="Picture 19" descr="A black and white image of a smiley face&#10;&#10;Description automatically generated">
            <a:extLst>
              <a:ext uri="{FF2B5EF4-FFF2-40B4-BE49-F238E27FC236}">
                <a16:creationId xmlns:a16="http://schemas.microsoft.com/office/drawing/2014/main" id="{ACE7C428-0618-94A5-4EB8-2758EA0EDCB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9761" y="2667000"/>
            <a:ext cx="9072479" cy="13043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411072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7">
            <a:extLst>
              <a:ext uri="{FF2B5EF4-FFF2-40B4-BE49-F238E27FC236}">
                <a16:creationId xmlns:a16="http://schemas.microsoft.com/office/drawing/2014/main" id="{7B81B4F9-034C-BA83-B970-18718F0548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pc="109" dirty="0"/>
              <a:t>RNN</a:t>
            </a:r>
            <a:r>
              <a:rPr lang="en-US" spc="347" dirty="0"/>
              <a:t> </a:t>
            </a:r>
            <a:r>
              <a:rPr lang="en-US" spc="89" dirty="0"/>
              <a:t>Results</a:t>
            </a:r>
            <a:r>
              <a:rPr lang="en-US" spc="347" dirty="0"/>
              <a:t> </a:t>
            </a:r>
            <a:r>
              <a:rPr lang="en-US" dirty="0"/>
              <a:t>for</a:t>
            </a:r>
            <a:r>
              <a:rPr lang="en-US" spc="347" dirty="0"/>
              <a:t> </a:t>
            </a:r>
            <a:r>
              <a:rPr lang="en-US" dirty="0"/>
              <a:t>NYSE</a:t>
            </a:r>
            <a:r>
              <a:rPr lang="en-US" spc="347" dirty="0"/>
              <a:t> </a:t>
            </a:r>
            <a:r>
              <a:rPr lang="en-US" spc="129" dirty="0"/>
              <a:t>Data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68A52DD-6360-F83E-6DD9-5B2D106C6A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12225-5612-419B-A8D5-4B8EEE4C217E}" type="slidenum">
              <a:rPr lang="en-US" smtClean="0"/>
              <a:pPr/>
              <a:t>15</a:t>
            </a:fld>
            <a:endParaRPr lang="en-US"/>
          </a:p>
        </p:txBody>
      </p:sp>
      <p:grpSp>
        <p:nvGrpSpPr>
          <p:cNvPr id="3" name="object 3"/>
          <p:cNvGrpSpPr/>
          <p:nvPr/>
        </p:nvGrpSpPr>
        <p:grpSpPr>
          <a:xfrm>
            <a:off x="2954155" y="1875287"/>
            <a:ext cx="6515728" cy="2037267"/>
            <a:chOff x="719582" y="946324"/>
            <a:chExt cx="3288029" cy="102806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86983" y="977374"/>
              <a:ext cx="3005662" cy="913146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719582" y="946324"/>
              <a:ext cx="3288029" cy="1028065"/>
            </a:xfrm>
            <a:custGeom>
              <a:avLst/>
              <a:gdLst/>
              <a:ahLst/>
              <a:cxnLst/>
              <a:rect l="l" t="t" r="r" b="b"/>
              <a:pathLst>
                <a:path w="3288029" h="1028064">
                  <a:moveTo>
                    <a:pt x="171316" y="975247"/>
                  </a:moveTo>
                  <a:lnTo>
                    <a:pt x="2741262" y="975247"/>
                  </a:lnTo>
                </a:path>
                <a:path w="3288029" h="1028064">
                  <a:moveTo>
                    <a:pt x="171316" y="975247"/>
                  </a:moveTo>
                  <a:lnTo>
                    <a:pt x="171316" y="1027897"/>
                  </a:lnTo>
                </a:path>
                <a:path w="3288029" h="1028064">
                  <a:moveTo>
                    <a:pt x="1028302" y="975247"/>
                  </a:moveTo>
                  <a:lnTo>
                    <a:pt x="1028302" y="1027897"/>
                  </a:lnTo>
                </a:path>
                <a:path w="3288029" h="1028064">
                  <a:moveTo>
                    <a:pt x="1884208" y="975247"/>
                  </a:moveTo>
                  <a:lnTo>
                    <a:pt x="1884208" y="1027897"/>
                  </a:lnTo>
                </a:path>
                <a:path w="3288029" h="1028064">
                  <a:moveTo>
                    <a:pt x="2741262" y="975247"/>
                  </a:moveTo>
                  <a:lnTo>
                    <a:pt x="2741262" y="1027897"/>
                  </a:lnTo>
                </a:path>
                <a:path w="3288029" h="1028064">
                  <a:moveTo>
                    <a:pt x="52650" y="813043"/>
                  </a:moveTo>
                  <a:lnTo>
                    <a:pt x="52650" y="30915"/>
                  </a:lnTo>
                </a:path>
                <a:path w="3288029" h="1028064">
                  <a:moveTo>
                    <a:pt x="52650" y="813043"/>
                  </a:moveTo>
                  <a:lnTo>
                    <a:pt x="0" y="813043"/>
                  </a:lnTo>
                </a:path>
                <a:path w="3288029" h="1028064">
                  <a:moveTo>
                    <a:pt x="52650" y="617494"/>
                  </a:moveTo>
                  <a:lnTo>
                    <a:pt x="0" y="617494"/>
                  </a:lnTo>
                </a:path>
                <a:path w="3288029" h="1028064">
                  <a:moveTo>
                    <a:pt x="52650" y="422013"/>
                  </a:moveTo>
                  <a:lnTo>
                    <a:pt x="0" y="422013"/>
                  </a:lnTo>
                </a:path>
                <a:path w="3288029" h="1028064">
                  <a:moveTo>
                    <a:pt x="52650" y="226464"/>
                  </a:moveTo>
                  <a:lnTo>
                    <a:pt x="0" y="226464"/>
                  </a:lnTo>
                </a:path>
                <a:path w="3288029" h="1028064">
                  <a:moveTo>
                    <a:pt x="52650" y="30915"/>
                  </a:moveTo>
                  <a:lnTo>
                    <a:pt x="0" y="30915"/>
                  </a:lnTo>
                </a:path>
                <a:path w="3288029" h="1028064">
                  <a:moveTo>
                    <a:pt x="52650" y="975247"/>
                  </a:moveTo>
                  <a:lnTo>
                    <a:pt x="3287814" y="975247"/>
                  </a:lnTo>
                  <a:lnTo>
                    <a:pt x="3287814" y="0"/>
                  </a:lnTo>
                  <a:lnTo>
                    <a:pt x="52650" y="0"/>
                  </a:lnTo>
                  <a:lnTo>
                    <a:pt x="52650" y="975247"/>
                  </a:lnTo>
                </a:path>
              </a:pathLst>
            </a:custGeom>
            <a:ln w="506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3567"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89514" y="1083451"/>
              <a:ext cx="3000599" cy="518471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3075060" y="3984432"/>
            <a:ext cx="437903" cy="236328"/>
          </a:xfrm>
          <a:prstGeom prst="rect">
            <a:avLst/>
          </a:prstGeom>
        </p:spPr>
        <p:txBody>
          <a:bodyPr vert="horz" wrap="square" lIns="0" tIns="22650" rIns="0" bIns="0" rtlCol="0">
            <a:normAutofit/>
          </a:bodyPr>
          <a:lstStyle/>
          <a:p>
            <a:pPr marL="25168">
              <a:spcBef>
                <a:spcPts val="178"/>
              </a:spcBef>
            </a:pPr>
            <a:r>
              <a:rPr sz="1387" spc="-40" dirty="0">
                <a:latin typeface="Helvetica"/>
                <a:cs typeface="Helvetica"/>
              </a:rPr>
              <a:t>1980</a:t>
            </a:r>
            <a:endParaRPr sz="1387">
              <a:latin typeface="Helvetica"/>
              <a:cs typeface="Helvetic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773440" y="3984432"/>
            <a:ext cx="437903" cy="236328"/>
          </a:xfrm>
          <a:prstGeom prst="rect">
            <a:avLst/>
          </a:prstGeom>
        </p:spPr>
        <p:txBody>
          <a:bodyPr vert="horz" wrap="square" lIns="0" tIns="22650" rIns="0" bIns="0" rtlCol="0">
            <a:normAutofit/>
          </a:bodyPr>
          <a:lstStyle/>
          <a:p>
            <a:pPr marL="25168">
              <a:spcBef>
                <a:spcPts val="178"/>
              </a:spcBef>
            </a:pPr>
            <a:r>
              <a:rPr sz="1387" spc="-40" dirty="0">
                <a:latin typeface="Helvetica"/>
                <a:cs typeface="Helvetica"/>
              </a:rPr>
              <a:t>1982</a:t>
            </a:r>
            <a:endParaRPr sz="1387">
              <a:latin typeface="Helvetica"/>
              <a:cs typeface="Helvetic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469415" y="3984432"/>
            <a:ext cx="437903" cy="236328"/>
          </a:xfrm>
          <a:prstGeom prst="rect">
            <a:avLst/>
          </a:prstGeom>
        </p:spPr>
        <p:txBody>
          <a:bodyPr vert="horz" wrap="square" lIns="0" tIns="22650" rIns="0" bIns="0" rtlCol="0">
            <a:normAutofit/>
          </a:bodyPr>
          <a:lstStyle/>
          <a:p>
            <a:pPr marL="25168">
              <a:spcBef>
                <a:spcPts val="178"/>
              </a:spcBef>
            </a:pPr>
            <a:r>
              <a:rPr sz="1387" spc="-40" dirty="0">
                <a:latin typeface="Helvetica"/>
                <a:cs typeface="Helvetica"/>
              </a:rPr>
              <a:t>1984</a:t>
            </a:r>
            <a:endParaRPr sz="1387">
              <a:latin typeface="Helvetica"/>
              <a:cs typeface="Helvetic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167797" y="3984432"/>
            <a:ext cx="437903" cy="236328"/>
          </a:xfrm>
          <a:prstGeom prst="rect">
            <a:avLst/>
          </a:prstGeom>
        </p:spPr>
        <p:txBody>
          <a:bodyPr vert="horz" wrap="square" lIns="0" tIns="22650" rIns="0" bIns="0" rtlCol="0">
            <a:normAutofit/>
          </a:bodyPr>
          <a:lstStyle/>
          <a:p>
            <a:pPr marL="25168">
              <a:spcBef>
                <a:spcPts val="178"/>
              </a:spcBef>
            </a:pPr>
            <a:r>
              <a:rPr sz="1387" spc="-40" dirty="0">
                <a:latin typeface="Helvetica"/>
                <a:cs typeface="Helvetica"/>
              </a:rPr>
              <a:t>1986</a:t>
            </a:r>
            <a:endParaRPr sz="1387">
              <a:latin typeface="Helvetica"/>
              <a:cs typeface="Helvetic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649021" y="3289700"/>
            <a:ext cx="193386" cy="393863"/>
          </a:xfrm>
          <a:prstGeom prst="rect">
            <a:avLst/>
          </a:prstGeom>
        </p:spPr>
        <p:txBody>
          <a:bodyPr vert="vert270" wrap="square" lIns="0" tIns="0" rIns="0" bIns="0" rtlCol="0">
            <a:normAutofit/>
          </a:bodyPr>
          <a:lstStyle/>
          <a:p>
            <a:pPr marL="25168">
              <a:lnSpc>
                <a:spcPts val="1526"/>
              </a:lnSpc>
            </a:pPr>
            <a:r>
              <a:rPr sz="1387" spc="-40" dirty="0">
                <a:latin typeface="Helvetica"/>
                <a:cs typeface="Helvetica"/>
              </a:rPr>
              <a:t>−1.0</a:t>
            </a:r>
            <a:endParaRPr sz="1387">
              <a:latin typeface="Helvetica"/>
              <a:cs typeface="Helvetic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649021" y="1790648"/>
            <a:ext cx="193386" cy="1067080"/>
          </a:xfrm>
          <a:prstGeom prst="rect">
            <a:avLst/>
          </a:prstGeom>
        </p:spPr>
        <p:txBody>
          <a:bodyPr vert="vert270" wrap="square" lIns="0" tIns="0" rIns="0" bIns="0" rtlCol="0">
            <a:normAutofit/>
          </a:bodyPr>
          <a:lstStyle/>
          <a:p>
            <a:pPr marL="25168">
              <a:lnSpc>
                <a:spcPts val="1526"/>
              </a:lnSpc>
            </a:pPr>
            <a:r>
              <a:rPr sz="1387" dirty="0">
                <a:latin typeface="Helvetica"/>
                <a:cs typeface="Helvetica"/>
              </a:rPr>
              <a:t>0.0</a:t>
            </a:r>
            <a:r>
              <a:rPr sz="1387" spc="694" dirty="0">
                <a:latin typeface="Helvetica"/>
                <a:cs typeface="Helvetica"/>
              </a:rPr>
              <a:t> </a:t>
            </a:r>
            <a:r>
              <a:rPr sz="1387" dirty="0">
                <a:latin typeface="Helvetica"/>
                <a:cs typeface="Helvetica"/>
              </a:rPr>
              <a:t>0.5</a:t>
            </a:r>
            <a:r>
              <a:rPr sz="1387" spc="694" dirty="0">
                <a:latin typeface="Helvetica"/>
                <a:cs typeface="Helvetica"/>
              </a:rPr>
              <a:t> </a:t>
            </a:r>
            <a:r>
              <a:rPr sz="1387" spc="-50" dirty="0">
                <a:latin typeface="Helvetica"/>
                <a:cs typeface="Helvetica"/>
              </a:rPr>
              <a:t>1.0</a:t>
            </a:r>
            <a:endParaRPr sz="1387">
              <a:latin typeface="Helvetica"/>
              <a:cs typeface="Helvetic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368140" y="1285106"/>
            <a:ext cx="3791404" cy="284586"/>
          </a:xfrm>
          <a:prstGeom prst="rect">
            <a:avLst/>
          </a:prstGeom>
        </p:spPr>
        <p:txBody>
          <a:bodyPr vert="horz" wrap="square" lIns="0" tIns="25167" rIns="0" bIns="0" rtlCol="0">
            <a:normAutofit/>
          </a:bodyPr>
          <a:lstStyle/>
          <a:p>
            <a:pPr marL="25168">
              <a:spcBef>
                <a:spcPts val="198"/>
              </a:spcBef>
            </a:pPr>
            <a:r>
              <a:rPr sz="1684" b="1" spc="-20" dirty="0">
                <a:latin typeface="Helvetica"/>
                <a:cs typeface="Helvetica"/>
              </a:rPr>
              <a:t>Test</a:t>
            </a:r>
            <a:r>
              <a:rPr sz="1684" b="1" spc="-50" dirty="0">
                <a:latin typeface="Helvetica"/>
                <a:cs typeface="Helvetica"/>
              </a:rPr>
              <a:t> </a:t>
            </a:r>
            <a:r>
              <a:rPr sz="1684" b="1" dirty="0">
                <a:latin typeface="Helvetica"/>
                <a:cs typeface="Helvetica"/>
              </a:rPr>
              <a:t>Period:</a:t>
            </a:r>
            <a:r>
              <a:rPr sz="1684" b="1" spc="-50" dirty="0">
                <a:latin typeface="Helvetica"/>
                <a:cs typeface="Helvetica"/>
              </a:rPr>
              <a:t> </a:t>
            </a:r>
            <a:r>
              <a:rPr sz="1684" b="1" dirty="0">
                <a:latin typeface="Helvetica"/>
                <a:cs typeface="Helvetica"/>
              </a:rPr>
              <a:t>Observed</a:t>
            </a:r>
            <a:r>
              <a:rPr sz="1684" b="1" spc="-50" dirty="0">
                <a:latin typeface="Helvetica"/>
                <a:cs typeface="Helvetica"/>
              </a:rPr>
              <a:t> </a:t>
            </a:r>
            <a:r>
              <a:rPr sz="1684" b="1" dirty="0">
                <a:latin typeface="Helvetica"/>
                <a:cs typeface="Helvetica"/>
              </a:rPr>
              <a:t>and</a:t>
            </a:r>
            <a:r>
              <a:rPr sz="1684" b="1" spc="-40" dirty="0">
                <a:latin typeface="Helvetica"/>
                <a:cs typeface="Helvetica"/>
              </a:rPr>
              <a:t> </a:t>
            </a:r>
            <a:r>
              <a:rPr sz="1684" b="1" spc="-20" dirty="0">
                <a:latin typeface="Helvetica"/>
                <a:cs typeface="Helvetica"/>
              </a:rPr>
              <a:t>Predicted</a:t>
            </a:r>
            <a:endParaRPr sz="1684">
              <a:latin typeface="Helvetica"/>
              <a:cs typeface="Helvetic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067326" y="4401771"/>
            <a:ext cx="393863" cy="236328"/>
          </a:xfrm>
          <a:prstGeom prst="rect">
            <a:avLst/>
          </a:prstGeom>
        </p:spPr>
        <p:txBody>
          <a:bodyPr vert="horz" wrap="square" lIns="0" tIns="22650" rIns="0" bIns="0" rtlCol="0">
            <a:normAutofit/>
          </a:bodyPr>
          <a:lstStyle/>
          <a:p>
            <a:pPr marL="25168">
              <a:spcBef>
                <a:spcPts val="178"/>
              </a:spcBef>
            </a:pPr>
            <a:r>
              <a:rPr sz="1387" spc="-50" dirty="0">
                <a:latin typeface="Helvetica"/>
                <a:cs typeface="Helvetica"/>
              </a:rPr>
              <a:t>Year</a:t>
            </a:r>
            <a:endParaRPr sz="1387">
              <a:latin typeface="Helvetica"/>
              <a:cs typeface="Helvetic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231682" y="2047364"/>
            <a:ext cx="193386" cy="1589294"/>
          </a:xfrm>
          <a:prstGeom prst="rect">
            <a:avLst/>
          </a:prstGeom>
        </p:spPr>
        <p:txBody>
          <a:bodyPr vert="vert270" wrap="square" lIns="0" tIns="0" rIns="0" bIns="0" rtlCol="0">
            <a:normAutofit/>
          </a:bodyPr>
          <a:lstStyle/>
          <a:p>
            <a:pPr marL="25168">
              <a:lnSpc>
                <a:spcPts val="1526"/>
              </a:lnSpc>
            </a:pPr>
            <a:r>
              <a:rPr sz="1387" spc="-40" dirty="0">
                <a:latin typeface="Helvetica"/>
                <a:cs typeface="Helvetica"/>
              </a:rPr>
              <a:t>log(Trading</a:t>
            </a:r>
            <a:r>
              <a:rPr sz="1387" spc="10" dirty="0">
                <a:latin typeface="Helvetica"/>
                <a:cs typeface="Helvetica"/>
              </a:rPr>
              <a:t> </a:t>
            </a:r>
            <a:r>
              <a:rPr sz="1387" spc="-20" dirty="0">
                <a:latin typeface="Helvetica"/>
                <a:cs typeface="Helvetica"/>
              </a:rPr>
              <a:t>Volume)</a:t>
            </a:r>
            <a:endParaRPr sz="1387">
              <a:latin typeface="Helvetica"/>
              <a:cs typeface="Helvetic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108580" y="4562796"/>
            <a:ext cx="7917491" cy="1380422"/>
          </a:xfrm>
          <a:prstGeom prst="rect">
            <a:avLst/>
          </a:prstGeom>
        </p:spPr>
        <p:txBody>
          <a:bodyPr vert="horz" wrap="square" lIns="0" tIns="22650" rIns="0" bIns="0" rtlCol="0">
            <a:normAutofit/>
          </a:bodyPr>
          <a:lstStyle/>
          <a:p>
            <a:pPr marL="100670">
              <a:spcBef>
                <a:spcPts val="178"/>
              </a:spcBef>
            </a:pPr>
            <a:r>
              <a:rPr sz="2180" spc="-69" dirty="0">
                <a:latin typeface="Source Sans Pro"/>
                <a:cs typeface="Source Sans Pro"/>
              </a:rPr>
              <a:t>Figure</a:t>
            </a:r>
            <a:r>
              <a:rPr sz="2180" spc="-99" dirty="0">
                <a:latin typeface="Source Sans Pro"/>
                <a:cs typeface="Source Sans Pro"/>
              </a:rPr>
              <a:t> </a:t>
            </a:r>
            <a:r>
              <a:rPr sz="2180" spc="-248" dirty="0">
                <a:latin typeface="Source Sans Pro"/>
                <a:cs typeface="Source Sans Pro"/>
              </a:rPr>
              <a:t>shows</a:t>
            </a:r>
            <a:r>
              <a:rPr sz="2180" spc="30" dirty="0">
                <a:latin typeface="Source Sans Pro"/>
                <a:cs typeface="Source Sans Pro"/>
              </a:rPr>
              <a:t> </a:t>
            </a:r>
            <a:r>
              <a:rPr sz="2180" spc="-139" dirty="0">
                <a:latin typeface="Source Sans Pro"/>
                <a:cs typeface="Source Sans Pro"/>
              </a:rPr>
              <a:t>predictions</a:t>
            </a:r>
            <a:r>
              <a:rPr sz="2180" spc="-30" dirty="0">
                <a:latin typeface="Source Sans Pro"/>
                <a:cs typeface="Source Sans Pro"/>
              </a:rPr>
              <a:t> </a:t>
            </a:r>
            <a:r>
              <a:rPr sz="2180" spc="-129" dirty="0">
                <a:latin typeface="Source Sans Pro"/>
                <a:cs typeface="Source Sans Pro"/>
              </a:rPr>
              <a:t>and</a:t>
            </a:r>
            <a:r>
              <a:rPr sz="2180" spc="-40" dirty="0">
                <a:latin typeface="Source Sans Pro"/>
                <a:cs typeface="Source Sans Pro"/>
              </a:rPr>
              <a:t> truth</a:t>
            </a:r>
            <a:r>
              <a:rPr sz="2180" spc="-30" dirty="0">
                <a:latin typeface="Source Sans Pro"/>
                <a:cs typeface="Source Sans Pro"/>
              </a:rPr>
              <a:t> </a:t>
            </a:r>
            <a:r>
              <a:rPr sz="2180" spc="-129" dirty="0">
                <a:latin typeface="Source Sans Pro"/>
                <a:cs typeface="Source Sans Pro"/>
              </a:rPr>
              <a:t>for</a:t>
            </a:r>
            <a:r>
              <a:rPr sz="2180" spc="-30" dirty="0">
                <a:latin typeface="Source Sans Pro"/>
                <a:cs typeface="Source Sans Pro"/>
              </a:rPr>
              <a:t> </a:t>
            </a:r>
            <a:r>
              <a:rPr sz="2180" spc="-109" dirty="0">
                <a:latin typeface="Source Sans Pro"/>
                <a:cs typeface="Source Sans Pro"/>
              </a:rPr>
              <a:t>test</a:t>
            </a:r>
            <a:r>
              <a:rPr sz="2180" spc="-40" dirty="0">
                <a:latin typeface="Source Sans Pro"/>
                <a:cs typeface="Source Sans Pro"/>
              </a:rPr>
              <a:t> </a:t>
            </a:r>
            <a:r>
              <a:rPr sz="2180" spc="-20" dirty="0">
                <a:latin typeface="Source Sans Pro"/>
                <a:cs typeface="Source Sans Pro"/>
              </a:rPr>
              <a:t>period.</a:t>
            </a:r>
            <a:endParaRPr sz="1684" dirty="0">
              <a:latin typeface="Source Sans Pro"/>
              <a:cs typeface="Source Sans Pro"/>
            </a:endParaRPr>
          </a:p>
          <a:p>
            <a:pPr marL="100670"/>
            <a:r>
              <a:rPr sz="2180" spc="149" dirty="0">
                <a:latin typeface="Source Sans Pro"/>
                <a:cs typeface="Source Sans Pro"/>
              </a:rPr>
              <a:t>R</a:t>
            </a:r>
            <a:r>
              <a:rPr sz="2378" spc="222" baseline="27777" dirty="0">
                <a:latin typeface="Source Sans Pro"/>
                <a:cs typeface="Source Sans Pro"/>
              </a:rPr>
              <a:t>2</a:t>
            </a:r>
            <a:r>
              <a:rPr sz="2378" spc="386" baseline="27777" dirty="0">
                <a:latin typeface="Source Sans Pro"/>
                <a:cs typeface="Source Sans Pro"/>
              </a:rPr>
              <a:t> </a:t>
            </a:r>
            <a:r>
              <a:rPr sz="2180" dirty="0">
                <a:latin typeface="Source Sans Pro"/>
                <a:cs typeface="Source Sans Pro"/>
              </a:rPr>
              <a:t>=</a:t>
            </a:r>
            <a:r>
              <a:rPr sz="2180" spc="-109" dirty="0">
                <a:latin typeface="Source Sans Pro"/>
                <a:cs typeface="Source Sans Pro"/>
              </a:rPr>
              <a:t> </a:t>
            </a:r>
            <a:r>
              <a:rPr sz="2180" spc="-268" dirty="0">
                <a:latin typeface="Source Sans Pro"/>
                <a:cs typeface="Source Sans Pro"/>
              </a:rPr>
              <a:t>0.42</a:t>
            </a:r>
            <a:r>
              <a:rPr sz="2180" spc="30" dirty="0">
                <a:latin typeface="Source Sans Pro"/>
                <a:cs typeface="Source Sans Pro"/>
              </a:rPr>
              <a:t> </a:t>
            </a:r>
            <a:r>
              <a:rPr sz="2180" spc="-129" dirty="0">
                <a:latin typeface="Source Sans Pro"/>
                <a:cs typeface="Source Sans Pro"/>
              </a:rPr>
              <a:t>for</a:t>
            </a:r>
            <a:r>
              <a:rPr sz="2180" spc="10" dirty="0">
                <a:latin typeface="Source Sans Pro"/>
                <a:cs typeface="Source Sans Pro"/>
              </a:rPr>
              <a:t> </a:t>
            </a:r>
            <a:r>
              <a:rPr sz="2180" spc="-50" dirty="0">
                <a:latin typeface="Source Sans Pro"/>
                <a:cs typeface="Source Sans Pro"/>
              </a:rPr>
              <a:t>RNN</a:t>
            </a:r>
            <a:endParaRPr sz="2180" dirty="0">
              <a:latin typeface="Source Sans Pro"/>
              <a:cs typeface="Source Sans Pro"/>
            </a:endParaRPr>
          </a:p>
          <a:p>
            <a:pPr marL="100670" marR="85570">
              <a:lnSpc>
                <a:spcPct val="102600"/>
              </a:lnSpc>
            </a:pPr>
            <a:r>
              <a:rPr sz="2180" spc="149" dirty="0">
                <a:latin typeface="Source Sans Pro"/>
                <a:cs typeface="Source Sans Pro"/>
              </a:rPr>
              <a:t>R</a:t>
            </a:r>
            <a:r>
              <a:rPr sz="2378" spc="222" baseline="27777" dirty="0">
                <a:latin typeface="Source Sans Pro"/>
                <a:cs typeface="Source Sans Pro"/>
              </a:rPr>
              <a:t>2</a:t>
            </a:r>
            <a:r>
              <a:rPr sz="2378" spc="476" baseline="27777" dirty="0">
                <a:latin typeface="Source Sans Pro"/>
                <a:cs typeface="Source Sans Pro"/>
              </a:rPr>
              <a:t> </a:t>
            </a:r>
            <a:r>
              <a:rPr sz="2180" dirty="0">
                <a:latin typeface="Source Sans Pro"/>
                <a:cs typeface="Source Sans Pro"/>
              </a:rPr>
              <a:t>=</a:t>
            </a:r>
            <a:r>
              <a:rPr sz="2180" spc="-69" dirty="0">
                <a:latin typeface="Source Sans Pro"/>
                <a:cs typeface="Source Sans Pro"/>
              </a:rPr>
              <a:t> </a:t>
            </a:r>
            <a:r>
              <a:rPr sz="2180" spc="-268" dirty="0">
                <a:latin typeface="Source Sans Pro"/>
                <a:cs typeface="Source Sans Pro"/>
              </a:rPr>
              <a:t>0.18</a:t>
            </a:r>
            <a:r>
              <a:rPr sz="2180" spc="59" dirty="0">
                <a:latin typeface="Source Sans Pro"/>
                <a:cs typeface="Source Sans Pro"/>
              </a:rPr>
              <a:t> </a:t>
            </a:r>
            <a:r>
              <a:rPr sz="2180" spc="-129" dirty="0">
                <a:latin typeface="Source Sans Pro"/>
                <a:cs typeface="Source Sans Pro"/>
              </a:rPr>
              <a:t>for</a:t>
            </a:r>
            <a:r>
              <a:rPr sz="2180" spc="50" dirty="0">
                <a:latin typeface="Source Sans Pro"/>
                <a:cs typeface="Source Sans Pro"/>
              </a:rPr>
              <a:t> </a:t>
            </a:r>
            <a:r>
              <a:rPr sz="2180" i="1" spc="-347" dirty="0">
                <a:solidFill>
                  <a:srgbClr val="009900"/>
                </a:solidFill>
                <a:latin typeface="Menlo"/>
                <a:cs typeface="Menlo"/>
              </a:rPr>
              <a:t>straw</a:t>
            </a:r>
            <a:r>
              <a:rPr sz="2180" i="1" spc="-515" dirty="0">
                <a:solidFill>
                  <a:srgbClr val="009900"/>
                </a:solidFill>
                <a:latin typeface="Menlo"/>
                <a:cs typeface="Menlo"/>
              </a:rPr>
              <a:t> </a:t>
            </a:r>
            <a:r>
              <a:rPr sz="2180" i="1" dirty="0">
                <a:solidFill>
                  <a:srgbClr val="009900"/>
                </a:solidFill>
                <a:latin typeface="Menlo"/>
                <a:cs typeface="Menlo"/>
              </a:rPr>
              <a:t>man</a:t>
            </a:r>
            <a:r>
              <a:rPr sz="2180" i="1" spc="-575" dirty="0">
                <a:solidFill>
                  <a:srgbClr val="009900"/>
                </a:solidFill>
                <a:latin typeface="Menlo"/>
                <a:cs typeface="Menlo"/>
              </a:rPr>
              <a:t> </a:t>
            </a:r>
            <a:r>
              <a:rPr sz="2180" dirty="0">
                <a:latin typeface="Source Sans Pro"/>
                <a:cs typeface="Source Sans Pro"/>
              </a:rPr>
              <a:t>—</a:t>
            </a:r>
            <a:r>
              <a:rPr sz="2180" spc="59" dirty="0">
                <a:latin typeface="Source Sans Pro"/>
                <a:cs typeface="Source Sans Pro"/>
              </a:rPr>
              <a:t> </a:t>
            </a:r>
            <a:r>
              <a:rPr sz="2180" spc="-248" dirty="0">
                <a:latin typeface="Source Sans Pro"/>
                <a:cs typeface="Source Sans Pro"/>
              </a:rPr>
              <a:t>use</a:t>
            </a:r>
            <a:r>
              <a:rPr sz="2180" spc="50" dirty="0">
                <a:latin typeface="Source Sans Pro"/>
                <a:cs typeface="Source Sans Pro"/>
              </a:rPr>
              <a:t> </a:t>
            </a:r>
            <a:r>
              <a:rPr sz="2180" spc="-159" dirty="0">
                <a:latin typeface="Source Sans Pro"/>
                <a:cs typeface="Source Sans Pro"/>
              </a:rPr>
              <a:t>yesterday’s</a:t>
            </a:r>
            <a:r>
              <a:rPr sz="2180" spc="59" dirty="0">
                <a:latin typeface="Source Sans Pro"/>
                <a:cs typeface="Source Sans Pro"/>
              </a:rPr>
              <a:t> </a:t>
            </a:r>
            <a:r>
              <a:rPr sz="2180" spc="-139" dirty="0">
                <a:latin typeface="Source Sans Pro"/>
                <a:cs typeface="Source Sans Pro"/>
              </a:rPr>
              <a:t>value</a:t>
            </a:r>
            <a:r>
              <a:rPr sz="2180" spc="50" dirty="0">
                <a:latin typeface="Source Sans Pro"/>
                <a:cs typeface="Source Sans Pro"/>
              </a:rPr>
              <a:t> </a:t>
            </a:r>
            <a:r>
              <a:rPr sz="2180" spc="-208" dirty="0">
                <a:latin typeface="Source Sans Pro"/>
                <a:cs typeface="Source Sans Pro"/>
              </a:rPr>
              <a:t>of</a:t>
            </a:r>
            <a:r>
              <a:rPr sz="2180" spc="59" dirty="0">
                <a:latin typeface="Source Sans Pro"/>
                <a:cs typeface="Source Sans Pro"/>
              </a:rPr>
              <a:t> </a:t>
            </a:r>
            <a:r>
              <a:rPr sz="2180" spc="-99" dirty="0">
                <a:solidFill>
                  <a:srgbClr val="990000"/>
                </a:solidFill>
                <a:latin typeface="Courier New"/>
                <a:cs typeface="Courier New"/>
              </a:rPr>
              <a:t>Log </a:t>
            </a:r>
            <a:r>
              <a:rPr sz="2180" spc="-198" dirty="0">
                <a:solidFill>
                  <a:srgbClr val="990000"/>
                </a:solidFill>
                <a:latin typeface="Courier New"/>
                <a:cs typeface="Courier New"/>
              </a:rPr>
              <a:t>trading</a:t>
            </a:r>
            <a:r>
              <a:rPr sz="2180" spc="-178" dirty="0">
                <a:solidFill>
                  <a:srgbClr val="990000"/>
                </a:solidFill>
                <a:latin typeface="Courier New"/>
                <a:cs typeface="Courier New"/>
              </a:rPr>
              <a:t> </a:t>
            </a:r>
            <a:r>
              <a:rPr sz="2180" spc="-198" dirty="0">
                <a:solidFill>
                  <a:srgbClr val="990000"/>
                </a:solidFill>
                <a:latin typeface="Courier New"/>
                <a:cs typeface="Courier New"/>
              </a:rPr>
              <a:t>volume</a:t>
            </a:r>
            <a:r>
              <a:rPr sz="2180" spc="-595" dirty="0">
                <a:solidFill>
                  <a:srgbClr val="990000"/>
                </a:solidFill>
                <a:latin typeface="Courier New"/>
                <a:cs typeface="Courier New"/>
              </a:rPr>
              <a:t> </a:t>
            </a:r>
            <a:r>
              <a:rPr sz="2180" spc="-59" dirty="0">
                <a:latin typeface="Source Sans Pro"/>
                <a:cs typeface="Source Sans Pro"/>
              </a:rPr>
              <a:t>to</a:t>
            </a:r>
            <a:r>
              <a:rPr sz="2180" spc="-99" dirty="0">
                <a:latin typeface="Source Sans Pro"/>
                <a:cs typeface="Source Sans Pro"/>
              </a:rPr>
              <a:t> </a:t>
            </a:r>
            <a:r>
              <a:rPr sz="2180" spc="-109" dirty="0">
                <a:latin typeface="Source Sans Pro"/>
                <a:cs typeface="Source Sans Pro"/>
              </a:rPr>
              <a:t>predict</a:t>
            </a:r>
            <a:r>
              <a:rPr sz="2180" dirty="0">
                <a:latin typeface="Source Sans Pro"/>
                <a:cs typeface="Source Sans Pro"/>
              </a:rPr>
              <a:t> </a:t>
            </a:r>
            <a:r>
              <a:rPr sz="2180" spc="-20" dirty="0">
                <a:latin typeface="Source Sans Pro"/>
                <a:cs typeface="Source Sans Pro"/>
              </a:rPr>
              <a:t>that</a:t>
            </a:r>
            <a:r>
              <a:rPr sz="2180" dirty="0">
                <a:latin typeface="Source Sans Pro"/>
                <a:cs typeface="Source Sans Pro"/>
              </a:rPr>
              <a:t> </a:t>
            </a:r>
            <a:r>
              <a:rPr sz="2180" spc="-208" dirty="0">
                <a:latin typeface="Source Sans Pro"/>
                <a:cs typeface="Source Sans Pro"/>
              </a:rPr>
              <a:t>of</a:t>
            </a:r>
            <a:r>
              <a:rPr sz="2180" spc="30" dirty="0">
                <a:latin typeface="Source Sans Pro"/>
                <a:cs typeface="Source Sans Pro"/>
              </a:rPr>
              <a:t> </a:t>
            </a:r>
            <a:r>
              <a:rPr sz="2180" spc="-20" dirty="0">
                <a:latin typeface="Source Sans Pro"/>
                <a:cs typeface="Source Sans Pro"/>
              </a:rPr>
              <a:t>today.</a:t>
            </a:r>
            <a:endParaRPr sz="2180" dirty="0">
              <a:latin typeface="Source Sans Pro"/>
              <a:cs typeface="Source Sans Pro"/>
            </a:endParaRPr>
          </a:p>
        </p:txBody>
      </p:sp>
    </p:spTree>
    <p:extLst>
      <p:ext uri="{BB962C8B-B14F-4D97-AF65-F5344CB8AC3E}">
        <p14:creationId xmlns:p14="http://schemas.microsoft.com/office/powerpoint/2010/main" val="118231823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itle 36">
            <a:extLst>
              <a:ext uri="{FF2B5EF4-FFF2-40B4-BE49-F238E27FC236}">
                <a16:creationId xmlns:a16="http://schemas.microsoft.com/office/drawing/2014/main" id="{3102139C-E7CB-0A5E-94B4-DF8E7BBCCD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Autoregression</a:t>
            </a:r>
            <a:r>
              <a:rPr lang="en-US" spc="268" dirty="0"/>
              <a:t>  </a:t>
            </a:r>
            <a:r>
              <a:rPr lang="en-US" spc="-20" dirty="0"/>
              <a:t>Forecaster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0C832A1-03EF-E930-D40E-A92C26293F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12225-5612-419B-A8D5-4B8EEE4C217E}" type="slidenum">
              <a:rPr lang="en-US" smtClean="0"/>
              <a:pPr/>
              <a:t>16</a:t>
            </a:fld>
            <a:endParaRPr lang="en-US"/>
          </a:p>
        </p:txBody>
      </p:sp>
      <p:sp>
        <p:nvSpPr>
          <p:cNvPr id="3" name="object 3"/>
          <p:cNvSpPr txBox="1"/>
          <p:nvPr/>
        </p:nvSpPr>
        <p:spPr>
          <a:xfrm>
            <a:off x="2216410" y="1064863"/>
            <a:ext cx="7074436" cy="706648"/>
          </a:xfrm>
          <a:prstGeom prst="rect">
            <a:avLst/>
          </a:prstGeom>
        </p:spPr>
        <p:txBody>
          <a:bodyPr vert="horz" wrap="square" lIns="0" tIns="22650" rIns="0" bIns="0" rtlCol="0">
            <a:normAutofit/>
          </a:bodyPr>
          <a:lstStyle/>
          <a:p>
            <a:pPr marL="25168">
              <a:spcBef>
                <a:spcPts val="178"/>
              </a:spcBef>
            </a:pPr>
            <a:r>
              <a:rPr sz="2180" spc="-20" dirty="0">
                <a:latin typeface="Source Sans Pro"/>
                <a:cs typeface="Source Sans Pro"/>
              </a:rPr>
              <a:t>The</a:t>
            </a:r>
            <a:r>
              <a:rPr sz="2180" spc="-40" dirty="0">
                <a:latin typeface="Source Sans Pro"/>
                <a:cs typeface="Source Sans Pro"/>
              </a:rPr>
              <a:t> </a:t>
            </a:r>
            <a:r>
              <a:rPr sz="2180" dirty="0">
                <a:latin typeface="Source Sans Pro"/>
                <a:cs typeface="Source Sans Pro"/>
              </a:rPr>
              <a:t>RNN</a:t>
            </a:r>
            <a:r>
              <a:rPr sz="2180" spc="-20" dirty="0">
                <a:latin typeface="Source Sans Pro"/>
                <a:cs typeface="Source Sans Pro"/>
              </a:rPr>
              <a:t> </a:t>
            </a:r>
            <a:r>
              <a:rPr sz="2180" spc="-168" dirty="0">
                <a:latin typeface="Source Sans Pro"/>
                <a:cs typeface="Source Sans Pro"/>
              </a:rPr>
              <a:t>forecaster</a:t>
            </a:r>
            <a:r>
              <a:rPr sz="2180" dirty="0">
                <a:latin typeface="Source Sans Pro"/>
                <a:cs typeface="Source Sans Pro"/>
              </a:rPr>
              <a:t> </a:t>
            </a:r>
            <a:r>
              <a:rPr sz="2180" spc="-99" dirty="0">
                <a:latin typeface="Source Sans Pro"/>
                <a:cs typeface="Source Sans Pro"/>
              </a:rPr>
              <a:t>is</a:t>
            </a:r>
            <a:r>
              <a:rPr sz="2180" spc="-20" dirty="0">
                <a:latin typeface="Source Sans Pro"/>
                <a:cs typeface="Source Sans Pro"/>
              </a:rPr>
              <a:t> </a:t>
            </a:r>
            <a:r>
              <a:rPr sz="2180" spc="-99" dirty="0">
                <a:latin typeface="Source Sans Pro"/>
                <a:cs typeface="Source Sans Pro"/>
              </a:rPr>
              <a:t>similar</a:t>
            </a:r>
            <a:r>
              <a:rPr sz="2180" spc="-20" dirty="0">
                <a:latin typeface="Source Sans Pro"/>
                <a:cs typeface="Source Sans Pro"/>
              </a:rPr>
              <a:t> </a:t>
            </a:r>
            <a:r>
              <a:rPr sz="2180" dirty="0">
                <a:latin typeface="Source Sans Pro"/>
                <a:cs typeface="Source Sans Pro"/>
              </a:rPr>
              <a:t>in</a:t>
            </a:r>
            <a:r>
              <a:rPr sz="2180" spc="-20" dirty="0">
                <a:latin typeface="Source Sans Pro"/>
                <a:cs typeface="Source Sans Pro"/>
              </a:rPr>
              <a:t> </a:t>
            </a:r>
            <a:r>
              <a:rPr sz="2180" spc="-129" dirty="0">
                <a:latin typeface="Source Sans Pro"/>
                <a:cs typeface="Source Sans Pro"/>
              </a:rPr>
              <a:t>structure</a:t>
            </a:r>
            <a:r>
              <a:rPr sz="2180" spc="-20" dirty="0">
                <a:latin typeface="Source Sans Pro"/>
                <a:cs typeface="Source Sans Pro"/>
              </a:rPr>
              <a:t> </a:t>
            </a:r>
            <a:r>
              <a:rPr sz="2180" spc="-59" dirty="0">
                <a:latin typeface="Source Sans Pro"/>
                <a:cs typeface="Source Sans Pro"/>
              </a:rPr>
              <a:t>to</a:t>
            </a:r>
            <a:r>
              <a:rPr sz="2180" spc="-20" dirty="0">
                <a:latin typeface="Source Sans Pro"/>
                <a:cs typeface="Source Sans Pro"/>
              </a:rPr>
              <a:t> </a:t>
            </a:r>
            <a:r>
              <a:rPr sz="2180" dirty="0">
                <a:latin typeface="Source Sans Pro"/>
                <a:cs typeface="Source Sans Pro"/>
              </a:rPr>
              <a:t>a</a:t>
            </a:r>
            <a:r>
              <a:rPr sz="2180" spc="-20" dirty="0">
                <a:latin typeface="Source Sans Pro"/>
                <a:cs typeface="Source Sans Pro"/>
              </a:rPr>
              <a:t> </a:t>
            </a:r>
            <a:r>
              <a:rPr sz="2180" spc="-59" dirty="0">
                <a:latin typeface="Source Sans Pro"/>
                <a:cs typeface="Source Sans Pro"/>
              </a:rPr>
              <a:t>traditional</a:t>
            </a:r>
            <a:endParaRPr sz="2180">
              <a:latin typeface="Source Sans Pro"/>
              <a:cs typeface="Source Sans Pro"/>
            </a:endParaRPr>
          </a:p>
          <a:p>
            <a:pPr marL="25168">
              <a:spcBef>
                <a:spcPts val="69"/>
              </a:spcBef>
            </a:pPr>
            <a:r>
              <a:rPr sz="2180" i="1" spc="-386" dirty="0">
                <a:solidFill>
                  <a:srgbClr val="009900"/>
                </a:solidFill>
                <a:latin typeface="Menlo"/>
                <a:cs typeface="Menlo"/>
              </a:rPr>
              <a:t>autoregression</a:t>
            </a:r>
            <a:r>
              <a:rPr sz="2180" i="1" spc="-347" dirty="0">
                <a:solidFill>
                  <a:srgbClr val="009900"/>
                </a:solidFill>
                <a:latin typeface="Menlo"/>
                <a:cs typeface="Menlo"/>
              </a:rPr>
              <a:t> </a:t>
            </a:r>
            <a:r>
              <a:rPr sz="2180" spc="-20" dirty="0">
                <a:latin typeface="Source Sans Pro"/>
                <a:cs typeface="Source Sans Pro"/>
              </a:rPr>
              <a:t>procedure.</a:t>
            </a:r>
            <a:endParaRPr sz="2180">
              <a:latin typeface="Source Sans Pro"/>
              <a:cs typeface="Source Sans Pro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8867111" y="5967188"/>
            <a:ext cx="86826" cy="0"/>
          </a:xfrm>
          <a:custGeom>
            <a:avLst/>
            <a:gdLst/>
            <a:ahLst/>
            <a:cxnLst/>
            <a:rect l="l" t="t" r="r" b="b"/>
            <a:pathLst>
              <a:path w="43814">
                <a:moveTo>
                  <a:pt x="0" y="0"/>
                </a:moveTo>
                <a:lnTo>
                  <a:pt x="43637" y="0"/>
                </a:lnTo>
              </a:path>
            </a:pathLst>
          </a:custGeom>
          <a:ln w="5054">
            <a:solidFill>
              <a:srgbClr val="990000"/>
            </a:solidFill>
          </a:ln>
        </p:spPr>
        <p:txBody>
          <a:bodyPr wrap="square" lIns="0" tIns="0" rIns="0" bIns="0" rtlCol="0"/>
          <a:lstStyle/>
          <a:p>
            <a:endParaRPr sz="3567"/>
          </a:p>
        </p:txBody>
      </p:sp>
      <p:sp>
        <p:nvSpPr>
          <p:cNvPr id="34" name="object 34"/>
          <p:cNvSpPr/>
          <p:nvPr/>
        </p:nvSpPr>
        <p:spPr>
          <a:xfrm>
            <a:off x="3225127" y="6308177"/>
            <a:ext cx="86826" cy="0"/>
          </a:xfrm>
          <a:custGeom>
            <a:avLst/>
            <a:gdLst/>
            <a:ahLst/>
            <a:cxnLst/>
            <a:rect l="l" t="t" r="r" b="b"/>
            <a:pathLst>
              <a:path w="43815">
                <a:moveTo>
                  <a:pt x="0" y="0"/>
                </a:moveTo>
                <a:lnTo>
                  <a:pt x="43637" y="0"/>
                </a:lnTo>
              </a:path>
            </a:pathLst>
          </a:custGeom>
          <a:ln w="5054">
            <a:solidFill>
              <a:srgbClr val="990000"/>
            </a:solidFill>
          </a:ln>
        </p:spPr>
        <p:txBody>
          <a:bodyPr wrap="square" lIns="0" tIns="0" rIns="0" bIns="0" rtlCol="0"/>
          <a:lstStyle/>
          <a:p>
            <a:endParaRPr sz="3567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5" name="object 35"/>
              <p:cNvSpPr txBox="1"/>
              <p:nvPr/>
            </p:nvSpPr>
            <p:spPr>
              <a:xfrm>
                <a:off x="2017644" y="3769108"/>
                <a:ext cx="8726557" cy="2260920"/>
              </a:xfrm>
              <a:prstGeom prst="rect">
                <a:avLst/>
              </a:prstGeom>
            </p:spPr>
            <p:txBody>
              <a:bodyPr vert="horz" wrap="square" lIns="0" tIns="22650" rIns="0" bIns="0" rtlCol="0">
                <a:normAutofit/>
              </a:bodyPr>
              <a:lstStyle/>
              <a:p>
                <a:pPr marL="50800">
                  <a:spcBef>
                    <a:spcPts val="90"/>
                  </a:spcBef>
                </a:pPr>
                <a:r>
                  <a:rPr lang="en-US" sz="2180" dirty="0">
                    <a:latin typeface="Source Sans Pro"/>
                    <a:cs typeface="Source Sans Pro"/>
                  </a:rPr>
                  <a:t>Fit</a:t>
                </a:r>
                <a:r>
                  <a:rPr lang="en-US" sz="2180" spc="109" dirty="0">
                    <a:latin typeface="Source Sans Pro"/>
                    <a:cs typeface="Source Sans Pro"/>
                  </a:rPr>
                  <a:t> </a:t>
                </a:r>
                <a:r>
                  <a:rPr lang="en-US" sz="2180" spc="-79" dirty="0">
                    <a:latin typeface="Source Sans Pro"/>
                    <a:cs typeface="Source Sans Pro"/>
                  </a:rPr>
                  <a:t>an</a:t>
                </a:r>
                <a:r>
                  <a:rPr lang="en-US" sz="2180" spc="119" dirty="0">
                    <a:latin typeface="Source Sans Pro"/>
                    <a:cs typeface="Source Sans Pro"/>
                  </a:rPr>
                  <a:t> </a:t>
                </a:r>
                <a:r>
                  <a:rPr lang="en-US" sz="2180" dirty="0">
                    <a:latin typeface="Source Sans Pro"/>
                    <a:cs typeface="Source Sans Pro"/>
                  </a:rPr>
                  <a:t>OLS</a:t>
                </a:r>
                <a:r>
                  <a:rPr lang="en-US" sz="2180" spc="109" dirty="0">
                    <a:latin typeface="Source Sans Pro"/>
                    <a:cs typeface="Source Sans Pro"/>
                  </a:rPr>
                  <a:t> </a:t>
                </a:r>
                <a:r>
                  <a:rPr lang="en-US" sz="2180" spc="-208" dirty="0">
                    <a:latin typeface="Source Sans Pro"/>
                    <a:cs typeface="Source Sans Pro"/>
                  </a:rPr>
                  <a:t>regression</a:t>
                </a:r>
                <a:r>
                  <a:rPr lang="en-US" sz="2180" spc="119" dirty="0">
                    <a:latin typeface="Source Sans Pro"/>
                    <a:cs typeface="Source Sans Pro"/>
                  </a:rPr>
                  <a:t> </a:t>
                </a:r>
                <a:r>
                  <a:rPr lang="en-US" sz="2180" spc="-208" dirty="0">
                    <a:latin typeface="Source Sans Pro"/>
                    <a:cs typeface="Source Sans Pro"/>
                  </a:rPr>
                  <a:t>of</a:t>
                </a:r>
                <a:r>
                  <a:rPr lang="en-US" sz="2180" spc="109" dirty="0">
                    <a:latin typeface="Source Sans Pro"/>
                    <a:cs typeface="Source Sans Pro"/>
                  </a:rPr>
                  <a:t> </a:t>
                </a:r>
                <a:r>
                  <a:rPr lang="en-US" sz="2180" b="1" spc="218" dirty="0">
                    <a:latin typeface="Source Sans Pro"/>
                    <a:cs typeface="Source Sans Pro"/>
                  </a:rPr>
                  <a:t>y</a:t>
                </a:r>
                <a:r>
                  <a:rPr lang="en-US" sz="2180" b="1" spc="297" dirty="0">
                    <a:latin typeface="Source Sans Pro"/>
                    <a:cs typeface="Source Sans Pro"/>
                  </a:rPr>
                  <a:t> </a:t>
                </a:r>
                <a:r>
                  <a:rPr lang="en-US" sz="2180" spc="-218" dirty="0">
                    <a:latin typeface="Source Sans Pro"/>
                    <a:cs typeface="Source Sans Pro"/>
                  </a:rPr>
                  <a:t>on</a:t>
                </a:r>
                <a:r>
                  <a:rPr lang="en-US" sz="2180" spc="119" dirty="0">
                    <a:latin typeface="Source Sans Pro"/>
                    <a:cs typeface="Source Sans Pro"/>
                  </a:rPr>
                  <a:t> </a:t>
                </a:r>
                <a:r>
                  <a:rPr lang="en-US" sz="2180" b="1" dirty="0">
                    <a:latin typeface="Source Sans Pro"/>
                    <a:cs typeface="Source Sans Pro"/>
                  </a:rPr>
                  <a:t>M</a:t>
                </a:r>
                <a:r>
                  <a:rPr lang="en-US" sz="2180" dirty="0">
                    <a:latin typeface="Source Sans Pro"/>
                    <a:cs typeface="Source Sans Pro"/>
                  </a:rPr>
                  <a:t>,</a:t>
                </a:r>
                <a:r>
                  <a:rPr lang="en-US" sz="2180" spc="109" dirty="0">
                    <a:latin typeface="Source Sans Pro"/>
                    <a:cs typeface="Source Sans Pro"/>
                  </a:rPr>
                  <a:t> </a:t>
                </a:r>
                <a:r>
                  <a:rPr lang="en-US" sz="2180" spc="-20" dirty="0">
                    <a:latin typeface="Source Sans Pro"/>
                    <a:cs typeface="Source Sans Pro"/>
                  </a:rPr>
                  <a:t>giving </a:t>
                </a:r>
                <a:endParaRPr lang="en-US" sz="2400" dirty="0">
                  <a:latin typeface="Source Sans Pro"/>
                  <a:cs typeface="Source Sans Pro"/>
                </a:endParaRPr>
              </a:p>
              <a:p>
                <a:pPr marL="50800" marR="645160" indent="685800">
                  <a:lnSpc>
                    <a:spcPct val="1857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 spc="-459">
                            <a:latin typeface="Cambria Math" panose="02040503050406030204" pitchFamily="18" charset="0"/>
                            <a:cs typeface="Georgia"/>
                          </a:rPr>
                        </m:ctrlPr>
                      </m:sSubPr>
                      <m:e>
                        <m:r>
                          <a:rPr lang="en-US" sz="2800" i="1" spc="-459">
                            <a:latin typeface="Cambria Math" panose="02040503050406030204" pitchFamily="18" charset="0"/>
                            <a:cs typeface="Georgia"/>
                          </a:rPr>
                          <m:t>𝑣</m:t>
                        </m:r>
                      </m:e>
                      <m:sub>
                        <m:r>
                          <a:rPr lang="en-US" sz="2800" i="1" spc="-459">
                            <a:latin typeface="Cambria Math" panose="02040503050406030204" pitchFamily="18" charset="0"/>
                            <a:cs typeface="Georgia"/>
                          </a:rPr>
                          <m:t>𝑡</m:t>
                        </m:r>
                      </m:sub>
                    </m:sSub>
                    <m:r>
                      <a:rPr lang="en-US" sz="2800" i="1" spc="-459">
                        <a:latin typeface="Cambria Math" panose="02040503050406030204" pitchFamily="18" charset="0"/>
                        <a:cs typeface="Georgia"/>
                      </a:rPr>
                      <m:t>=</m:t>
                    </m:r>
                    <m:sSub>
                      <m:sSubPr>
                        <m:ctrlPr>
                          <a:rPr lang="en-US" sz="2800" i="1" spc="-459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2800" i="1" spc="-459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800" i="1" spc="-459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US" sz="2800" i="1" spc="-459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2800" spc="215" dirty="0">
                    <a:latin typeface="Source Sans Pro"/>
                    <a:cs typeface="Source Sans Pro"/>
                  </a:rPr>
                  <a:t>+</a:t>
                </a:r>
                <a:r>
                  <a:rPr lang="en-US" sz="2800" spc="-459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 spc="-459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2800" i="1" spc="-459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800" i="1" spc="-459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US" sz="2800" i="1" spc="-459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sz="2800" i="1" spc="-459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 spc="-459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sz="2800" i="1" spc="-459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2800" i="1" spc="-459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n-US" sz="2800" i="1" spc="-459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800" i="1" spc="-459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2800" i="1" spc="-459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800" i="1" spc="-459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US" sz="2800" i="1" spc="-459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US" sz="2800" i="1" spc="-459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 spc="-459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sz="2800" i="1" spc="-459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2800" i="1" spc="-459">
                            <a:latin typeface="Cambria Math" panose="02040503050406030204" pitchFamily="18" charset="0"/>
                          </a:rPr>
                          <m:t>−2</m:t>
                        </m:r>
                      </m:sub>
                    </m:sSub>
                    <m:r>
                      <a:rPr lang="en-US" sz="2800" i="1" spc="-459">
                        <a:latin typeface="Cambria Math" panose="02040503050406030204" pitchFamily="18" charset="0"/>
                      </a:rPr>
                      <m:t>+…+ </m:t>
                    </m:r>
                    <m:sSub>
                      <m:sSubPr>
                        <m:ctrlPr>
                          <a:rPr lang="en-US" sz="2800" i="1" spc="-459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2800" i="1" spc="-459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800" i="1" spc="-459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US" sz="2800" i="1" spc="-459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sSub>
                      <m:sSubPr>
                        <m:ctrlPr>
                          <a:rPr lang="en-US" sz="2800" i="1" spc="-459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 spc="-459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sz="2800" i="1" spc="-459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2800" i="1" spc="-459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800" i="1" spc="-459">
                            <a:latin typeface="Cambria Math" panose="02040503050406030204" pitchFamily="18" charset="0"/>
                          </a:rPr>
                          <m:t>𝐿</m:t>
                        </m:r>
                      </m:sub>
                    </m:sSub>
                  </m:oMath>
                </a14:m>
                <a:endParaRPr lang="en-US" sz="2400" dirty="0">
                  <a:latin typeface="Source Sans Pro"/>
                  <a:cs typeface="Source Sans Pro"/>
                </a:endParaRPr>
              </a:p>
              <a:p>
                <a:pPr marL="100670">
                  <a:spcBef>
                    <a:spcPts val="178"/>
                  </a:spcBef>
                </a:pPr>
                <a:r>
                  <a:rPr lang="en-US" sz="2180" spc="-99" dirty="0">
                    <a:latin typeface="Source Sans Pro"/>
                    <a:cs typeface="Source Sans Pro"/>
                  </a:rPr>
                  <a:t>Known</a:t>
                </a:r>
                <a:r>
                  <a:rPr lang="en-US" sz="2180" spc="50" dirty="0">
                    <a:latin typeface="Source Sans Pro"/>
                    <a:cs typeface="Source Sans Pro"/>
                  </a:rPr>
                  <a:t> </a:t>
                </a:r>
                <a:r>
                  <a:rPr lang="en-US" sz="2180" spc="-198" dirty="0">
                    <a:latin typeface="Source Sans Pro"/>
                    <a:cs typeface="Source Sans Pro"/>
                  </a:rPr>
                  <a:t>as</a:t>
                </a:r>
                <a:r>
                  <a:rPr lang="en-US" sz="2180" spc="50" dirty="0">
                    <a:latin typeface="Source Sans Pro"/>
                    <a:cs typeface="Source Sans Pro"/>
                  </a:rPr>
                  <a:t> </a:t>
                </a:r>
                <a:r>
                  <a:rPr lang="en-US" sz="2180" spc="-79" dirty="0">
                    <a:latin typeface="Source Sans Pro"/>
                    <a:cs typeface="Source Sans Pro"/>
                  </a:rPr>
                  <a:t>an</a:t>
                </a:r>
                <a:r>
                  <a:rPr lang="en-US" sz="2180" spc="50" dirty="0">
                    <a:latin typeface="Source Sans Pro"/>
                    <a:cs typeface="Source Sans Pro"/>
                  </a:rPr>
                  <a:t> </a:t>
                </a:r>
                <a:r>
                  <a:rPr lang="en-US" sz="2180" i="1" spc="-386" dirty="0">
                    <a:solidFill>
                      <a:srgbClr val="009900"/>
                    </a:solidFill>
                    <a:latin typeface="Menlo"/>
                    <a:cs typeface="Menlo"/>
                  </a:rPr>
                  <a:t>order-</a:t>
                </a:r>
                <a:r>
                  <a:rPr lang="en-US" sz="2180" spc="297" dirty="0">
                    <a:solidFill>
                      <a:srgbClr val="009900"/>
                    </a:solidFill>
                    <a:latin typeface="Source Sans Pro"/>
                    <a:cs typeface="Source Sans Pro"/>
                  </a:rPr>
                  <a:t>L</a:t>
                </a:r>
                <a:r>
                  <a:rPr lang="en-US" sz="2180" spc="99" dirty="0">
                    <a:solidFill>
                      <a:srgbClr val="009900"/>
                    </a:solidFill>
                    <a:latin typeface="Source Sans Pro"/>
                    <a:cs typeface="Source Sans Pro"/>
                  </a:rPr>
                  <a:t> </a:t>
                </a:r>
                <a:r>
                  <a:rPr lang="en-US" sz="2180" i="1" spc="-386" dirty="0">
                    <a:solidFill>
                      <a:srgbClr val="009900"/>
                    </a:solidFill>
                    <a:latin typeface="Menlo"/>
                    <a:cs typeface="Menlo"/>
                  </a:rPr>
                  <a:t>autoregression</a:t>
                </a:r>
                <a:r>
                  <a:rPr lang="en-US" sz="2180" i="1" spc="-575" dirty="0">
                    <a:solidFill>
                      <a:srgbClr val="009900"/>
                    </a:solidFill>
                    <a:latin typeface="Menlo"/>
                    <a:cs typeface="Menlo"/>
                  </a:rPr>
                  <a:t> </a:t>
                </a:r>
                <a:r>
                  <a:rPr lang="en-US" sz="2180" spc="-188" dirty="0">
                    <a:latin typeface="Source Sans Pro"/>
                    <a:cs typeface="Source Sans Pro"/>
                  </a:rPr>
                  <a:t>model</a:t>
                </a:r>
                <a:r>
                  <a:rPr lang="en-US" sz="2180" spc="50" dirty="0">
                    <a:latin typeface="Source Sans Pro"/>
                    <a:cs typeface="Source Sans Pro"/>
                  </a:rPr>
                  <a:t> </a:t>
                </a:r>
                <a:r>
                  <a:rPr lang="en-US" sz="2180" spc="-119" dirty="0">
                    <a:latin typeface="Source Sans Pro"/>
                    <a:cs typeface="Source Sans Pro"/>
                  </a:rPr>
                  <a:t>or</a:t>
                </a:r>
                <a:r>
                  <a:rPr lang="en-US" sz="2180" spc="50" dirty="0">
                    <a:latin typeface="Source Sans Pro"/>
                    <a:cs typeface="Source Sans Pro"/>
                  </a:rPr>
                  <a:t> </a:t>
                </a:r>
                <a:r>
                  <a:rPr lang="en-US" sz="2180" spc="109" dirty="0">
                    <a:latin typeface="Source Sans Pro"/>
                    <a:cs typeface="Source Sans Pro"/>
                  </a:rPr>
                  <a:t>AR(L).</a:t>
                </a:r>
                <a:endParaRPr lang="en-US" sz="2180" dirty="0">
                  <a:latin typeface="Source Sans Pro"/>
                  <a:cs typeface="Source Sans Pro"/>
                </a:endParaRPr>
              </a:p>
              <a:p>
                <a:pPr marL="100670">
                  <a:spcBef>
                    <a:spcPts val="69"/>
                  </a:spcBef>
                </a:pPr>
                <a:r>
                  <a:rPr lang="en-US" sz="2180" spc="-40" dirty="0">
                    <a:latin typeface="Source Sans Pro"/>
                    <a:cs typeface="Source Sans Pro"/>
                  </a:rPr>
                  <a:t>For</a:t>
                </a:r>
                <a:r>
                  <a:rPr lang="en-US" sz="2180" spc="30" dirty="0">
                    <a:latin typeface="Source Sans Pro"/>
                    <a:cs typeface="Source Sans Pro"/>
                  </a:rPr>
                  <a:t> </a:t>
                </a:r>
                <a:r>
                  <a:rPr lang="en-US" sz="2180" spc="-119" dirty="0">
                    <a:latin typeface="Source Sans Pro"/>
                    <a:cs typeface="Source Sans Pro"/>
                  </a:rPr>
                  <a:t>the</a:t>
                </a:r>
                <a:r>
                  <a:rPr lang="en-US" sz="2180" spc="30" dirty="0">
                    <a:latin typeface="Source Sans Pro"/>
                    <a:cs typeface="Source Sans Pro"/>
                  </a:rPr>
                  <a:t> </a:t>
                </a:r>
                <a:r>
                  <a:rPr lang="en-US" sz="2180" spc="-198" dirty="0">
                    <a:solidFill>
                      <a:srgbClr val="990000"/>
                    </a:solidFill>
                    <a:latin typeface="Courier New"/>
                    <a:cs typeface="Courier New"/>
                  </a:rPr>
                  <a:t>NYSE</a:t>
                </a:r>
                <a:r>
                  <a:rPr lang="en-US" sz="2180" spc="-585" dirty="0">
                    <a:solidFill>
                      <a:srgbClr val="990000"/>
                    </a:solidFill>
                    <a:latin typeface="Courier New"/>
                    <a:cs typeface="Courier New"/>
                  </a:rPr>
                  <a:t> </a:t>
                </a:r>
                <a:r>
                  <a:rPr lang="en-US" sz="2180" spc="-89" dirty="0">
                    <a:latin typeface="Source Sans Pro"/>
                    <a:cs typeface="Source Sans Pro"/>
                  </a:rPr>
                  <a:t>data</a:t>
                </a:r>
                <a:r>
                  <a:rPr lang="en-US" sz="2180" spc="30" dirty="0">
                    <a:latin typeface="Source Sans Pro"/>
                    <a:cs typeface="Source Sans Pro"/>
                  </a:rPr>
                  <a:t> </a:t>
                </a:r>
                <a:r>
                  <a:rPr lang="en-US" sz="2180" spc="-248" dirty="0">
                    <a:latin typeface="Source Sans Pro"/>
                    <a:cs typeface="Source Sans Pro"/>
                  </a:rPr>
                  <a:t>we</a:t>
                </a:r>
                <a:r>
                  <a:rPr lang="en-US" sz="2180" spc="40" dirty="0">
                    <a:latin typeface="Source Sans Pro"/>
                    <a:cs typeface="Source Sans Pro"/>
                  </a:rPr>
                  <a:t> </a:t>
                </a:r>
                <a:r>
                  <a:rPr lang="en-US" sz="2180" spc="-139" dirty="0">
                    <a:latin typeface="Source Sans Pro"/>
                    <a:cs typeface="Source Sans Pro"/>
                  </a:rPr>
                  <a:t>can</a:t>
                </a:r>
                <a:r>
                  <a:rPr lang="en-US" sz="2180" spc="30" dirty="0">
                    <a:latin typeface="Source Sans Pro"/>
                    <a:cs typeface="Source Sans Pro"/>
                  </a:rPr>
                  <a:t> </a:t>
                </a:r>
                <a:r>
                  <a:rPr lang="en-US" sz="2180" spc="-149" dirty="0">
                    <a:latin typeface="Source Sans Pro"/>
                    <a:cs typeface="Source Sans Pro"/>
                  </a:rPr>
                  <a:t>include</a:t>
                </a:r>
                <a:r>
                  <a:rPr lang="en-US" sz="2180" spc="30" dirty="0">
                    <a:latin typeface="Source Sans Pro"/>
                    <a:cs typeface="Source Sans Pro"/>
                  </a:rPr>
                  <a:t> </a:t>
                </a:r>
                <a:r>
                  <a:rPr lang="en-US" sz="2180" spc="-208" dirty="0">
                    <a:latin typeface="Source Sans Pro"/>
                    <a:cs typeface="Source Sans Pro"/>
                  </a:rPr>
                  <a:t>lagged</a:t>
                </a:r>
                <a:r>
                  <a:rPr lang="en-US" sz="2180" spc="40" dirty="0">
                    <a:latin typeface="Source Sans Pro"/>
                    <a:cs typeface="Source Sans Pro"/>
                  </a:rPr>
                  <a:t> </a:t>
                </a:r>
                <a:r>
                  <a:rPr lang="en-US" sz="2180" spc="-178" dirty="0">
                    <a:latin typeface="Source Sans Pro"/>
                    <a:cs typeface="Source Sans Pro"/>
                  </a:rPr>
                  <a:t>versions</a:t>
                </a:r>
                <a:r>
                  <a:rPr lang="en-US" sz="2180" spc="30" dirty="0">
                    <a:latin typeface="Source Sans Pro"/>
                    <a:cs typeface="Source Sans Pro"/>
                  </a:rPr>
                  <a:t> </a:t>
                </a:r>
                <a:r>
                  <a:rPr lang="en-US" sz="2180" spc="-208" dirty="0">
                    <a:latin typeface="Source Sans Pro"/>
                    <a:cs typeface="Source Sans Pro"/>
                  </a:rPr>
                  <a:t>of</a:t>
                </a:r>
                <a:r>
                  <a:rPr lang="en-US" sz="2180" spc="30" dirty="0">
                    <a:latin typeface="Source Sans Pro"/>
                    <a:cs typeface="Source Sans Pro"/>
                  </a:rPr>
                  <a:t> </a:t>
                </a:r>
                <a:r>
                  <a:rPr lang="en-US" sz="2180" spc="-198" dirty="0">
                    <a:solidFill>
                      <a:srgbClr val="990000"/>
                    </a:solidFill>
                    <a:latin typeface="Courier New"/>
                    <a:cs typeface="Courier New"/>
                  </a:rPr>
                  <a:t>DJ</a:t>
                </a:r>
                <a:r>
                  <a:rPr lang="en-US" sz="2180" spc="-486" dirty="0">
                    <a:solidFill>
                      <a:srgbClr val="990000"/>
                    </a:solidFill>
                    <a:latin typeface="Courier New"/>
                    <a:cs typeface="Courier New"/>
                  </a:rPr>
                  <a:t> </a:t>
                </a:r>
                <a:r>
                  <a:rPr lang="en-US" sz="2180" spc="-20" dirty="0">
                    <a:solidFill>
                      <a:srgbClr val="990000"/>
                    </a:solidFill>
                    <a:latin typeface="Courier New"/>
                    <a:cs typeface="Courier New"/>
                  </a:rPr>
                  <a:t>return</a:t>
                </a:r>
                <a:endParaRPr lang="en-US" sz="2180" dirty="0">
                  <a:latin typeface="Courier New"/>
                  <a:cs typeface="Courier New"/>
                </a:endParaRPr>
              </a:p>
              <a:p>
                <a:pPr marL="100670">
                  <a:spcBef>
                    <a:spcPts val="69"/>
                  </a:spcBef>
                </a:pPr>
                <a:r>
                  <a:rPr lang="en-US" sz="2180" spc="-129" dirty="0">
                    <a:latin typeface="Source Sans Pro"/>
                    <a:cs typeface="Source Sans Pro"/>
                  </a:rPr>
                  <a:t>and</a:t>
                </a:r>
                <a:r>
                  <a:rPr lang="en-US" sz="2180" spc="-50" dirty="0">
                    <a:latin typeface="Source Sans Pro"/>
                    <a:cs typeface="Source Sans Pro"/>
                  </a:rPr>
                  <a:t> </a:t>
                </a:r>
                <a:r>
                  <a:rPr lang="en-US" sz="2180" spc="-198" dirty="0">
                    <a:solidFill>
                      <a:srgbClr val="990000"/>
                    </a:solidFill>
                    <a:latin typeface="Courier New"/>
                    <a:cs typeface="Courier New"/>
                  </a:rPr>
                  <a:t>log</a:t>
                </a:r>
                <a:r>
                  <a:rPr lang="en-US" sz="2180" spc="-495" dirty="0">
                    <a:solidFill>
                      <a:srgbClr val="990000"/>
                    </a:solidFill>
                    <a:latin typeface="Courier New"/>
                    <a:cs typeface="Courier New"/>
                  </a:rPr>
                  <a:t> </a:t>
                </a:r>
                <a:r>
                  <a:rPr lang="en-US" sz="2180" spc="-198" dirty="0">
                    <a:solidFill>
                      <a:srgbClr val="990000"/>
                    </a:solidFill>
                    <a:latin typeface="Courier New"/>
                    <a:cs typeface="Courier New"/>
                  </a:rPr>
                  <a:t>volatility</a:t>
                </a:r>
                <a:r>
                  <a:rPr lang="en-US" sz="2180" spc="-595" dirty="0">
                    <a:solidFill>
                      <a:srgbClr val="990000"/>
                    </a:solidFill>
                    <a:latin typeface="Courier New"/>
                    <a:cs typeface="Courier New"/>
                  </a:rPr>
                  <a:t> </a:t>
                </a:r>
                <a:r>
                  <a:rPr lang="en-US" sz="2180" dirty="0">
                    <a:latin typeface="Source Sans Pro"/>
                    <a:cs typeface="Source Sans Pro"/>
                  </a:rPr>
                  <a:t>in</a:t>
                </a:r>
                <a:r>
                  <a:rPr lang="en-US" sz="2180" spc="-20" dirty="0">
                    <a:latin typeface="Source Sans Pro"/>
                    <a:cs typeface="Source Sans Pro"/>
                  </a:rPr>
                  <a:t> </a:t>
                </a:r>
                <a:r>
                  <a:rPr lang="en-US" sz="2180" spc="-89" dirty="0">
                    <a:latin typeface="Source Sans Pro"/>
                    <a:cs typeface="Source Sans Pro"/>
                  </a:rPr>
                  <a:t>matrix</a:t>
                </a:r>
                <a:r>
                  <a:rPr lang="en-US" sz="2180" spc="10" dirty="0">
                    <a:latin typeface="Source Sans Pro"/>
                    <a:cs typeface="Source Sans Pro"/>
                  </a:rPr>
                  <a:t> </a:t>
                </a:r>
                <a:r>
                  <a:rPr lang="en-US" sz="2180" b="1" dirty="0">
                    <a:latin typeface="Source Sans Pro"/>
                    <a:cs typeface="Source Sans Pro"/>
                  </a:rPr>
                  <a:t>M</a:t>
                </a:r>
                <a:r>
                  <a:rPr lang="en-US" sz="2180" dirty="0">
                    <a:latin typeface="Source Sans Pro"/>
                    <a:cs typeface="Source Sans Pro"/>
                  </a:rPr>
                  <a:t>,</a:t>
                </a:r>
                <a:r>
                  <a:rPr lang="en-US" sz="2180" spc="10" dirty="0">
                    <a:latin typeface="Source Sans Pro"/>
                    <a:cs typeface="Source Sans Pro"/>
                  </a:rPr>
                  <a:t> </a:t>
                </a:r>
                <a:r>
                  <a:rPr lang="en-US" sz="2180" spc="-129" dirty="0">
                    <a:latin typeface="Source Sans Pro"/>
                    <a:cs typeface="Source Sans Pro"/>
                  </a:rPr>
                  <a:t>resulting</a:t>
                </a:r>
                <a:r>
                  <a:rPr lang="en-US" sz="2180" spc="10" dirty="0">
                    <a:latin typeface="Source Sans Pro"/>
                    <a:cs typeface="Source Sans Pro"/>
                  </a:rPr>
                  <a:t> </a:t>
                </a:r>
                <a:r>
                  <a:rPr lang="en-US" sz="2180" dirty="0">
                    <a:latin typeface="Source Sans Pro"/>
                    <a:cs typeface="Source Sans Pro"/>
                  </a:rPr>
                  <a:t>in</a:t>
                </a:r>
                <a:r>
                  <a:rPr lang="en-US" sz="2180" spc="10" dirty="0">
                    <a:latin typeface="Source Sans Pro"/>
                    <a:cs typeface="Source Sans Pro"/>
                  </a:rPr>
                  <a:t> </a:t>
                </a:r>
                <a:r>
                  <a:rPr lang="en-US" sz="2180" spc="-20" dirty="0">
                    <a:latin typeface="Source Sans Pro"/>
                    <a:cs typeface="Source Sans Pro"/>
                  </a:rPr>
                  <a:t>3L</a:t>
                </a:r>
                <a:r>
                  <a:rPr lang="en-US" sz="2180" spc="-208" dirty="0">
                    <a:latin typeface="Source Sans Pro"/>
                    <a:cs typeface="Source Sans Pro"/>
                  </a:rPr>
                  <a:t> </a:t>
                </a:r>
                <a:r>
                  <a:rPr lang="en-US" sz="2180" spc="-69" dirty="0">
                    <a:latin typeface="Source Sans Pro"/>
                    <a:cs typeface="Source Sans Pro"/>
                  </a:rPr>
                  <a:t>+</a:t>
                </a:r>
                <a:r>
                  <a:rPr lang="en-US" sz="2180" spc="-208" dirty="0">
                    <a:latin typeface="Source Sans Pro"/>
                    <a:cs typeface="Source Sans Pro"/>
                  </a:rPr>
                  <a:t> </a:t>
                </a:r>
                <a:r>
                  <a:rPr lang="en-US" sz="2180" spc="-317" dirty="0">
                    <a:latin typeface="Source Sans Pro"/>
                    <a:cs typeface="Source Sans Pro"/>
                  </a:rPr>
                  <a:t>1</a:t>
                </a:r>
                <a:r>
                  <a:rPr lang="en-US" sz="2180" spc="30" dirty="0">
                    <a:latin typeface="Source Sans Pro"/>
                    <a:cs typeface="Source Sans Pro"/>
                  </a:rPr>
                  <a:t> </a:t>
                </a:r>
                <a:r>
                  <a:rPr lang="en-US" sz="2180" spc="-50" dirty="0">
                    <a:latin typeface="Source Sans Pro"/>
                    <a:cs typeface="Source Sans Pro"/>
                  </a:rPr>
                  <a:t>columns.</a:t>
                </a:r>
                <a:endParaRPr lang="en-US" sz="2180" dirty="0">
                  <a:latin typeface="Source Sans Pro"/>
                  <a:cs typeface="Source Sans Pro"/>
                </a:endParaRPr>
              </a:p>
            </p:txBody>
          </p:sp>
        </mc:Choice>
        <mc:Fallback>
          <p:sp>
            <p:nvSpPr>
              <p:cNvPr id="35" name="object 3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17644" y="3769108"/>
                <a:ext cx="8726557" cy="2260920"/>
              </a:xfrm>
              <a:prstGeom prst="rect">
                <a:avLst/>
              </a:prstGeom>
              <a:blipFill>
                <a:blip r:embed="rId2"/>
                <a:stretch>
                  <a:fillRect l="-1306" t="-2793" b="-67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8" name="Group 37">
            <a:extLst>
              <a:ext uri="{FF2B5EF4-FFF2-40B4-BE49-F238E27FC236}">
                <a16:creationId xmlns:a16="http://schemas.microsoft.com/office/drawing/2014/main" id="{84729CA8-B238-CA15-ABC7-DBA10169C039}"/>
              </a:ext>
            </a:extLst>
          </p:cNvPr>
          <p:cNvGrpSpPr/>
          <p:nvPr/>
        </p:nvGrpSpPr>
        <p:grpSpPr>
          <a:xfrm>
            <a:off x="3637763" y="1807128"/>
            <a:ext cx="4934721" cy="1856232"/>
            <a:chOff x="869774" y="909408"/>
            <a:chExt cx="3253026" cy="1084557"/>
          </a:xfrm>
        </p:grpSpPr>
        <p:sp>
          <p:nvSpPr>
            <p:cNvPr id="40" name="object 15">
              <a:extLst>
                <a:ext uri="{FF2B5EF4-FFF2-40B4-BE49-F238E27FC236}">
                  <a16:creationId xmlns:a16="http://schemas.microsoft.com/office/drawing/2014/main" id="{CE8CC30E-234A-19F2-998F-F748FFFC68D4}"/>
                </a:ext>
              </a:extLst>
            </p:cNvPr>
            <p:cNvSpPr txBox="1"/>
            <p:nvPr/>
          </p:nvSpPr>
          <p:spPr>
            <a:xfrm>
              <a:off x="1697735" y="1388680"/>
              <a:ext cx="323215" cy="168870"/>
            </a:xfrm>
            <a:prstGeom prst="rect">
              <a:avLst/>
            </a:prstGeom>
          </p:spPr>
          <p:txBody>
            <a:bodyPr vert="horz" wrap="square" lIns="0" tIns="11430" rIns="0" bIns="0" rtlCol="0">
              <a:normAutofit/>
            </a:bodyPr>
            <a:lstStyle/>
            <a:p>
              <a:pPr marL="12700">
                <a:spcBef>
                  <a:spcPts val="90"/>
                </a:spcBef>
              </a:pPr>
              <a:r>
                <a:rPr b="1" spc="55" dirty="0">
                  <a:latin typeface="Georgia"/>
                  <a:cs typeface="Georgia"/>
                </a:rPr>
                <a:t>M</a:t>
              </a:r>
              <a:r>
                <a:rPr b="1" spc="20" dirty="0">
                  <a:latin typeface="Georgia"/>
                  <a:cs typeface="Georgia"/>
                </a:rPr>
                <a:t> </a:t>
              </a:r>
              <a:r>
                <a:rPr spc="155" dirty="0">
                  <a:latin typeface="Source Sans Pro"/>
                  <a:cs typeface="Source Sans Pro"/>
                </a:rPr>
                <a:t>=</a:t>
              </a:r>
              <a:endParaRPr dirty="0">
                <a:latin typeface="Source Sans Pro"/>
                <a:cs typeface="Source Sans Pro"/>
              </a:endParaRPr>
            </a:p>
          </p:txBody>
        </p:sp>
        <p:sp>
          <p:nvSpPr>
            <p:cNvPr id="41" name="Google Shape;5358;p32">
              <a:extLst>
                <a:ext uri="{FF2B5EF4-FFF2-40B4-BE49-F238E27FC236}">
                  <a16:creationId xmlns:a16="http://schemas.microsoft.com/office/drawing/2014/main" id="{D1CD8A7E-97C4-0FD2-E5DF-9B3021462B66}"/>
                </a:ext>
              </a:extLst>
            </p:cNvPr>
            <p:cNvSpPr txBox="1"/>
            <p:nvPr/>
          </p:nvSpPr>
          <p:spPr>
            <a:xfrm>
              <a:off x="869774" y="909408"/>
              <a:ext cx="555455" cy="1084557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 t="-969" b="-969"/>
              </a:stretch>
            </a:blip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r>
                <a:rPr lang="en-US" sz="1600">
                  <a:latin typeface="Corbel"/>
                  <a:ea typeface="Corbel"/>
                  <a:cs typeface="Corbel"/>
                  <a:sym typeface="Corbel"/>
                </a:rPr>
                <a:t> </a:t>
              </a:r>
              <a:endParaRPr sz="1600"/>
            </a:p>
          </p:txBody>
        </p:sp>
        <p:pic>
          <p:nvPicPr>
            <p:cNvPr id="42" name="Picture 41" descr="A group of black text on a white background&#10;&#10;Description automatically generated">
              <a:extLst>
                <a:ext uri="{FF2B5EF4-FFF2-40B4-BE49-F238E27FC236}">
                  <a16:creationId xmlns:a16="http://schemas.microsoft.com/office/drawing/2014/main" id="{4FFD2C7B-D4A7-C670-7BDF-9C2DABF10EB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020950" y="922093"/>
              <a:ext cx="2101850" cy="1070315"/>
            </a:xfrm>
            <a:prstGeom prst="rect">
              <a:avLst/>
            </a:prstGeom>
          </p:spPr>
        </p:pic>
      </p:grpSp>
      <p:sp>
        <p:nvSpPr>
          <p:cNvPr id="43" name="object 15">
            <a:extLst>
              <a:ext uri="{FF2B5EF4-FFF2-40B4-BE49-F238E27FC236}">
                <a16:creationId xmlns:a16="http://schemas.microsoft.com/office/drawing/2014/main" id="{26658C63-EA6F-A94A-7EE5-0DABCD2C7EE7}"/>
              </a:ext>
            </a:extLst>
          </p:cNvPr>
          <p:cNvSpPr txBox="1"/>
          <p:nvPr/>
        </p:nvSpPr>
        <p:spPr>
          <a:xfrm>
            <a:off x="3224382" y="2540315"/>
            <a:ext cx="490305" cy="288541"/>
          </a:xfrm>
          <a:prstGeom prst="rect">
            <a:avLst/>
          </a:prstGeom>
        </p:spPr>
        <p:txBody>
          <a:bodyPr vert="horz" wrap="square" lIns="0" tIns="11430" rIns="0" bIns="0" rtlCol="0">
            <a:normAutofit/>
          </a:bodyPr>
          <a:lstStyle/>
          <a:p>
            <a:pPr marL="12700">
              <a:spcBef>
                <a:spcPts val="90"/>
              </a:spcBef>
            </a:pPr>
            <a:r>
              <a:rPr lang="en-US" b="1" spc="20" dirty="0">
                <a:latin typeface="Georgia"/>
                <a:cs typeface="Georgia"/>
              </a:rPr>
              <a:t>y</a:t>
            </a:r>
            <a:r>
              <a:rPr b="1" spc="20" dirty="0">
                <a:latin typeface="Georgia"/>
                <a:cs typeface="Georgia"/>
              </a:rPr>
              <a:t> </a:t>
            </a:r>
            <a:r>
              <a:rPr spc="155" dirty="0">
                <a:latin typeface="Source Sans Pro"/>
                <a:cs typeface="Source Sans Pro"/>
              </a:rPr>
              <a:t>=</a:t>
            </a:r>
            <a:endParaRPr dirty="0">
              <a:latin typeface="Source Sans Pro"/>
              <a:cs typeface="Source Sans Pro"/>
            </a:endParaRPr>
          </a:p>
        </p:txBody>
      </p:sp>
    </p:spTree>
    <p:extLst>
      <p:ext uri="{BB962C8B-B14F-4D97-AF65-F5344CB8AC3E}">
        <p14:creationId xmlns:p14="http://schemas.microsoft.com/office/powerpoint/2010/main" val="190119297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55A1CD2E-49FD-2BE9-4BF2-F96E1E5F33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dirty="0"/>
              <a:t>Autoregression</a:t>
            </a:r>
            <a:r>
              <a:rPr lang="en-US" sz="3600" spc="595" dirty="0"/>
              <a:t> </a:t>
            </a:r>
            <a:r>
              <a:rPr lang="en-US" sz="3600" spc="89" dirty="0"/>
              <a:t>Results</a:t>
            </a:r>
            <a:r>
              <a:rPr lang="en-US" sz="3600" spc="595" dirty="0"/>
              <a:t> </a:t>
            </a:r>
            <a:r>
              <a:rPr lang="en-US" sz="3600" dirty="0"/>
              <a:t>for</a:t>
            </a:r>
            <a:r>
              <a:rPr lang="en-US" sz="3600" spc="595" dirty="0"/>
              <a:t> </a:t>
            </a:r>
            <a:r>
              <a:rPr lang="en-US" sz="3600" dirty="0"/>
              <a:t>NYSE</a:t>
            </a:r>
            <a:r>
              <a:rPr lang="en-US" sz="3600" spc="595" dirty="0"/>
              <a:t> </a:t>
            </a:r>
            <a:r>
              <a:rPr lang="en-US" sz="3600" spc="129" dirty="0"/>
              <a:t>Data</a:t>
            </a:r>
            <a:endParaRPr lang="en-US" sz="360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79E3CF3-01AE-9449-59AF-00D4D07D51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12225-5612-419B-A8D5-4B8EEE4C217E}" type="slidenum">
              <a:rPr lang="en-US" smtClean="0"/>
              <a:pPr/>
              <a:t>17</a:t>
            </a:fld>
            <a:endParaRPr lang="en-US"/>
          </a:p>
        </p:txBody>
      </p:sp>
      <p:sp>
        <p:nvSpPr>
          <p:cNvPr id="3" name="object 3"/>
          <p:cNvSpPr/>
          <p:nvPr/>
        </p:nvSpPr>
        <p:spPr>
          <a:xfrm>
            <a:off x="7294024" y="4270758"/>
            <a:ext cx="86826" cy="0"/>
          </a:xfrm>
          <a:custGeom>
            <a:avLst/>
            <a:gdLst/>
            <a:ahLst/>
            <a:cxnLst/>
            <a:rect l="l" t="t" r="r" b="b"/>
            <a:pathLst>
              <a:path w="43814">
                <a:moveTo>
                  <a:pt x="0" y="0"/>
                </a:moveTo>
                <a:lnTo>
                  <a:pt x="43637" y="0"/>
                </a:lnTo>
              </a:path>
            </a:pathLst>
          </a:custGeom>
          <a:ln w="5054">
            <a:solidFill>
              <a:srgbClr val="990000"/>
            </a:solidFill>
          </a:ln>
        </p:spPr>
        <p:txBody>
          <a:bodyPr wrap="square" lIns="0" tIns="0" rIns="0" bIns="0" rtlCol="0"/>
          <a:lstStyle/>
          <a:p>
            <a:endParaRPr sz="3567"/>
          </a:p>
        </p:txBody>
      </p:sp>
      <p:sp>
        <p:nvSpPr>
          <p:cNvPr id="4" name="object 4"/>
          <p:cNvSpPr/>
          <p:nvPr/>
        </p:nvSpPr>
        <p:spPr>
          <a:xfrm>
            <a:off x="7686074" y="4270758"/>
            <a:ext cx="86826" cy="0"/>
          </a:xfrm>
          <a:custGeom>
            <a:avLst/>
            <a:gdLst/>
            <a:ahLst/>
            <a:cxnLst/>
            <a:rect l="l" t="t" r="r" b="b"/>
            <a:pathLst>
              <a:path w="43814">
                <a:moveTo>
                  <a:pt x="0" y="0"/>
                </a:moveTo>
                <a:lnTo>
                  <a:pt x="43637" y="0"/>
                </a:lnTo>
              </a:path>
            </a:pathLst>
          </a:custGeom>
          <a:ln w="5054">
            <a:solidFill>
              <a:srgbClr val="990000"/>
            </a:solidFill>
          </a:ln>
        </p:spPr>
        <p:txBody>
          <a:bodyPr wrap="square" lIns="0" tIns="0" rIns="0" bIns="0" rtlCol="0"/>
          <a:lstStyle/>
          <a:p>
            <a:endParaRPr sz="3567"/>
          </a:p>
        </p:txBody>
      </p:sp>
      <p:sp>
        <p:nvSpPr>
          <p:cNvPr id="5" name="object 5"/>
          <p:cNvSpPr txBox="1"/>
          <p:nvPr/>
        </p:nvSpPr>
        <p:spPr>
          <a:xfrm>
            <a:off x="2115742" y="2200902"/>
            <a:ext cx="7904946" cy="2463539"/>
          </a:xfrm>
          <a:prstGeom prst="rect">
            <a:avLst/>
          </a:prstGeom>
        </p:spPr>
        <p:txBody>
          <a:bodyPr vert="horz" wrap="square" lIns="0" tIns="22650" rIns="0" bIns="0" rtlCol="0">
            <a:normAutofit/>
          </a:bodyPr>
          <a:lstStyle/>
          <a:p>
            <a:pPr marL="125838">
              <a:spcBef>
                <a:spcPts val="178"/>
              </a:spcBef>
            </a:pPr>
            <a:r>
              <a:rPr sz="2180" spc="149" dirty="0">
                <a:latin typeface="Source Sans Pro"/>
                <a:cs typeface="Source Sans Pro"/>
              </a:rPr>
              <a:t>R</a:t>
            </a:r>
            <a:r>
              <a:rPr sz="2378" spc="222" baseline="27777" dirty="0">
                <a:latin typeface="Source Sans Pro"/>
                <a:cs typeface="Source Sans Pro"/>
              </a:rPr>
              <a:t>2</a:t>
            </a:r>
            <a:r>
              <a:rPr sz="2378" spc="476" baseline="27777" dirty="0">
                <a:latin typeface="Source Sans Pro"/>
                <a:cs typeface="Source Sans Pro"/>
              </a:rPr>
              <a:t> </a:t>
            </a:r>
            <a:r>
              <a:rPr sz="2180" dirty="0">
                <a:latin typeface="Source Sans Pro"/>
                <a:cs typeface="Source Sans Pro"/>
              </a:rPr>
              <a:t>=</a:t>
            </a:r>
            <a:r>
              <a:rPr sz="2180" spc="-79" dirty="0">
                <a:latin typeface="Source Sans Pro"/>
                <a:cs typeface="Source Sans Pro"/>
              </a:rPr>
              <a:t> </a:t>
            </a:r>
            <a:r>
              <a:rPr sz="2180" spc="-268" dirty="0">
                <a:latin typeface="Source Sans Pro"/>
                <a:cs typeface="Source Sans Pro"/>
              </a:rPr>
              <a:t>0.41</a:t>
            </a:r>
            <a:r>
              <a:rPr sz="2180" spc="59" dirty="0">
                <a:latin typeface="Source Sans Pro"/>
                <a:cs typeface="Source Sans Pro"/>
              </a:rPr>
              <a:t> </a:t>
            </a:r>
            <a:r>
              <a:rPr sz="2180" spc="-129" dirty="0">
                <a:latin typeface="Source Sans Pro"/>
                <a:cs typeface="Source Sans Pro"/>
              </a:rPr>
              <a:t>for</a:t>
            </a:r>
            <a:r>
              <a:rPr sz="2180" spc="50" dirty="0">
                <a:latin typeface="Source Sans Pro"/>
                <a:cs typeface="Source Sans Pro"/>
              </a:rPr>
              <a:t> </a:t>
            </a:r>
            <a:r>
              <a:rPr sz="2180" dirty="0">
                <a:latin typeface="Source Sans Pro"/>
                <a:cs typeface="Source Sans Pro"/>
              </a:rPr>
              <a:t>AR(5)</a:t>
            </a:r>
            <a:r>
              <a:rPr sz="2180" spc="50" dirty="0">
                <a:latin typeface="Source Sans Pro"/>
                <a:cs typeface="Source Sans Pro"/>
              </a:rPr>
              <a:t> </a:t>
            </a:r>
            <a:r>
              <a:rPr sz="2180" spc="-188" dirty="0">
                <a:latin typeface="Source Sans Pro"/>
                <a:cs typeface="Source Sans Pro"/>
              </a:rPr>
              <a:t>model</a:t>
            </a:r>
            <a:r>
              <a:rPr sz="2180" spc="50" dirty="0">
                <a:latin typeface="Source Sans Pro"/>
                <a:cs typeface="Source Sans Pro"/>
              </a:rPr>
              <a:t> </a:t>
            </a:r>
            <a:r>
              <a:rPr sz="2180" spc="-139" dirty="0">
                <a:latin typeface="Source Sans Pro"/>
                <a:cs typeface="Source Sans Pro"/>
              </a:rPr>
              <a:t>(16</a:t>
            </a:r>
            <a:r>
              <a:rPr sz="2180" spc="50" dirty="0">
                <a:latin typeface="Source Sans Pro"/>
                <a:cs typeface="Source Sans Pro"/>
              </a:rPr>
              <a:t> </a:t>
            </a:r>
            <a:r>
              <a:rPr sz="2180" spc="-20" dirty="0">
                <a:latin typeface="Source Sans Pro"/>
                <a:cs typeface="Source Sans Pro"/>
              </a:rPr>
              <a:t>parameters)</a:t>
            </a:r>
            <a:endParaRPr sz="2180">
              <a:latin typeface="Source Sans Pro"/>
              <a:cs typeface="Source Sans Pro"/>
            </a:endParaRPr>
          </a:p>
          <a:p>
            <a:pPr marL="125838">
              <a:spcBef>
                <a:spcPts val="2041"/>
              </a:spcBef>
            </a:pPr>
            <a:r>
              <a:rPr sz="2180" spc="149" dirty="0">
                <a:latin typeface="Source Sans Pro"/>
                <a:cs typeface="Source Sans Pro"/>
              </a:rPr>
              <a:t>R</a:t>
            </a:r>
            <a:r>
              <a:rPr sz="2378" spc="222" baseline="27777" dirty="0">
                <a:latin typeface="Source Sans Pro"/>
                <a:cs typeface="Source Sans Pro"/>
              </a:rPr>
              <a:t>2</a:t>
            </a:r>
            <a:r>
              <a:rPr sz="2378" spc="476" baseline="27777" dirty="0">
                <a:latin typeface="Source Sans Pro"/>
                <a:cs typeface="Source Sans Pro"/>
              </a:rPr>
              <a:t> </a:t>
            </a:r>
            <a:r>
              <a:rPr sz="2180" dirty="0">
                <a:latin typeface="Source Sans Pro"/>
                <a:cs typeface="Source Sans Pro"/>
              </a:rPr>
              <a:t>=</a:t>
            </a:r>
            <a:r>
              <a:rPr sz="2180" spc="-69" dirty="0">
                <a:latin typeface="Source Sans Pro"/>
                <a:cs typeface="Source Sans Pro"/>
              </a:rPr>
              <a:t> </a:t>
            </a:r>
            <a:r>
              <a:rPr sz="2180" spc="-268" dirty="0">
                <a:latin typeface="Source Sans Pro"/>
                <a:cs typeface="Source Sans Pro"/>
              </a:rPr>
              <a:t>0.42</a:t>
            </a:r>
            <a:r>
              <a:rPr sz="2180" spc="59" dirty="0">
                <a:latin typeface="Source Sans Pro"/>
                <a:cs typeface="Source Sans Pro"/>
              </a:rPr>
              <a:t> </a:t>
            </a:r>
            <a:r>
              <a:rPr sz="2180" spc="-129" dirty="0">
                <a:latin typeface="Source Sans Pro"/>
                <a:cs typeface="Source Sans Pro"/>
              </a:rPr>
              <a:t>for</a:t>
            </a:r>
            <a:r>
              <a:rPr sz="2180" spc="50" dirty="0">
                <a:latin typeface="Source Sans Pro"/>
                <a:cs typeface="Source Sans Pro"/>
              </a:rPr>
              <a:t> </a:t>
            </a:r>
            <a:r>
              <a:rPr sz="2180" dirty="0">
                <a:latin typeface="Source Sans Pro"/>
                <a:cs typeface="Source Sans Pro"/>
              </a:rPr>
              <a:t>RNN</a:t>
            </a:r>
            <a:r>
              <a:rPr sz="2180" spc="59" dirty="0">
                <a:latin typeface="Source Sans Pro"/>
                <a:cs typeface="Source Sans Pro"/>
              </a:rPr>
              <a:t> </a:t>
            </a:r>
            <a:r>
              <a:rPr sz="2180" spc="-188" dirty="0">
                <a:latin typeface="Source Sans Pro"/>
                <a:cs typeface="Source Sans Pro"/>
              </a:rPr>
              <a:t>model</a:t>
            </a:r>
            <a:r>
              <a:rPr sz="2180" spc="50" dirty="0">
                <a:latin typeface="Source Sans Pro"/>
                <a:cs typeface="Source Sans Pro"/>
              </a:rPr>
              <a:t> </a:t>
            </a:r>
            <a:r>
              <a:rPr sz="2180" spc="-198" dirty="0">
                <a:latin typeface="Source Sans Pro"/>
                <a:cs typeface="Source Sans Pro"/>
              </a:rPr>
              <a:t>(205</a:t>
            </a:r>
            <a:r>
              <a:rPr sz="2180" spc="59" dirty="0">
                <a:latin typeface="Source Sans Pro"/>
                <a:cs typeface="Source Sans Pro"/>
              </a:rPr>
              <a:t> </a:t>
            </a:r>
            <a:r>
              <a:rPr sz="2180" spc="-20" dirty="0">
                <a:latin typeface="Source Sans Pro"/>
                <a:cs typeface="Source Sans Pro"/>
              </a:rPr>
              <a:t>parameters)</a:t>
            </a:r>
            <a:endParaRPr sz="2180">
              <a:latin typeface="Source Sans Pro"/>
              <a:cs typeface="Source Sans Pro"/>
            </a:endParaRPr>
          </a:p>
          <a:p>
            <a:pPr marL="125838">
              <a:spcBef>
                <a:spcPts val="2041"/>
              </a:spcBef>
            </a:pPr>
            <a:r>
              <a:rPr sz="2180" spc="149" dirty="0">
                <a:latin typeface="Source Sans Pro"/>
                <a:cs typeface="Source Sans Pro"/>
              </a:rPr>
              <a:t>R</a:t>
            </a:r>
            <a:r>
              <a:rPr sz="2378" spc="222" baseline="27777" dirty="0">
                <a:latin typeface="Source Sans Pro"/>
                <a:cs typeface="Source Sans Pro"/>
              </a:rPr>
              <a:t>2</a:t>
            </a:r>
            <a:r>
              <a:rPr sz="2378" spc="414" baseline="27777" dirty="0">
                <a:latin typeface="Source Sans Pro"/>
                <a:cs typeface="Source Sans Pro"/>
              </a:rPr>
              <a:t> </a:t>
            </a:r>
            <a:r>
              <a:rPr sz="2180" dirty="0">
                <a:latin typeface="Source Sans Pro"/>
                <a:cs typeface="Source Sans Pro"/>
              </a:rPr>
              <a:t>=</a:t>
            </a:r>
            <a:r>
              <a:rPr sz="2180" spc="-99" dirty="0">
                <a:latin typeface="Source Sans Pro"/>
                <a:cs typeface="Source Sans Pro"/>
              </a:rPr>
              <a:t> </a:t>
            </a:r>
            <a:r>
              <a:rPr sz="2180" spc="-268" dirty="0">
                <a:latin typeface="Source Sans Pro"/>
                <a:cs typeface="Source Sans Pro"/>
              </a:rPr>
              <a:t>0.42</a:t>
            </a:r>
            <a:r>
              <a:rPr sz="2180" spc="30" dirty="0">
                <a:latin typeface="Source Sans Pro"/>
                <a:cs typeface="Source Sans Pro"/>
              </a:rPr>
              <a:t> </a:t>
            </a:r>
            <a:r>
              <a:rPr sz="2180" spc="-129" dirty="0">
                <a:latin typeface="Source Sans Pro"/>
                <a:cs typeface="Source Sans Pro"/>
              </a:rPr>
              <a:t>for</a:t>
            </a:r>
            <a:r>
              <a:rPr sz="2180" spc="20" dirty="0">
                <a:latin typeface="Source Sans Pro"/>
                <a:cs typeface="Source Sans Pro"/>
              </a:rPr>
              <a:t> </a:t>
            </a:r>
            <a:r>
              <a:rPr sz="2180" dirty="0">
                <a:latin typeface="Source Sans Pro"/>
                <a:cs typeface="Source Sans Pro"/>
              </a:rPr>
              <a:t>AR(5)</a:t>
            </a:r>
            <a:r>
              <a:rPr sz="2180" spc="20" dirty="0">
                <a:latin typeface="Source Sans Pro"/>
                <a:cs typeface="Source Sans Pro"/>
              </a:rPr>
              <a:t> </a:t>
            </a:r>
            <a:r>
              <a:rPr sz="2180" spc="-188" dirty="0">
                <a:latin typeface="Source Sans Pro"/>
                <a:cs typeface="Source Sans Pro"/>
              </a:rPr>
              <a:t>model</a:t>
            </a:r>
            <a:r>
              <a:rPr sz="2180" spc="20" dirty="0">
                <a:latin typeface="Source Sans Pro"/>
                <a:cs typeface="Source Sans Pro"/>
              </a:rPr>
              <a:t> </a:t>
            </a:r>
            <a:r>
              <a:rPr sz="2180" spc="-20" dirty="0">
                <a:latin typeface="Source Sans Pro"/>
                <a:cs typeface="Source Sans Pro"/>
              </a:rPr>
              <a:t>fit</a:t>
            </a:r>
            <a:r>
              <a:rPr sz="2180" spc="20" dirty="0">
                <a:latin typeface="Source Sans Pro"/>
                <a:cs typeface="Source Sans Pro"/>
              </a:rPr>
              <a:t> </a:t>
            </a:r>
            <a:r>
              <a:rPr sz="2180" spc="-40" dirty="0">
                <a:latin typeface="Source Sans Pro"/>
                <a:cs typeface="Source Sans Pro"/>
              </a:rPr>
              <a:t>by</a:t>
            </a:r>
            <a:r>
              <a:rPr sz="2180" spc="20" dirty="0">
                <a:latin typeface="Source Sans Pro"/>
                <a:cs typeface="Source Sans Pro"/>
              </a:rPr>
              <a:t> </a:t>
            </a:r>
            <a:r>
              <a:rPr sz="2180" spc="-139" dirty="0">
                <a:latin typeface="Source Sans Pro"/>
                <a:cs typeface="Source Sans Pro"/>
              </a:rPr>
              <a:t>neural</a:t>
            </a:r>
            <a:r>
              <a:rPr sz="2180" spc="20" dirty="0">
                <a:latin typeface="Source Sans Pro"/>
                <a:cs typeface="Source Sans Pro"/>
              </a:rPr>
              <a:t> </a:t>
            </a:r>
            <a:r>
              <a:rPr sz="2180" spc="-20" dirty="0">
                <a:latin typeface="Source Sans Pro"/>
                <a:cs typeface="Source Sans Pro"/>
              </a:rPr>
              <a:t>network.</a:t>
            </a:r>
            <a:endParaRPr sz="2180">
              <a:latin typeface="Source Sans Pro"/>
              <a:cs typeface="Source Sans Pro"/>
            </a:endParaRPr>
          </a:p>
          <a:p>
            <a:pPr marL="125838" marR="85570">
              <a:lnSpc>
                <a:spcPct val="102699"/>
              </a:lnSpc>
              <a:spcBef>
                <a:spcPts val="1970"/>
              </a:spcBef>
            </a:pPr>
            <a:r>
              <a:rPr sz="2180" spc="149" dirty="0">
                <a:latin typeface="Source Sans Pro"/>
                <a:cs typeface="Source Sans Pro"/>
              </a:rPr>
              <a:t>R</a:t>
            </a:r>
            <a:r>
              <a:rPr sz="2378" spc="222" baseline="27777" dirty="0">
                <a:latin typeface="Source Sans Pro"/>
                <a:cs typeface="Source Sans Pro"/>
              </a:rPr>
              <a:t>2</a:t>
            </a:r>
            <a:r>
              <a:rPr sz="2378" spc="176" baseline="27777" dirty="0">
                <a:latin typeface="Source Sans Pro"/>
                <a:cs typeface="Source Sans Pro"/>
              </a:rPr>
              <a:t> </a:t>
            </a:r>
            <a:r>
              <a:rPr sz="2180" dirty="0">
                <a:latin typeface="Source Sans Pro"/>
                <a:cs typeface="Source Sans Pro"/>
              </a:rPr>
              <a:t>=</a:t>
            </a:r>
            <a:r>
              <a:rPr sz="2180" spc="-99" dirty="0">
                <a:latin typeface="Source Sans Pro"/>
                <a:cs typeface="Source Sans Pro"/>
              </a:rPr>
              <a:t> </a:t>
            </a:r>
            <a:r>
              <a:rPr sz="2180" spc="-268" dirty="0">
                <a:latin typeface="Source Sans Pro"/>
                <a:cs typeface="Source Sans Pro"/>
              </a:rPr>
              <a:t>0.46</a:t>
            </a:r>
            <a:r>
              <a:rPr sz="2180" spc="30" dirty="0">
                <a:latin typeface="Source Sans Pro"/>
                <a:cs typeface="Source Sans Pro"/>
              </a:rPr>
              <a:t> </a:t>
            </a:r>
            <a:r>
              <a:rPr sz="2180" spc="-129" dirty="0">
                <a:latin typeface="Source Sans Pro"/>
                <a:cs typeface="Source Sans Pro"/>
              </a:rPr>
              <a:t>for</a:t>
            </a:r>
            <a:r>
              <a:rPr sz="2180" spc="10" dirty="0">
                <a:latin typeface="Source Sans Pro"/>
                <a:cs typeface="Source Sans Pro"/>
              </a:rPr>
              <a:t> </a:t>
            </a:r>
            <a:r>
              <a:rPr sz="2180" dirty="0">
                <a:latin typeface="Source Sans Pro"/>
                <a:cs typeface="Source Sans Pro"/>
              </a:rPr>
              <a:t>all</a:t>
            </a:r>
            <a:r>
              <a:rPr sz="2180" spc="10" dirty="0">
                <a:latin typeface="Source Sans Pro"/>
                <a:cs typeface="Source Sans Pro"/>
              </a:rPr>
              <a:t> </a:t>
            </a:r>
            <a:r>
              <a:rPr sz="2180" spc="-208" dirty="0">
                <a:latin typeface="Source Sans Pro"/>
                <a:cs typeface="Source Sans Pro"/>
              </a:rPr>
              <a:t>models</a:t>
            </a:r>
            <a:r>
              <a:rPr sz="2180" spc="30" dirty="0">
                <a:latin typeface="Source Sans Pro"/>
                <a:cs typeface="Source Sans Pro"/>
              </a:rPr>
              <a:t> </a:t>
            </a:r>
            <a:r>
              <a:rPr sz="2180" dirty="0">
                <a:latin typeface="Source Sans Pro"/>
                <a:cs typeface="Source Sans Pro"/>
              </a:rPr>
              <a:t>if</a:t>
            </a:r>
            <a:r>
              <a:rPr sz="2180" spc="10" dirty="0">
                <a:latin typeface="Source Sans Pro"/>
                <a:cs typeface="Source Sans Pro"/>
              </a:rPr>
              <a:t> </a:t>
            </a:r>
            <a:r>
              <a:rPr sz="2180" spc="-226" dirty="0">
                <a:latin typeface="Source Sans Pro"/>
                <a:cs typeface="Source Sans Pro"/>
              </a:rPr>
              <a:t>we</a:t>
            </a:r>
            <a:r>
              <a:rPr sz="2180" spc="30" dirty="0">
                <a:latin typeface="Source Sans Pro"/>
                <a:cs typeface="Source Sans Pro"/>
              </a:rPr>
              <a:t> </a:t>
            </a:r>
            <a:r>
              <a:rPr sz="2180" spc="-149" dirty="0">
                <a:latin typeface="Source Sans Pro"/>
                <a:cs typeface="Source Sans Pro"/>
              </a:rPr>
              <a:t>include</a:t>
            </a:r>
            <a:r>
              <a:rPr sz="2180" dirty="0">
                <a:latin typeface="Source Sans Pro"/>
                <a:cs typeface="Source Sans Pro"/>
              </a:rPr>
              <a:t> </a:t>
            </a:r>
            <a:r>
              <a:rPr sz="2180" spc="-198" dirty="0">
                <a:solidFill>
                  <a:srgbClr val="990000"/>
                </a:solidFill>
                <a:latin typeface="Courier New"/>
                <a:cs typeface="Courier New"/>
              </a:rPr>
              <a:t>day</a:t>
            </a:r>
            <a:r>
              <a:rPr sz="2180" spc="-495" dirty="0">
                <a:solidFill>
                  <a:srgbClr val="990000"/>
                </a:solidFill>
                <a:latin typeface="Courier New"/>
                <a:cs typeface="Courier New"/>
              </a:rPr>
              <a:t> </a:t>
            </a:r>
            <a:r>
              <a:rPr sz="2180" spc="-198" dirty="0">
                <a:solidFill>
                  <a:srgbClr val="990000"/>
                </a:solidFill>
                <a:latin typeface="Courier New"/>
                <a:cs typeface="Courier New"/>
              </a:rPr>
              <a:t>of</a:t>
            </a:r>
            <a:r>
              <a:rPr sz="2180" spc="-495" dirty="0">
                <a:solidFill>
                  <a:srgbClr val="990000"/>
                </a:solidFill>
                <a:latin typeface="Courier New"/>
                <a:cs typeface="Courier New"/>
              </a:rPr>
              <a:t> </a:t>
            </a:r>
            <a:r>
              <a:rPr sz="2180" spc="-198" dirty="0">
                <a:solidFill>
                  <a:srgbClr val="990000"/>
                </a:solidFill>
                <a:latin typeface="Courier New"/>
                <a:cs typeface="Courier New"/>
              </a:rPr>
              <a:t>week</a:t>
            </a:r>
            <a:r>
              <a:rPr sz="2180" spc="-595" dirty="0">
                <a:solidFill>
                  <a:srgbClr val="990000"/>
                </a:solidFill>
                <a:latin typeface="Courier New"/>
                <a:cs typeface="Courier New"/>
              </a:rPr>
              <a:t> </a:t>
            </a:r>
            <a:r>
              <a:rPr sz="2180" spc="-208" dirty="0">
                <a:latin typeface="Source Sans Pro"/>
                <a:cs typeface="Source Sans Pro"/>
              </a:rPr>
              <a:t>of</a:t>
            </a:r>
            <a:r>
              <a:rPr sz="2180" spc="30" dirty="0">
                <a:latin typeface="Source Sans Pro"/>
                <a:cs typeface="Source Sans Pro"/>
              </a:rPr>
              <a:t> </a:t>
            </a:r>
            <a:r>
              <a:rPr sz="2180" spc="-89" dirty="0">
                <a:latin typeface="Source Sans Pro"/>
                <a:cs typeface="Source Sans Pro"/>
              </a:rPr>
              <a:t>day</a:t>
            </a:r>
            <a:r>
              <a:rPr sz="2180" spc="10" dirty="0">
                <a:latin typeface="Source Sans Pro"/>
                <a:cs typeface="Source Sans Pro"/>
              </a:rPr>
              <a:t> </a:t>
            </a:r>
            <a:r>
              <a:rPr sz="2180" spc="-129" dirty="0">
                <a:latin typeface="Source Sans Pro"/>
                <a:cs typeface="Source Sans Pro"/>
              </a:rPr>
              <a:t>being </a:t>
            </a:r>
            <a:r>
              <a:rPr sz="2180" spc="-20" dirty="0">
                <a:latin typeface="Source Sans Pro"/>
                <a:cs typeface="Source Sans Pro"/>
              </a:rPr>
              <a:t>predicted.</a:t>
            </a:r>
            <a:endParaRPr sz="2180">
              <a:latin typeface="Source Sans Pro"/>
              <a:cs typeface="Source Sans Pro"/>
            </a:endParaRPr>
          </a:p>
        </p:txBody>
      </p:sp>
    </p:spTree>
    <p:extLst>
      <p:ext uri="{BB962C8B-B14F-4D97-AF65-F5344CB8AC3E}">
        <p14:creationId xmlns:p14="http://schemas.microsoft.com/office/powerpoint/2010/main" val="94902472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1FF1F977-BF60-D81A-1E68-C1BB44F007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pc="109" dirty="0"/>
              <a:t>Summary</a:t>
            </a:r>
            <a:r>
              <a:rPr lang="en-US" spc="218" dirty="0"/>
              <a:t> </a:t>
            </a:r>
            <a:r>
              <a:rPr lang="en-US" dirty="0"/>
              <a:t>of</a:t>
            </a:r>
            <a:r>
              <a:rPr lang="en-US" spc="218" dirty="0"/>
              <a:t> </a:t>
            </a:r>
            <a:r>
              <a:rPr lang="en-US" spc="-40" dirty="0"/>
              <a:t>RNNs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35A68CB-1305-6750-A6E9-C58A30A2F5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12225-5612-419B-A8D5-4B8EEE4C217E}" type="slidenum">
              <a:rPr lang="en-US" smtClean="0"/>
              <a:pPr/>
              <a:t>18</a:t>
            </a:fld>
            <a:endParaRPr lang="en-US"/>
          </a:p>
        </p:txBody>
      </p:sp>
      <p:sp>
        <p:nvSpPr>
          <p:cNvPr id="3" name="object 3"/>
          <p:cNvSpPr txBox="1">
            <a:spLocks noGrp="1"/>
          </p:cNvSpPr>
          <p:nvPr>
            <p:ph type="body" idx="4294967295"/>
          </p:nvPr>
        </p:nvSpPr>
        <p:spPr>
          <a:xfrm>
            <a:off x="0" y="1423988"/>
            <a:ext cx="9477375" cy="5000625"/>
          </a:xfrm>
          <a:prstGeom prst="rect">
            <a:avLst/>
          </a:prstGeom>
        </p:spPr>
        <p:txBody>
          <a:bodyPr vert="horz" wrap="square" lIns="0" tIns="13842" rIns="0" bIns="0" rtlCol="0">
            <a:normAutofit/>
          </a:bodyPr>
          <a:lstStyle/>
          <a:p>
            <a:pPr marL="349830" marR="737410" indent="-275585">
              <a:lnSpc>
                <a:spcPct val="102699"/>
              </a:lnSpc>
              <a:spcBef>
                <a:spcPts val="109"/>
              </a:spcBef>
              <a:buClr>
                <a:srgbClr val="3333B3"/>
              </a:buClr>
              <a:buFont typeface="Menlo"/>
              <a:buChar char="•"/>
              <a:tabLst>
                <a:tab pos="351088" algn="l"/>
              </a:tabLst>
            </a:pPr>
            <a:r>
              <a:rPr lang="en-US" sz="2400" dirty="0">
                <a:latin typeface="Source Sans Pro" panose="02020603050405020304" pitchFamily="18" charset="0"/>
                <a:cs typeface="Source Sans Pro" panose="02020603050405020304" pitchFamily="18" charset="0"/>
              </a:rPr>
              <a:t>We have presented the simplest of RNNs. Many more complex variations exist.</a:t>
            </a:r>
          </a:p>
          <a:p>
            <a:pPr marL="349830" marR="737410" indent="-275585">
              <a:lnSpc>
                <a:spcPct val="102699"/>
              </a:lnSpc>
              <a:spcBef>
                <a:spcPts val="109"/>
              </a:spcBef>
              <a:buClr>
                <a:srgbClr val="3333B3"/>
              </a:buClr>
              <a:buFont typeface="Menlo"/>
              <a:buChar char="•"/>
              <a:tabLst>
                <a:tab pos="351088" algn="l"/>
              </a:tabLst>
            </a:pPr>
            <a:r>
              <a:rPr lang="en-US" sz="2400" dirty="0">
                <a:latin typeface="Source Sans Pro" panose="02020603050405020304" pitchFamily="18" charset="0"/>
                <a:cs typeface="Source Sans Pro" panose="02020603050405020304" pitchFamily="18" charset="0"/>
              </a:rPr>
              <a:t>One variation treats the sequence as a one-dimensional image, and uses CNNs for fitting. For example, a sequence of words using an embedding representation can be viewed as an image, and the CNN convolves by sliding a convolutional filter along the sequence.</a:t>
            </a:r>
          </a:p>
          <a:p>
            <a:pPr marL="349830" marR="737410" indent="-275585">
              <a:lnSpc>
                <a:spcPct val="102699"/>
              </a:lnSpc>
              <a:spcBef>
                <a:spcPts val="109"/>
              </a:spcBef>
              <a:buClr>
                <a:srgbClr val="3333B3"/>
              </a:buClr>
              <a:buFont typeface="Menlo"/>
              <a:buChar char="•"/>
              <a:tabLst>
                <a:tab pos="351088" algn="l"/>
              </a:tabLst>
            </a:pPr>
            <a:r>
              <a:rPr lang="en-US" sz="2400" dirty="0">
                <a:latin typeface="Source Sans Pro" panose="02020603050405020304" pitchFamily="18" charset="0"/>
                <a:cs typeface="Source Sans Pro" panose="02020603050405020304" pitchFamily="18" charset="0"/>
              </a:rPr>
              <a:t>Can have additional hidden layers, where each hidden layer is a sequence, and treats the previous hidden layer as an input sequence.</a:t>
            </a:r>
          </a:p>
          <a:p>
            <a:pPr marL="349830" marR="737410" indent="-275585">
              <a:lnSpc>
                <a:spcPct val="102699"/>
              </a:lnSpc>
              <a:spcBef>
                <a:spcPts val="109"/>
              </a:spcBef>
              <a:buClr>
                <a:srgbClr val="3333B3"/>
              </a:buClr>
              <a:buFont typeface="Menlo"/>
              <a:buChar char="•"/>
              <a:tabLst>
                <a:tab pos="351088" algn="l"/>
              </a:tabLst>
            </a:pPr>
            <a:r>
              <a:rPr lang="en-US" sz="2400" dirty="0">
                <a:latin typeface="Source Sans Pro" panose="02020603050405020304" pitchFamily="18" charset="0"/>
                <a:cs typeface="Source Sans Pro" panose="02020603050405020304" pitchFamily="18" charset="0"/>
              </a:rPr>
              <a:t>Can have output also be a sequence, and input and output share the hidden units. So-called seq2seq learning is used for language translation.</a:t>
            </a:r>
          </a:p>
          <a:p>
            <a:pPr marL="349830" marR="737410" indent="-275585">
              <a:lnSpc>
                <a:spcPct val="102699"/>
              </a:lnSpc>
              <a:spcBef>
                <a:spcPts val="109"/>
              </a:spcBef>
              <a:buClr>
                <a:srgbClr val="3333B3"/>
              </a:buClr>
              <a:buFont typeface="Menlo"/>
              <a:buChar char="•"/>
              <a:tabLst>
                <a:tab pos="351088" algn="l"/>
              </a:tabLst>
            </a:pPr>
            <a:endParaRPr lang="en-US" sz="2400" dirty="0">
              <a:latin typeface="Source Sans Pro" panose="02020603050405020304" pitchFamily="18" charset="0"/>
              <a:cs typeface="Source Sans Pro" panose="02020603050405020304" pitchFamily="18" charset="0"/>
            </a:endParaRPr>
          </a:p>
          <a:p>
            <a:pPr marL="349830" marR="737410" indent="-275585">
              <a:lnSpc>
                <a:spcPct val="102699"/>
              </a:lnSpc>
              <a:spcBef>
                <a:spcPts val="109"/>
              </a:spcBef>
              <a:buClr>
                <a:srgbClr val="3333B3"/>
              </a:buClr>
              <a:buFont typeface="Menlo"/>
              <a:buChar char="•"/>
              <a:tabLst>
                <a:tab pos="351088" algn="l"/>
              </a:tabLst>
            </a:pPr>
            <a:endParaRPr sz="2400" dirty="0">
              <a:latin typeface="Source Sans Pro" panose="02020603050405020304" pitchFamily="18" charset="0"/>
              <a:cs typeface="Source Sans Pro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7611562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899160" y="1690688"/>
            <a:ext cx="9136380" cy="3870546"/>
          </a:xfrm>
          <a:prstGeom prst="rect">
            <a:avLst/>
          </a:prstGeom>
        </p:spPr>
        <p:txBody>
          <a:bodyPr vert="horz" wrap="square" lIns="0" tIns="13842" rIns="0" bIns="0" rtlCol="0">
            <a:normAutofit/>
          </a:bodyPr>
          <a:lstStyle/>
          <a:p>
            <a:pPr marL="649324" marR="234059" indent="-275585">
              <a:lnSpc>
                <a:spcPct val="102600"/>
              </a:lnSpc>
              <a:spcBef>
                <a:spcPts val="109"/>
              </a:spcBef>
              <a:buClr>
                <a:srgbClr val="3333B3"/>
              </a:buClr>
              <a:buFont typeface="Menlo"/>
              <a:buChar char="•"/>
              <a:tabLst>
                <a:tab pos="650582" algn="l"/>
              </a:tabLst>
            </a:pPr>
            <a:r>
              <a:rPr spc="-20" dirty="0">
                <a:latin typeface="Source Sans Pro"/>
                <a:cs typeface="Source Sans Pro"/>
              </a:rPr>
              <a:t>CNNs</a:t>
            </a:r>
            <a:r>
              <a:rPr spc="-59" dirty="0">
                <a:latin typeface="Source Sans Pro"/>
                <a:cs typeface="Source Sans Pro"/>
              </a:rPr>
              <a:t> </a:t>
            </a:r>
            <a:r>
              <a:rPr spc="-159" dirty="0">
                <a:latin typeface="Source Sans Pro"/>
                <a:cs typeface="Source Sans Pro"/>
              </a:rPr>
              <a:t>have</a:t>
            </a:r>
            <a:r>
              <a:rPr spc="10" dirty="0">
                <a:latin typeface="Source Sans Pro"/>
                <a:cs typeface="Source Sans Pro"/>
              </a:rPr>
              <a:t> </a:t>
            </a:r>
            <a:r>
              <a:rPr spc="-139" dirty="0">
                <a:latin typeface="Source Sans Pro"/>
                <a:cs typeface="Source Sans Pro"/>
              </a:rPr>
              <a:t>had</a:t>
            </a:r>
            <a:r>
              <a:rPr dirty="0">
                <a:latin typeface="Source Sans Pro"/>
                <a:cs typeface="Source Sans Pro"/>
              </a:rPr>
              <a:t> </a:t>
            </a:r>
            <a:r>
              <a:rPr spc="-218" dirty="0">
                <a:latin typeface="Source Sans Pro"/>
                <a:cs typeface="Source Sans Pro"/>
              </a:rPr>
              <a:t>enormous</a:t>
            </a:r>
            <a:r>
              <a:rPr spc="30" dirty="0">
                <a:latin typeface="Source Sans Pro"/>
                <a:cs typeface="Source Sans Pro"/>
              </a:rPr>
              <a:t> </a:t>
            </a:r>
            <a:r>
              <a:rPr spc="-248" dirty="0">
                <a:latin typeface="Source Sans Pro"/>
                <a:cs typeface="Source Sans Pro"/>
              </a:rPr>
              <a:t>successes</a:t>
            </a:r>
            <a:r>
              <a:rPr spc="30" dirty="0">
                <a:latin typeface="Source Sans Pro"/>
                <a:cs typeface="Source Sans Pro"/>
              </a:rPr>
              <a:t> </a:t>
            </a:r>
            <a:r>
              <a:rPr dirty="0">
                <a:latin typeface="Source Sans Pro"/>
                <a:cs typeface="Source Sans Pro"/>
              </a:rPr>
              <a:t>in</a:t>
            </a:r>
            <a:r>
              <a:rPr spc="10" dirty="0">
                <a:latin typeface="Source Sans Pro"/>
                <a:cs typeface="Source Sans Pro"/>
              </a:rPr>
              <a:t> </a:t>
            </a:r>
            <a:r>
              <a:rPr spc="-198" dirty="0">
                <a:latin typeface="Source Sans Pro"/>
                <a:cs typeface="Source Sans Pro"/>
              </a:rPr>
              <a:t>image</a:t>
            </a:r>
            <a:r>
              <a:rPr spc="30" dirty="0">
                <a:latin typeface="Source Sans Pro"/>
                <a:cs typeface="Source Sans Pro"/>
              </a:rPr>
              <a:t> </a:t>
            </a:r>
            <a:r>
              <a:rPr spc="-129" dirty="0">
                <a:latin typeface="Source Sans Pro"/>
                <a:cs typeface="Source Sans Pro"/>
              </a:rPr>
              <a:t>classification and</a:t>
            </a:r>
            <a:r>
              <a:rPr spc="-50" dirty="0">
                <a:latin typeface="Source Sans Pro"/>
                <a:cs typeface="Source Sans Pro"/>
              </a:rPr>
              <a:t> </a:t>
            </a:r>
            <a:r>
              <a:rPr spc="-178" dirty="0">
                <a:latin typeface="Source Sans Pro"/>
                <a:cs typeface="Source Sans Pro"/>
              </a:rPr>
              <a:t>modeling,</a:t>
            </a:r>
            <a:r>
              <a:rPr spc="10" dirty="0">
                <a:latin typeface="Source Sans Pro"/>
                <a:cs typeface="Source Sans Pro"/>
              </a:rPr>
              <a:t> </a:t>
            </a:r>
            <a:r>
              <a:rPr spc="-129" dirty="0">
                <a:latin typeface="Source Sans Pro"/>
                <a:cs typeface="Source Sans Pro"/>
              </a:rPr>
              <a:t>and</a:t>
            </a:r>
            <a:r>
              <a:rPr spc="-30" dirty="0">
                <a:latin typeface="Source Sans Pro"/>
                <a:cs typeface="Source Sans Pro"/>
              </a:rPr>
              <a:t> </a:t>
            </a:r>
            <a:r>
              <a:rPr spc="-129" dirty="0">
                <a:latin typeface="Source Sans Pro"/>
                <a:cs typeface="Source Sans Pro"/>
              </a:rPr>
              <a:t>are</a:t>
            </a:r>
            <a:r>
              <a:rPr spc="-10" dirty="0">
                <a:latin typeface="Source Sans Pro"/>
                <a:cs typeface="Source Sans Pro"/>
              </a:rPr>
              <a:t> </a:t>
            </a:r>
            <a:r>
              <a:rPr spc="-119" dirty="0">
                <a:latin typeface="Source Sans Pro"/>
                <a:cs typeface="Source Sans Pro"/>
              </a:rPr>
              <a:t>starting</a:t>
            </a:r>
            <a:r>
              <a:rPr spc="-10" dirty="0">
                <a:latin typeface="Source Sans Pro"/>
                <a:cs typeface="Source Sans Pro"/>
              </a:rPr>
              <a:t> </a:t>
            </a:r>
            <a:r>
              <a:rPr spc="-59" dirty="0">
                <a:latin typeface="Source Sans Pro"/>
                <a:cs typeface="Source Sans Pro"/>
              </a:rPr>
              <a:t>to</a:t>
            </a:r>
            <a:r>
              <a:rPr dirty="0">
                <a:latin typeface="Source Sans Pro"/>
                <a:cs typeface="Source Sans Pro"/>
              </a:rPr>
              <a:t> </a:t>
            </a:r>
            <a:r>
              <a:rPr spc="-178" dirty="0">
                <a:latin typeface="Source Sans Pro"/>
                <a:cs typeface="Source Sans Pro"/>
              </a:rPr>
              <a:t>be</a:t>
            </a:r>
            <a:r>
              <a:rPr dirty="0">
                <a:latin typeface="Source Sans Pro"/>
                <a:cs typeface="Source Sans Pro"/>
              </a:rPr>
              <a:t> </a:t>
            </a:r>
            <a:r>
              <a:rPr spc="-238" dirty="0">
                <a:latin typeface="Source Sans Pro"/>
                <a:cs typeface="Source Sans Pro"/>
              </a:rPr>
              <a:t>used</a:t>
            </a:r>
            <a:r>
              <a:rPr spc="30" dirty="0">
                <a:latin typeface="Source Sans Pro"/>
                <a:cs typeface="Source Sans Pro"/>
              </a:rPr>
              <a:t> </a:t>
            </a:r>
            <a:r>
              <a:rPr dirty="0">
                <a:latin typeface="Source Sans Pro"/>
                <a:cs typeface="Source Sans Pro"/>
              </a:rPr>
              <a:t>in </a:t>
            </a:r>
            <a:r>
              <a:rPr spc="-20" dirty="0">
                <a:latin typeface="Source Sans Pro"/>
                <a:cs typeface="Source Sans Pro"/>
              </a:rPr>
              <a:t>medical </a:t>
            </a:r>
            <a:r>
              <a:rPr spc="-159" dirty="0">
                <a:latin typeface="Source Sans Pro"/>
                <a:cs typeface="Source Sans Pro"/>
              </a:rPr>
              <a:t>diagnosis.</a:t>
            </a:r>
            <a:r>
              <a:rPr spc="218" dirty="0">
                <a:latin typeface="Source Sans Pro"/>
                <a:cs typeface="Source Sans Pro"/>
              </a:rPr>
              <a:t> </a:t>
            </a:r>
            <a:r>
              <a:rPr spc="-139" dirty="0">
                <a:latin typeface="Source Sans Pro"/>
                <a:cs typeface="Source Sans Pro"/>
              </a:rPr>
              <a:t>Examples</a:t>
            </a:r>
            <a:r>
              <a:rPr dirty="0">
                <a:latin typeface="Source Sans Pro"/>
                <a:cs typeface="Source Sans Pro"/>
              </a:rPr>
              <a:t> </a:t>
            </a:r>
            <a:r>
              <a:rPr spc="-149" dirty="0">
                <a:latin typeface="Source Sans Pro"/>
                <a:cs typeface="Source Sans Pro"/>
              </a:rPr>
              <a:t>include</a:t>
            </a:r>
            <a:r>
              <a:rPr spc="-10" dirty="0">
                <a:latin typeface="Source Sans Pro"/>
                <a:cs typeface="Source Sans Pro"/>
              </a:rPr>
              <a:t> </a:t>
            </a:r>
            <a:r>
              <a:rPr spc="-79" dirty="0">
                <a:latin typeface="Source Sans Pro"/>
                <a:cs typeface="Source Sans Pro"/>
              </a:rPr>
              <a:t>digital</a:t>
            </a:r>
            <a:r>
              <a:rPr dirty="0">
                <a:latin typeface="Source Sans Pro"/>
                <a:cs typeface="Source Sans Pro"/>
              </a:rPr>
              <a:t> </a:t>
            </a:r>
            <a:r>
              <a:rPr spc="-20" dirty="0">
                <a:latin typeface="Source Sans Pro"/>
                <a:cs typeface="Source Sans Pro"/>
              </a:rPr>
              <a:t>mammography, </a:t>
            </a:r>
            <a:r>
              <a:rPr spc="-168" dirty="0">
                <a:latin typeface="Source Sans Pro"/>
                <a:cs typeface="Source Sans Pro"/>
              </a:rPr>
              <a:t>ophthalmology,</a:t>
            </a:r>
            <a:r>
              <a:rPr spc="10" dirty="0">
                <a:latin typeface="Source Sans Pro"/>
                <a:cs typeface="Source Sans Pro"/>
              </a:rPr>
              <a:t> </a:t>
            </a:r>
            <a:r>
              <a:rPr spc="149" dirty="0">
                <a:latin typeface="Source Sans Pro"/>
                <a:cs typeface="Source Sans Pro"/>
              </a:rPr>
              <a:t>MRI</a:t>
            </a:r>
            <a:r>
              <a:rPr spc="20" dirty="0">
                <a:latin typeface="Source Sans Pro"/>
                <a:cs typeface="Source Sans Pro"/>
              </a:rPr>
              <a:t> </a:t>
            </a:r>
            <a:r>
              <a:rPr spc="-188" dirty="0">
                <a:latin typeface="Source Sans Pro"/>
                <a:cs typeface="Source Sans Pro"/>
              </a:rPr>
              <a:t>scans,</a:t>
            </a:r>
            <a:r>
              <a:rPr spc="10" dirty="0">
                <a:latin typeface="Source Sans Pro"/>
                <a:cs typeface="Source Sans Pro"/>
              </a:rPr>
              <a:t> </a:t>
            </a:r>
            <a:r>
              <a:rPr spc="-129" dirty="0">
                <a:latin typeface="Source Sans Pro"/>
                <a:cs typeface="Source Sans Pro"/>
              </a:rPr>
              <a:t>and</a:t>
            </a:r>
            <a:r>
              <a:rPr spc="20" dirty="0">
                <a:latin typeface="Source Sans Pro"/>
                <a:cs typeface="Source Sans Pro"/>
              </a:rPr>
              <a:t> </a:t>
            </a:r>
            <a:r>
              <a:rPr spc="-79" dirty="0">
                <a:latin typeface="Source Sans Pro"/>
                <a:cs typeface="Source Sans Pro"/>
              </a:rPr>
              <a:t>digital</a:t>
            </a:r>
            <a:r>
              <a:rPr spc="10" dirty="0">
                <a:latin typeface="Source Sans Pro"/>
                <a:cs typeface="Source Sans Pro"/>
              </a:rPr>
              <a:t> </a:t>
            </a:r>
            <a:r>
              <a:rPr spc="-159" dirty="0">
                <a:latin typeface="Source Sans Pro"/>
                <a:cs typeface="Source Sans Pro"/>
              </a:rPr>
              <a:t>X-</a:t>
            </a:r>
            <a:r>
              <a:rPr spc="-40" dirty="0">
                <a:latin typeface="Source Sans Pro"/>
                <a:cs typeface="Source Sans Pro"/>
              </a:rPr>
              <a:t>rays.</a:t>
            </a:r>
            <a:endParaRPr dirty="0">
              <a:latin typeface="Source Sans Pro"/>
              <a:cs typeface="Source Sans Pro"/>
            </a:endParaRPr>
          </a:p>
          <a:p>
            <a:pPr marL="649324" marR="673233" indent="-275585">
              <a:lnSpc>
                <a:spcPct val="102600"/>
              </a:lnSpc>
              <a:buClr>
                <a:srgbClr val="3333B3"/>
              </a:buClr>
              <a:buFont typeface="Menlo"/>
              <a:buChar char="•"/>
              <a:tabLst>
                <a:tab pos="650582" algn="l"/>
              </a:tabLst>
            </a:pPr>
            <a:r>
              <a:rPr dirty="0">
                <a:latin typeface="Source Sans Pro"/>
                <a:cs typeface="Source Sans Pro"/>
              </a:rPr>
              <a:t>RNNs</a:t>
            </a:r>
            <a:r>
              <a:rPr spc="-40" dirty="0">
                <a:latin typeface="Source Sans Pro"/>
                <a:cs typeface="Source Sans Pro"/>
              </a:rPr>
              <a:t> </a:t>
            </a:r>
            <a:r>
              <a:rPr spc="-159" dirty="0">
                <a:latin typeface="Source Sans Pro"/>
                <a:cs typeface="Source Sans Pro"/>
              </a:rPr>
              <a:t>have</a:t>
            </a:r>
            <a:r>
              <a:rPr dirty="0">
                <a:latin typeface="Source Sans Pro"/>
                <a:cs typeface="Source Sans Pro"/>
              </a:rPr>
              <a:t> </a:t>
            </a:r>
            <a:r>
              <a:rPr spc="-139" dirty="0">
                <a:latin typeface="Source Sans Pro"/>
                <a:cs typeface="Source Sans Pro"/>
              </a:rPr>
              <a:t>had</a:t>
            </a:r>
            <a:r>
              <a:rPr dirty="0">
                <a:latin typeface="Source Sans Pro"/>
                <a:cs typeface="Source Sans Pro"/>
              </a:rPr>
              <a:t> </a:t>
            </a:r>
            <a:r>
              <a:rPr spc="-159" dirty="0">
                <a:latin typeface="Source Sans Pro"/>
                <a:cs typeface="Source Sans Pro"/>
              </a:rPr>
              <a:t>big</a:t>
            </a:r>
            <a:r>
              <a:rPr spc="10" dirty="0">
                <a:latin typeface="Source Sans Pro"/>
                <a:cs typeface="Source Sans Pro"/>
              </a:rPr>
              <a:t> </a:t>
            </a:r>
            <a:r>
              <a:rPr spc="-139" dirty="0">
                <a:latin typeface="Source Sans Pro"/>
                <a:cs typeface="Source Sans Pro"/>
              </a:rPr>
              <a:t>wins</a:t>
            </a:r>
            <a:r>
              <a:rPr dirty="0">
                <a:latin typeface="Source Sans Pro"/>
                <a:cs typeface="Source Sans Pro"/>
              </a:rPr>
              <a:t> in </a:t>
            </a:r>
            <a:r>
              <a:rPr spc="-226" dirty="0">
                <a:latin typeface="Source Sans Pro"/>
                <a:cs typeface="Source Sans Pro"/>
              </a:rPr>
              <a:t>speech</a:t>
            </a:r>
            <a:r>
              <a:rPr spc="30" dirty="0">
                <a:latin typeface="Source Sans Pro"/>
                <a:cs typeface="Source Sans Pro"/>
              </a:rPr>
              <a:t> </a:t>
            </a:r>
            <a:r>
              <a:rPr spc="-178" dirty="0">
                <a:latin typeface="Source Sans Pro"/>
                <a:cs typeface="Source Sans Pro"/>
              </a:rPr>
              <a:t>modeling,</a:t>
            </a:r>
            <a:r>
              <a:rPr dirty="0">
                <a:latin typeface="Source Sans Pro"/>
                <a:cs typeface="Source Sans Pro"/>
              </a:rPr>
              <a:t> </a:t>
            </a:r>
            <a:r>
              <a:rPr spc="-159" dirty="0">
                <a:latin typeface="Source Sans Pro"/>
                <a:cs typeface="Source Sans Pro"/>
              </a:rPr>
              <a:t>language </a:t>
            </a:r>
            <a:r>
              <a:rPr spc="-109" dirty="0">
                <a:latin typeface="Source Sans Pro"/>
                <a:cs typeface="Source Sans Pro"/>
              </a:rPr>
              <a:t>translation,</a:t>
            </a:r>
            <a:r>
              <a:rPr dirty="0">
                <a:latin typeface="Source Sans Pro"/>
                <a:cs typeface="Source Sans Pro"/>
              </a:rPr>
              <a:t> </a:t>
            </a:r>
            <a:r>
              <a:rPr spc="-129" dirty="0">
                <a:latin typeface="Source Sans Pro"/>
                <a:cs typeface="Source Sans Pro"/>
              </a:rPr>
              <a:t>and</a:t>
            </a:r>
            <a:r>
              <a:rPr spc="10" dirty="0">
                <a:latin typeface="Source Sans Pro"/>
                <a:cs typeface="Source Sans Pro"/>
              </a:rPr>
              <a:t> </a:t>
            </a:r>
            <a:r>
              <a:rPr spc="-20" dirty="0">
                <a:latin typeface="Source Sans Pro"/>
                <a:cs typeface="Source Sans Pro"/>
              </a:rPr>
              <a:t>forecasting.</a:t>
            </a:r>
            <a:endParaRPr dirty="0">
              <a:latin typeface="Source Sans Pro"/>
              <a:cs typeface="Source Sans Pro"/>
            </a:endParaRPr>
          </a:p>
          <a:p>
            <a:pPr marL="100670">
              <a:spcBef>
                <a:spcPts val="565"/>
              </a:spcBef>
            </a:pPr>
            <a:r>
              <a:rPr spc="-129" dirty="0">
                <a:latin typeface="Source Sans Pro"/>
                <a:cs typeface="Source Sans Pro"/>
              </a:rPr>
              <a:t>Should</a:t>
            </a:r>
            <a:r>
              <a:rPr spc="50" dirty="0">
                <a:latin typeface="Source Sans Pro"/>
                <a:cs typeface="Source Sans Pro"/>
              </a:rPr>
              <a:t> </a:t>
            </a:r>
            <a:r>
              <a:rPr spc="-248" dirty="0">
                <a:latin typeface="Source Sans Pro"/>
                <a:cs typeface="Source Sans Pro"/>
              </a:rPr>
              <a:t>we</a:t>
            </a:r>
            <a:r>
              <a:rPr spc="59" dirty="0">
                <a:latin typeface="Source Sans Pro"/>
                <a:cs typeface="Source Sans Pro"/>
              </a:rPr>
              <a:t> </a:t>
            </a:r>
            <a:r>
              <a:rPr spc="-139" dirty="0">
                <a:latin typeface="Source Sans Pro"/>
                <a:cs typeface="Source Sans Pro"/>
              </a:rPr>
              <a:t>always</a:t>
            </a:r>
            <a:r>
              <a:rPr spc="59" dirty="0">
                <a:latin typeface="Source Sans Pro"/>
                <a:cs typeface="Source Sans Pro"/>
              </a:rPr>
              <a:t> </a:t>
            </a:r>
            <a:r>
              <a:rPr spc="-248" dirty="0">
                <a:latin typeface="Source Sans Pro"/>
                <a:cs typeface="Source Sans Pro"/>
              </a:rPr>
              <a:t>use</a:t>
            </a:r>
            <a:r>
              <a:rPr spc="50" dirty="0">
                <a:latin typeface="Source Sans Pro"/>
                <a:cs typeface="Source Sans Pro"/>
              </a:rPr>
              <a:t> </a:t>
            </a:r>
            <a:r>
              <a:rPr spc="-218" dirty="0">
                <a:latin typeface="Source Sans Pro"/>
                <a:cs typeface="Source Sans Pro"/>
              </a:rPr>
              <a:t>deep</a:t>
            </a:r>
            <a:r>
              <a:rPr spc="59" dirty="0">
                <a:latin typeface="Source Sans Pro"/>
                <a:cs typeface="Source Sans Pro"/>
              </a:rPr>
              <a:t> </a:t>
            </a:r>
            <a:r>
              <a:rPr spc="-149" dirty="0">
                <a:latin typeface="Source Sans Pro"/>
                <a:cs typeface="Source Sans Pro"/>
              </a:rPr>
              <a:t>learning</a:t>
            </a:r>
            <a:r>
              <a:rPr spc="59" dirty="0">
                <a:latin typeface="Source Sans Pro"/>
                <a:cs typeface="Source Sans Pro"/>
              </a:rPr>
              <a:t> </a:t>
            </a:r>
            <a:r>
              <a:rPr spc="-20" dirty="0">
                <a:latin typeface="Source Sans Pro"/>
                <a:cs typeface="Source Sans Pro"/>
              </a:rPr>
              <a:t>models?</a:t>
            </a:r>
            <a:endParaRPr dirty="0">
              <a:latin typeface="Source Sans Pro"/>
              <a:cs typeface="Source Sans Pro"/>
            </a:endParaRPr>
          </a:p>
          <a:p>
            <a:pPr marL="649324" marR="85570" indent="-275585">
              <a:lnSpc>
                <a:spcPct val="102600"/>
              </a:lnSpc>
              <a:spcBef>
                <a:spcPts val="99"/>
              </a:spcBef>
              <a:buClr>
                <a:srgbClr val="3333B3"/>
              </a:buClr>
              <a:buFont typeface="Menlo"/>
              <a:buChar char="•"/>
              <a:tabLst>
                <a:tab pos="650582" algn="l"/>
              </a:tabLst>
            </a:pPr>
            <a:r>
              <a:rPr spc="-119" dirty="0">
                <a:latin typeface="Source Sans Pro"/>
                <a:cs typeface="Source Sans Pro"/>
              </a:rPr>
              <a:t>Often</a:t>
            </a:r>
            <a:r>
              <a:rPr spc="30" dirty="0">
                <a:latin typeface="Source Sans Pro"/>
                <a:cs typeface="Source Sans Pro"/>
              </a:rPr>
              <a:t> </a:t>
            </a:r>
            <a:r>
              <a:rPr spc="-119" dirty="0">
                <a:latin typeface="Source Sans Pro"/>
                <a:cs typeface="Source Sans Pro"/>
              </a:rPr>
              <a:t>the</a:t>
            </a:r>
            <a:r>
              <a:rPr spc="30" dirty="0">
                <a:latin typeface="Source Sans Pro"/>
                <a:cs typeface="Source Sans Pro"/>
              </a:rPr>
              <a:t> </a:t>
            </a:r>
            <a:r>
              <a:rPr spc="-178" dirty="0">
                <a:latin typeface="Source Sans Pro"/>
                <a:cs typeface="Source Sans Pro"/>
              </a:rPr>
              <a:t>big</a:t>
            </a:r>
            <a:r>
              <a:rPr spc="30" dirty="0">
                <a:latin typeface="Source Sans Pro"/>
                <a:cs typeface="Source Sans Pro"/>
              </a:rPr>
              <a:t> </a:t>
            </a:r>
            <a:r>
              <a:rPr spc="-248" dirty="0">
                <a:latin typeface="Source Sans Pro"/>
                <a:cs typeface="Source Sans Pro"/>
              </a:rPr>
              <a:t>successes</a:t>
            </a:r>
            <a:r>
              <a:rPr spc="30" dirty="0">
                <a:latin typeface="Source Sans Pro"/>
                <a:cs typeface="Source Sans Pro"/>
              </a:rPr>
              <a:t> </a:t>
            </a:r>
            <a:r>
              <a:rPr spc="-149" dirty="0">
                <a:latin typeface="Source Sans Pro"/>
                <a:cs typeface="Source Sans Pro"/>
              </a:rPr>
              <a:t>occur</a:t>
            </a:r>
            <a:r>
              <a:rPr spc="30" dirty="0">
                <a:latin typeface="Source Sans Pro"/>
                <a:cs typeface="Source Sans Pro"/>
              </a:rPr>
              <a:t> </a:t>
            </a:r>
            <a:r>
              <a:rPr spc="-188" dirty="0">
                <a:latin typeface="Source Sans Pro"/>
                <a:cs typeface="Source Sans Pro"/>
              </a:rPr>
              <a:t>when</a:t>
            </a:r>
            <a:r>
              <a:rPr spc="30" dirty="0">
                <a:latin typeface="Source Sans Pro"/>
                <a:cs typeface="Source Sans Pro"/>
              </a:rPr>
              <a:t> </a:t>
            </a:r>
            <a:r>
              <a:rPr spc="-139" dirty="0">
                <a:latin typeface="Source Sans Pro"/>
                <a:cs typeface="Source Sans Pro"/>
              </a:rPr>
              <a:t>the</a:t>
            </a:r>
            <a:r>
              <a:rPr spc="30" dirty="0">
                <a:latin typeface="Source Sans Pro"/>
                <a:cs typeface="Source Sans Pro"/>
              </a:rPr>
              <a:t> </a:t>
            </a:r>
            <a:r>
              <a:rPr i="1" spc="-426" dirty="0">
                <a:solidFill>
                  <a:srgbClr val="009900"/>
                </a:solidFill>
                <a:latin typeface="Menlo"/>
                <a:cs typeface="Menlo"/>
              </a:rPr>
              <a:t>signal</a:t>
            </a:r>
            <a:r>
              <a:rPr i="1" spc="-535" dirty="0">
                <a:solidFill>
                  <a:srgbClr val="009900"/>
                </a:solidFill>
                <a:latin typeface="Menlo"/>
                <a:cs typeface="Menlo"/>
              </a:rPr>
              <a:t> </a:t>
            </a:r>
            <a:r>
              <a:rPr i="1" spc="-426" dirty="0">
                <a:solidFill>
                  <a:srgbClr val="009900"/>
                </a:solidFill>
                <a:latin typeface="Menlo"/>
                <a:cs typeface="Menlo"/>
              </a:rPr>
              <a:t>to</a:t>
            </a:r>
            <a:r>
              <a:rPr i="1" spc="-535" dirty="0">
                <a:solidFill>
                  <a:srgbClr val="009900"/>
                </a:solidFill>
                <a:latin typeface="Menlo"/>
                <a:cs typeface="Menlo"/>
              </a:rPr>
              <a:t> </a:t>
            </a:r>
            <a:r>
              <a:rPr i="1" spc="-357" dirty="0">
                <a:solidFill>
                  <a:srgbClr val="009900"/>
                </a:solidFill>
                <a:latin typeface="Menlo"/>
                <a:cs typeface="Menlo"/>
              </a:rPr>
              <a:t>noise</a:t>
            </a:r>
            <a:r>
              <a:rPr i="1" spc="-525" dirty="0">
                <a:solidFill>
                  <a:srgbClr val="009900"/>
                </a:solidFill>
                <a:latin typeface="Menlo"/>
                <a:cs typeface="Menlo"/>
              </a:rPr>
              <a:t> </a:t>
            </a:r>
            <a:r>
              <a:rPr i="1" spc="-377" dirty="0">
                <a:solidFill>
                  <a:srgbClr val="009900"/>
                </a:solidFill>
                <a:latin typeface="Menlo"/>
                <a:cs typeface="Menlo"/>
              </a:rPr>
              <a:t>ratio </a:t>
            </a:r>
            <a:r>
              <a:rPr spc="-99" dirty="0">
                <a:latin typeface="Source Sans Pro"/>
                <a:cs typeface="Source Sans Pro"/>
              </a:rPr>
              <a:t>is</a:t>
            </a:r>
            <a:r>
              <a:rPr spc="-79" dirty="0">
                <a:latin typeface="Source Sans Pro"/>
                <a:cs typeface="Source Sans Pro"/>
              </a:rPr>
              <a:t> </a:t>
            </a:r>
            <a:r>
              <a:rPr spc="-149" dirty="0">
                <a:latin typeface="Source Sans Pro"/>
                <a:cs typeface="Source Sans Pro"/>
              </a:rPr>
              <a:t>high</a:t>
            </a:r>
            <a:r>
              <a:rPr spc="-20" dirty="0">
                <a:latin typeface="Source Sans Pro"/>
                <a:cs typeface="Source Sans Pro"/>
              </a:rPr>
              <a:t> </a:t>
            </a:r>
            <a:r>
              <a:rPr dirty="0">
                <a:latin typeface="Source Sans Pro"/>
                <a:cs typeface="Source Sans Pro"/>
              </a:rPr>
              <a:t>—</a:t>
            </a:r>
            <a:r>
              <a:rPr spc="-59" dirty="0">
                <a:latin typeface="Source Sans Pro"/>
                <a:cs typeface="Source Sans Pro"/>
              </a:rPr>
              <a:t> </a:t>
            </a:r>
            <a:r>
              <a:rPr spc="-119" dirty="0">
                <a:latin typeface="Source Sans Pro"/>
                <a:cs typeface="Source Sans Pro"/>
              </a:rPr>
              <a:t>e.g.</a:t>
            </a:r>
            <a:r>
              <a:rPr spc="208" dirty="0">
                <a:latin typeface="Source Sans Pro"/>
                <a:cs typeface="Source Sans Pro"/>
              </a:rPr>
              <a:t> </a:t>
            </a:r>
            <a:r>
              <a:rPr spc="-198" dirty="0">
                <a:latin typeface="Source Sans Pro"/>
                <a:cs typeface="Source Sans Pro"/>
              </a:rPr>
              <a:t>image</a:t>
            </a:r>
            <a:r>
              <a:rPr spc="20" dirty="0">
                <a:latin typeface="Source Sans Pro"/>
                <a:cs typeface="Source Sans Pro"/>
              </a:rPr>
              <a:t> </a:t>
            </a:r>
            <a:r>
              <a:rPr spc="-149" dirty="0">
                <a:latin typeface="Source Sans Pro"/>
                <a:cs typeface="Source Sans Pro"/>
              </a:rPr>
              <a:t>recognition</a:t>
            </a:r>
            <a:r>
              <a:rPr spc="-20" dirty="0">
                <a:latin typeface="Source Sans Pro"/>
                <a:cs typeface="Source Sans Pro"/>
              </a:rPr>
              <a:t> </a:t>
            </a:r>
            <a:r>
              <a:rPr spc="-129" dirty="0">
                <a:latin typeface="Source Sans Pro"/>
                <a:cs typeface="Source Sans Pro"/>
              </a:rPr>
              <a:t>and</a:t>
            </a:r>
            <a:r>
              <a:rPr spc="-20" dirty="0">
                <a:latin typeface="Source Sans Pro"/>
                <a:cs typeface="Source Sans Pro"/>
              </a:rPr>
              <a:t> </a:t>
            </a:r>
            <a:r>
              <a:rPr spc="-188" dirty="0">
                <a:latin typeface="Source Sans Pro"/>
                <a:cs typeface="Source Sans Pro"/>
              </a:rPr>
              <a:t>language</a:t>
            </a:r>
            <a:r>
              <a:rPr spc="10" dirty="0">
                <a:latin typeface="Source Sans Pro"/>
                <a:cs typeface="Source Sans Pro"/>
              </a:rPr>
              <a:t> </a:t>
            </a:r>
            <a:r>
              <a:rPr spc="-20" dirty="0">
                <a:latin typeface="Source Sans Pro"/>
                <a:cs typeface="Source Sans Pro"/>
              </a:rPr>
              <a:t>translation. </a:t>
            </a:r>
            <a:r>
              <a:rPr spc="-129" dirty="0">
                <a:latin typeface="Source Sans Pro"/>
                <a:cs typeface="Source Sans Pro"/>
              </a:rPr>
              <a:t>Datasets</a:t>
            </a:r>
            <a:r>
              <a:rPr spc="-30" dirty="0">
                <a:latin typeface="Source Sans Pro"/>
                <a:cs typeface="Source Sans Pro"/>
              </a:rPr>
              <a:t> </a:t>
            </a:r>
            <a:r>
              <a:rPr spc="-139" dirty="0">
                <a:latin typeface="Source Sans Pro"/>
                <a:cs typeface="Source Sans Pro"/>
              </a:rPr>
              <a:t>are</a:t>
            </a:r>
            <a:r>
              <a:rPr spc="-20" dirty="0">
                <a:latin typeface="Source Sans Pro"/>
                <a:cs typeface="Source Sans Pro"/>
              </a:rPr>
              <a:t> </a:t>
            </a:r>
            <a:r>
              <a:rPr spc="-149" dirty="0">
                <a:latin typeface="Source Sans Pro"/>
                <a:cs typeface="Source Sans Pro"/>
              </a:rPr>
              <a:t>large,</a:t>
            </a:r>
            <a:r>
              <a:rPr spc="-20" dirty="0">
                <a:latin typeface="Source Sans Pro"/>
                <a:cs typeface="Source Sans Pro"/>
              </a:rPr>
              <a:t> </a:t>
            </a:r>
            <a:r>
              <a:rPr spc="-129" dirty="0">
                <a:latin typeface="Source Sans Pro"/>
                <a:cs typeface="Source Sans Pro"/>
              </a:rPr>
              <a:t>and</a:t>
            </a:r>
            <a:r>
              <a:rPr spc="-20" dirty="0">
                <a:latin typeface="Source Sans Pro"/>
                <a:cs typeface="Source Sans Pro"/>
              </a:rPr>
              <a:t> </a:t>
            </a:r>
            <a:r>
              <a:rPr spc="-119" dirty="0">
                <a:latin typeface="Source Sans Pro"/>
                <a:cs typeface="Source Sans Pro"/>
              </a:rPr>
              <a:t>overfitting</a:t>
            </a:r>
            <a:r>
              <a:rPr spc="-20" dirty="0">
                <a:latin typeface="Source Sans Pro"/>
                <a:cs typeface="Source Sans Pro"/>
              </a:rPr>
              <a:t> </a:t>
            </a:r>
            <a:r>
              <a:rPr spc="-99" dirty="0">
                <a:latin typeface="Source Sans Pro"/>
                <a:cs typeface="Source Sans Pro"/>
              </a:rPr>
              <a:t>is</a:t>
            </a:r>
            <a:r>
              <a:rPr spc="-20" dirty="0">
                <a:latin typeface="Source Sans Pro"/>
                <a:cs typeface="Source Sans Pro"/>
              </a:rPr>
              <a:t> </a:t>
            </a:r>
            <a:r>
              <a:rPr spc="-99" dirty="0">
                <a:latin typeface="Source Sans Pro"/>
                <a:cs typeface="Source Sans Pro"/>
              </a:rPr>
              <a:t>not</a:t>
            </a:r>
            <a:r>
              <a:rPr spc="-30" dirty="0">
                <a:latin typeface="Source Sans Pro"/>
                <a:cs typeface="Source Sans Pro"/>
              </a:rPr>
              <a:t> </a:t>
            </a:r>
            <a:r>
              <a:rPr dirty="0">
                <a:latin typeface="Source Sans Pro"/>
                <a:cs typeface="Source Sans Pro"/>
              </a:rPr>
              <a:t>a</a:t>
            </a:r>
            <a:r>
              <a:rPr spc="-20" dirty="0">
                <a:latin typeface="Source Sans Pro"/>
                <a:cs typeface="Source Sans Pro"/>
              </a:rPr>
              <a:t> </a:t>
            </a:r>
            <a:r>
              <a:rPr spc="-159" dirty="0">
                <a:latin typeface="Source Sans Pro"/>
                <a:cs typeface="Source Sans Pro"/>
              </a:rPr>
              <a:t>big</a:t>
            </a:r>
            <a:r>
              <a:rPr spc="-10" dirty="0">
                <a:latin typeface="Source Sans Pro"/>
                <a:cs typeface="Source Sans Pro"/>
              </a:rPr>
              <a:t> </a:t>
            </a:r>
            <a:r>
              <a:rPr spc="-20" dirty="0">
                <a:latin typeface="Source Sans Pro"/>
                <a:cs typeface="Source Sans Pro"/>
              </a:rPr>
              <a:t>problem.</a:t>
            </a:r>
            <a:endParaRPr dirty="0">
              <a:latin typeface="Source Sans Pro"/>
              <a:cs typeface="Source Sans Pro"/>
            </a:endParaRPr>
          </a:p>
          <a:p>
            <a:pPr marL="649324" indent="-275585">
              <a:lnSpc>
                <a:spcPts val="2348"/>
              </a:lnSpc>
              <a:buClr>
                <a:srgbClr val="3333B3"/>
              </a:buClr>
              <a:buFont typeface="Menlo"/>
              <a:buChar char="•"/>
              <a:tabLst>
                <a:tab pos="650582" algn="l"/>
              </a:tabLst>
            </a:pPr>
            <a:r>
              <a:rPr spc="-40" dirty="0">
                <a:latin typeface="Source Sans Pro"/>
                <a:cs typeface="Source Sans Pro"/>
              </a:rPr>
              <a:t>For</a:t>
            </a:r>
            <a:r>
              <a:rPr spc="-20" dirty="0">
                <a:latin typeface="Source Sans Pro"/>
                <a:cs typeface="Source Sans Pro"/>
              </a:rPr>
              <a:t> </a:t>
            </a:r>
            <a:r>
              <a:rPr spc="-159" dirty="0">
                <a:latin typeface="Source Sans Pro"/>
                <a:cs typeface="Source Sans Pro"/>
              </a:rPr>
              <a:t>noisier</a:t>
            </a:r>
            <a:r>
              <a:rPr spc="10" dirty="0">
                <a:latin typeface="Source Sans Pro"/>
                <a:cs typeface="Source Sans Pro"/>
              </a:rPr>
              <a:t> </a:t>
            </a:r>
            <a:r>
              <a:rPr spc="-79" dirty="0">
                <a:latin typeface="Source Sans Pro"/>
                <a:cs typeface="Source Sans Pro"/>
              </a:rPr>
              <a:t>data,</a:t>
            </a:r>
            <a:r>
              <a:rPr spc="10" dirty="0">
                <a:latin typeface="Source Sans Pro"/>
                <a:cs typeface="Source Sans Pro"/>
              </a:rPr>
              <a:t> </a:t>
            </a:r>
            <a:r>
              <a:rPr spc="-159" dirty="0">
                <a:latin typeface="Source Sans Pro"/>
                <a:cs typeface="Source Sans Pro"/>
              </a:rPr>
              <a:t>simpler</a:t>
            </a:r>
            <a:r>
              <a:rPr spc="10" dirty="0">
                <a:latin typeface="Source Sans Pro"/>
                <a:cs typeface="Source Sans Pro"/>
              </a:rPr>
              <a:t> </a:t>
            </a:r>
            <a:r>
              <a:rPr spc="-208" dirty="0">
                <a:latin typeface="Source Sans Pro"/>
                <a:cs typeface="Source Sans Pro"/>
              </a:rPr>
              <a:t>models</a:t>
            </a:r>
            <a:r>
              <a:rPr spc="30" dirty="0">
                <a:latin typeface="Source Sans Pro"/>
                <a:cs typeface="Source Sans Pro"/>
              </a:rPr>
              <a:t> </a:t>
            </a:r>
            <a:r>
              <a:rPr spc="-139" dirty="0">
                <a:latin typeface="Source Sans Pro"/>
                <a:cs typeface="Source Sans Pro"/>
              </a:rPr>
              <a:t>can</a:t>
            </a:r>
            <a:r>
              <a:rPr spc="10" dirty="0">
                <a:latin typeface="Source Sans Pro"/>
                <a:cs typeface="Source Sans Pro"/>
              </a:rPr>
              <a:t> </a:t>
            </a:r>
            <a:r>
              <a:rPr spc="-159" dirty="0">
                <a:latin typeface="Source Sans Pro"/>
                <a:cs typeface="Source Sans Pro"/>
              </a:rPr>
              <a:t>often</a:t>
            </a:r>
            <a:r>
              <a:rPr spc="10" dirty="0">
                <a:latin typeface="Source Sans Pro"/>
                <a:cs typeface="Source Sans Pro"/>
              </a:rPr>
              <a:t> </a:t>
            </a:r>
            <a:r>
              <a:rPr spc="-159" dirty="0">
                <a:latin typeface="Source Sans Pro"/>
                <a:cs typeface="Source Sans Pro"/>
              </a:rPr>
              <a:t>work</a:t>
            </a:r>
            <a:r>
              <a:rPr dirty="0">
                <a:latin typeface="Source Sans Pro"/>
                <a:cs typeface="Source Sans Pro"/>
              </a:rPr>
              <a:t> </a:t>
            </a:r>
            <a:r>
              <a:rPr spc="-20" dirty="0">
                <a:latin typeface="Source Sans Pro"/>
                <a:cs typeface="Source Sans Pro"/>
              </a:rPr>
              <a:t>better.</a:t>
            </a:r>
            <a:endParaRPr dirty="0">
              <a:latin typeface="Source Sans Pro"/>
              <a:cs typeface="Source Sans Pro"/>
            </a:endParaRPr>
          </a:p>
          <a:p>
            <a:pPr marL="1197977" marR="127096" lvl="1" indent="-263001">
              <a:lnSpc>
                <a:spcPts val="2378"/>
              </a:lnSpc>
              <a:spcBef>
                <a:spcPts val="59"/>
              </a:spcBef>
              <a:buClr>
                <a:srgbClr val="3333B3"/>
              </a:buClr>
              <a:buFont typeface="Menlo"/>
              <a:buChar char="•"/>
              <a:tabLst>
                <a:tab pos="1199236" algn="l"/>
              </a:tabLst>
            </a:pPr>
            <a:r>
              <a:rPr sz="1600" dirty="0">
                <a:latin typeface="Source Sans Pro"/>
                <a:cs typeface="Source Sans Pro"/>
              </a:rPr>
              <a:t>On</a:t>
            </a:r>
            <a:r>
              <a:rPr sz="1600" spc="-10" dirty="0">
                <a:latin typeface="Source Sans Pro"/>
                <a:cs typeface="Source Sans Pro"/>
              </a:rPr>
              <a:t> </a:t>
            </a:r>
            <a:r>
              <a:rPr sz="1600" spc="-89" dirty="0">
                <a:latin typeface="Source Sans Pro"/>
                <a:cs typeface="Source Sans Pro"/>
              </a:rPr>
              <a:t>the</a:t>
            </a:r>
            <a:r>
              <a:rPr sz="1600" spc="20" dirty="0">
                <a:latin typeface="Source Sans Pro"/>
                <a:cs typeface="Source Sans Pro"/>
              </a:rPr>
              <a:t> </a:t>
            </a:r>
            <a:r>
              <a:rPr sz="1600" spc="-168" dirty="0">
                <a:solidFill>
                  <a:srgbClr val="990000"/>
                </a:solidFill>
                <a:latin typeface="Courier New"/>
                <a:cs typeface="Courier New"/>
              </a:rPr>
              <a:t>NYSE</a:t>
            </a:r>
            <a:r>
              <a:rPr sz="1600" spc="-535" dirty="0">
                <a:solidFill>
                  <a:srgbClr val="990000"/>
                </a:solidFill>
                <a:latin typeface="Courier New"/>
                <a:cs typeface="Courier New"/>
              </a:rPr>
              <a:t> </a:t>
            </a:r>
            <a:r>
              <a:rPr sz="1600" spc="-69" dirty="0">
                <a:latin typeface="Source Sans Pro"/>
                <a:cs typeface="Source Sans Pro"/>
              </a:rPr>
              <a:t>data,</a:t>
            </a:r>
            <a:r>
              <a:rPr sz="1600" spc="20" dirty="0">
                <a:latin typeface="Source Sans Pro"/>
                <a:cs typeface="Source Sans Pro"/>
              </a:rPr>
              <a:t> </a:t>
            </a:r>
            <a:r>
              <a:rPr sz="1600" spc="-89" dirty="0">
                <a:latin typeface="Source Sans Pro"/>
                <a:cs typeface="Source Sans Pro"/>
              </a:rPr>
              <a:t>the</a:t>
            </a:r>
            <a:r>
              <a:rPr sz="1600" spc="10" dirty="0">
                <a:latin typeface="Source Sans Pro"/>
                <a:cs typeface="Source Sans Pro"/>
              </a:rPr>
              <a:t> </a:t>
            </a:r>
            <a:r>
              <a:rPr sz="1600" dirty="0">
                <a:latin typeface="Source Sans Pro"/>
                <a:cs typeface="Source Sans Pro"/>
              </a:rPr>
              <a:t>AR(5)</a:t>
            </a:r>
            <a:r>
              <a:rPr sz="1600" spc="20" dirty="0">
                <a:latin typeface="Source Sans Pro"/>
                <a:cs typeface="Source Sans Pro"/>
              </a:rPr>
              <a:t> </a:t>
            </a:r>
            <a:r>
              <a:rPr sz="1600" spc="-168" dirty="0">
                <a:latin typeface="Source Sans Pro"/>
                <a:cs typeface="Source Sans Pro"/>
              </a:rPr>
              <a:t>model</a:t>
            </a:r>
            <a:r>
              <a:rPr sz="1600" spc="20" dirty="0">
                <a:latin typeface="Source Sans Pro"/>
                <a:cs typeface="Source Sans Pro"/>
              </a:rPr>
              <a:t> </a:t>
            </a:r>
            <a:r>
              <a:rPr sz="1600" spc="-89" dirty="0">
                <a:latin typeface="Source Sans Pro"/>
                <a:cs typeface="Source Sans Pro"/>
              </a:rPr>
              <a:t>is</a:t>
            </a:r>
            <a:r>
              <a:rPr sz="1600" spc="20" dirty="0">
                <a:latin typeface="Source Sans Pro"/>
                <a:cs typeface="Source Sans Pro"/>
              </a:rPr>
              <a:t> </a:t>
            </a:r>
            <a:r>
              <a:rPr sz="1600" spc="-208" dirty="0">
                <a:latin typeface="Source Sans Pro"/>
                <a:cs typeface="Source Sans Pro"/>
              </a:rPr>
              <a:t>much</a:t>
            </a:r>
            <a:r>
              <a:rPr sz="1600" spc="30" dirty="0">
                <a:latin typeface="Source Sans Pro"/>
                <a:cs typeface="Source Sans Pro"/>
              </a:rPr>
              <a:t> </a:t>
            </a:r>
            <a:r>
              <a:rPr sz="1600" spc="-139" dirty="0">
                <a:latin typeface="Source Sans Pro"/>
                <a:cs typeface="Source Sans Pro"/>
              </a:rPr>
              <a:t>simpler</a:t>
            </a:r>
            <a:r>
              <a:rPr sz="1600" spc="20" dirty="0">
                <a:latin typeface="Source Sans Pro"/>
                <a:cs typeface="Source Sans Pro"/>
              </a:rPr>
              <a:t> </a:t>
            </a:r>
            <a:r>
              <a:rPr sz="1600" spc="-79" dirty="0">
                <a:latin typeface="Source Sans Pro"/>
                <a:cs typeface="Source Sans Pro"/>
              </a:rPr>
              <a:t>than</a:t>
            </a:r>
            <a:r>
              <a:rPr sz="1600" spc="20" dirty="0">
                <a:latin typeface="Source Sans Pro"/>
                <a:cs typeface="Source Sans Pro"/>
              </a:rPr>
              <a:t> </a:t>
            </a:r>
            <a:r>
              <a:rPr sz="1600" spc="-119" dirty="0">
                <a:latin typeface="Source Sans Pro"/>
                <a:cs typeface="Source Sans Pro"/>
              </a:rPr>
              <a:t>a </a:t>
            </a:r>
            <a:r>
              <a:rPr sz="1600" dirty="0">
                <a:latin typeface="Source Sans Pro"/>
                <a:cs typeface="Source Sans Pro"/>
              </a:rPr>
              <a:t>RNN,</a:t>
            </a:r>
            <a:r>
              <a:rPr sz="1600" spc="59" dirty="0">
                <a:latin typeface="Source Sans Pro"/>
                <a:cs typeface="Source Sans Pro"/>
              </a:rPr>
              <a:t> </a:t>
            </a:r>
            <a:r>
              <a:rPr sz="1600" spc="-119" dirty="0">
                <a:latin typeface="Source Sans Pro"/>
                <a:cs typeface="Source Sans Pro"/>
              </a:rPr>
              <a:t>and</a:t>
            </a:r>
            <a:r>
              <a:rPr sz="1600" spc="69" dirty="0">
                <a:latin typeface="Source Sans Pro"/>
                <a:cs typeface="Source Sans Pro"/>
              </a:rPr>
              <a:t> </a:t>
            </a:r>
            <a:r>
              <a:rPr sz="1600" spc="-168" dirty="0">
                <a:latin typeface="Source Sans Pro"/>
                <a:cs typeface="Source Sans Pro"/>
              </a:rPr>
              <a:t>performed</a:t>
            </a:r>
            <a:r>
              <a:rPr sz="1600" spc="69" dirty="0">
                <a:latin typeface="Source Sans Pro"/>
                <a:cs typeface="Source Sans Pro"/>
              </a:rPr>
              <a:t> </a:t>
            </a:r>
            <a:r>
              <a:rPr sz="1600" spc="-178" dirty="0">
                <a:latin typeface="Source Sans Pro"/>
                <a:cs typeface="Source Sans Pro"/>
              </a:rPr>
              <a:t>as</a:t>
            </a:r>
            <a:r>
              <a:rPr sz="1600" spc="69" dirty="0">
                <a:latin typeface="Source Sans Pro"/>
                <a:cs typeface="Source Sans Pro"/>
              </a:rPr>
              <a:t> </a:t>
            </a:r>
            <a:r>
              <a:rPr sz="1600" spc="-20" dirty="0">
                <a:latin typeface="Source Sans Pro"/>
                <a:cs typeface="Source Sans Pro"/>
              </a:rPr>
              <a:t>well.</a:t>
            </a:r>
            <a:endParaRPr sz="1600" dirty="0">
              <a:latin typeface="Source Sans Pro"/>
              <a:cs typeface="Source Sans Pro"/>
            </a:endParaRPr>
          </a:p>
          <a:p>
            <a:pPr marL="1197977" lvl="1" indent="-263001">
              <a:lnSpc>
                <a:spcPts val="2279"/>
              </a:lnSpc>
              <a:buClr>
                <a:srgbClr val="3333B3"/>
              </a:buClr>
              <a:buFont typeface="Menlo"/>
              <a:buChar char="•"/>
              <a:tabLst>
                <a:tab pos="1199236" algn="l"/>
              </a:tabLst>
            </a:pPr>
            <a:r>
              <a:rPr sz="1600" spc="-20" dirty="0">
                <a:latin typeface="Source Sans Pro"/>
                <a:cs typeface="Source Sans Pro"/>
              </a:rPr>
              <a:t>On</a:t>
            </a:r>
            <a:r>
              <a:rPr sz="1600" spc="-109" dirty="0">
                <a:latin typeface="Source Sans Pro"/>
                <a:cs typeface="Source Sans Pro"/>
              </a:rPr>
              <a:t> </a:t>
            </a:r>
            <a:r>
              <a:rPr sz="1600" spc="-99" dirty="0">
                <a:latin typeface="Source Sans Pro"/>
                <a:cs typeface="Source Sans Pro"/>
              </a:rPr>
              <a:t>the</a:t>
            </a:r>
            <a:r>
              <a:rPr sz="1600" spc="-30" dirty="0">
                <a:latin typeface="Source Sans Pro"/>
                <a:cs typeface="Source Sans Pro"/>
              </a:rPr>
              <a:t> </a:t>
            </a:r>
            <a:r>
              <a:rPr sz="1600" spc="-168" dirty="0">
                <a:solidFill>
                  <a:srgbClr val="990000"/>
                </a:solidFill>
                <a:latin typeface="Courier New"/>
                <a:cs typeface="Courier New"/>
              </a:rPr>
              <a:t>IMDB</a:t>
            </a:r>
            <a:r>
              <a:rPr sz="1600" spc="-565" dirty="0">
                <a:solidFill>
                  <a:srgbClr val="990000"/>
                </a:solidFill>
                <a:latin typeface="Courier New"/>
                <a:cs typeface="Courier New"/>
              </a:rPr>
              <a:t> </a:t>
            </a:r>
            <a:r>
              <a:rPr sz="1600" spc="-99" dirty="0">
                <a:latin typeface="Source Sans Pro"/>
                <a:cs typeface="Source Sans Pro"/>
              </a:rPr>
              <a:t>review</a:t>
            </a:r>
            <a:r>
              <a:rPr sz="1600" spc="-40" dirty="0">
                <a:latin typeface="Source Sans Pro"/>
                <a:cs typeface="Source Sans Pro"/>
              </a:rPr>
              <a:t> </a:t>
            </a:r>
            <a:r>
              <a:rPr sz="1600" spc="-89" dirty="0">
                <a:latin typeface="Source Sans Pro"/>
                <a:cs typeface="Source Sans Pro"/>
              </a:rPr>
              <a:t>data,</a:t>
            </a:r>
            <a:r>
              <a:rPr sz="1600" spc="-20" dirty="0">
                <a:latin typeface="Source Sans Pro"/>
                <a:cs typeface="Source Sans Pro"/>
              </a:rPr>
              <a:t> </a:t>
            </a:r>
            <a:r>
              <a:rPr sz="1600" spc="-99" dirty="0">
                <a:latin typeface="Source Sans Pro"/>
                <a:cs typeface="Source Sans Pro"/>
              </a:rPr>
              <a:t>the</a:t>
            </a:r>
            <a:r>
              <a:rPr sz="1600" spc="-30" dirty="0">
                <a:latin typeface="Source Sans Pro"/>
                <a:cs typeface="Source Sans Pro"/>
              </a:rPr>
              <a:t> </a:t>
            </a:r>
            <a:r>
              <a:rPr sz="1600" spc="-89" dirty="0">
                <a:latin typeface="Source Sans Pro"/>
                <a:cs typeface="Source Sans Pro"/>
              </a:rPr>
              <a:t>linear</a:t>
            </a:r>
            <a:r>
              <a:rPr sz="1600" spc="-40" dirty="0">
                <a:latin typeface="Source Sans Pro"/>
                <a:cs typeface="Source Sans Pro"/>
              </a:rPr>
              <a:t> </a:t>
            </a:r>
            <a:r>
              <a:rPr sz="1600" spc="-178" dirty="0">
                <a:latin typeface="Source Sans Pro"/>
                <a:cs typeface="Source Sans Pro"/>
              </a:rPr>
              <a:t>model</a:t>
            </a:r>
            <a:r>
              <a:rPr sz="1600" spc="-10" dirty="0">
                <a:latin typeface="Source Sans Pro"/>
                <a:cs typeface="Source Sans Pro"/>
              </a:rPr>
              <a:t> </a:t>
            </a:r>
            <a:r>
              <a:rPr sz="1600" spc="-20" dirty="0">
                <a:latin typeface="Source Sans Pro"/>
                <a:cs typeface="Source Sans Pro"/>
              </a:rPr>
              <a:t>fit </a:t>
            </a:r>
            <a:r>
              <a:rPr sz="1600" spc="-89" dirty="0">
                <a:latin typeface="Source Sans Pro"/>
                <a:cs typeface="Source Sans Pro"/>
              </a:rPr>
              <a:t>by</a:t>
            </a:r>
            <a:r>
              <a:rPr sz="1600" spc="-30" dirty="0">
                <a:latin typeface="Source Sans Pro"/>
                <a:cs typeface="Source Sans Pro"/>
              </a:rPr>
              <a:t> </a:t>
            </a:r>
            <a:r>
              <a:rPr sz="1600" spc="-168" dirty="0">
                <a:solidFill>
                  <a:srgbClr val="990000"/>
                </a:solidFill>
                <a:latin typeface="Courier New"/>
                <a:cs typeface="Courier New"/>
              </a:rPr>
              <a:t>glmnet</a:t>
            </a:r>
            <a:r>
              <a:rPr sz="1600" spc="-565" dirty="0">
                <a:solidFill>
                  <a:srgbClr val="990000"/>
                </a:solidFill>
                <a:latin typeface="Courier New"/>
                <a:cs typeface="Courier New"/>
              </a:rPr>
              <a:t> </a:t>
            </a:r>
            <a:r>
              <a:rPr sz="1600" spc="-50" dirty="0">
                <a:latin typeface="Source Sans Pro"/>
                <a:cs typeface="Source Sans Pro"/>
              </a:rPr>
              <a:t>did</a:t>
            </a:r>
            <a:endParaRPr sz="1600" dirty="0">
              <a:latin typeface="Source Sans Pro"/>
              <a:cs typeface="Source Sans Pro"/>
            </a:endParaRPr>
          </a:p>
          <a:p>
            <a:pPr marL="1197977">
              <a:lnSpc>
                <a:spcPts val="2378"/>
              </a:lnSpc>
            </a:pPr>
            <a:r>
              <a:rPr sz="1600" spc="-178" dirty="0">
                <a:latin typeface="Source Sans Pro"/>
                <a:cs typeface="Source Sans Pro"/>
              </a:rPr>
              <a:t>as</a:t>
            </a:r>
            <a:r>
              <a:rPr sz="1600" spc="20" dirty="0">
                <a:latin typeface="Source Sans Pro"/>
                <a:cs typeface="Source Sans Pro"/>
              </a:rPr>
              <a:t> </a:t>
            </a:r>
            <a:r>
              <a:rPr sz="1600" spc="-99" dirty="0">
                <a:latin typeface="Source Sans Pro"/>
                <a:cs typeface="Source Sans Pro"/>
              </a:rPr>
              <a:t>well</a:t>
            </a:r>
            <a:r>
              <a:rPr sz="1600" spc="-59" dirty="0">
                <a:latin typeface="Source Sans Pro"/>
                <a:cs typeface="Source Sans Pro"/>
              </a:rPr>
              <a:t> </a:t>
            </a:r>
            <a:r>
              <a:rPr sz="1600" spc="-178" dirty="0">
                <a:latin typeface="Source Sans Pro"/>
                <a:cs typeface="Source Sans Pro"/>
              </a:rPr>
              <a:t>as</a:t>
            </a:r>
            <a:r>
              <a:rPr sz="1600" spc="20" dirty="0">
                <a:latin typeface="Source Sans Pro"/>
                <a:cs typeface="Source Sans Pro"/>
              </a:rPr>
              <a:t> </a:t>
            </a:r>
            <a:r>
              <a:rPr sz="1600" spc="-89" dirty="0">
                <a:latin typeface="Source Sans Pro"/>
                <a:cs typeface="Source Sans Pro"/>
              </a:rPr>
              <a:t>the</a:t>
            </a:r>
            <a:r>
              <a:rPr sz="1600" spc="-69" dirty="0">
                <a:latin typeface="Source Sans Pro"/>
                <a:cs typeface="Source Sans Pro"/>
              </a:rPr>
              <a:t> </a:t>
            </a:r>
            <a:r>
              <a:rPr sz="1600" spc="-99" dirty="0">
                <a:latin typeface="Source Sans Pro"/>
                <a:cs typeface="Source Sans Pro"/>
              </a:rPr>
              <a:t>neural</a:t>
            </a:r>
            <a:r>
              <a:rPr sz="1600" spc="-40" dirty="0">
                <a:latin typeface="Source Sans Pro"/>
                <a:cs typeface="Source Sans Pro"/>
              </a:rPr>
              <a:t> </a:t>
            </a:r>
            <a:r>
              <a:rPr sz="1600" spc="-129" dirty="0">
                <a:latin typeface="Source Sans Pro"/>
                <a:cs typeface="Source Sans Pro"/>
              </a:rPr>
              <a:t>network,</a:t>
            </a:r>
            <a:r>
              <a:rPr sz="1600" spc="-20" dirty="0">
                <a:latin typeface="Source Sans Pro"/>
                <a:cs typeface="Source Sans Pro"/>
              </a:rPr>
              <a:t> </a:t>
            </a:r>
            <a:r>
              <a:rPr sz="1600" spc="-119" dirty="0">
                <a:latin typeface="Source Sans Pro"/>
                <a:cs typeface="Source Sans Pro"/>
              </a:rPr>
              <a:t>and</a:t>
            </a:r>
            <a:r>
              <a:rPr sz="1600" spc="-30" dirty="0">
                <a:latin typeface="Source Sans Pro"/>
                <a:cs typeface="Source Sans Pro"/>
              </a:rPr>
              <a:t> </a:t>
            </a:r>
            <a:r>
              <a:rPr sz="1600" spc="-79" dirty="0">
                <a:latin typeface="Source Sans Pro"/>
                <a:cs typeface="Source Sans Pro"/>
              </a:rPr>
              <a:t>better</a:t>
            </a:r>
            <a:r>
              <a:rPr sz="1600" spc="-20" dirty="0">
                <a:latin typeface="Source Sans Pro"/>
                <a:cs typeface="Source Sans Pro"/>
              </a:rPr>
              <a:t> </a:t>
            </a:r>
            <a:r>
              <a:rPr sz="1600" spc="-79" dirty="0">
                <a:latin typeface="Source Sans Pro"/>
                <a:cs typeface="Source Sans Pro"/>
              </a:rPr>
              <a:t>than</a:t>
            </a:r>
            <a:r>
              <a:rPr sz="1600" spc="-30" dirty="0">
                <a:latin typeface="Source Sans Pro"/>
                <a:cs typeface="Source Sans Pro"/>
              </a:rPr>
              <a:t> </a:t>
            </a:r>
            <a:r>
              <a:rPr sz="1600" spc="-89" dirty="0">
                <a:latin typeface="Source Sans Pro"/>
                <a:cs typeface="Source Sans Pro"/>
              </a:rPr>
              <a:t>the</a:t>
            </a:r>
            <a:r>
              <a:rPr sz="1600" spc="-20" dirty="0">
                <a:latin typeface="Source Sans Pro"/>
                <a:cs typeface="Source Sans Pro"/>
              </a:rPr>
              <a:t> </a:t>
            </a:r>
            <a:r>
              <a:rPr sz="1600" spc="-40" dirty="0">
                <a:latin typeface="Source Sans Pro"/>
                <a:cs typeface="Source Sans Pro"/>
              </a:rPr>
              <a:t>RNN.</a:t>
            </a:r>
            <a:endParaRPr sz="1600" dirty="0">
              <a:latin typeface="Source Sans Pro"/>
              <a:cs typeface="Source Sans Pro"/>
            </a:endParaRPr>
          </a:p>
          <a:p>
            <a:pPr marL="649324" marR="490768" indent="-275585">
              <a:lnSpc>
                <a:spcPct val="102600"/>
              </a:lnSpc>
              <a:spcBef>
                <a:spcPts val="40"/>
              </a:spcBef>
              <a:buClr>
                <a:srgbClr val="3333B3"/>
              </a:buClr>
              <a:buFont typeface="Menlo"/>
              <a:buChar char="•"/>
              <a:tabLst>
                <a:tab pos="650582" algn="l"/>
              </a:tabLst>
            </a:pPr>
            <a:r>
              <a:rPr dirty="0">
                <a:latin typeface="Source Sans Pro"/>
                <a:cs typeface="Source Sans Pro"/>
              </a:rPr>
              <a:t>We</a:t>
            </a:r>
            <a:r>
              <a:rPr spc="30" dirty="0">
                <a:latin typeface="Source Sans Pro"/>
                <a:cs typeface="Source Sans Pro"/>
              </a:rPr>
              <a:t> </a:t>
            </a:r>
            <a:r>
              <a:rPr spc="-218" dirty="0">
                <a:latin typeface="Source Sans Pro"/>
                <a:cs typeface="Source Sans Pro"/>
              </a:rPr>
              <a:t>endorse</a:t>
            </a:r>
            <a:r>
              <a:rPr spc="40" dirty="0">
                <a:latin typeface="Source Sans Pro"/>
                <a:cs typeface="Source Sans Pro"/>
              </a:rPr>
              <a:t> </a:t>
            </a:r>
            <a:r>
              <a:rPr spc="-119" dirty="0">
                <a:latin typeface="Source Sans Pro"/>
                <a:cs typeface="Source Sans Pro"/>
              </a:rPr>
              <a:t>the</a:t>
            </a:r>
            <a:r>
              <a:rPr spc="40" dirty="0">
                <a:latin typeface="Source Sans Pro"/>
                <a:cs typeface="Source Sans Pro"/>
              </a:rPr>
              <a:t> </a:t>
            </a:r>
            <a:r>
              <a:rPr i="1" spc="-218" dirty="0">
                <a:solidFill>
                  <a:srgbClr val="009900"/>
                </a:solidFill>
                <a:latin typeface="Menlo"/>
                <a:cs typeface="Menlo"/>
              </a:rPr>
              <a:t>Occam’s</a:t>
            </a:r>
            <a:r>
              <a:rPr i="1" spc="-535" dirty="0">
                <a:solidFill>
                  <a:srgbClr val="009900"/>
                </a:solidFill>
                <a:latin typeface="Menlo"/>
                <a:cs typeface="Menlo"/>
              </a:rPr>
              <a:t> </a:t>
            </a:r>
            <a:r>
              <a:rPr i="1" spc="-377" dirty="0">
                <a:solidFill>
                  <a:srgbClr val="009900"/>
                </a:solidFill>
                <a:latin typeface="Menlo"/>
                <a:cs typeface="Menlo"/>
              </a:rPr>
              <a:t>razor</a:t>
            </a:r>
            <a:r>
              <a:rPr i="1" spc="-575" dirty="0">
                <a:solidFill>
                  <a:srgbClr val="009900"/>
                </a:solidFill>
                <a:latin typeface="Menlo"/>
                <a:cs typeface="Menlo"/>
              </a:rPr>
              <a:t> </a:t>
            </a:r>
            <a:r>
              <a:rPr spc="-99" dirty="0">
                <a:latin typeface="Source Sans Pro"/>
                <a:cs typeface="Source Sans Pro"/>
              </a:rPr>
              <a:t>principal</a:t>
            </a:r>
            <a:r>
              <a:rPr spc="30" dirty="0">
                <a:latin typeface="Source Sans Pro"/>
                <a:cs typeface="Source Sans Pro"/>
              </a:rPr>
              <a:t> </a:t>
            </a:r>
            <a:r>
              <a:rPr dirty="0">
                <a:latin typeface="Source Sans Pro"/>
                <a:cs typeface="Source Sans Pro"/>
              </a:rPr>
              <a:t>—</a:t>
            </a:r>
            <a:r>
              <a:rPr spc="40" dirty="0">
                <a:latin typeface="Source Sans Pro"/>
                <a:cs typeface="Source Sans Pro"/>
              </a:rPr>
              <a:t> </a:t>
            </a:r>
            <a:r>
              <a:rPr spc="-226" dirty="0">
                <a:latin typeface="Source Sans Pro"/>
                <a:cs typeface="Source Sans Pro"/>
              </a:rPr>
              <a:t>we</a:t>
            </a:r>
            <a:r>
              <a:rPr spc="40" dirty="0">
                <a:latin typeface="Source Sans Pro"/>
                <a:cs typeface="Source Sans Pro"/>
              </a:rPr>
              <a:t> </a:t>
            </a:r>
            <a:r>
              <a:rPr spc="-20" dirty="0">
                <a:latin typeface="Source Sans Pro"/>
                <a:cs typeface="Source Sans Pro"/>
              </a:rPr>
              <a:t>prefer </a:t>
            </a:r>
            <a:r>
              <a:rPr spc="-159" dirty="0">
                <a:latin typeface="Source Sans Pro"/>
                <a:cs typeface="Source Sans Pro"/>
              </a:rPr>
              <a:t>simpler</a:t>
            </a:r>
            <a:r>
              <a:rPr spc="-20" dirty="0">
                <a:latin typeface="Source Sans Pro"/>
                <a:cs typeface="Source Sans Pro"/>
              </a:rPr>
              <a:t> </a:t>
            </a:r>
            <a:r>
              <a:rPr spc="-208" dirty="0">
                <a:latin typeface="Source Sans Pro"/>
                <a:cs typeface="Source Sans Pro"/>
              </a:rPr>
              <a:t>models</a:t>
            </a:r>
            <a:r>
              <a:rPr spc="30" dirty="0">
                <a:latin typeface="Source Sans Pro"/>
                <a:cs typeface="Source Sans Pro"/>
              </a:rPr>
              <a:t> </a:t>
            </a:r>
            <a:r>
              <a:rPr dirty="0">
                <a:latin typeface="Source Sans Pro"/>
                <a:cs typeface="Source Sans Pro"/>
              </a:rPr>
              <a:t>if</a:t>
            </a:r>
            <a:r>
              <a:rPr spc="-168" dirty="0">
                <a:latin typeface="Source Sans Pro"/>
                <a:cs typeface="Source Sans Pro"/>
              </a:rPr>
              <a:t> </a:t>
            </a:r>
            <a:r>
              <a:rPr spc="-69" dirty="0">
                <a:latin typeface="Source Sans Pro"/>
                <a:cs typeface="Source Sans Pro"/>
              </a:rPr>
              <a:t>they</a:t>
            </a:r>
            <a:r>
              <a:rPr spc="-79" dirty="0">
                <a:latin typeface="Source Sans Pro"/>
                <a:cs typeface="Source Sans Pro"/>
              </a:rPr>
              <a:t> </a:t>
            </a:r>
            <a:r>
              <a:rPr spc="-159" dirty="0">
                <a:latin typeface="Source Sans Pro"/>
                <a:cs typeface="Source Sans Pro"/>
              </a:rPr>
              <a:t>work</a:t>
            </a:r>
            <a:r>
              <a:rPr spc="-10" dirty="0">
                <a:latin typeface="Source Sans Pro"/>
                <a:cs typeface="Source Sans Pro"/>
              </a:rPr>
              <a:t> </a:t>
            </a:r>
            <a:r>
              <a:rPr spc="-198" dirty="0">
                <a:latin typeface="Source Sans Pro"/>
                <a:cs typeface="Source Sans Pro"/>
              </a:rPr>
              <a:t>as</a:t>
            </a:r>
            <a:r>
              <a:rPr spc="20" dirty="0">
                <a:latin typeface="Source Sans Pro"/>
                <a:cs typeface="Source Sans Pro"/>
              </a:rPr>
              <a:t> </a:t>
            </a:r>
            <a:r>
              <a:rPr spc="-69" dirty="0">
                <a:latin typeface="Source Sans Pro"/>
                <a:cs typeface="Source Sans Pro"/>
              </a:rPr>
              <a:t>well.</a:t>
            </a:r>
            <a:r>
              <a:rPr spc="178" dirty="0">
                <a:latin typeface="Source Sans Pro"/>
                <a:cs typeface="Source Sans Pro"/>
              </a:rPr>
              <a:t> </a:t>
            </a:r>
            <a:r>
              <a:rPr spc="-99" dirty="0">
                <a:latin typeface="Source Sans Pro"/>
                <a:cs typeface="Source Sans Pro"/>
              </a:rPr>
              <a:t>More</a:t>
            </a:r>
            <a:r>
              <a:rPr spc="-30" dirty="0">
                <a:latin typeface="Source Sans Pro"/>
                <a:cs typeface="Source Sans Pro"/>
              </a:rPr>
              <a:t> </a:t>
            </a:r>
            <a:r>
              <a:rPr spc="-119" dirty="0">
                <a:latin typeface="Source Sans Pro"/>
                <a:cs typeface="Source Sans Pro"/>
              </a:rPr>
              <a:t>interpretable!</a:t>
            </a:r>
            <a:endParaRPr dirty="0">
              <a:latin typeface="Source Sans Pro"/>
              <a:cs typeface="Source Sans Pro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6385F04E-6FB1-51F8-FFC7-1ADCF879F4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pc="119" dirty="0"/>
              <a:t>When</a:t>
            </a:r>
            <a:r>
              <a:rPr lang="en-US" spc="317" dirty="0"/>
              <a:t> </a:t>
            </a:r>
            <a:r>
              <a:rPr lang="en-US" spc="149" dirty="0"/>
              <a:t>to</a:t>
            </a:r>
            <a:r>
              <a:rPr lang="en-US" spc="337" dirty="0"/>
              <a:t> </a:t>
            </a:r>
            <a:r>
              <a:rPr lang="en-US" dirty="0"/>
              <a:t>Use</a:t>
            </a:r>
            <a:r>
              <a:rPr lang="en-US" spc="327" dirty="0"/>
              <a:t> </a:t>
            </a:r>
            <a:r>
              <a:rPr lang="en-US" dirty="0"/>
              <a:t>Deep</a:t>
            </a:r>
            <a:r>
              <a:rPr lang="en-US" spc="327" dirty="0"/>
              <a:t> </a:t>
            </a:r>
            <a:r>
              <a:rPr lang="en-US" spc="-20" dirty="0"/>
              <a:t>Learning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F589266-979B-67F6-CB7C-653E4762C4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12225-5612-419B-A8D5-4B8EEE4C217E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57462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 [1783534571199]">
  <a:themeElements>
    <a:clrScheme name="Office">
      <a:dk1>
        <a:srgbClr val="262523"/>
      </a:dk1>
      <a:lt1>
        <a:srgbClr val="F7F5F0"/>
      </a:lt1>
      <a:dk2>
        <a:srgbClr val="2F4858"/>
      </a:dk2>
      <a:lt2>
        <a:srgbClr val="E8E3D9"/>
      </a:lt2>
      <a:accent1>
        <a:srgbClr val="3B6E8F"/>
      </a:accent1>
      <a:accent2>
        <a:srgbClr val="6B8F71"/>
      </a:accent2>
      <a:accent3>
        <a:srgbClr val="B08968"/>
      </a:accent3>
      <a:accent4>
        <a:srgbClr val="8C8577"/>
      </a:accent4>
      <a:accent5>
        <a:srgbClr val="C9A227"/>
      </a:accent5>
      <a:accent6>
        <a:srgbClr val="A65A43"/>
      </a:accent6>
      <a:hlink>
        <a:srgbClr val="467886"/>
      </a:hlink>
      <a:folHlink>
        <a:srgbClr val="96607D"/>
      </a:folHlink>
    </a:clrScheme>
    <a:fontScheme name="Office">
      <a:majorFont>
        <a:latin typeface="Montserra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Source Sans Pro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56376BD1-24E3-754B-BD38-892818C05043}">
  <we:reference id="wa200010725" version="1.0.0.1" store="en-US" storeType="OMEX"/>
  <we:alternateReferences>
    <we:reference id="wa200010725" version="1.0.0.1" store="en-US" storeType="OMEX"/>
  </we:alternateReferences>
  <we:properties>
    <we:property name="claude.fileId" value="&quot;49656f29-c6d0-4974-95fb-343cb0d09bbc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1706</Words>
  <Application>Microsoft Macintosh PowerPoint</Application>
  <PresentationFormat>Widescreen</PresentationFormat>
  <Paragraphs>166</Paragraphs>
  <Slides>19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32" baseType="lpstr">
      <vt:lpstr>Meiryo UI</vt:lpstr>
      <vt:lpstr>Aptos</vt:lpstr>
      <vt:lpstr>Arial</vt:lpstr>
      <vt:lpstr>Cambria Math</vt:lpstr>
      <vt:lpstr>Corbel</vt:lpstr>
      <vt:lpstr>Courier New</vt:lpstr>
      <vt:lpstr>Georgia</vt:lpstr>
      <vt:lpstr>Helvetica</vt:lpstr>
      <vt:lpstr>Menlo</vt:lpstr>
      <vt:lpstr>Montserrat</vt:lpstr>
      <vt:lpstr>News Gothic Std</vt:lpstr>
      <vt:lpstr>Source Sans Pro</vt:lpstr>
      <vt:lpstr>Office Theme [1783534571199]</vt:lpstr>
      <vt:lpstr>Recurrent Neural Networks</vt:lpstr>
      <vt:lpstr>Recurrent Neural Networks</vt:lpstr>
      <vt:lpstr>Recurrent Neural Networks</vt:lpstr>
      <vt:lpstr>Recurrent Neural Networks</vt:lpstr>
      <vt:lpstr>Simple Recurrent Neural Network Architecture</vt:lpstr>
      <vt:lpstr>RNN in Detail</vt:lpstr>
      <vt:lpstr>Outline </vt:lpstr>
      <vt:lpstr>RNN and IMDB Reviews</vt:lpstr>
      <vt:lpstr>Word Embedding</vt:lpstr>
      <vt:lpstr>RNN on IMDB Reviews</vt:lpstr>
      <vt:lpstr>Outline </vt:lpstr>
      <vt:lpstr>Time Series Forecasting</vt:lpstr>
      <vt:lpstr>New-York Stock Exchange Data</vt:lpstr>
      <vt:lpstr>RNN Forecaster</vt:lpstr>
      <vt:lpstr>RNN Results for NYSE Data</vt:lpstr>
      <vt:lpstr>Autoregression  Forecaster</vt:lpstr>
      <vt:lpstr>Autoregression Results for NYSE Data</vt:lpstr>
      <vt:lpstr>Summary of RNNs</vt:lpstr>
      <vt:lpstr>When to Use Deep Learning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Dantong Yu</dc:creator>
  <cp:lastModifiedBy>Dantong Yu</cp:lastModifiedBy>
  <cp:revision>8</cp:revision>
  <dcterms:created xsi:type="dcterms:W3CDTF">2026-07-08T17:57:25Z</dcterms:created>
  <dcterms:modified xsi:type="dcterms:W3CDTF">2026-07-08T18:17:27Z</dcterms:modified>
</cp:coreProperties>
</file>