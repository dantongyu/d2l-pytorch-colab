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1"/>
  </p:notesMasterIdLst>
  <p:sldIdLst>
    <p:sldId id="394" r:id="rId2"/>
    <p:sldId id="367" r:id="rId3"/>
    <p:sldId id="368" r:id="rId4"/>
    <p:sldId id="396" r:id="rId5"/>
    <p:sldId id="409" r:id="rId6"/>
    <p:sldId id="397" r:id="rId7"/>
    <p:sldId id="377" r:id="rId8"/>
    <p:sldId id="398" r:id="rId9"/>
    <p:sldId id="399" r:id="rId10"/>
    <p:sldId id="400" r:id="rId11"/>
    <p:sldId id="376" r:id="rId12"/>
    <p:sldId id="401" r:id="rId13"/>
    <p:sldId id="402" r:id="rId14"/>
    <p:sldId id="403" r:id="rId15"/>
    <p:sldId id="404" r:id="rId16"/>
    <p:sldId id="405" r:id="rId17"/>
    <p:sldId id="406" r:id="rId18"/>
    <p:sldId id="407" r:id="rId19"/>
    <p:sldId id="40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5"/>
    <p:restoredTop sz="96349"/>
  </p:normalViewPr>
  <p:slideViewPr>
    <p:cSldViewPr snapToGrid="0">
      <p:cViewPr varScale="1">
        <p:scale>
          <a:sx n="112" d="100"/>
          <a:sy n="112" d="100"/>
        </p:scale>
        <p:origin x="200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2ADDB0-B6F9-1548-A2B0-B53C6DE44FC0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63A5C7-4FA3-EF44-87A7-667CA384B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346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184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170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A_{l} = g(\omega_{0\,}+ WX_{l\,}+ UA_{l-1}), where W\in R^K\times p</a:t>
            </a:r>
          </a:p>
          <a:p>
            <a:endParaRPr lang="en-US" dirty="0"/>
          </a:p>
          <a:p>
            <a:r>
              <a:rPr lang="en-US" dirty="0"/>
              <a:t>\sum_{</a:t>
            </a:r>
            <a:r>
              <a:rPr lang="en-US" dirty="0" err="1"/>
              <a:t>i</a:t>
            </a:r>
            <a:r>
              <a:rPr lang="en-US" dirty="0"/>
              <a:t>=1}^n(</a:t>
            </a:r>
            <a:r>
              <a:rPr lang="en-US" dirty="0" err="1"/>
              <a:t>y_i</a:t>
            </a:r>
            <a:r>
              <a:rPr lang="en-US" dirty="0"/>
              <a:t> – o_{il})^2 =\sum_{</a:t>
            </a:r>
            <a:r>
              <a:rPr lang="en-US" dirty="0" err="1"/>
              <a:t>i</a:t>
            </a:r>
            <a:r>
              <a:rPr lang="en-US" dirty="0"/>
              <a:t>=1}^n(</a:t>
            </a:r>
            <a:r>
              <a:rPr lang="en-US" dirty="0" err="1"/>
              <a:t>y_i</a:t>
            </a:r>
            <a:r>
              <a:rPr lang="en-US" dirty="0"/>
              <a:t> - (\beta_0 + \Beta \</a:t>
            </a:r>
            <a:r>
              <a:rPr lang="en-US" dirty="0" err="1"/>
              <a:t>cdot</a:t>
            </a:r>
            <a:r>
              <a:rPr lang="en-US" dirty="0"/>
              <a:t> g(\omega_0 +WX_{</a:t>
            </a:r>
            <a:r>
              <a:rPr lang="en-US" dirty="0" err="1"/>
              <a:t>iL</a:t>
            </a:r>
            <a:r>
              <a:rPr lang="en-US" dirty="0"/>
              <a:t>}+  UA_{I,L-1}  )))^2</a:t>
            </a:r>
          </a:p>
          <a:p>
            <a:endParaRPr lang="en-US" dirty="0"/>
          </a:p>
          <a:p>
            <a:r>
              <a:rPr lang="en-US" dirty="0"/>
              <a:t>\sum_{</a:t>
            </a:r>
            <a:r>
              <a:rPr lang="en-US" dirty="0" err="1"/>
              <a:t>i</a:t>
            </a:r>
            <a:r>
              <a:rPr lang="en-US" dirty="0"/>
              <a:t>=1}^{n}(y_{</a:t>
            </a:r>
            <a:r>
              <a:rPr lang="en-US" dirty="0" err="1"/>
              <a:t>i</a:t>
            </a:r>
            <a:r>
              <a:rPr lang="en-US" dirty="0"/>
              <a:t>} - o_{il})^{2} ==\sum_{</a:t>
            </a:r>
            <a:r>
              <a:rPr lang="en-US" dirty="0" err="1"/>
              <a:t>i</a:t>
            </a:r>
            <a:r>
              <a:rPr lang="en-US" dirty="0"/>
              <a:t>=1}^{n}\left(y_{</a:t>
            </a:r>
            <a:r>
              <a:rPr lang="en-US" dirty="0" err="1"/>
              <a:t>i</a:t>
            </a:r>
            <a:r>
              <a:rPr lang="en-US" dirty="0"/>
              <a:t>\,}-\left(\right)\beta_{0} +B \</a:t>
            </a:r>
            <a:r>
              <a:rPr lang="en-US" dirty="0" err="1"/>
              <a:t>cdot</a:t>
            </a:r>
            <a:r>
              <a:rPr lang="en-US" dirty="0"/>
              <a:t> g(\omega_{0} +WX_{</a:t>
            </a:r>
            <a:r>
              <a:rPr lang="en-US" dirty="0" err="1"/>
              <a:t>iL</a:t>
            </a:r>
            <a:r>
              <a:rPr lang="en-US" dirty="0"/>
              <a:t>}+  UA_{I,L-1})\right)^{2}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801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762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61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11D2-02E7-FA1D-0A85-230B24410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38108B-60CF-D53D-0BD2-C0B04A0343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F872-B9B6-6EEB-7392-350301E41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3049C-F362-B2C0-33E3-E09E4F2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01A36-8592-996B-C083-4D0B5176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77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D7BF1-51D2-E9F0-3D71-4F1831B10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72C-4218-FCA1-9A91-6116F7CEC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6518F-B3F3-B868-D2EF-E1360F73E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A0C5-F7B8-BD5E-22E7-DEDDF0E4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5BEF1-CCBA-F49C-70CD-CBE94FE72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13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54D58-D0DB-6247-A9F4-CCD816F53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39D700-9CF8-8DF2-78E6-9B42420E9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DEB1C-6E11-3307-2E04-47BBBAEEF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B71C1-6AB4-098D-1A15-3754570B5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6E379-D4B4-BF8F-4FB1-2CCA9E55B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21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C08FA-2619-B0C7-6454-5BE5103A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189C2-D28B-8EF7-E3AB-DDF12A0F5F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2E3E5-291A-9C13-B02B-ECA7834A7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8D730B-41EE-B9A8-4DA4-8AF3BF302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156F1-CF65-9B42-96AC-AD0B12126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042C8-D747-1896-E464-F12EEFBA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372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EC06-09B3-1ED8-51EF-EE52031A9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764E7-1983-C5BC-C251-C698B4128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6E559-1954-4399-30A3-25AB5B4E5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6F4E1-682F-8537-4F2E-C0D05C36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AC6FAE-66B8-C776-71C3-0AABB081C4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EEDF7-0EC1-7B99-91A9-0BE7C9F3F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4C2118-B69F-61AC-1F82-1099A0D1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F73213-EF78-DACB-0999-07F4C4B96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449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29F49-FD80-6869-734B-753867C7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51069D-2A28-14C6-5B42-75F3DE619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D965B-EA3D-87A2-B21F-681F295A6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1A93A8-74A5-D14F-B1E7-8CFE37AFD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587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D80CE-C61A-35CB-3233-D1454DAB6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23566-D12B-139B-81A2-87A853CC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73B62-C7E3-37A8-0E18-66CAB350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88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421DE-50FD-42DE-5363-BA6BBB80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83DEE-CF59-0271-4FD4-F5F622BF5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D08AE2-2F21-D182-94A7-939B43BD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E13FFD-E9A2-F66B-79AE-81989BD57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5F65E1-1318-1A42-BEE1-F7EC41AE1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A2A09-F683-B0AC-15E5-26A48891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8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7D3D0-D129-2BC7-A4C4-5945D5B4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EB64A4-3D17-BBF0-1B2C-2D7559CA9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CF3D10-A695-08AF-C0D4-B7C988F140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F0F3F0-4C62-2CDF-529F-B06A6AF55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B8C834-BF2D-6C2C-8916-B51C96D0C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BBF08-64C3-8871-1161-9A0E6884B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91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E9D3-FFFB-24A1-98C9-3942CA7A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F4375C-C2E0-C1B8-5A7E-E3298FF51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8FCEA-687C-E816-A870-DE0820EF3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5FDF3-6558-BB97-C94A-C1AE7556A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8F621-DB7F-CDCD-19BF-19EC55C78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351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3AF770-388E-3510-436E-ABAC02BE0B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17FF7C-F5C9-DA74-5B62-9E4E56F34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C6E6F-58D3-7D48-DFFC-9AB67A262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8E5E5-7A83-7A7A-001A-0F41D1B4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CB406-05AF-ADC7-965B-562C1B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266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162351-22CC-4462-7F9F-0DE1A9FEC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C9DE-9403-D2EB-E5E3-A9E88B631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68E92-06EA-E128-C202-CB39778CF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0AD7-8C75-C704-D7EA-BE9F09140E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F270F-CE63-966E-84DE-F190C44C4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  <p:sp>
        <p:nvSpPr>
          <p:cNvPr id="9001" name="Accent Bar"/>
          <p:cNvSpPr/>
          <p:nvPr/>
        </p:nvSpPr>
        <p:spPr>
          <a:xfrm>
            <a:off x="0" y="6794500"/>
            <a:ext cx="12192000" cy="63500"/>
          </a:xfrm>
          <a:prstGeom prst="rect">
            <a:avLst/>
          </a:prstGeom>
          <a:solidFill>
            <a:srgbClr val="3B6E8F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4348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2F4858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6252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withcode.com/sota/sentiment-analysis-on-imd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C41852-89C0-D645-96D5-9AD4D45FB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856935"/>
            <a:ext cx="9144000" cy="5144130"/>
          </a:xfrm>
          <a:prstGeom prst="rect">
            <a:avLst/>
          </a:prstGeom>
        </p:spPr>
      </p:pic>
      <p:sp>
        <p:nvSpPr>
          <p:cNvPr id="5" name="Title 2">
            <a:extLst>
              <a:ext uri="{FF2B5EF4-FFF2-40B4-BE49-F238E27FC236}">
                <a16:creationId xmlns:a16="http://schemas.microsoft.com/office/drawing/2014/main" id="{42CB744A-98BD-02FF-7929-981E3BEC9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545" y="-86819"/>
            <a:ext cx="10515600" cy="1325563"/>
          </a:xfrm>
        </p:spPr>
        <p:txBody>
          <a:bodyPr/>
          <a:lstStyle/>
          <a:p>
            <a:r>
              <a:rPr lang="en-US" dirty="0"/>
              <a:t>Recurrent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248067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7EF9C5F-368B-634A-B642-93E3B0E60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914400"/>
            <a:ext cx="9144000" cy="5144130"/>
          </a:xfrm>
          <a:prstGeom prst="rect">
            <a:avLst/>
          </a:prstGeom>
        </p:spPr>
      </p:pic>
      <p:sp>
        <p:nvSpPr>
          <p:cNvPr id="5" name="Title 2">
            <a:extLst>
              <a:ext uri="{FF2B5EF4-FFF2-40B4-BE49-F238E27FC236}">
                <a16:creationId xmlns:a16="http://schemas.microsoft.com/office/drawing/2014/main" id="{A94242A1-8B70-273C-AE9E-BF771D50B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470" y="0"/>
            <a:ext cx="10515600" cy="1325563"/>
          </a:xfrm>
        </p:spPr>
        <p:txBody>
          <a:bodyPr/>
          <a:lstStyle/>
          <a:p>
            <a:r>
              <a:rPr lang="en-US" dirty="0"/>
              <a:t>Recurrent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767370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4000" y="857070"/>
            <a:ext cx="9144000" cy="514348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A45DE57-04FA-5A69-DACA-0401EFA8A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4935"/>
            <a:ext cx="10515600" cy="1325563"/>
          </a:xfrm>
        </p:spPr>
        <p:txBody>
          <a:bodyPr/>
          <a:lstStyle/>
          <a:p>
            <a:r>
              <a:rPr lang="en-US" dirty="0"/>
              <a:t>Recurrent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5038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5168">
              <a:spcBef>
                <a:spcPts val="268"/>
              </a:spcBef>
            </a:pPr>
            <a:r>
              <a:rPr spc="109" dirty="0"/>
              <a:t>Recurrent</a:t>
            </a:r>
            <a:r>
              <a:rPr spc="495" dirty="0"/>
              <a:t> </a:t>
            </a:r>
            <a:r>
              <a:rPr dirty="0"/>
              <a:t>Neural</a:t>
            </a:r>
            <a:r>
              <a:rPr spc="495" dirty="0"/>
              <a:t> </a:t>
            </a:r>
            <a:r>
              <a:rPr spc="-20" dirty="0"/>
              <a:t>Networks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5B2F29-2C16-3510-BECC-AC5B9AAD4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FCB616-2C4B-6737-2FA4-DCE98D0EE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1006367" y="1114097"/>
            <a:ext cx="9440916" cy="5386430"/>
          </a:xfrm>
          <a:prstGeom prst="rect">
            <a:avLst/>
          </a:prstGeom>
        </p:spPr>
        <p:txBody>
          <a:bodyPr vert="horz" wrap="square" lIns="0" tIns="52851" rIns="0" bIns="0" rtlCol="0">
            <a:normAutofit/>
          </a:bodyPr>
          <a:lstStyle/>
          <a:p>
            <a:pPr marL="100670">
              <a:spcBef>
                <a:spcPts val="416"/>
              </a:spcBef>
            </a:pPr>
            <a:r>
              <a:rPr sz="2400" spc="-109" dirty="0">
                <a:latin typeface="Source Sans Pro"/>
                <a:cs typeface="Source Sans Pro"/>
              </a:rPr>
              <a:t>Often</a:t>
            </a:r>
            <a:r>
              <a:rPr sz="2400" spc="-3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data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arise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sequences:</a:t>
            </a:r>
            <a:endParaRPr sz="2400" dirty="0">
              <a:latin typeface="Source Sans Pro"/>
              <a:cs typeface="Source Sans Pro"/>
            </a:endParaRPr>
          </a:p>
          <a:p>
            <a:pPr marL="649324" marR="449241" indent="-275585">
              <a:lnSpc>
                <a:spcPct val="102600"/>
              </a:lnSpc>
              <a:spcBef>
                <a:spcPts val="14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78" dirty="0">
                <a:latin typeface="Source Sans Pro"/>
                <a:cs typeface="Source Sans Pro"/>
              </a:rPr>
              <a:t>Documents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are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238" dirty="0">
                <a:latin typeface="Source Sans Pro"/>
                <a:cs typeface="Source Sans Pro"/>
              </a:rPr>
              <a:t>sequences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words,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and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their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relative </a:t>
            </a:r>
            <a:r>
              <a:rPr sz="2400" spc="-168" dirty="0">
                <a:latin typeface="Source Sans Pro"/>
                <a:cs typeface="Source Sans Pro"/>
              </a:rPr>
              <a:t>positions</a:t>
            </a:r>
            <a:r>
              <a:rPr sz="2400" spc="79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have</a:t>
            </a:r>
            <a:r>
              <a:rPr sz="2400" spc="89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meaning.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3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98" dirty="0">
                <a:latin typeface="Source Sans Pro"/>
                <a:cs typeface="Source Sans Pro"/>
              </a:rPr>
              <a:t>Time-series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weather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data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financial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indices.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2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49" dirty="0">
                <a:latin typeface="Source Sans Pro"/>
                <a:cs typeface="Source Sans Pro"/>
              </a:rPr>
              <a:t>Recorded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226" dirty="0">
                <a:latin typeface="Source Sans Pro"/>
                <a:cs typeface="Source Sans Pro"/>
              </a:rPr>
              <a:t>speech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music.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2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99" dirty="0">
                <a:latin typeface="Source Sans Pro"/>
                <a:cs typeface="Source Sans Pro"/>
              </a:rPr>
              <a:t>Handwriting,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doctor’s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notes.</a:t>
            </a:r>
            <a:endParaRPr sz="2400" dirty="0">
              <a:latin typeface="Source Sans Pro"/>
              <a:cs typeface="Source Sans Pro"/>
            </a:endParaRPr>
          </a:p>
          <a:p>
            <a:pPr marL="100670" marR="459309">
              <a:lnSpc>
                <a:spcPct val="102600"/>
              </a:lnSpc>
              <a:spcBef>
                <a:spcPts val="149"/>
              </a:spcBef>
            </a:pPr>
            <a:r>
              <a:rPr sz="2400" dirty="0">
                <a:latin typeface="Source Sans Pro"/>
                <a:cs typeface="Source Sans Pro"/>
              </a:rPr>
              <a:t>RNNs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build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models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that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take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into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account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this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sequential </a:t>
            </a:r>
            <a:r>
              <a:rPr sz="2400" spc="-119" dirty="0">
                <a:latin typeface="Source Sans Pro"/>
                <a:cs typeface="Source Sans Pro"/>
              </a:rPr>
              <a:t>nature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79" dirty="0">
                <a:latin typeface="Source Sans Pro"/>
                <a:cs typeface="Source Sans Pro"/>
              </a:rPr>
              <a:t>data,</a:t>
            </a:r>
            <a:r>
              <a:rPr sz="2400" spc="-4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and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build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memory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40" dirty="0">
                <a:latin typeface="Source Sans Pro"/>
                <a:cs typeface="Source Sans Pro"/>
              </a:rPr>
              <a:t>past.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20" dirty="0">
                <a:latin typeface="Source Sans Pro"/>
                <a:cs typeface="Source Sans Pro"/>
              </a:rPr>
              <a:t>The</a:t>
            </a:r>
            <a:r>
              <a:rPr sz="2400" spc="-79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feature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for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each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observation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dirty="0">
                <a:latin typeface="Source Sans Pro"/>
                <a:cs typeface="Source Sans Pro"/>
              </a:rPr>
              <a:t> a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i="1" spc="-337" dirty="0">
                <a:solidFill>
                  <a:srgbClr val="009900"/>
                </a:solidFill>
                <a:latin typeface="Menlo"/>
                <a:cs typeface="Menlo"/>
              </a:rPr>
              <a:t>sequence</a:t>
            </a:r>
            <a:r>
              <a:rPr sz="2400" i="1" spc="-59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vectors</a:t>
            </a:r>
            <a:endParaRPr sz="2400" dirty="0">
              <a:latin typeface="Source Sans Pro"/>
              <a:cs typeface="Source Sans Pro"/>
            </a:endParaRPr>
          </a:p>
          <a:p>
            <a:pPr marL="649324">
              <a:spcBef>
                <a:spcPts val="69"/>
              </a:spcBef>
            </a:pPr>
            <a:r>
              <a:rPr sz="2400" spc="416" dirty="0">
                <a:latin typeface="Source Sans Pro"/>
                <a:cs typeface="Source Sans Pro"/>
              </a:rPr>
              <a:t>X</a:t>
            </a:r>
            <a:r>
              <a:rPr sz="2400" spc="129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=</a:t>
            </a:r>
            <a:r>
              <a:rPr sz="2400" spc="-40" dirty="0">
                <a:latin typeface="Source Sans Pro"/>
                <a:cs typeface="Source Sans Pro"/>
              </a:rPr>
              <a:t> </a:t>
            </a:r>
            <a:r>
              <a:rPr sz="2400" i="1" dirty="0">
                <a:latin typeface="Menlo"/>
                <a:cs typeface="Menlo"/>
              </a:rPr>
              <a:t>{</a:t>
            </a:r>
            <a:r>
              <a:rPr sz="2400" dirty="0">
                <a:latin typeface="Source Sans Pro"/>
                <a:cs typeface="Source Sans Pro"/>
              </a:rPr>
              <a:t>X</a:t>
            </a:r>
            <a:r>
              <a:rPr sz="2400" baseline="-10416" dirty="0">
                <a:latin typeface="Source Sans Pro"/>
                <a:cs typeface="Source Sans Pro"/>
              </a:rPr>
              <a:t>1</a:t>
            </a:r>
            <a:r>
              <a:rPr sz="2400" dirty="0">
                <a:latin typeface="Source Sans Pro"/>
                <a:cs typeface="Source Sans Pro"/>
              </a:rPr>
              <a:t>,</a:t>
            </a:r>
            <a:r>
              <a:rPr sz="2400" spc="-297" dirty="0">
                <a:latin typeface="Source Sans Pro"/>
                <a:cs typeface="Source Sans Pro"/>
              </a:rPr>
              <a:t> </a:t>
            </a:r>
            <a:r>
              <a:rPr sz="2400" spc="178" dirty="0">
                <a:latin typeface="Source Sans Pro"/>
                <a:cs typeface="Source Sans Pro"/>
              </a:rPr>
              <a:t>X</a:t>
            </a:r>
            <a:r>
              <a:rPr sz="2400" spc="268" baseline="-10416" dirty="0">
                <a:latin typeface="Source Sans Pro"/>
                <a:cs typeface="Source Sans Pro"/>
              </a:rPr>
              <a:t>2</a:t>
            </a:r>
            <a:r>
              <a:rPr sz="2400" spc="178" dirty="0">
                <a:latin typeface="Source Sans Pro"/>
                <a:cs typeface="Source Sans Pro"/>
              </a:rPr>
              <a:t>,.</a:t>
            </a:r>
            <a:r>
              <a:rPr sz="2400" spc="-307" dirty="0">
                <a:latin typeface="Source Sans Pro"/>
                <a:cs typeface="Source Sans Pro"/>
              </a:rPr>
              <a:t> </a:t>
            </a:r>
            <a:r>
              <a:rPr sz="2400" spc="139" dirty="0">
                <a:latin typeface="Source Sans Pro"/>
                <a:cs typeface="Source Sans Pro"/>
              </a:rPr>
              <a:t>..,</a:t>
            </a:r>
            <a:r>
              <a:rPr sz="2400" spc="-317" dirty="0">
                <a:latin typeface="Source Sans Pro"/>
                <a:cs typeface="Source Sans Pro"/>
              </a:rPr>
              <a:t> </a:t>
            </a:r>
            <a:r>
              <a:rPr sz="2400" spc="69" dirty="0">
                <a:latin typeface="Source Sans Pro"/>
                <a:cs typeface="Source Sans Pro"/>
              </a:rPr>
              <a:t>X</a:t>
            </a:r>
            <a:r>
              <a:rPr sz="2400" spc="103" baseline="-10416" dirty="0">
                <a:latin typeface="Source Sans Pro"/>
                <a:cs typeface="Source Sans Pro"/>
              </a:rPr>
              <a:t>L</a:t>
            </a:r>
            <a:r>
              <a:rPr sz="2400" i="1" spc="69" dirty="0">
                <a:latin typeface="Menlo"/>
                <a:cs typeface="Menlo"/>
              </a:rPr>
              <a:t>}</a:t>
            </a:r>
            <a:r>
              <a:rPr sz="2400" spc="69" dirty="0">
                <a:latin typeface="Source Sans Pro"/>
                <a:cs typeface="Source Sans Pro"/>
              </a:rPr>
              <a:t>.</a:t>
            </a:r>
            <a:endParaRPr sz="2400" dirty="0">
              <a:latin typeface="Source Sans Pro"/>
              <a:cs typeface="Source Sans Pro"/>
            </a:endParaRPr>
          </a:p>
          <a:p>
            <a:pPr marL="649324" marR="259226" indent="-275585">
              <a:lnSpc>
                <a:spcPct val="102600"/>
              </a:lnSpc>
              <a:spcBef>
                <a:spcPts val="6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20" dirty="0">
                <a:latin typeface="Source Sans Pro"/>
                <a:cs typeface="Source Sans Pro"/>
              </a:rPr>
              <a:t>The</a:t>
            </a:r>
            <a:r>
              <a:rPr sz="2400" spc="-159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target</a:t>
            </a:r>
            <a:r>
              <a:rPr sz="2400" spc="-69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Y</a:t>
            </a:r>
            <a:r>
              <a:rPr sz="2400" spc="367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often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usual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kind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—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e.g.</a:t>
            </a:r>
            <a:r>
              <a:rPr sz="2400" spc="168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single </a:t>
            </a:r>
            <a:r>
              <a:rPr sz="2400" spc="-109" dirty="0">
                <a:latin typeface="Source Sans Pro"/>
                <a:cs typeface="Source Sans Pro"/>
              </a:rPr>
              <a:t>variable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Sentiment</a:t>
            </a:r>
            <a:r>
              <a:rPr sz="2400" spc="-188" dirty="0">
                <a:latin typeface="Source Sans Pro"/>
                <a:cs typeface="Source Sans Pro"/>
              </a:rPr>
              <a:t>,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 </a:t>
            </a:r>
            <a:r>
              <a:rPr sz="2400" spc="-317" dirty="0">
                <a:latin typeface="Source Sans Pro"/>
                <a:cs typeface="Source Sans Pro"/>
              </a:rPr>
              <a:t>one-</a:t>
            </a:r>
            <a:r>
              <a:rPr sz="2400" spc="-99" dirty="0">
                <a:latin typeface="Source Sans Pro"/>
                <a:cs typeface="Source Sans Pro"/>
              </a:rPr>
              <a:t>hot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vector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50" dirty="0">
                <a:latin typeface="Source Sans Pro"/>
                <a:cs typeface="Source Sans Pro"/>
              </a:rPr>
              <a:t>for </a:t>
            </a:r>
            <a:r>
              <a:rPr sz="2400" spc="-20" dirty="0">
                <a:latin typeface="Source Sans Pro"/>
                <a:cs typeface="Source Sans Pro"/>
              </a:rPr>
              <a:t>multiclass.</a:t>
            </a:r>
            <a:endParaRPr sz="2400" dirty="0">
              <a:latin typeface="Source Sans Pro"/>
              <a:cs typeface="Source Sans Pro"/>
            </a:endParaRPr>
          </a:p>
          <a:p>
            <a:pPr marL="649324" marR="446725" indent="-275585">
              <a:lnSpc>
                <a:spcPct val="102699"/>
              </a:lnSpc>
              <a:spcBef>
                <a:spcPts val="5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68" dirty="0">
                <a:latin typeface="Source Sans Pro"/>
                <a:cs typeface="Source Sans Pro"/>
              </a:rPr>
              <a:t>However,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Y</a:t>
            </a:r>
            <a:r>
              <a:rPr sz="2400" spc="466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can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also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be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18" dirty="0">
                <a:latin typeface="Source Sans Pro"/>
                <a:cs typeface="Source Sans Pro"/>
              </a:rPr>
              <a:t>sequence,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same </a:t>
            </a:r>
            <a:r>
              <a:rPr sz="2400" spc="-188" dirty="0">
                <a:latin typeface="Source Sans Pro"/>
                <a:cs typeface="Source Sans Pro"/>
              </a:rPr>
              <a:t>document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in</a:t>
            </a:r>
            <a:r>
              <a:rPr sz="2400" spc="-3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lang="en-US" sz="2400" spc="-258" dirty="0">
                <a:latin typeface="Source Sans Pro"/>
                <a:cs typeface="Source Sans Pro"/>
              </a:rPr>
              <a:t>different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language.</a:t>
            </a:r>
            <a:endParaRPr sz="2400"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42812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85570">
              <a:spcBef>
                <a:spcPts val="268"/>
              </a:spcBef>
            </a:pPr>
            <a:r>
              <a:rPr sz="3000" dirty="0"/>
              <a:t>Simple</a:t>
            </a:r>
            <a:r>
              <a:rPr sz="3000" spc="535" dirty="0"/>
              <a:t> </a:t>
            </a:r>
            <a:r>
              <a:rPr sz="3000" spc="109" dirty="0"/>
              <a:t>Recurrent</a:t>
            </a:r>
            <a:r>
              <a:rPr sz="3000" spc="545" dirty="0"/>
              <a:t> </a:t>
            </a:r>
            <a:r>
              <a:rPr sz="3000" dirty="0"/>
              <a:t>Neural</a:t>
            </a:r>
            <a:r>
              <a:rPr sz="3000" spc="555" dirty="0"/>
              <a:t> </a:t>
            </a:r>
            <a:r>
              <a:rPr sz="3000" dirty="0"/>
              <a:t>Network</a:t>
            </a:r>
            <a:r>
              <a:rPr sz="3000" spc="545" dirty="0"/>
              <a:t> </a:t>
            </a:r>
            <a:r>
              <a:rPr sz="3000" spc="79" dirty="0"/>
              <a:t>Architecture</a:t>
            </a:r>
          </a:p>
        </p:txBody>
      </p:sp>
      <p:sp>
        <p:nvSpPr>
          <p:cNvPr id="93" name="Slide Number Placeholder 92">
            <a:extLst>
              <a:ext uri="{FF2B5EF4-FFF2-40B4-BE49-F238E27FC236}">
                <a16:creationId xmlns:a16="http://schemas.microsoft.com/office/drawing/2014/main" id="{2E572DE4-F546-0563-2E5A-B083AC87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object 89"/>
              <p:cNvSpPr txBox="1"/>
              <p:nvPr/>
            </p:nvSpPr>
            <p:spPr>
              <a:xfrm>
                <a:off x="838200" y="3682638"/>
                <a:ext cx="10558274" cy="3577260"/>
              </a:xfrm>
              <a:prstGeom prst="rect">
                <a:avLst/>
              </a:prstGeom>
            </p:spPr>
            <p:txBody>
              <a:bodyPr vert="horz" wrap="square" lIns="0" tIns="13842" rIns="0" bIns="0" rtlCol="0">
                <a:normAutofit/>
              </a:bodyPr>
              <a:lstStyle/>
              <a:p>
                <a:pPr marL="176530" marR="55244" indent="-139065">
                  <a:lnSpc>
                    <a:spcPct val="102600"/>
                  </a:lnSpc>
                  <a:spcBef>
                    <a:spcPts val="5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hidden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layer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has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of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vectors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£</a:t>
                </a:r>
                <a:r>
                  <a:rPr lang="en-US" sz="2800" i="1" baseline="-13888" dirty="0">
                    <a:latin typeface="Source Sans Pro"/>
                    <a:cs typeface="Source Sans Pro"/>
                  </a:rPr>
                  <a:t>. 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At the l-</a:t>
                </a:r>
                <a:r>
                  <a:rPr lang="en-US" sz="2800" spc="150" dirty="0" err="1">
                    <a:latin typeface="Source Sans Pro"/>
                    <a:cs typeface="Source Sans Pro"/>
                  </a:rPr>
                  <a:t>th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step, the hidden unit </a:t>
                </a:r>
                <a:r>
                  <a:rPr lang="en-US" sz="2800" dirty="0">
                    <a:latin typeface="Source Sans Pro"/>
                    <a:cs typeface="Source Sans Pro"/>
                  </a:rPr>
                  <a:t>receives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input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 err="1">
                    <a:latin typeface="Georgia"/>
                    <a:cs typeface="Georgia"/>
                  </a:rPr>
                  <a:t>X</a:t>
                </a:r>
                <a:r>
                  <a:rPr lang="en-US" sz="3200" i="1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3200" i="1" spc="375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well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l</a:t>
                </a:r>
                <a:r>
                  <a:rPr lang="en-US" sz="3200" i="1" baseline="-13888" dirty="0">
                    <a:latin typeface="News Gothic Std"/>
                    <a:cs typeface="News Gothic Std"/>
                  </a:rPr>
                  <a:t>−</a:t>
                </a:r>
                <a:r>
                  <a:rPr lang="en-US" sz="3200" baseline="-13888" dirty="0">
                    <a:latin typeface="Georgia"/>
                    <a:cs typeface="Georgia"/>
                  </a:rPr>
                  <a:t>1</a:t>
                </a:r>
                <a:r>
                  <a:rPr lang="en-US" sz="2800" baseline="-13888" dirty="0">
                    <a:latin typeface="Source Sans Pro"/>
                    <a:cs typeface="Source Sans Pro"/>
                  </a:rPr>
                  <a:t>, </a:t>
                </a:r>
                <a:r>
                  <a:rPr lang="en-US" sz="2800" dirty="0">
                    <a:latin typeface="Source Sans Pro"/>
                    <a:cs typeface="Source Sans Pro"/>
                  </a:rPr>
                  <a:t>updates the hidden state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400" i="1" dirty="0">
                    <a:latin typeface="Georgia"/>
                    <a:cs typeface="Georgia"/>
                  </a:rPr>
                  <a:t>A</a:t>
                </a:r>
                <a:r>
                  <a:rPr lang="en-US" sz="2800" i="1" baseline="-13888" dirty="0">
                    <a:latin typeface="Georgia"/>
                    <a:cs typeface="Georgia"/>
                  </a:rPr>
                  <a:t>l,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and generates an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5" dirty="0">
                    <a:latin typeface="Source Sans Pro"/>
                    <a:cs typeface="Source Sans Pro"/>
                  </a:rPr>
                  <a:t>output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spc="-25" dirty="0" err="1">
                    <a:latin typeface="Georgia"/>
                    <a:cs typeface="Georgia"/>
                  </a:rPr>
                  <a:t>O</a:t>
                </a:r>
                <a:r>
                  <a:rPr lang="en-US" sz="3200" i="1" spc="-37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2800" spc="-25" dirty="0">
                    <a:latin typeface="Source Sans Pro"/>
                    <a:cs typeface="Source Sans Pro"/>
                  </a:rPr>
                  <a:t>.</a:t>
                </a:r>
                <a:endParaRPr lang="en-US" sz="2800" dirty="0">
                  <a:latin typeface="Source Sans Pro"/>
                  <a:cs typeface="Source Sans Pro"/>
                </a:endParaRP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same</a:t>
                </a:r>
                <a:r>
                  <a:rPr lang="en-US" sz="2800" i="1" spc="155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weights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b="1" dirty="0">
                    <a:latin typeface="Georgia"/>
                    <a:cs typeface="Georgia"/>
                  </a:rPr>
                  <a:t>W</a:t>
                </a:r>
                <a:r>
                  <a:rPr lang="en-US" sz="2800" b="1" dirty="0"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×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800" dirty="0">
                    <a:latin typeface="Source Sans Pro"/>
                    <a:cs typeface="Source Sans Pro"/>
                  </a:rPr>
                  <a:t>,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b="1" dirty="0">
                    <a:latin typeface="Georgia"/>
                    <a:cs typeface="Georgia"/>
                  </a:rPr>
                  <a:t>U</a:t>
                </a:r>
                <a:r>
                  <a:rPr lang="en-US" sz="2800" b="1" dirty="0"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×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</m:sup>
                    </m:sSup>
                  </m:oMath>
                </a14:m>
                <a:r>
                  <a:rPr lang="en-US" sz="2800" b="1" spc="150" dirty="0">
                    <a:latin typeface="Georgia"/>
                    <a:cs typeface="Georgia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and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>
                        <a:latin typeface="Cambria Math" panose="02040503050406030204" pitchFamily="18" charset="0"/>
                        <a:cs typeface="Source Sans Pro"/>
                      </a:rPr>
                      <m:t>𝚩</m:t>
                    </m:r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</m:sup>
                    </m:sSup>
                  </m:oMath>
                </a14:m>
                <a:r>
                  <a:rPr lang="en-US" sz="2800" b="1" spc="140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are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used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90" dirty="0">
                    <a:latin typeface="Source Sans Pro"/>
                    <a:cs typeface="Source Sans Pro"/>
                  </a:rPr>
                  <a:t>at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each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step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-25" dirty="0">
                    <a:latin typeface="Source Sans Pro"/>
                    <a:cs typeface="Source Sans Pro"/>
                  </a:rPr>
                  <a:t>in </a:t>
                </a:r>
                <a:r>
                  <a:rPr lang="en-US" sz="2800" spc="55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14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—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hence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5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14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0" dirty="0">
                    <a:latin typeface="Source Sans Pro"/>
                    <a:cs typeface="Source Sans Pro"/>
                  </a:rPr>
                  <a:t>term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spc="-10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recurrent</a:t>
                </a:r>
                <a:r>
                  <a:rPr lang="en-US" sz="2800" spc="-10" dirty="0">
                    <a:latin typeface="Source Sans Pro"/>
                    <a:cs typeface="Source Sans Pro"/>
                  </a:rPr>
                  <a:t>.</a:t>
                </a: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l</a:t>
                </a:r>
                <a:r>
                  <a:rPr lang="en-US" sz="3200" i="1" spc="434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represents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evolving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model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for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30" dirty="0">
                    <a:latin typeface="Source Sans Pro"/>
                    <a:cs typeface="Source Sans Pro"/>
                  </a:rPr>
                  <a:t>the </a:t>
                </a:r>
                <a:r>
                  <a:rPr lang="en-US" sz="2800" dirty="0">
                    <a:latin typeface="Source Sans Pro"/>
                    <a:cs typeface="Source Sans Pro"/>
                  </a:rPr>
                  <a:t>response</a:t>
                </a:r>
                <a:r>
                  <a:rPr lang="en-US" sz="2800" spc="13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85" dirty="0">
                    <a:latin typeface="Source Sans Pro"/>
                    <a:cs typeface="Source Sans Pro"/>
                  </a:rPr>
                  <a:t>that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is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0" dirty="0">
                    <a:latin typeface="Source Sans Pro"/>
                    <a:cs typeface="Source Sans Pro"/>
                  </a:rPr>
                  <a:t>updated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each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element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 err="1">
                    <a:latin typeface="Georgia"/>
                    <a:cs typeface="Georgia"/>
                  </a:rPr>
                  <a:t>X</a:t>
                </a:r>
                <a:r>
                  <a:rPr lang="en-US" sz="3200" i="1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3200" i="1" spc="397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is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-10" dirty="0">
                    <a:latin typeface="Source Sans Pro"/>
                    <a:cs typeface="Source Sans Pro"/>
                  </a:rPr>
                  <a:t>processed.</a:t>
                </a:r>
                <a:endParaRPr lang="en-US" sz="2800" dirty="0">
                  <a:latin typeface="Source Sans Pro"/>
                  <a:cs typeface="Source Sans Pro"/>
                </a:endParaRP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endParaRPr sz="2800" dirty="0">
                  <a:latin typeface="Source Sans Pro"/>
                  <a:cs typeface="Source Sans Pro"/>
                </a:endParaRPr>
              </a:p>
            </p:txBody>
          </p:sp>
        </mc:Choice>
        <mc:Fallback>
          <p:sp>
            <p:nvSpPr>
              <p:cNvPr id="89" name="object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682638"/>
                <a:ext cx="10558274" cy="3577260"/>
              </a:xfrm>
              <a:prstGeom prst="rect">
                <a:avLst/>
              </a:prstGeom>
              <a:blipFill>
                <a:blip r:embed="rId2"/>
                <a:stretch>
                  <a:fillRect l="-1923" t="-42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" name="Picture 91">
            <a:extLst>
              <a:ext uri="{FF2B5EF4-FFF2-40B4-BE49-F238E27FC236}">
                <a16:creationId xmlns:a16="http://schemas.microsoft.com/office/drawing/2014/main" id="{060CEF70-C63E-B536-771F-5DB1E26965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957" y="1030072"/>
            <a:ext cx="6991350" cy="278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291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5168">
              <a:spcBef>
                <a:spcPts val="268"/>
              </a:spcBef>
            </a:pPr>
            <a:r>
              <a:rPr spc="109" dirty="0"/>
              <a:t>RNN</a:t>
            </a:r>
            <a:r>
              <a:rPr spc="307" dirty="0"/>
              <a:t> </a:t>
            </a:r>
            <a:r>
              <a:rPr dirty="0"/>
              <a:t>in</a:t>
            </a:r>
            <a:r>
              <a:rPr spc="317" dirty="0"/>
              <a:t> </a:t>
            </a:r>
            <a:r>
              <a:rPr spc="-20" dirty="0"/>
              <a:t>Detail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4A0BB6-D975-F4A2-DD73-D2604EB14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7" name="object 3">
            <a:extLst>
              <a:ext uri="{FF2B5EF4-FFF2-40B4-BE49-F238E27FC236}">
                <a16:creationId xmlns:a16="http://schemas.microsoft.com/office/drawing/2014/main" id="{0CDF6287-8CBD-A7E8-95DE-D7EB99742CB2}"/>
              </a:ext>
            </a:extLst>
          </p:cNvPr>
          <p:cNvSpPr txBox="1"/>
          <p:nvPr/>
        </p:nvSpPr>
        <p:spPr>
          <a:xfrm>
            <a:off x="2013856" y="1363146"/>
            <a:ext cx="8349343" cy="4131708"/>
          </a:xfrm>
          <a:prstGeom prst="rect">
            <a:avLst/>
          </a:prstGeom>
        </p:spPr>
        <p:txBody>
          <a:bodyPr vert="horz" wrap="square" lIns="0" tIns="6985" rIns="0" bIns="0" rtlCol="0">
            <a:norm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Suppose</a:t>
            </a:r>
            <a:r>
              <a:rPr lang="en-US" sz="2400" b="1" spc="1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22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15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lang="en-US" sz="2400" b="1" spc="8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(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l1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spc="-15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spc="-15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lang="en-US" sz="2400" b="1" i="1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lp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)</a:t>
            </a:r>
            <a:r>
              <a:rPr lang="en-US" sz="2400" b="1" spc="1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has</a:t>
            </a:r>
            <a:r>
              <a:rPr lang="en-US" sz="2400" b="1" spc="1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p</a:t>
            </a:r>
            <a:r>
              <a:rPr lang="en-US" sz="2400" b="1" i="1" spc="1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components,</a:t>
            </a:r>
            <a:r>
              <a:rPr lang="en-US" sz="2400" b="1" spc="1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and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00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15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lang="en-US" sz="2400" b="1" spc="7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(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1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spc="-3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spc="-3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lang="en-US" sz="2400" b="1" i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lK</a:t>
            </a:r>
            <a:r>
              <a:rPr lang="en-US" sz="2800" b="1" i="1" spc="-112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)</a:t>
            </a:r>
            <a:r>
              <a:rPr lang="en-US" sz="2400" b="1" spc="1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has</a:t>
            </a:r>
            <a:r>
              <a:rPr lang="en-US" sz="2400" b="1" spc="1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1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K</a:t>
            </a:r>
            <a:r>
              <a:rPr lang="en-US" sz="2400" b="1" i="1" spc="23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components.</a:t>
            </a:r>
            <a:r>
              <a:rPr lang="en-US" sz="2400" b="1" spc="28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Then</a:t>
            </a:r>
            <a:r>
              <a:rPr lang="en-US" sz="2400" b="1" spc="14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computation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9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at</a:t>
            </a:r>
            <a:r>
              <a:rPr lang="en-US" sz="2400" b="1" spc="1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k</a:t>
            </a:r>
            <a:r>
              <a:rPr lang="en-US" sz="2400" b="1" spc="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</a:t>
            </a:r>
            <a:r>
              <a:rPr lang="en-US" sz="2400" b="1" spc="1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hidden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unit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spc="30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6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is </a:t>
            </a: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lang="en-US" sz="2000" b="1" dirty="0">
                <a:latin typeface="Source Sans Pro"/>
                <a:cs typeface="Source Sans Pro"/>
              </a:rPr>
              <a:t>Often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we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are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concerned</a:t>
            </a:r>
            <a:r>
              <a:rPr lang="en-US" sz="2000" b="1" spc="18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only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with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spc="55" dirty="0">
                <a:latin typeface="Source Sans Pro"/>
                <a:cs typeface="Source Sans Pro"/>
              </a:rPr>
              <a:t>the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prediction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i="1" spc="55" dirty="0">
                <a:latin typeface="Georgia"/>
                <a:cs typeface="Georgia"/>
              </a:rPr>
              <a:t>O</a:t>
            </a:r>
            <a:r>
              <a:rPr lang="en-US" sz="2400" b="1" i="1" spc="82" baseline="-10416" dirty="0">
                <a:latin typeface="Georgia"/>
                <a:cs typeface="Georgia"/>
              </a:rPr>
              <a:t>L</a:t>
            </a:r>
            <a:r>
              <a:rPr lang="en-US" sz="2400" b="1" i="1" spc="465" baseline="-10416" dirty="0">
                <a:latin typeface="Georgia"/>
                <a:cs typeface="Georgia"/>
              </a:rPr>
              <a:t> </a:t>
            </a:r>
            <a:r>
              <a:rPr lang="en-US" sz="2000" b="1" spc="90" dirty="0">
                <a:latin typeface="Source Sans Pro"/>
                <a:cs typeface="Source Sans Pro"/>
              </a:rPr>
              <a:t>at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spc="55" dirty="0">
                <a:latin typeface="Source Sans Pro"/>
                <a:cs typeface="Source Sans Pro"/>
              </a:rPr>
              <a:t>the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spc="-20" dirty="0">
                <a:latin typeface="Source Sans Pro"/>
                <a:cs typeface="Source Sans Pro"/>
              </a:rPr>
              <a:t>last </a:t>
            </a:r>
            <a:r>
              <a:rPr lang="en-US" sz="2000" b="1" spc="50" dirty="0">
                <a:latin typeface="Source Sans Pro"/>
                <a:cs typeface="Source Sans Pro"/>
              </a:rPr>
              <a:t>unit.</a:t>
            </a:r>
            <a:r>
              <a:rPr lang="en-US" sz="2000" b="1" spc="26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For</a:t>
            </a:r>
            <a:r>
              <a:rPr lang="en-US" sz="2000" b="1" spc="13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squared</a:t>
            </a:r>
            <a:r>
              <a:rPr lang="en-US" sz="2000" b="1" spc="13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error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loss,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50" dirty="0">
                <a:latin typeface="Source Sans Pro"/>
                <a:cs typeface="Source Sans Pro"/>
              </a:rPr>
              <a:t>and</a:t>
            </a:r>
            <a:r>
              <a:rPr lang="en-US" sz="2000" b="1" spc="120" dirty="0">
                <a:latin typeface="Source Sans Pro"/>
                <a:cs typeface="Source Sans Pro"/>
              </a:rPr>
              <a:t> </a:t>
            </a:r>
            <a:r>
              <a:rPr lang="en-US" sz="2000" b="1" i="1" spc="20" dirty="0">
                <a:latin typeface="Georgia"/>
                <a:cs typeface="Georgia"/>
              </a:rPr>
              <a:t>n</a:t>
            </a:r>
            <a:r>
              <a:rPr lang="en-US" sz="2000" b="1" i="1" spc="135" dirty="0">
                <a:latin typeface="Georgia"/>
                <a:cs typeface="Georgia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sequence/response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pairs,</a:t>
            </a:r>
            <a:r>
              <a:rPr lang="en-US" sz="2000" b="1" spc="135" dirty="0">
                <a:latin typeface="Source Sans Pro"/>
                <a:cs typeface="Source Sans Pro"/>
              </a:rPr>
              <a:t> </a:t>
            </a:r>
            <a:r>
              <a:rPr lang="en-US" sz="2000" b="1" spc="-25" dirty="0">
                <a:latin typeface="Source Sans Pro"/>
                <a:cs typeface="Source Sans Pro"/>
              </a:rPr>
              <a:t>we </a:t>
            </a:r>
            <a:r>
              <a:rPr lang="en-US" sz="2000" b="1" dirty="0">
                <a:latin typeface="Source Sans Pro"/>
                <a:cs typeface="Source Sans Pro"/>
              </a:rPr>
              <a:t>would</a:t>
            </a:r>
            <a:r>
              <a:rPr lang="en-US" sz="2000" b="1" spc="135" dirty="0">
                <a:latin typeface="Source Sans Pro"/>
                <a:cs typeface="Source Sans Pro"/>
              </a:rPr>
              <a:t> </a:t>
            </a:r>
            <a:r>
              <a:rPr lang="en-US" sz="2000" b="1" spc="-10" dirty="0">
                <a:latin typeface="Source Sans Pro"/>
                <a:cs typeface="Source Sans Pro"/>
              </a:rPr>
              <a:t>minimize</a:t>
            </a:r>
            <a:endParaRPr lang="en-US" sz="20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sz="2400" b="1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</p:txBody>
      </p:sp>
      <p:sp>
        <p:nvSpPr>
          <p:cNvPr id="38" name="object 11">
            <a:extLst>
              <a:ext uri="{FF2B5EF4-FFF2-40B4-BE49-F238E27FC236}">
                <a16:creationId xmlns:a16="http://schemas.microsoft.com/office/drawing/2014/main" id="{E248C803-FB45-143E-8A73-9FF0999DF99A}"/>
              </a:ext>
            </a:extLst>
          </p:cNvPr>
          <p:cNvSpPr txBox="1"/>
          <p:nvPr/>
        </p:nvSpPr>
        <p:spPr>
          <a:xfrm>
            <a:off x="3291296" y="2295438"/>
            <a:ext cx="4277406" cy="368049"/>
          </a:xfrm>
          <a:prstGeom prst="rect">
            <a:avLst/>
          </a:prstGeom>
        </p:spPr>
        <p:txBody>
          <a:bodyPr vert="horz" wrap="square" lIns="0" tIns="151130" rIns="0" bIns="0" rtlCol="0">
            <a:normAutofit/>
          </a:bodyPr>
          <a:lstStyle/>
          <a:p>
            <a:pPr marL="12700">
              <a:spcBef>
                <a:spcPts val="1190"/>
              </a:spcBef>
              <a:tabLst>
                <a:tab pos="2091055" algn="l"/>
              </a:tabLst>
            </a:pPr>
            <a:r>
              <a:rPr sz="1400" dirty="0">
                <a:latin typeface="Source Sans Pro"/>
                <a:cs typeface="Source Sans Pro"/>
              </a:rPr>
              <a:t>	 </a:t>
            </a:r>
            <a:endParaRPr sz="1400">
              <a:latin typeface="Source Sans Pro"/>
              <a:cs typeface="Source Sans Pro"/>
            </a:endParaRPr>
          </a:p>
        </p:txBody>
      </p:sp>
      <p:pic>
        <p:nvPicPr>
          <p:cNvPr id="42" name="Picture 41" descr="A black and white math symbols&#10;&#10;Description automatically generated with medium confidence">
            <a:extLst>
              <a:ext uri="{FF2B5EF4-FFF2-40B4-BE49-F238E27FC236}">
                <a16:creationId xmlns:a16="http://schemas.microsoft.com/office/drawing/2014/main" id="{A130B638-0057-3B46-EFB0-73D5112E2C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1" y="2480903"/>
            <a:ext cx="5976257" cy="19543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4C57011-9EAE-25E9-6BEC-11A9F5E67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8013" y="5134888"/>
            <a:ext cx="7423140" cy="8837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9CDE3C-29CA-F994-A0B6-36BAEC616FA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625767" y="2544325"/>
            <a:ext cx="2913459" cy="2383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9A6ED5-EE43-0CB8-EE88-AA4F123E89B0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258013" y="6131180"/>
            <a:ext cx="6920905" cy="307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395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A50E-459B-AF13-9E23-A9356E35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99DD2-4725-9242-8D0B-D70D6A86A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Deep Learning Introduction</a:t>
            </a:r>
          </a:p>
          <a:p>
            <a:r>
              <a:rPr lang="en-US" dirty="0"/>
              <a:t>Deep Learning Model 1: Multilayer Perception </a:t>
            </a:r>
          </a:p>
          <a:p>
            <a:r>
              <a:rPr lang="en-US" dirty="0"/>
              <a:t>Deep Learning Model 2: Convolutional Neural Networks </a:t>
            </a:r>
          </a:p>
          <a:p>
            <a:r>
              <a:rPr lang="en-US" dirty="0"/>
              <a:t>Deep Learning Model 3: Recurrent Neural Networks</a:t>
            </a:r>
          </a:p>
          <a:p>
            <a:r>
              <a:rPr lang="en-US" dirty="0">
                <a:solidFill>
                  <a:srgbClr val="FF0000"/>
                </a:solidFill>
              </a:rPr>
              <a:t>Use case 1: Sentiment Prediction</a:t>
            </a:r>
          </a:p>
          <a:p>
            <a:r>
              <a:rPr lang="en-US" dirty="0"/>
              <a:t>Use case 2: Forecast</a:t>
            </a:r>
          </a:p>
          <a:p>
            <a:r>
              <a:rPr lang="en-US" dirty="0"/>
              <a:t>Deep Learning Optimization</a:t>
            </a:r>
          </a:p>
          <a:p>
            <a:r>
              <a:rPr lang="en-US" dirty="0"/>
              <a:t>A bag of tricks</a:t>
            </a:r>
          </a:p>
          <a:p>
            <a:r>
              <a:rPr lang="en-US" dirty="0"/>
              <a:t>Some Interesting Findings in Extremely Deep Neural Networks (</a:t>
            </a:r>
            <a:r>
              <a:rPr lang="en-US" dirty="0" err="1"/>
              <a:t>ChatGPT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0E81-9EB6-7DFB-72FE-1530F7A4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59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95F33DE-41D1-A5AA-55DF-C97CD54E8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RNN</a:t>
            </a:r>
            <a:r>
              <a:rPr lang="en-US" spc="347" dirty="0"/>
              <a:t> </a:t>
            </a:r>
            <a:r>
              <a:rPr lang="en-US" spc="149" dirty="0"/>
              <a:t>and</a:t>
            </a:r>
            <a:r>
              <a:rPr lang="en-US" spc="367" dirty="0"/>
              <a:t> </a:t>
            </a:r>
            <a:r>
              <a:rPr lang="en-US" dirty="0"/>
              <a:t>IMDB</a:t>
            </a:r>
            <a:r>
              <a:rPr lang="en-US" spc="357" dirty="0"/>
              <a:t> </a:t>
            </a:r>
            <a:r>
              <a:rPr lang="en-US" spc="-20" dirty="0"/>
              <a:t>Reviews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72CF22-CD5C-8946-753B-D29852A9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6B13424-06A5-2D28-7871-B3FA9216BFFA}"/>
                  </a:ext>
                </a:extLst>
              </p:cNvPr>
              <p:cNvSpPr txBox="1"/>
              <p:nvPr/>
            </p:nvSpPr>
            <p:spPr>
              <a:xfrm>
                <a:off x="457200" y="1160021"/>
                <a:ext cx="10896600" cy="577901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normAutofit/>
              </a:bodyPr>
              <a:lstStyle/>
              <a:p>
                <a:pPr marL="380365" marR="9207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document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is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sequence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spc="150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{</m:t>
                    </m:r>
                    <m:sSubSup>
                      <m:sSubSupPr>
                        <m:ctrlP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}</m:t>
                        </m:r>
                      </m:e>
                      <m:sub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𝐿</m:t>
                        </m:r>
                      </m:sup>
                    </m:sSubSup>
                  </m:oMath>
                </a14:m>
                <a:r>
                  <a:rPr lang="ar-AE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.</a:t>
                </a:r>
                <a:r>
                  <a:rPr lang="ar-AE" sz="2800" spc="29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typically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truncate/pad</a:t>
                </a:r>
                <a:r>
                  <a:rPr lang="en-US" sz="2800" spc="19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documents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to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same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number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2800" i="1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words</a:t>
                </a:r>
                <a:r>
                  <a:rPr lang="en-US" sz="2800" spc="1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(we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use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2800" i="1" spc="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=</a:t>
                </a:r>
                <a:r>
                  <a:rPr lang="en-US" sz="2800" spc="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500).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9207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Each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30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</a:t>
                </a:r>
                <a:r>
                  <a:rPr lang="en-US" sz="3200" i="1" spc="-44" baseline="-13888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3200" i="1" spc="419" baseline="-13888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represented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one-hot</a:t>
                </a:r>
                <a:r>
                  <a:rPr lang="en-US" sz="2800" i="1" spc="185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encoded</a:t>
                </a:r>
                <a:r>
                  <a:rPr lang="en-US" sz="2800" i="1" spc="150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binary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X</a:t>
                </a:r>
                <a:r>
                  <a:rPr lang="en-US" sz="3200" i="1" baseline="-13888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3200" i="1" spc="494" baseline="-13888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(dummy</a:t>
                </a:r>
                <a:r>
                  <a:rPr lang="en-US" sz="2800" spc="20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variable)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length</a:t>
                </a:r>
                <a:r>
                  <a:rPr lang="en-US" sz="2800" spc="20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,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with</a:t>
                </a:r>
                <a:r>
                  <a:rPr lang="en-US" sz="2800" spc="2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all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zeros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and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single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one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position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for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that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dictionary.</a:t>
                </a:r>
              </a:p>
              <a:p>
                <a:pPr marL="380365" marR="5651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This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results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extremely</a:t>
                </a:r>
                <a:r>
                  <a:rPr lang="en-US" sz="2800" spc="2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sparse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representation,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and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would</a:t>
                </a:r>
                <a:r>
                  <a:rPr lang="en-US" sz="2800" spc="1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not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work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well.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459740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Instead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use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lower-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dimensional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pretrained</a:t>
                </a:r>
                <a:r>
                  <a:rPr lang="en-US" sz="2800" spc="25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20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embedding</a:t>
                </a:r>
                <a:r>
                  <a:rPr lang="en-US" sz="2800" i="1" spc="135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matrix</a:t>
                </a:r>
                <a:r>
                  <a:rPr lang="en-US" sz="2800" spc="1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b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</a:t>
                </a:r>
                <a:r>
                  <a:rPr lang="en-US" sz="2800" b="1" spc="1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</a:t>
                </a:r>
                <a:r>
                  <a:rPr lang="en-US" sz="2800" i="1" spc="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×</a:t>
                </a:r>
                <a:r>
                  <a:rPr lang="en-US" sz="2800" i="1" spc="-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,</a:t>
                </a:r>
                <a:r>
                  <a:rPr lang="en-US" sz="2800" spc="1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next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slide).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90805" indent="-342900" algn="just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This</a:t>
                </a:r>
                <a:r>
                  <a:rPr lang="en-US" sz="2800" spc="2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reduces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binary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length</a:t>
                </a:r>
                <a:r>
                  <a:rPr lang="en-US" sz="2800" spc="2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i="1" spc="3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to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 real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dimension</a:t>
                </a:r>
                <a:r>
                  <a:rPr lang="en-US" sz="2800" i="1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𝑚</m:t>
                    </m:r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≪10</m:t>
                    </m:r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𝐾</m:t>
                    </m:r>
                  </m:oMath>
                </a14:m>
                <a:r>
                  <a:rPr lang="en-US" sz="2800" i="1" spc="2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(e.g.</a:t>
                </a:r>
                <a:r>
                  <a:rPr lang="en-US" sz="2800" spc="3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</a:t>
                </a:r>
                <a:r>
                  <a:rPr lang="en-US" sz="2800" i="1" spc="18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low</a:t>
                </a:r>
                <a:r>
                  <a:rPr lang="en-US" sz="2800" spc="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hundreds.)</a:t>
                </a:r>
                <a:endParaRPr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</p:txBody>
          </p:sp>
        </mc:Choice>
        <mc:Fallback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6B13424-06A5-2D28-7871-B3FA9216B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0021"/>
                <a:ext cx="10896600" cy="5779018"/>
              </a:xfrm>
              <a:prstGeom prst="rect">
                <a:avLst/>
              </a:prstGeom>
              <a:blipFill>
                <a:blip r:embed="rId2"/>
                <a:stretch>
                  <a:fillRect l="-1746" t="-2193" r="-1164" b="-2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21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algn="ctr">
              <a:spcBef>
                <a:spcPts val="268"/>
              </a:spcBef>
            </a:pPr>
            <a:r>
              <a:rPr dirty="0"/>
              <a:t>Word</a:t>
            </a:r>
            <a:r>
              <a:rPr spc="535" dirty="0"/>
              <a:t> </a:t>
            </a:r>
            <a:r>
              <a:rPr spc="79" dirty="0"/>
              <a:t>Embedding</a:t>
            </a:r>
          </a:p>
        </p:txBody>
      </p:sp>
      <p:sp>
        <p:nvSpPr>
          <p:cNvPr id="162" name="Slide Number Placeholder 161">
            <a:extLst>
              <a:ext uri="{FF2B5EF4-FFF2-40B4-BE49-F238E27FC236}">
                <a16:creationId xmlns:a16="http://schemas.microsoft.com/office/drawing/2014/main" id="{9AF5DA57-0E22-2D14-3A8A-4440B21AB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60" name="object 160"/>
          <p:cNvSpPr txBox="1"/>
          <p:nvPr/>
        </p:nvSpPr>
        <p:spPr>
          <a:xfrm>
            <a:off x="1776583" y="4648201"/>
            <a:ext cx="8702242" cy="1433601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R="529778">
              <a:lnSpc>
                <a:spcPts val="1883"/>
              </a:lnSpc>
              <a:spcBef>
                <a:spcPts val="268"/>
              </a:spcBef>
            </a:pP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this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is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one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of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2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09" dirty="0">
                <a:solidFill>
                  <a:srgbClr val="009900"/>
                </a:solidFill>
                <a:latin typeface="Source Sans Pro"/>
                <a:cs typeface="Source Sans Pro"/>
              </a:rPr>
              <a:t>best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films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actually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1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09" dirty="0">
                <a:solidFill>
                  <a:srgbClr val="009900"/>
                </a:solidFill>
                <a:latin typeface="Source Sans Pro"/>
                <a:cs typeface="Source Sans Pro"/>
              </a:rPr>
              <a:t>best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I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have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ever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seen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2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-40" dirty="0">
                <a:solidFill>
                  <a:srgbClr val="009900"/>
                </a:solidFill>
                <a:latin typeface="Source Sans Pro"/>
                <a:cs typeface="Source Sans Pro"/>
              </a:rPr>
              <a:t>film</a:t>
            </a:r>
            <a:r>
              <a:rPr spc="119" dirty="0">
                <a:solidFill>
                  <a:srgbClr val="009900"/>
                </a:solidFill>
                <a:latin typeface="Source Sans Pro"/>
                <a:cs typeface="Source Sans Pro"/>
              </a:rPr>
              <a:t> starts</a:t>
            </a:r>
            <a:r>
              <a:rPr spc="24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one</a:t>
            </a:r>
            <a:r>
              <a:rPr spc="25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fall</a:t>
            </a:r>
            <a:r>
              <a:rPr spc="25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day</a:t>
            </a:r>
            <a:r>
              <a:rPr spc="24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i="1" spc="119" dirty="0">
                <a:solidFill>
                  <a:srgbClr val="009900"/>
                </a:solidFill>
                <a:latin typeface="Source Sans Pro"/>
                <a:cs typeface="Source Sans Pro"/>
              </a:rPr>
              <a:t>···</a:t>
            </a:r>
            <a:r>
              <a:rPr i="1" spc="-119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-99" dirty="0">
                <a:solidFill>
                  <a:srgbClr val="009900"/>
                </a:solidFill>
                <a:latin typeface="Source Sans Pro"/>
                <a:cs typeface="Source Sans Pro"/>
              </a:rPr>
              <a:t>.</a:t>
            </a:r>
            <a:endParaRPr lang="en-US" spc="-99" dirty="0">
              <a:solidFill>
                <a:srgbClr val="009900"/>
              </a:solidFill>
              <a:latin typeface="Source Sans Pro"/>
              <a:cs typeface="Source Sans Pro"/>
            </a:endParaRPr>
          </a:p>
          <a:p>
            <a:pPr marR="529778">
              <a:lnSpc>
                <a:spcPts val="1883"/>
              </a:lnSpc>
              <a:spcBef>
                <a:spcPts val="268"/>
              </a:spcBef>
            </a:pPr>
            <a:endParaRPr sz="1200" dirty="0">
              <a:latin typeface="Source Sans Pro"/>
              <a:cs typeface="Source Sans Pro"/>
            </a:endParaRPr>
          </a:p>
          <a:p>
            <a:pPr marL="25168" marR="10067">
              <a:lnSpc>
                <a:spcPct val="102600"/>
              </a:lnSpc>
              <a:spcBef>
                <a:spcPts val="10"/>
              </a:spcBef>
            </a:pPr>
            <a:r>
              <a:rPr sz="2000" spc="-149" dirty="0">
                <a:latin typeface="Source Sans Pro"/>
                <a:cs typeface="Source Sans Pro"/>
              </a:rPr>
              <a:t>Embeddings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are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pretrained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218" dirty="0">
                <a:latin typeface="Source Sans Pro"/>
                <a:cs typeface="Source Sans Pro"/>
              </a:rPr>
              <a:t>on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very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49" dirty="0">
                <a:latin typeface="Source Sans Pro"/>
                <a:cs typeface="Source Sans Pro"/>
              </a:rPr>
              <a:t>large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corpora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of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documents, </a:t>
            </a:r>
            <a:r>
              <a:rPr sz="2000" spc="-188" dirty="0">
                <a:latin typeface="Source Sans Pro"/>
                <a:cs typeface="Source Sans Pro"/>
              </a:rPr>
              <a:t>using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188" dirty="0">
                <a:latin typeface="Source Sans Pro"/>
                <a:cs typeface="Source Sans Pro"/>
              </a:rPr>
              <a:t>methods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similar</a:t>
            </a:r>
            <a:r>
              <a:rPr sz="2000" spc="-59" dirty="0">
                <a:latin typeface="Source Sans Pro"/>
                <a:cs typeface="Source Sans Pro"/>
              </a:rPr>
              <a:t> to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principal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components.</a:t>
            </a:r>
            <a:r>
              <a:rPr sz="2000" spc="226" dirty="0">
                <a:latin typeface="Source Sans Pro"/>
                <a:cs typeface="Source Sans Pro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word2vec</a:t>
            </a:r>
            <a:r>
              <a:rPr sz="20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50" dirty="0">
                <a:latin typeface="Source Sans Pro"/>
                <a:cs typeface="Source Sans Pro"/>
              </a:rPr>
              <a:t>and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GloVe</a:t>
            </a:r>
            <a:r>
              <a:rPr sz="2000" spc="-57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are</a:t>
            </a:r>
            <a:r>
              <a:rPr sz="2000" spc="5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popular.</a:t>
            </a:r>
            <a:endParaRPr sz="2000" dirty="0">
              <a:latin typeface="Source Sans Pro"/>
              <a:cs typeface="Source Sans Pro"/>
            </a:endParaRPr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BF9E22D9-83F7-A976-AD19-71455EDF5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295400"/>
            <a:ext cx="7315200" cy="2743200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74C4EC96-3635-BABF-B5A9-E80A14456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8765" y="3848100"/>
            <a:ext cx="73152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326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>
              <a:spcBef>
                <a:spcPts val="268"/>
              </a:spcBef>
            </a:pPr>
            <a:r>
              <a:rPr spc="109" dirty="0"/>
              <a:t>RNN</a:t>
            </a:r>
            <a:r>
              <a:rPr spc="396" dirty="0"/>
              <a:t> </a:t>
            </a:r>
            <a:r>
              <a:rPr dirty="0"/>
              <a:t>on</a:t>
            </a:r>
            <a:r>
              <a:rPr spc="416" dirty="0"/>
              <a:t> </a:t>
            </a:r>
            <a:r>
              <a:rPr dirty="0"/>
              <a:t>IMDB</a:t>
            </a:r>
            <a:r>
              <a:rPr spc="404" dirty="0"/>
              <a:t> </a:t>
            </a:r>
            <a:r>
              <a:rPr spc="-20" dirty="0"/>
              <a:t>Reviews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2AD9F2-0353-1EA1-9672-C399224FF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598613"/>
            <a:ext cx="11201400" cy="4049712"/>
          </a:xfrm>
          <a:prstGeom prst="rect">
            <a:avLst/>
          </a:prstGeom>
        </p:spPr>
        <p:txBody>
          <a:bodyPr vert="horz" wrap="square" lIns="0" tIns="201687" rIns="0" bIns="0" rtlCol="0">
            <a:normAutofit/>
          </a:bodyPr>
          <a:lstStyle/>
          <a:p>
            <a:pPr marL="349830" marR="549912" indent="-275585">
              <a:lnSpc>
                <a:spcPct val="102600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spc="-40" dirty="0"/>
              <a:t>After</a:t>
            </a:r>
            <a:r>
              <a:rPr sz="2600" spc="-89" dirty="0"/>
              <a:t> </a:t>
            </a:r>
            <a:r>
              <a:rPr sz="2600" dirty="0"/>
              <a:t>a</a:t>
            </a:r>
            <a:r>
              <a:rPr sz="2600" spc="-30" dirty="0"/>
              <a:t> </a:t>
            </a:r>
            <a:r>
              <a:rPr sz="2600" spc="-40" dirty="0"/>
              <a:t>lot</a:t>
            </a:r>
            <a:r>
              <a:rPr sz="2600" spc="-30" dirty="0"/>
              <a:t> </a:t>
            </a:r>
            <a:r>
              <a:rPr sz="2600" spc="-208" dirty="0"/>
              <a:t>of</a:t>
            </a:r>
            <a:r>
              <a:rPr sz="2600" spc="30" dirty="0"/>
              <a:t> </a:t>
            </a:r>
            <a:r>
              <a:rPr sz="2600" spc="-149" dirty="0"/>
              <a:t>work,</a:t>
            </a:r>
            <a:r>
              <a:rPr sz="2600" spc="-20" dirty="0"/>
              <a:t> </a:t>
            </a:r>
            <a:r>
              <a:rPr sz="2600" spc="-119" dirty="0"/>
              <a:t>the</a:t>
            </a:r>
            <a:r>
              <a:rPr sz="2600" spc="-30" dirty="0"/>
              <a:t> </a:t>
            </a:r>
            <a:r>
              <a:rPr sz="2600" spc="-149" dirty="0"/>
              <a:t>results</a:t>
            </a:r>
            <a:r>
              <a:rPr sz="2600" spc="-20" dirty="0"/>
              <a:t> </a:t>
            </a:r>
            <a:r>
              <a:rPr sz="2600" spc="-139" dirty="0"/>
              <a:t>are</a:t>
            </a:r>
            <a:r>
              <a:rPr sz="2600" spc="-30" dirty="0"/>
              <a:t> </a:t>
            </a:r>
            <a:r>
              <a:rPr sz="2600" dirty="0"/>
              <a:t>a</a:t>
            </a:r>
            <a:r>
              <a:rPr sz="2600" spc="-20" dirty="0"/>
              <a:t> </a:t>
            </a:r>
            <a:r>
              <a:rPr sz="2600" spc="-149" dirty="0"/>
              <a:t>disappointing</a:t>
            </a:r>
            <a:r>
              <a:rPr sz="2600" spc="-30" dirty="0"/>
              <a:t> </a:t>
            </a:r>
            <a:r>
              <a:rPr sz="2600" spc="-50" dirty="0"/>
              <a:t>76% </a:t>
            </a:r>
            <a:r>
              <a:rPr sz="2600" spc="-20" dirty="0"/>
              <a:t>accuracy.</a:t>
            </a:r>
            <a:endParaRPr sz="2600" dirty="0"/>
          </a:p>
          <a:p>
            <a:pPr marL="349830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dirty="0"/>
              <a:t>We </a:t>
            </a:r>
            <a:r>
              <a:rPr sz="2600" spc="-139" dirty="0"/>
              <a:t>then</a:t>
            </a:r>
            <a:r>
              <a:rPr sz="2600" spc="10" dirty="0"/>
              <a:t> </a:t>
            </a:r>
            <a:r>
              <a:rPr sz="2600" spc="-40" dirty="0"/>
              <a:t>fit</a:t>
            </a:r>
            <a:r>
              <a:rPr sz="2600" spc="20" dirty="0"/>
              <a:t> </a:t>
            </a:r>
            <a:r>
              <a:rPr sz="2600" dirty="0"/>
              <a:t>a </a:t>
            </a:r>
            <a:r>
              <a:rPr sz="2600" spc="-218" dirty="0"/>
              <a:t>more</a:t>
            </a:r>
            <a:r>
              <a:rPr sz="2600" dirty="0"/>
              <a:t> </a:t>
            </a:r>
            <a:r>
              <a:rPr sz="2600" spc="-159" dirty="0"/>
              <a:t>exotic</a:t>
            </a:r>
            <a:r>
              <a:rPr sz="2600" spc="10" dirty="0"/>
              <a:t> </a:t>
            </a:r>
            <a:r>
              <a:rPr sz="2600" dirty="0"/>
              <a:t>RNN </a:t>
            </a:r>
            <a:r>
              <a:rPr sz="2600" spc="-99" dirty="0"/>
              <a:t>than</a:t>
            </a:r>
            <a:r>
              <a:rPr sz="2600" spc="10" dirty="0"/>
              <a:t> </a:t>
            </a:r>
            <a:r>
              <a:rPr sz="2600" spc="-119" dirty="0"/>
              <a:t>the</a:t>
            </a:r>
            <a:r>
              <a:rPr sz="2600" spc="10" dirty="0"/>
              <a:t> </a:t>
            </a:r>
            <a:r>
              <a:rPr sz="2600" spc="-238" dirty="0"/>
              <a:t>one</a:t>
            </a:r>
            <a:r>
              <a:rPr sz="2600" dirty="0"/>
              <a:t> </a:t>
            </a:r>
            <a:r>
              <a:rPr sz="2600" spc="-168" dirty="0"/>
              <a:t>displayed</a:t>
            </a:r>
            <a:r>
              <a:rPr sz="2600" spc="20" dirty="0"/>
              <a:t> </a:t>
            </a:r>
            <a:r>
              <a:rPr sz="2600" dirty="0"/>
              <a:t>— </a:t>
            </a:r>
            <a:r>
              <a:rPr lang="en-US" sz="2600" spc="-99" dirty="0"/>
              <a:t>an LSTM with long and short-term</a:t>
            </a:r>
            <a:r>
              <a:rPr sz="2600" i="1" spc="-54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600" i="1" spc="-159" dirty="0">
                <a:solidFill>
                  <a:srgbClr val="009900"/>
                </a:solidFill>
                <a:latin typeface="Menlo"/>
                <a:cs typeface="Menlo"/>
              </a:rPr>
              <a:t>memory.</a:t>
            </a:r>
            <a:r>
              <a:rPr sz="2600" i="1" spc="-357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600" spc="-129" dirty="0"/>
              <a:t>Here</a:t>
            </a:r>
            <a:r>
              <a:rPr lang="en-US" sz="2600" spc="-129" dirty="0"/>
              <a:t>, A</a:t>
            </a:r>
            <a:r>
              <a:rPr lang="en-US" sz="2600" b="1" spc="-129" baseline="-25000" dirty="0">
                <a:latin typeface="Source Sans Pro" panose="020B0604020202020204" pitchFamily="34" charset="0"/>
                <a:cs typeface="Source Sans Pro" panose="020B0604020202020204" pitchFamily="34" charset="0"/>
              </a:rPr>
              <a:t>l</a:t>
            </a:r>
            <a:r>
              <a:rPr lang="en-US" sz="2600" spc="-129" dirty="0"/>
              <a:t> receives input from A</a:t>
            </a:r>
            <a:r>
              <a:rPr lang="en-US" sz="2600" b="1" spc="-129" baseline="-25000" dirty="0"/>
              <a:t>l-1</a:t>
            </a:r>
            <a:r>
              <a:rPr lang="en-US" sz="2600" spc="-129" dirty="0"/>
              <a:t> (short-term memory) as well as from a version that reaches further back in time (long-term</a:t>
            </a:r>
            <a:r>
              <a:rPr sz="2600" spc="-40" dirty="0"/>
              <a:t> </a:t>
            </a:r>
            <a:r>
              <a:rPr sz="2600" spc="-99" dirty="0"/>
              <a:t>memory).</a:t>
            </a:r>
            <a:r>
              <a:rPr sz="2600" spc="89" dirty="0"/>
              <a:t> </a:t>
            </a:r>
            <a:r>
              <a:rPr sz="2600" spc="-129" dirty="0"/>
              <a:t>Now</a:t>
            </a:r>
            <a:r>
              <a:rPr sz="2600" spc="-10" dirty="0"/>
              <a:t> </a:t>
            </a:r>
            <a:r>
              <a:rPr sz="2600" spc="-248" dirty="0"/>
              <a:t>we</a:t>
            </a:r>
            <a:r>
              <a:rPr sz="2600" spc="30" dirty="0"/>
              <a:t> </a:t>
            </a:r>
            <a:r>
              <a:rPr sz="2600" spc="-178" dirty="0"/>
              <a:t>get</a:t>
            </a:r>
            <a:r>
              <a:rPr sz="2600" dirty="0"/>
              <a:t> </a:t>
            </a:r>
            <a:r>
              <a:rPr sz="2600" spc="-40" dirty="0"/>
              <a:t>87%</a:t>
            </a:r>
            <a:r>
              <a:rPr sz="2600" spc="-10" dirty="0"/>
              <a:t> </a:t>
            </a:r>
            <a:r>
              <a:rPr sz="2600" spc="-149" dirty="0"/>
              <a:t>accuracy,</a:t>
            </a:r>
            <a:r>
              <a:rPr sz="2600" spc="-20" dirty="0"/>
              <a:t> </a:t>
            </a:r>
            <a:r>
              <a:rPr sz="2600" spc="-99" dirty="0"/>
              <a:t>slightly</a:t>
            </a:r>
            <a:r>
              <a:rPr sz="2600" spc="-10" dirty="0"/>
              <a:t> </a:t>
            </a:r>
            <a:r>
              <a:rPr sz="2600" spc="-208" dirty="0"/>
              <a:t>less</a:t>
            </a:r>
            <a:r>
              <a:rPr sz="2600" spc="30" dirty="0"/>
              <a:t> </a:t>
            </a:r>
            <a:r>
              <a:rPr sz="2600" spc="-89" dirty="0"/>
              <a:t>than</a:t>
            </a:r>
            <a:r>
              <a:rPr sz="2600" spc="-20" dirty="0"/>
              <a:t> </a:t>
            </a:r>
            <a:r>
              <a:rPr sz="2600" spc="-50" dirty="0"/>
              <a:t>the </a:t>
            </a:r>
            <a:r>
              <a:rPr sz="2600" spc="-40" dirty="0"/>
              <a:t>88%</a:t>
            </a:r>
            <a:r>
              <a:rPr sz="2600" spc="-129" dirty="0"/>
              <a:t> </a:t>
            </a:r>
            <a:r>
              <a:rPr sz="2600" spc="-168" dirty="0"/>
              <a:t>achieved</a:t>
            </a:r>
            <a:r>
              <a:rPr sz="2600" dirty="0"/>
              <a:t> </a:t>
            </a:r>
            <a:r>
              <a:rPr sz="2600" spc="-40" dirty="0"/>
              <a:t>by</a:t>
            </a:r>
            <a:r>
              <a:rPr sz="2600" spc="-50" dirty="0"/>
              <a:t> </a:t>
            </a:r>
            <a:r>
              <a:rPr sz="2600" spc="-20" dirty="0">
                <a:solidFill>
                  <a:srgbClr val="990000"/>
                </a:solidFill>
                <a:latin typeface="Courier New"/>
                <a:cs typeface="Courier New"/>
              </a:rPr>
              <a:t>glmnet</a:t>
            </a:r>
            <a:r>
              <a:rPr sz="2600" spc="-20" dirty="0"/>
              <a:t>.</a:t>
            </a:r>
            <a:endParaRPr sz="2600" dirty="0">
              <a:latin typeface="Courier New"/>
              <a:cs typeface="Courier New"/>
            </a:endParaRPr>
          </a:p>
          <a:p>
            <a:pPr marL="349830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spc="-149" dirty="0"/>
              <a:t>These</a:t>
            </a:r>
            <a:r>
              <a:rPr sz="2600" spc="-30" dirty="0"/>
              <a:t> </a:t>
            </a:r>
            <a:r>
              <a:rPr sz="2600" spc="-89" dirty="0"/>
              <a:t>data</a:t>
            </a:r>
            <a:r>
              <a:rPr sz="2600" spc="20" dirty="0"/>
              <a:t> </a:t>
            </a:r>
            <a:r>
              <a:rPr sz="2600" spc="-168" dirty="0"/>
              <a:t>have</a:t>
            </a:r>
            <a:r>
              <a:rPr sz="2600" spc="10" dirty="0"/>
              <a:t> </a:t>
            </a:r>
            <a:r>
              <a:rPr sz="2600" spc="-198" dirty="0"/>
              <a:t>been</a:t>
            </a:r>
            <a:r>
              <a:rPr sz="2600" spc="30" dirty="0"/>
              <a:t> </a:t>
            </a:r>
            <a:r>
              <a:rPr sz="2600" spc="-218" dirty="0"/>
              <a:t>used</a:t>
            </a:r>
            <a:r>
              <a:rPr sz="2600" spc="30" dirty="0"/>
              <a:t> </a:t>
            </a:r>
            <a:r>
              <a:rPr sz="2600" spc="-198" dirty="0"/>
              <a:t>as</a:t>
            </a:r>
            <a:r>
              <a:rPr sz="2600" spc="30" dirty="0"/>
              <a:t> </a:t>
            </a:r>
            <a:r>
              <a:rPr sz="2600" dirty="0"/>
              <a:t>a</a:t>
            </a:r>
            <a:r>
              <a:rPr sz="2600" spc="10" dirty="0"/>
              <a:t> </a:t>
            </a:r>
            <a:r>
              <a:rPr sz="2600" spc="-178" dirty="0"/>
              <a:t>benchmark</a:t>
            </a:r>
            <a:r>
              <a:rPr sz="2600" spc="20" dirty="0"/>
              <a:t> </a:t>
            </a:r>
            <a:r>
              <a:rPr sz="2600" spc="-129" dirty="0"/>
              <a:t>for</a:t>
            </a:r>
            <a:r>
              <a:rPr sz="2600" spc="10" dirty="0"/>
              <a:t> </a:t>
            </a:r>
            <a:r>
              <a:rPr sz="2600" spc="-188" dirty="0"/>
              <a:t>new</a:t>
            </a:r>
            <a:r>
              <a:rPr sz="2600" spc="20" dirty="0"/>
              <a:t> </a:t>
            </a:r>
            <a:r>
              <a:rPr sz="2600" spc="-50" dirty="0"/>
              <a:t>RNN </a:t>
            </a:r>
            <a:r>
              <a:rPr sz="2600" spc="-119" dirty="0"/>
              <a:t>architectures.</a:t>
            </a:r>
            <a:r>
              <a:rPr sz="2600" spc="159" dirty="0"/>
              <a:t> </a:t>
            </a:r>
            <a:r>
              <a:rPr sz="2600" spc="-40" dirty="0"/>
              <a:t>The</a:t>
            </a:r>
            <a:r>
              <a:rPr sz="2600" spc="-30" dirty="0"/>
              <a:t> </a:t>
            </a:r>
            <a:r>
              <a:rPr lang="en-US" sz="2600" spc="-159" dirty="0"/>
              <a:t>best-reported</a:t>
            </a:r>
            <a:r>
              <a:rPr sz="2600" spc="-20" dirty="0"/>
              <a:t> </a:t>
            </a:r>
            <a:r>
              <a:rPr sz="2600" spc="-129" dirty="0"/>
              <a:t>result</a:t>
            </a:r>
            <a:r>
              <a:rPr sz="2600" spc="-30" dirty="0"/>
              <a:t> </a:t>
            </a:r>
            <a:r>
              <a:rPr sz="2600" spc="-198" dirty="0"/>
              <a:t>found</a:t>
            </a:r>
            <a:r>
              <a:rPr sz="2600" dirty="0"/>
              <a:t> at</a:t>
            </a:r>
            <a:r>
              <a:rPr sz="2600" spc="-30" dirty="0"/>
              <a:t> </a:t>
            </a:r>
            <a:r>
              <a:rPr sz="2600" spc="-119" dirty="0"/>
              <a:t>the</a:t>
            </a:r>
            <a:r>
              <a:rPr sz="2600" spc="-20" dirty="0"/>
              <a:t> </a:t>
            </a:r>
            <a:r>
              <a:rPr sz="2600" spc="-119" dirty="0"/>
              <a:t>time</a:t>
            </a:r>
            <a:r>
              <a:rPr sz="2600" spc="-30" dirty="0"/>
              <a:t> </a:t>
            </a:r>
            <a:r>
              <a:rPr sz="2600" spc="-69" dirty="0"/>
              <a:t>of </a:t>
            </a:r>
            <a:r>
              <a:rPr sz="2600" spc="-99" dirty="0"/>
              <a:t>writing</a:t>
            </a:r>
            <a:r>
              <a:rPr sz="2600" spc="-79" dirty="0"/>
              <a:t> </a:t>
            </a:r>
            <a:r>
              <a:rPr sz="2600" spc="-168" dirty="0"/>
              <a:t>(2020)</a:t>
            </a:r>
            <a:r>
              <a:rPr sz="2600" dirty="0"/>
              <a:t> </a:t>
            </a:r>
            <a:r>
              <a:rPr sz="2600" spc="-208" dirty="0"/>
              <a:t>was</a:t>
            </a:r>
            <a:r>
              <a:rPr sz="2600" spc="30" dirty="0"/>
              <a:t> </a:t>
            </a:r>
            <a:r>
              <a:rPr sz="2600" spc="-159" dirty="0"/>
              <a:t>around</a:t>
            </a:r>
            <a:r>
              <a:rPr sz="2600" spc="-20" dirty="0"/>
              <a:t> 95%.</a:t>
            </a:r>
            <a:r>
              <a:rPr sz="2600" spc="99" dirty="0"/>
              <a:t> </a:t>
            </a:r>
            <a:r>
              <a:rPr sz="2600" dirty="0"/>
              <a:t>We</a:t>
            </a:r>
            <a:r>
              <a:rPr sz="2600" spc="-30" dirty="0"/>
              <a:t> </a:t>
            </a:r>
            <a:r>
              <a:rPr sz="2600" spc="-119" dirty="0"/>
              <a:t>point</a:t>
            </a:r>
            <a:r>
              <a:rPr sz="2600" spc="-40" dirty="0"/>
              <a:t> </a:t>
            </a:r>
            <a:r>
              <a:rPr sz="2600" spc="-59" dirty="0"/>
              <a:t>to</a:t>
            </a:r>
            <a:r>
              <a:rPr sz="2600" spc="-40" dirty="0"/>
              <a:t> </a:t>
            </a:r>
            <a:r>
              <a:rPr sz="2600" dirty="0"/>
              <a:t>a</a:t>
            </a:r>
            <a:r>
              <a:rPr sz="2600" spc="-30" dirty="0"/>
              <a:t> </a:t>
            </a:r>
            <a:r>
              <a:rPr sz="2600" i="1" spc="-277" dirty="0">
                <a:solidFill>
                  <a:srgbClr val="009900"/>
                </a:solidFill>
                <a:latin typeface="Menlo"/>
                <a:cs typeface="Menlo"/>
                <a:hlinkClick r:id="rId3"/>
              </a:rPr>
              <a:t>leaderboard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</a:rPr>
              <a:t> (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  <a:hlinkClick r:id="rId3"/>
              </a:rPr>
              <a:t>https://paperswithcode.com/sota/sentiment-analysis-on-imdb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</a:rPr>
              <a:t>) </a:t>
            </a:r>
            <a:r>
              <a:rPr sz="2600" dirty="0"/>
              <a:t>in</a:t>
            </a:r>
            <a:r>
              <a:rPr sz="2600" spc="-159" dirty="0"/>
              <a:t> </a:t>
            </a:r>
            <a:r>
              <a:rPr sz="2600" spc="-109" dirty="0"/>
              <a:t>Section</a:t>
            </a:r>
            <a:r>
              <a:rPr sz="2600" spc="-59" dirty="0"/>
              <a:t> </a:t>
            </a:r>
            <a:r>
              <a:rPr sz="2600" spc="-20" dirty="0"/>
              <a:t>10.5.1.</a:t>
            </a:r>
            <a:r>
              <a:rPr lang="en-US" sz="2600" spc="-20" dirty="0"/>
              <a:t> </a:t>
            </a:r>
            <a:endParaRPr sz="2600" dirty="0">
              <a:latin typeface="Menlo"/>
              <a:cs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061337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A50E-459B-AF13-9E23-A9356E35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99DD2-4725-9242-8D0B-D70D6A86A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Deep Learning Introduction</a:t>
            </a:r>
          </a:p>
          <a:p>
            <a:r>
              <a:rPr lang="en-US" dirty="0"/>
              <a:t>Deep Learning Model 1: Multilayer Perception </a:t>
            </a:r>
          </a:p>
          <a:p>
            <a:r>
              <a:rPr lang="en-US" dirty="0"/>
              <a:t>Deep Learning Model 2: Convolutional Neural Networks </a:t>
            </a:r>
          </a:p>
          <a:p>
            <a:r>
              <a:rPr lang="en-US" dirty="0"/>
              <a:t>Deep Learning Model 3: Recurrent Neural Networks</a:t>
            </a:r>
          </a:p>
          <a:p>
            <a:r>
              <a:rPr lang="en-US" dirty="0"/>
              <a:t>Use case 1: Sentiment Prediction</a:t>
            </a:r>
          </a:p>
          <a:p>
            <a:r>
              <a:rPr lang="en-US" dirty="0">
                <a:solidFill>
                  <a:srgbClr val="FF0000"/>
                </a:solidFill>
              </a:rPr>
              <a:t>Use case 2: Forecast</a:t>
            </a:r>
          </a:p>
          <a:p>
            <a:r>
              <a:rPr lang="en-US" dirty="0"/>
              <a:t>Deep Learning Optimization</a:t>
            </a:r>
          </a:p>
          <a:p>
            <a:r>
              <a:rPr lang="en-US" dirty="0"/>
              <a:t>A bag of tricks</a:t>
            </a:r>
          </a:p>
          <a:p>
            <a:r>
              <a:rPr lang="en-US" dirty="0"/>
              <a:t>Some Interesting Findings in Extremely Deep Neural Networks (</a:t>
            </a:r>
            <a:r>
              <a:rPr lang="en-US" dirty="0" err="1"/>
              <a:t>ChatGPT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0E81-9EB6-7DFB-72FE-1530F7A4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595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3386212" y="1179579"/>
            <a:ext cx="5912980" cy="5253606"/>
            <a:chOff x="937610" y="595250"/>
            <a:chExt cx="2983865" cy="265112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80136" y="627496"/>
              <a:ext cx="2731907" cy="81079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37610" y="597353"/>
              <a:ext cx="2981960" cy="871219"/>
            </a:xfrm>
            <a:custGeom>
              <a:avLst/>
              <a:gdLst/>
              <a:ahLst/>
              <a:cxnLst/>
              <a:rect l="l" t="t" r="r" b="b"/>
              <a:pathLst>
                <a:path w="2981960" h="871219">
                  <a:moveTo>
                    <a:pt x="35554" y="728695"/>
                  </a:moveTo>
                  <a:lnTo>
                    <a:pt x="35554" y="45704"/>
                  </a:lnTo>
                </a:path>
                <a:path w="2981960" h="871219">
                  <a:moveTo>
                    <a:pt x="35554" y="728695"/>
                  </a:moveTo>
                  <a:lnTo>
                    <a:pt x="0" y="728695"/>
                  </a:lnTo>
                </a:path>
                <a:path w="2981960" h="871219">
                  <a:moveTo>
                    <a:pt x="35554" y="557933"/>
                  </a:moveTo>
                  <a:lnTo>
                    <a:pt x="0" y="557933"/>
                  </a:lnTo>
                </a:path>
                <a:path w="2981960" h="871219">
                  <a:moveTo>
                    <a:pt x="35554" y="387228"/>
                  </a:moveTo>
                  <a:lnTo>
                    <a:pt x="0" y="387228"/>
                  </a:lnTo>
                </a:path>
                <a:path w="2981960" h="871219">
                  <a:moveTo>
                    <a:pt x="35554" y="216466"/>
                  </a:moveTo>
                  <a:lnTo>
                    <a:pt x="0" y="216466"/>
                  </a:lnTo>
                </a:path>
                <a:path w="2981960" h="871219">
                  <a:moveTo>
                    <a:pt x="35554" y="45704"/>
                  </a:moveTo>
                  <a:lnTo>
                    <a:pt x="0" y="45704"/>
                  </a:lnTo>
                </a:path>
                <a:path w="2981960" h="871219">
                  <a:moveTo>
                    <a:pt x="35554" y="871081"/>
                  </a:moveTo>
                  <a:lnTo>
                    <a:pt x="2981460" y="871081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81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/>
            <p:cNvSpPr/>
            <p:nvPr/>
          </p:nvSpPr>
          <p:spPr>
            <a:xfrm>
              <a:off x="3017483" y="597353"/>
              <a:ext cx="0" cy="871219"/>
            </a:xfrm>
            <a:custGeom>
              <a:avLst/>
              <a:gdLst/>
              <a:ahLst/>
              <a:cxnLst/>
              <a:rect l="l" t="t" r="r" b="b"/>
              <a:pathLst>
                <a:path h="871219">
                  <a:moveTo>
                    <a:pt x="0" y="871081"/>
                  </a:moveTo>
                  <a:lnTo>
                    <a:pt x="0" y="0"/>
                  </a:lnTo>
                </a:path>
              </a:pathLst>
            </a:custGeom>
            <a:ln w="84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0136" y="1498577"/>
              <a:ext cx="2731907" cy="81073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37610" y="1468434"/>
              <a:ext cx="2981960" cy="871219"/>
            </a:xfrm>
            <a:custGeom>
              <a:avLst/>
              <a:gdLst/>
              <a:ahLst/>
              <a:cxnLst/>
              <a:rect l="l" t="t" r="r" b="b"/>
              <a:pathLst>
                <a:path w="2981960" h="871219">
                  <a:moveTo>
                    <a:pt x="35554" y="778942"/>
                  </a:moveTo>
                  <a:lnTo>
                    <a:pt x="35554" y="111654"/>
                  </a:lnTo>
                </a:path>
                <a:path w="2981960" h="871219">
                  <a:moveTo>
                    <a:pt x="35554" y="778942"/>
                  </a:moveTo>
                  <a:lnTo>
                    <a:pt x="0" y="778942"/>
                  </a:lnTo>
                </a:path>
                <a:path w="2981960" h="871219">
                  <a:moveTo>
                    <a:pt x="35554" y="612106"/>
                  </a:moveTo>
                  <a:lnTo>
                    <a:pt x="0" y="612106"/>
                  </a:lnTo>
                </a:path>
                <a:path w="2981960" h="871219">
                  <a:moveTo>
                    <a:pt x="35554" y="445270"/>
                  </a:moveTo>
                  <a:lnTo>
                    <a:pt x="0" y="445270"/>
                  </a:lnTo>
                </a:path>
                <a:path w="2981960" h="871219">
                  <a:moveTo>
                    <a:pt x="35554" y="278434"/>
                  </a:moveTo>
                  <a:lnTo>
                    <a:pt x="0" y="278434"/>
                  </a:lnTo>
                </a:path>
                <a:path w="2981960" h="871219">
                  <a:moveTo>
                    <a:pt x="35554" y="111654"/>
                  </a:moveTo>
                  <a:lnTo>
                    <a:pt x="0" y="111654"/>
                  </a:lnTo>
                </a:path>
                <a:path w="2981960" h="871219">
                  <a:moveTo>
                    <a:pt x="35554" y="871081"/>
                  </a:moveTo>
                  <a:lnTo>
                    <a:pt x="2981460" y="871081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81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9" name="object 9"/>
            <p:cNvSpPr/>
            <p:nvPr/>
          </p:nvSpPr>
          <p:spPr>
            <a:xfrm>
              <a:off x="3017483" y="1468434"/>
              <a:ext cx="0" cy="871219"/>
            </a:xfrm>
            <a:custGeom>
              <a:avLst/>
              <a:gdLst/>
              <a:ahLst/>
              <a:cxnLst/>
              <a:rect l="l" t="t" r="r" b="b"/>
              <a:pathLst>
                <a:path h="871219">
                  <a:moveTo>
                    <a:pt x="0" y="871081"/>
                  </a:moveTo>
                  <a:lnTo>
                    <a:pt x="0" y="0"/>
                  </a:lnTo>
                </a:path>
              </a:pathLst>
            </a:custGeom>
            <a:ln w="84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80136" y="2369658"/>
              <a:ext cx="2731907" cy="81073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937610" y="2339516"/>
              <a:ext cx="2981960" cy="906780"/>
            </a:xfrm>
            <a:custGeom>
              <a:avLst/>
              <a:gdLst/>
              <a:ahLst/>
              <a:cxnLst/>
              <a:rect l="l" t="t" r="r" b="b"/>
              <a:pathLst>
                <a:path w="2981960" h="906780">
                  <a:moveTo>
                    <a:pt x="380386" y="871025"/>
                  </a:moveTo>
                  <a:lnTo>
                    <a:pt x="2646218" y="871025"/>
                  </a:lnTo>
                </a:path>
                <a:path w="2981960" h="906780">
                  <a:moveTo>
                    <a:pt x="380386" y="871025"/>
                  </a:moveTo>
                  <a:lnTo>
                    <a:pt x="380386" y="906579"/>
                  </a:lnTo>
                </a:path>
                <a:path w="2981960" h="906780">
                  <a:moveTo>
                    <a:pt x="946788" y="871025"/>
                  </a:moveTo>
                  <a:lnTo>
                    <a:pt x="946788" y="906579"/>
                  </a:lnTo>
                </a:path>
                <a:path w="2981960" h="906780">
                  <a:moveTo>
                    <a:pt x="1513134" y="871025"/>
                  </a:moveTo>
                  <a:lnTo>
                    <a:pt x="1513134" y="906579"/>
                  </a:lnTo>
                </a:path>
                <a:path w="2981960" h="906780">
                  <a:moveTo>
                    <a:pt x="2079536" y="871025"/>
                  </a:moveTo>
                  <a:lnTo>
                    <a:pt x="2079536" y="906579"/>
                  </a:lnTo>
                </a:path>
                <a:path w="2981960" h="906780">
                  <a:moveTo>
                    <a:pt x="2646218" y="871025"/>
                  </a:moveTo>
                  <a:lnTo>
                    <a:pt x="2646218" y="906579"/>
                  </a:lnTo>
                </a:path>
                <a:path w="2981960" h="906780">
                  <a:moveTo>
                    <a:pt x="35554" y="820609"/>
                  </a:moveTo>
                  <a:lnTo>
                    <a:pt x="35554" y="106775"/>
                  </a:lnTo>
                </a:path>
                <a:path w="2981960" h="906780">
                  <a:moveTo>
                    <a:pt x="35554" y="820609"/>
                  </a:moveTo>
                  <a:lnTo>
                    <a:pt x="0" y="820609"/>
                  </a:lnTo>
                </a:path>
                <a:path w="2981960" h="906780">
                  <a:moveTo>
                    <a:pt x="35554" y="677831"/>
                  </a:moveTo>
                  <a:lnTo>
                    <a:pt x="0" y="677831"/>
                  </a:lnTo>
                </a:path>
                <a:path w="2981960" h="906780">
                  <a:moveTo>
                    <a:pt x="35554" y="535053"/>
                  </a:moveTo>
                  <a:lnTo>
                    <a:pt x="0" y="535053"/>
                  </a:lnTo>
                </a:path>
                <a:path w="2981960" h="906780">
                  <a:moveTo>
                    <a:pt x="35554" y="392331"/>
                  </a:moveTo>
                  <a:lnTo>
                    <a:pt x="0" y="392331"/>
                  </a:lnTo>
                </a:path>
                <a:path w="2981960" h="906780">
                  <a:moveTo>
                    <a:pt x="35554" y="249553"/>
                  </a:moveTo>
                  <a:lnTo>
                    <a:pt x="0" y="249553"/>
                  </a:lnTo>
                </a:path>
                <a:path w="2981960" h="906780">
                  <a:moveTo>
                    <a:pt x="35554" y="106775"/>
                  </a:moveTo>
                  <a:lnTo>
                    <a:pt x="0" y="106775"/>
                  </a:lnTo>
                </a:path>
                <a:path w="2981960" h="906780">
                  <a:moveTo>
                    <a:pt x="35554" y="871025"/>
                  </a:moveTo>
                  <a:lnTo>
                    <a:pt x="2981460" y="871025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25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13277" y="2339516"/>
              <a:ext cx="798766" cy="871025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2886739" y="1460678"/>
            <a:ext cx="137282" cy="1172781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Log(Trading</a:t>
            </a:r>
            <a:r>
              <a:rPr sz="892" spc="129" dirty="0">
                <a:latin typeface="Helvetica"/>
                <a:cs typeface="Helvetica"/>
              </a:rPr>
              <a:t> </a:t>
            </a:r>
            <a:r>
              <a:rPr sz="892" spc="-20" dirty="0">
                <a:latin typeface="Helvetica"/>
                <a:cs typeface="Helvetica"/>
              </a:rPr>
              <a:t>Volume)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79005CCA-92E9-9787-C93D-1CFD21FF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048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spc="109" dirty="0">
                <a:solidFill>
                  <a:srgbClr val="3333B3"/>
                </a:solidFill>
                <a:latin typeface="Source Sans Pro"/>
                <a:cs typeface="Source Sans Pro"/>
              </a:rPr>
              <a:t>Time</a:t>
            </a:r>
            <a:r>
              <a:rPr lang="en-US" sz="4800" spc="297" dirty="0">
                <a:solidFill>
                  <a:srgbClr val="3333B3"/>
                </a:solidFill>
                <a:latin typeface="Source Sans Pro"/>
                <a:cs typeface="Source Sans Pro"/>
              </a:rPr>
              <a:t> </a:t>
            </a:r>
            <a:r>
              <a:rPr lang="en-US" sz="4800" dirty="0">
                <a:solidFill>
                  <a:srgbClr val="3333B3"/>
                </a:solidFill>
                <a:latin typeface="Source Sans Pro"/>
                <a:cs typeface="Source Sans Pro"/>
              </a:rPr>
              <a:t>Series</a:t>
            </a:r>
            <a:r>
              <a:rPr lang="en-US" sz="4800" spc="307" dirty="0">
                <a:solidFill>
                  <a:srgbClr val="3333B3"/>
                </a:solidFill>
                <a:latin typeface="Source Sans Pro"/>
                <a:cs typeface="Source Sans Pro"/>
              </a:rPr>
              <a:t> </a:t>
            </a:r>
            <a:r>
              <a:rPr lang="en-US" sz="4800" spc="-20" dirty="0">
                <a:solidFill>
                  <a:srgbClr val="3333B3"/>
                </a:solidFill>
                <a:latin typeface="Source Sans Pro"/>
                <a:cs typeface="Source Sans Pro"/>
              </a:rPr>
              <a:t>Forecasting</a:t>
            </a:r>
            <a:endParaRPr lang="en-US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C1B76AFC-9B7E-D617-C908-CBACEFFF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4" name="object 14"/>
          <p:cNvSpPr txBox="1"/>
          <p:nvPr/>
        </p:nvSpPr>
        <p:spPr>
          <a:xfrm>
            <a:off x="3168342" y="2482019"/>
            <a:ext cx="137282" cy="291937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−1.0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168342" y="1164287"/>
            <a:ext cx="137282" cy="897203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0.0</a:t>
            </a:r>
            <a:r>
              <a:rPr sz="892" spc="436" dirty="0">
                <a:latin typeface="Helvetica"/>
                <a:cs typeface="Helvetica"/>
              </a:rPr>
              <a:t>  </a:t>
            </a:r>
            <a:r>
              <a:rPr sz="892" dirty="0">
                <a:latin typeface="Helvetica"/>
                <a:cs typeface="Helvetica"/>
              </a:rPr>
              <a:t>0.5</a:t>
            </a:r>
            <a:r>
              <a:rPr sz="892" spc="446" dirty="0">
                <a:latin typeface="Helvetica"/>
                <a:cs typeface="Helvetica"/>
              </a:rPr>
              <a:t>  </a:t>
            </a:r>
            <a:r>
              <a:rPr sz="892" spc="-50" dirty="0">
                <a:latin typeface="Helvetica"/>
                <a:cs typeface="Helvetica"/>
              </a:rPr>
              <a:t>1.0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86739" y="3244444"/>
            <a:ext cx="137282" cy="1057013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Dow</a:t>
            </a:r>
            <a:r>
              <a:rPr sz="892" spc="129" dirty="0">
                <a:latin typeface="Helvetica"/>
                <a:cs typeface="Helvetica"/>
              </a:rPr>
              <a:t> </a:t>
            </a:r>
            <a:r>
              <a:rPr sz="892" dirty="0">
                <a:latin typeface="Helvetica"/>
                <a:cs typeface="Helvetica"/>
              </a:rPr>
              <a:t>Jones</a:t>
            </a:r>
            <a:r>
              <a:rPr sz="892" spc="159" dirty="0">
                <a:latin typeface="Helvetica"/>
                <a:cs typeface="Helvetica"/>
              </a:rPr>
              <a:t> </a:t>
            </a:r>
            <a:r>
              <a:rPr sz="892" spc="-20" dirty="0">
                <a:latin typeface="Helvetica"/>
                <a:cs typeface="Helvetica"/>
              </a:rPr>
              <a:t>Return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168342" y="4273698"/>
            <a:ext cx="137282" cy="952570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−9</a:t>
            </a:r>
            <a:r>
              <a:rPr sz="892" spc="941" dirty="0">
                <a:latin typeface="Helvetica"/>
                <a:cs typeface="Helvetica"/>
              </a:rPr>
              <a:t> </a:t>
            </a:r>
            <a:r>
              <a:rPr sz="892" dirty="0">
                <a:latin typeface="Helvetica"/>
                <a:cs typeface="Helvetica"/>
              </a:rPr>
              <a:t>−8</a:t>
            </a:r>
            <a:r>
              <a:rPr sz="892" spc="454" dirty="0">
                <a:latin typeface="Helvetica"/>
                <a:cs typeface="Helvetica"/>
              </a:rPr>
              <a:t>  </a:t>
            </a:r>
            <a:r>
              <a:rPr sz="892" spc="-20" dirty="0">
                <a:latin typeface="Helvetica"/>
                <a:cs typeface="Helvetica"/>
              </a:rPr>
              <a:t>−0.04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8342" y="3648304"/>
            <a:ext cx="137282" cy="289420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0.00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168342" y="2987082"/>
            <a:ext cx="137282" cy="289420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0.04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978927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1965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101226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1970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223637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1975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346048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1980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69014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norm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1985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68342" y="6133463"/>
            <a:ext cx="137282" cy="257961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50" dirty="0">
                <a:latin typeface="Helvetica"/>
                <a:cs typeface="Helvetica"/>
              </a:rPr>
              <a:t>−13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68342" y="5567589"/>
            <a:ext cx="137282" cy="257961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50" dirty="0">
                <a:latin typeface="Helvetica"/>
                <a:cs typeface="Helvetica"/>
              </a:rPr>
              <a:t>−11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886739" y="5108756"/>
            <a:ext cx="137282" cy="781434"/>
          </a:xfrm>
          <a:prstGeom prst="rect">
            <a:avLst/>
          </a:prstGeom>
        </p:spPr>
        <p:txBody>
          <a:bodyPr vert="vert270" wrap="square" lIns="0" tIns="6292" rIns="0" bIns="0" rtlCol="0">
            <a:normAutofit/>
          </a:bodyPr>
          <a:lstStyle/>
          <a:p>
            <a:pPr marL="25168">
              <a:spcBef>
                <a:spcPts val="50"/>
              </a:spcBef>
            </a:pPr>
            <a:r>
              <a:rPr sz="892" spc="-20" dirty="0">
                <a:latin typeface="Helvetica"/>
                <a:cs typeface="Helvetica"/>
              </a:rPr>
              <a:t>Log(Volatility)</a:t>
            </a:r>
            <a:endParaRPr sz="892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15078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985476F-93BF-6F6C-5A91-B291C7D19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New-York</a:t>
            </a:r>
            <a:r>
              <a:rPr lang="en-US" spc="614" dirty="0"/>
              <a:t> </a:t>
            </a:r>
            <a:r>
              <a:rPr lang="en-US" dirty="0"/>
              <a:t>Stock</a:t>
            </a:r>
            <a:r>
              <a:rPr lang="en-US" spc="595" dirty="0"/>
              <a:t> </a:t>
            </a:r>
            <a:r>
              <a:rPr lang="en-US" dirty="0"/>
              <a:t>Exchange</a:t>
            </a:r>
            <a:r>
              <a:rPr lang="en-US" spc="604" dirty="0"/>
              <a:t> </a:t>
            </a:r>
            <a:r>
              <a:rPr lang="en-US" spc="129" dirty="0"/>
              <a:t>Data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D3FA-2E07-2DC6-06A5-0AE4437E1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994411" y="1485916"/>
            <a:ext cx="10317479" cy="5211747"/>
          </a:xfrm>
          <a:prstGeom prst="rect">
            <a:avLst/>
          </a:prstGeom>
        </p:spPr>
        <p:txBody>
          <a:bodyPr vert="horz" wrap="square" lIns="0" tIns="13842" rIns="0" bIns="0" rtlCol="0">
            <a:normAutofit/>
          </a:bodyPr>
          <a:lstStyle/>
          <a:p>
            <a:pPr marL="75503" marR="60402">
              <a:lnSpc>
                <a:spcPct val="102699"/>
              </a:lnSpc>
              <a:spcBef>
                <a:spcPts val="109"/>
              </a:spcBef>
            </a:pPr>
            <a:r>
              <a:rPr sz="2400" spc="-159" dirty="0">
                <a:latin typeface="Source Sans Pro"/>
                <a:cs typeface="Source Sans Pro"/>
              </a:rPr>
              <a:t>Shown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59" dirty="0">
                <a:latin typeface="Source Sans Pro"/>
                <a:cs typeface="Source Sans Pro"/>
              </a:rPr>
              <a:t>in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the </a:t>
            </a:r>
            <a:r>
              <a:rPr sz="2400" spc="-168" dirty="0">
                <a:latin typeface="Source Sans Pro"/>
                <a:cs typeface="Source Sans Pro"/>
              </a:rPr>
              <a:t>previous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slide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are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three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59" dirty="0">
                <a:latin typeface="Source Sans Pro"/>
                <a:cs typeface="Source Sans Pro"/>
              </a:rPr>
              <a:t>daily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time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series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for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the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period </a:t>
            </a:r>
            <a:r>
              <a:rPr sz="2400" spc="-188" dirty="0">
                <a:latin typeface="Source Sans Pro"/>
                <a:cs typeface="Source Sans Pro"/>
              </a:rPr>
              <a:t>December</a:t>
            </a:r>
            <a:r>
              <a:rPr sz="2400" spc="59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3,</a:t>
            </a:r>
            <a:r>
              <a:rPr sz="2400" spc="69" dirty="0">
                <a:latin typeface="Source Sans Pro"/>
                <a:cs typeface="Source Sans Pro"/>
              </a:rPr>
              <a:t> </a:t>
            </a:r>
            <a:r>
              <a:rPr sz="2400" spc="-317" dirty="0">
                <a:latin typeface="Source Sans Pro"/>
                <a:cs typeface="Source Sans Pro"/>
              </a:rPr>
              <a:t>1962</a:t>
            </a:r>
            <a:r>
              <a:rPr lang="en-US" sz="2400" spc="-317" dirty="0">
                <a:latin typeface="Source Sans Pro"/>
                <a:cs typeface="Source Sans Pro"/>
              </a:rPr>
              <a:t>,</a:t>
            </a:r>
            <a:r>
              <a:rPr sz="2400" spc="59" dirty="0">
                <a:latin typeface="Source Sans Pro"/>
                <a:cs typeface="Source Sans Pro"/>
              </a:rPr>
              <a:t> </a:t>
            </a:r>
            <a:r>
              <a:rPr sz="2400" spc="-59" dirty="0">
                <a:latin typeface="Source Sans Pro"/>
                <a:cs typeface="Source Sans Pro"/>
              </a:rPr>
              <a:t>to</a:t>
            </a:r>
            <a:r>
              <a:rPr sz="2400" spc="69" dirty="0">
                <a:latin typeface="Source Sans Pro"/>
                <a:cs typeface="Source Sans Pro"/>
              </a:rPr>
              <a:t> </a:t>
            </a:r>
            <a:r>
              <a:rPr sz="2400" spc="-188" dirty="0">
                <a:latin typeface="Source Sans Pro"/>
                <a:cs typeface="Source Sans Pro"/>
              </a:rPr>
              <a:t>December</a:t>
            </a:r>
            <a:r>
              <a:rPr sz="2400" spc="69" dirty="0">
                <a:latin typeface="Source Sans Pro"/>
                <a:cs typeface="Source Sans Pro"/>
              </a:rPr>
              <a:t> </a:t>
            </a:r>
            <a:r>
              <a:rPr sz="2400" spc="-248" dirty="0">
                <a:latin typeface="Source Sans Pro"/>
                <a:cs typeface="Source Sans Pro"/>
              </a:rPr>
              <a:t>31,</a:t>
            </a:r>
            <a:r>
              <a:rPr sz="2400" spc="59" dirty="0">
                <a:latin typeface="Source Sans Pro"/>
                <a:cs typeface="Source Sans Pro"/>
              </a:rPr>
              <a:t> </a:t>
            </a:r>
            <a:r>
              <a:rPr sz="2400" spc="-317" dirty="0">
                <a:latin typeface="Source Sans Pro"/>
                <a:cs typeface="Source Sans Pro"/>
              </a:rPr>
              <a:t>1986</a:t>
            </a:r>
            <a:r>
              <a:rPr sz="2400" spc="69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(6,051</a:t>
            </a:r>
            <a:r>
              <a:rPr sz="2400" spc="59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trading</a:t>
            </a:r>
            <a:r>
              <a:rPr sz="2400" spc="69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days):</a:t>
            </a:r>
            <a:endParaRPr sz="2400" dirty="0">
              <a:latin typeface="Source Sans Pro"/>
              <a:cs typeface="Source Sans Pro"/>
            </a:endParaRPr>
          </a:p>
          <a:p>
            <a:pPr marL="624156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39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400" spc="-139" dirty="0">
                <a:latin typeface="Source Sans Pro"/>
                <a:cs typeface="Source Sans Pro"/>
              </a:rPr>
              <a:t>.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40" dirty="0">
                <a:latin typeface="Source Sans Pro"/>
                <a:cs typeface="Source Sans Pro"/>
              </a:rPr>
              <a:t>This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fraction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50" dirty="0">
                <a:latin typeface="Source Sans Pro"/>
                <a:cs typeface="Source Sans Pro"/>
              </a:rPr>
              <a:t>all </a:t>
            </a:r>
            <a:r>
              <a:rPr sz="2400" spc="-159" dirty="0">
                <a:latin typeface="Source Sans Pro"/>
                <a:cs typeface="Source Sans Pro"/>
              </a:rPr>
              <a:t>outstanding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shares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that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are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traded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218" dirty="0">
                <a:latin typeface="Source Sans Pro"/>
                <a:cs typeface="Source Sans Pro"/>
              </a:rPr>
              <a:t>on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that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day</a:t>
            </a:r>
            <a:r>
              <a:rPr lang="en-US" sz="2400" spc="-159" dirty="0">
                <a:latin typeface="Source Sans Pro"/>
                <a:cs typeface="Source Sans Pro"/>
              </a:rPr>
              <a:t> relative to a 100-day moving average of past turnover,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226" dirty="0">
                <a:latin typeface="Source Sans Pro"/>
                <a:cs typeface="Source Sans Pro"/>
              </a:rPr>
              <a:t>on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the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log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scale.</a:t>
            </a:r>
            <a:endParaRPr sz="2400" dirty="0">
              <a:latin typeface="Source Sans Pro"/>
              <a:cs typeface="Source Sans Pro"/>
            </a:endParaRPr>
          </a:p>
          <a:p>
            <a:pPr marL="624156" marR="222733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Dow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98" dirty="0">
                <a:solidFill>
                  <a:srgbClr val="990000"/>
                </a:solidFill>
                <a:latin typeface="Courier New"/>
                <a:cs typeface="Courier New"/>
              </a:rPr>
              <a:t>Jones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39" dirty="0">
                <a:solidFill>
                  <a:srgbClr val="990000"/>
                </a:solidFill>
                <a:latin typeface="Courier New"/>
                <a:cs typeface="Courier New"/>
              </a:rPr>
              <a:t>return</a:t>
            </a:r>
            <a:r>
              <a:rPr sz="2400" spc="-139" dirty="0">
                <a:latin typeface="Source Sans Pro"/>
                <a:cs typeface="Source Sans Pro"/>
              </a:rPr>
              <a:t>.</a:t>
            </a:r>
            <a:r>
              <a:rPr sz="2400" spc="79" dirty="0">
                <a:latin typeface="Source Sans Pro"/>
                <a:cs typeface="Source Sans Pro"/>
              </a:rPr>
              <a:t> </a:t>
            </a:r>
            <a:r>
              <a:rPr sz="2400" spc="-40" dirty="0">
                <a:latin typeface="Source Sans Pro"/>
                <a:cs typeface="Source Sans Pro"/>
              </a:rPr>
              <a:t>This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lang="en-US" sz="2400" spc="-268" dirty="0">
                <a:latin typeface="Source Sans Pro"/>
                <a:cs typeface="Source Sans Pro"/>
              </a:rPr>
              <a:t>difference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88" dirty="0">
                <a:latin typeface="Source Sans Pro"/>
                <a:cs typeface="Source Sans Pro"/>
              </a:rPr>
              <a:t>between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log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Dow</a:t>
            </a:r>
            <a:r>
              <a:rPr sz="2400" spc="-3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Jones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79" dirty="0">
                <a:latin typeface="Source Sans Pro"/>
                <a:cs typeface="Source Sans Pro"/>
              </a:rPr>
              <a:t>Industrial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Index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218" dirty="0">
                <a:latin typeface="Source Sans Pro"/>
                <a:cs typeface="Source Sans Pro"/>
              </a:rPr>
              <a:t>on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consecutive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trading days.</a:t>
            </a:r>
            <a:endParaRPr sz="2400" dirty="0">
              <a:latin typeface="Source Sans Pro"/>
              <a:cs typeface="Source Sans Pro"/>
            </a:endParaRPr>
          </a:p>
          <a:p>
            <a:pPr marL="624156" marR="354863" indent="-275585">
              <a:lnSpc>
                <a:spcPct val="102600"/>
              </a:lnSpc>
              <a:spcBef>
                <a:spcPts val="58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59" dirty="0">
                <a:solidFill>
                  <a:srgbClr val="990000"/>
                </a:solidFill>
                <a:latin typeface="Courier New"/>
                <a:cs typeface="Courier New"/>
              </a:rPr>
              <a:t>volatility</a:t>
            </a:r>
            <a:r>
              <a:rPr sz="2400" spc="-159" dirty="0">
                <a:latin typeface="Source Sans Pro"/>
                <a:cs typeface="Source Sans Pro"/>
              </a:rPr>
              <a:t>.</a:t>
            </a:r>
            <a:r>
              <a:rPr sz="2400" spc="89" dirty="0">
                <a:latin typeface="Source Sans Pro"/>
                <a:cs typeface="Source Sans Pro"/>
              </a:rPr>
              <a:t> </a:t>
            </a:r>
            <a:r>
              <a:rPr sz="2400" spc="-40" dirty="0">
                <a:latin typeface="Source Sans Pro"/>
                <a:cs typeface="Source Sans Pro"/>
              </a:rPr>
              <a:t>This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based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18" dirty="0">
                <a:latin typeface="Source Sans Pro"/>
                <a:cs typeface="Source Sans Pro"/>
              </a:rPr>
              <a:t>on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absolute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values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69" dirty="0">
                <a:latin typeface="Source Sans Pro"/>
                <a:cs typeface="Source Sans Pro"/>
              </a:rPr>
              <a:t>of </a:t>
            </a:r>
            <a:r>
              <a:rPr sz="2400" spc="-50" dirty="0">
                <a:latin typeface="Source Sans Pro"/>
                <a:cs typeface="Source Sans Pro"/>
              </a:rPr>
              <a:t>daily</a:t>
            </a:r>
            <a:r>
              <a:rPr sz="2400" spc="-69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price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movements.</a:t>
            </a:r>
            <a:endParaRPr sz="2400" dirty="0">
              <a:latin typeface="Source Sans Pro"/>
              <a:cs typeface="Source Sans Pro"/>
            </a:endParaRPr>
          </a:p>
          <a:p>
            <a:pPr marL="75503" marR="700917">
              <a:lnSpc>
                <a:spcPct val="102600"/>
              </a:lnSpc>
              <a:spcBef>
                <a:spcPts val="595"/>
              </a:spcBef>
            </a:pPr>
            <a:r>
              <a:rPr sz="2400" spc="-20" dirty="0">
                <a:latin typeface="Source Sans Pro"/>
                <a:cs typeface="Source Sans Pro"/>
              </a:rPr>
              <a:t>Goal:</a:t>
            </a:r>
            <a:r>
              <a:rPr sz="2400" spc="208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predict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98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4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tomorrow,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given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50" dirty="0">
                <a:latin typeface="Source Sans Pro"/>
                <a:cs typeface="Source Sans Pro"/>
              </a:rPr>
              <a:t>its </a:t>
            </a:r>
            <a:r>
              <a:rPr sz="2400" spc="-198" dirty="0">
                <a:latin typeface="Source Sans Pro"/>
                <a:cs typeface="Source Sans Pro"/>
              </a:rPr>
              <a:t>observed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values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up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59" dirty="0">
                <a:latin typeface="Source Sans Pro"/>
                <a:cs typeface="Source Sans Pro"/>
              </a:rPr>
              <a:t>to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today,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well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88" dirty="0">
                <a:latin typeface="Source Sans Pro"/>
                <a:cs typeface="Source Sans Pro"/>
              </a:rPr>
              <a:t>those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Dow</a:t>
            </a:r>
            <a:r>
              <a:rPr sz="24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29" dirty="0">
                <a:solidFill>
                  <a:srgbClr val="990000"/>
                </a:solidFill>
                <a:latin typeface="Courier New"/>
                <a:cs typeface="Courier New"/>
              </a:rPr>
              <a:t>Jones </a:t>
            </a:r>
            <a:r>
              <a:rPr sz="2400" spc="-198" dirty="0">
                <a:solidFill>
                  <a:srgbClr val="990000"/>
                </a:solidFill>
                <a:latin typeface="Courier New"/>
                <a:cs typeface="Courier New"/>
              </a:rPr>
              <a:t>return</a:t>
            </a:r>
            <a:r>
              <a:rPr sz="24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and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400" spc="-159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400" spc="-20" dirty="0">
                <a:solidFill>
                  <a:srgbClr val="990000"/>
                </a:solidFill>
                <a:latin typeface="Courier New"/>
                <a:cs typeface="Courier New"/>
              </a:rPr>
              <a:t>volatility</a:t>
            </a:r>
            <a:r>
              <a:rPr sz="2400" spc="-20" dirty="0">
                <a:latin typeface="Source Sans Pro"/>
                <a:cs typeface="Source Sans Pro"/>
              </a:rPr>
              <a:t>.</a:t>
            </a:r>
            <a:endParaRPr sz="2400" dirty="0">
              <a:latin typeface="Source Sans Pro"/>
              <a:cs typeface="Source Sans Pro"/>
            </a:endParaRPr>
          </a:p>
          <a:p>
            <a:pPr marL="75503" marR="451758">
              <a:lnSpc>
                <a:spcPts val="2675"/>
              </a:lnSpc>
              <a:spcBef>
                <a:spcPts val="109"/>
              </a:spcBef>
            </a:pPr>
            <a:r>
              <a:rPr sz="2400" spc="-129" dirty="0">
                <a:solidFill>
                  <a:srgbClr val="0000FF"/>
                </a:solidFill>
                <a:latin typeface="Source Sans Pro"/>
                <a:cs typeface="Source Sans Pro"/>
              </a:rPr>
              <a:t>These</a:t>
            </a:r>
            <a:r>
              <a:rPr sz="2400" spc="-3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59" dirty="0">
                <a:solidFill>
                  <a:srgbClr val="0000FF"/>
                </a:solidFill>
                <a:latin typeface="Source Sans Pro"/>
                <a:cs typeface="Source Sans Pro"/>
              </a:rPr>
              <a:t>data</a:t>
            </a:r>
            <a:r>
              <a:rPr sz="2400" spc="-4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168" dirty="0">
                <a:solidFill>
                  <a:srgbClr val="0000FF"/>
                </a:solidFill>
                <a:latin typeface="Source Sans Pro"/>
                <a:cs typeface="Source Sans Pro"/>
              </a:rPr>
              <a:t>were</a:t>
            </a:r>
            <a:r>
              <a:rPr sz="2400" spc="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198" dirty="0">
                <a:solidFill>
                  <a:srgbClr val="0000FF"/>
                </a:solidFill>
                <a:latin typeface="Source Sans Pro"/>
                <a:cs typeface="Source Sans Pro"/>
              </a:rPr>
              <a:t>assembled</a:t>
            </a:r>
            <a:r>
              <a:rPr sz="2400" spc="3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40" dirty="0">
                <a:solidFill>
                  <a:srgbClr val="0000FF"/>
                </a:solidFill>
                <a:latin typeface="Source Sans Pro"/>
                <a:cs typeface="Source Sans Pro"/>
              </a:rPr>
              <a:t>by</a:t>
            </a:r>
            <a:r>
              <a:rPr sz="24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40" dirty="0">
                <a:solidFill>
                  <a:srgbClr val="0000FF"/>
                </a:solidFill>
                <a:latin typeface="Source Sans Pro"/>
                <a:cs typeface="Source Sans Pro"/>
              </a:rPr>
              <a:t>LeBaron</a:t>
            </a:r>
            <a:r>
              <a:rPr sz="24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119" dirty="0">
                <a:solidFill>
                  <a:srgbClr val="0000FF"/>
                </a:solidFill>
                <a:latin typeface="Source Sans Pro"/>
                <a:cs typeface="Source Sans Pro"/>
              </a:rPr>
              <a:t>and</a:t>
            </a:r>
            <a:r>
              <a:rPr sz="240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119" dirty="0">
                <a:solidFill>
                  <a:srgbClr val="0000FF"/>
                </a:solidFill>
                <a:latin typeface="Source Sans Pro"/>
                <a:cs typeface="Source Sans Pro"/>
              </a:rPr>
              <a:t>Weigend</a:t>
            </a:r>
            <a:r>
              <a:rPr sz="24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149" dirty="0">
                <a:solidFill>
                  <a:srgbClr val="0000FF"/>
                </a:solidFill>
                <a:latin typeface="Source Sans Pro"/>
                <a:cs typeface="Source Sans Pro"/>
              </a:rPr>
              <a:t>(1998)</a:t>
            </a:r>
            <a:r>
              <a:rPr sz="24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i="1" spc="-40" dirty="0">
                <a:solidFill>
                  <a:srgbClr val="0000FF"/>
                </a:solidFill>
                <a:latin typeface="Menlo"/>
                <a:cs typeface="Menlo"/>
              </a:rPr>
              <a:t>IEEE </a:t>
            </a:r>
            <a:r>
              <a:rPr sz="2400" i="1" spc="-297" dirty="0">
                <a:solidFill>
                  <a:srgbClr val="0000FF"/>
                </a:solidFill>
                <a:latin typeface="Menlo"/>
                <a:cs typeface="Menlo"/>
              </a:rPr>
              <a:t>Transactions</a:t>
            </a:r>
            <a:r>
              <a:rPr sz="24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400" i="1" spc="-159" dirty="0">
                <a:solidFill>
                  <a:srgbClr val="0000FF"/>
                </a:solidFill>
                <a:latin typeface="Menlo"/>
                <a:cs typeface="Menlo"/>
              </a:rPr>
              <a:t>on</a:t>
            </a:r>
            <a:r>
              <a:rPr sz="24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400" i="1" spc="-268" dirty="0">
                <a:solidFill>
                  <a:srgbClr val="0000FF"/>
                </a:solidFill>
                <a:latin typeface="Menlo"/>
                <a:cs typeface="Menlo"/>
              </a:rPr>
              <a:t>Neural</a:t>
            </a:r>
            <a:r>
              <a:rPr sz="24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400" i="1" spc="-218" dirty="0">
                <a:solidFill>
                  <a:srgbClr val="0000FF"/>
                </a:solidFill>
                <a:latin typeface="Menlo"/>
                <a:cs typeface="Menlo"/>
              </a:rPr>
              <a:t>Networks</a:t>
            </a:r>
            <a:r>
              <a:rPr sz="2400" spc="-218" dirty="0">
                <a:solidFill>
                  <a:srgbClr val="0000FF"/>
                </a:solidFill>
                <a:latin typeface="Source Sans Pro"/>
                <a:cs typeface="Source Sans Pro"/>
              </a:rPr>
              <a:t>,</a:t>
            </a:r>
            <a:r>
              <a:rPr sz="2400" spc="59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20" dirty="0">
                <a:solidFill>
                  <a:srgbClr val="0000FF"/>
                </a:solidFill>
                <a:latin typeface="Source Sans Pro"/>
                <a:cs typeface="Source Sans Pro"/>
              </a:rPr>
              <a:t>9(1):</a:t>
            </a:r>
            <a:r>
              <a:rPr sz="2400" spc="277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400" spc="-20" dirty="0">
                <a:solidFill>
                  <a:srgbClr val="0000FF"/>
                </a:solidFill>
                <a:latin typeface="Source Sans Pro"/>
                <a:cs typeface="Source Sans Pro"/>
              </a:rPr>
              <a:t>213–220.</a:t>
            </a:r>
            <a:endParaRPr sz="2400" dirty="0">
              <a:solidFill>
                <a:srgbClr val="0000FF"/>
              </a:solidFill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6145437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487816">
              <a:spcBef>
                <a:spcPts val="268"/>
              </a:spcBef>
            </a:pPr>
            <a:r>
              <a:rPr spc="109" dirty="0"/>
              <a:t>RNN</a:t>
            </a:r>
            <a:r>
              <a:rPr spc="238" dirty="0"/>
              <a:t> </a:t>
            </a:r>
            <a:r>
              <a:rPr spc="-20" dirty="0"/>
              <a:t>Forecaster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7EAF210-1A77-C12D-827B-EB1336473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3" name="object 13"/>
          <p:cNvSpPr txBox="1"/>
          <p:nvPr/>
        </p:nvSpPr>
        <p:spPr>
          <a:xfrm>
            <a:off x="1582342" y="1219200"/>
            <a:ext cx="8628458" cy="4504226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125838">
              <a:spcBef>
                <a:spcPts val="178"/>
              </a:spcBef>
            </a:pP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09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only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have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4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one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series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1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data!</a:t>
            </a:r>
            <a:r>
              <a:rPr sz="2400" spc="25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68" dirty="0">
                <a:latin typeface="Source Sans Pro" panose="02020603050405020304" pitchFamily="18" charset="0"/>
                <a:cs typeface="Source Sans Pro" panose="02020603050405020304" pitchFamily="18" charset="0"/>
              </a:rPr>
              <a:t>How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26" dirty="0">
                <a:latin typeface="Source Sans Pro" panose="02020603050405020304" pitchFamily="18" charset="0"/>
                <a:cs typeface="Source Sans Pro" panose="02020603050405020304" pitchFamily="18" charset="0"/>
              </a:rPr>
              <a:t>do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38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up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59" dirty="0">
                <a:latin typeface="Source Sans Pro" panose="02020603050405020304" pitchFamily="18" charset="0"/>
                <a:cs typeface="Source Sans Pro" panose="02020603050405020304" pitchFamily="18" charset="0"/>
              </a:rPr>
              <a:t>for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29" dirty="0">
                <a:latin typeface="Source Sans Pro" panose="02020603050405020304" pitchFamily="18" charset="0"/>
                <a:cs typeface="Source Sans Pro" panose="02020603050405020304" pitchFamily="18" charset="0"/>
              </a:rPr>
              <a:t>an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RNN?</a:t>
            </a: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/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6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99" dirty="0">
                <a:latin typeface="Source Sans Pro" panose="02020603050405020304" pitchFamily="18" charset="0"/>
                <a:cs typeface="Source Sans Pro" panose="02020603050405020304" pitchFamily="18" charset="0"/>
              </a:rPr>
              <a:t>extract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29" dirty="0">
                <a:latin typeface="Source Sans Pro" panose="02020603050405020304" pitchFamily="18" charset="0"/>
                <a:cs typeface="Source Sans Pro" panose="02020603050405020304" pitchFamily="18" charset="0"/>
              </a:rPr>
              <a:t>many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39" dirty="0">
                <a:latin typeface="Source Sans Pro" panose="02020603050405020304" pitchFamily="18" charset="0"/>
                <a:cs typeface="Source Sans Pro" panose="02020603050405020304" pitchFamily="18" charset="0"/>
              </a:rPr>
              <a:t>short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18" dirty="0">
                <a:latin typeface="Source Sans Pro" panose="02020603050405020304" pitchFamily="18" charset="0"/>
                <a:cs typeface="Source Sans Pro" panose="02020603050405020304" pitchFamily="18" charset="0"/>
              </a:rPr>
              <a:t>mini-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series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0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79" dirty="0">
                <a:latin typeface="Source Sans Pro" panose="02020603050405020304" pitchFamily="18" charset="0"/>
                <a:cs typeface="Source Sans Pro" panose="02020603050405020304" pitchFamily="18" charset="0"/>
              </a:rPr>
              <a:t>input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sequences</a:t>
            </a: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>
              <a:spcBef>
                <a:spcPts val="69"/>
              </a:spcBef>
            </a:pPr>
            <a:r>
              <a:rPr sz="2400" spc="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7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sz="2400" spc="-8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{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1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sz="2400" spc="-31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268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sz="2400" spc="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,.</a:t>
            </a:r>
            <a:r>
              <a:rPr sz="2400" spc="-33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39" dirty="0">
                <a:latin typeface="Source Sans Pro" panose="02020603050405020304" pitchFamily="18" charset="0"/>
                <a:cs typeface="Source Sans Pro" panose="02020603050405020304" pitchFamily="18" charset="0"/>
              </a:rPr>
              <a:t>..,</a:t>
            </a:r>
            <a:r>
              <a:rPr sz="2400" spc="-33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281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sz="2400" i="1" spc="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}</a:t>
            </a:r>
            <a:r>
              <a:rPr sz="2400" i="1" spc="-58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with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predefined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49" dirty="0">
                <a:latin typeface="Source Sans Pro" panose="02020603050405020304" pitchFamily="18" charset="0"/>
                <a:cs typeface="Source Sans Pro" panose="02020603050405020304" pitchFamily="18" charset="0"/>
              </a:rPr>
              <a:t>length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297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known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as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</a:t>
            </a:r>
            <a:r>
              <a:rPr lang="en-US"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i="1" spc="-40" dirty="0">
                <a:solidFill>
                  <a:srgbClr val="009900"/>
                </a:solidFill>
                <a:latin typeface="Source Sans Pro" panose="02020603050405020304" pitchFamily="18" charset="0"/>
                <a:cs typeface="Source Sans Pro" panose="02020603050405020304" pitchFamily="18" charset="0"/>
              </a:rPr>
              <a:t>lag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:</a:t>
            </a:r>
            <a:endParaRPr lang="en-US" sz="2400" spc="-4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>
              <a:spcBef>
                <a:spcPts val="69"/>
              </a:spcBef>
            </a:pPr>
            <a:endParaRPr lang="en-US" sz="2400" baseline="50505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r>
              <a:rPr lang="en-US" sz="2400" dirty="0">
                <a:latin typeface="Source Sans Pro"/>
                <a:cs typeface="Source Sans Pro"/>
              </a:rPr>
              <a:t>Since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i="1" dirty="0">
                <a:latin typeface="Georgia"/>
                <a:cs typeface="Georgia"/>
              </a:rPr>
              <a:t>T</a:t>
            </a:r>
            <a:r>
              <a:rPr lang="en-US" sz="2400" spc="215" dirty="0">
                <a:latin typeface="Source Sans Pro"/>
                <a:cs typeface="Source Sans Pro"/>
              </a:rPr>
              <a:t>=</a:t>
            </a:r>
            <a:r>
              <a:rPr lang="en-US" sz="2400" spc="-10" dirty="0">
                <a:latin typeface="Source Sans Pro"/>
                <a:cs typeface="Source Sans Pro"/>
              </a:rPr>
              <a:t>6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051, with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i="1" spc="70" dirty="0">
                <a:latin typeface="Georgia"/>
                <a:cs typeface="Georgia"/>
              </a:rPr>
              <a:t>L</a:t>
            </a:r>
            <a:r>
              <a:rPr lang="en-US" sz="2400" i="1" spc="60" dirty="0">
                <a:latin typeface="Georgia"/>
                <a:cs typeface="Georgia"/>
              </a:rPr>
              <a:t> </a:t>
            </a:r>
            <a:r>
              <a:rPr lang="en-US" sz="2400" spc="215" dirty="0">
                <a:latin typeface="Source Sans Pro"/>
                <a:cs typeface="Source Sans Pro"/>
              </a:rPr>
              <a:t>=</a:t>
            </a:r>
            <a:r>
              <a:rPr lang="en-US" sz="2400" dirty="0">
                <a:latin typeface="Source Sans Pro"/>
                <a:cs typeface="Source Sans Pro"/>
              </a:rPr>
              <a:t>5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can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create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6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046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such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(</a:t>
            </a:r>
            <a:r>
              <a:rPr lang="en-US" sz="2400" i="1" spc="60" dirty="0">
                <a:latin typeface="Georgia"/>
                <a:cs typeface="Georgia"/>
              </a:rPr>
              <a:t>X,</a:t>
            </a:r>
            <a:r>
              <a:rPr lang="en-US" sz="2400" i="1" spc="-70" dirty="0">
                <a:latin typeface="Georgia"/>
                <a:cs typeface="Georgia"/>
              </a:rPr>
              <a:t> </a:t>
            </a:r>
            <a:r>
              <a:rPr lang="en-US" sz="2400" i="1" spc="-50" dirty="0">
                <a:latin typeface="Georgia"/>
                <a:cs typeface="Georgia"/>
              </a:rPr>
              <a:t>Y</a:t>
            </a:r>
            <a:r>
              <a:rPr lang="en-US" sz="2400" i="1" dirty="0">
                <a:latin typeface="Georgia"/>
                <a:cs typeface="Georgia"/>
              </a:rPr>
              <a:t> </a:t>
            </a:r>
            <a:r>
              <a:rPr lang="en-US" sz="2400" spc="5" dirty="0">
                <a:latin typeface="Source Sans Pro"/>
                <a:cs typeface="Source Sans Pro"/>
              </a:rPr>
              <a:t>) </a:t>
            </a:r>
            <a:r>
              <a:rPr lang="en-US" sz="2400" spc="-10" dirty="0">
                <a:latin typeface="Source Sans Pro"/>
                <a:cs typeface="Source Sans Pro"/>
              </a:rPr>
              <a:t>pairs.</a:t>
            </a:r>
            <a:endParaRPr lang="en-US" sz="2400" dirty="0">
              <a:latin typeface="Source Sans Pro"/>
              <a:cs typeface="Source Sans Pro"/>
            </a:endParaRPr>
          </a:p>
          <a:p>
            <a:pPr marL="50800" marR="43180" indent="-635">
              <a:lnSpc>
                <a:spcPct val="102600"/>
              </a:lnSpc>
            </a:pP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2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use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5" dirty="0">
                <a:latin typeface="Source Sans Pro"/>
                <a:cs typeface="Source Sans Pro"/>
              </a:rPr>
              <a:t>the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first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4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281 as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training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data,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0" dirty="0">
                <a:latin typeface="Source Sans Pro"/>
                <a:cs typeface="Source Sans Pro"/>
              </a:rPr>
              <a:t>and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5" dirty="0">
                <a:latin typeface="Source Sans Pro"/>
                <a:cs typeface="Source Sans Pro"/>
              </a:rPr>
              <a:t>the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following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1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spc="-25" dirty="0">
                <a:latin typeface="Source Sans Pro"/>
                <a:cs typeface="Source Sans Pro"/>
              </a:rPr>
              <a:t>770 </a:t>
            </a:r>
            <a:r>
              <a:rPr lang="en-US" sz="2400" dirty="0">
                <a:latin typeface="Source Sans Pro"/>
                <a:cs typeface="Source Sans Pro"/>
              </a:rPr>
              <a:t>as</a:t>
            </a:r>
            <a:r>
              <a:rPr lang="en-US" sz="2400" spc="155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test</a:t>
            </a:r>
            <a:r>
              <a:rPr lang="en-US" sz="2400" spc="165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data.</a:t>
            </a:r>
            <a:r>
              <a:rPr lang="en-US" sz="2400" spc="31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fit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spc="50" dirty="0">
                <a:latin typeface="Source Sans Pro"/>
                <a:cs typeface="Source Sans Pro"/>
              </a:rPr>
              <a:t>an</a:t>
            </a:r>
            <a:r>
              <a:rPr lang="en-US" sz="2400" spc="16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RNN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with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12</a:t>
            </a:r>
            <a:r>
              <a:rPr lang="en-US" sz="2400" spc="15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hidden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units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per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lag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spc="-20" dirty="0">
                <a:latin typeface="Source Sans Pro"/>
                <a:cs typeface="Source Sans Pro"/>
              </a:rPr>
              <a:t>step </a:t>
            </a:r>
            <a:r>
              <a:rPr lang="en-US" sz="2400" dirty="0">
                <a:latin typeface="Source Sans Pro"/>
                <a:cs typeface="Source Sans Pro"/>
              </a:rPr>
              <a:t>(i.e. per</a:t>
            </a:r>
            <a:r>
              <a:rPr lang="en-US" sz="2400" spc="190" dirty="0">
                <a:latin typeface="Source Sans Pro"/>
                <a:cs typeface="Source Sans Pro"/>
              </a:rPr>
              <a:t> </a:t>
            </a:r>
            <a:r>
              <a:rPr lang="en-US" sz="2400" i="1" spc="-20" dirty="0">
                <a:latin typeface="Georgia"/>
                <a:cs typeface="Georgia"/>
              </a:rPr>
              <a:t>A</a:t>
            </a:r>
            <a:r>
              <a:rPr lang="en-US" sz="2400" i="1" spc="-30" baseline="-13888" dirty="0">
                <a:latin typeface="Georgia"/>
                <a:cs typeface="Georgia"/>
              </a:rPr>
              <a:t>l</a:t>
            </a:r>
            <a:r>
              <a:rPr lang="en-US" sz="2400" spc="-20" dirty="0">
                <a:latin typeface="Source Sans Pro"/>
                <a:cs typeface="Source Sans Pro"/>
              </a:rPr>
              <a:t>.)</a:t>
            </a:r>
            <a:endParaRPr sz="2400" baseline="50505" dirty="0">
              <a:latin typeface="Source Sans Pro"/>
              <a:cs typeface="Source Sans Pro"/>
            </a:endParaRPr>
          </a:p>
        </p:txBody>
      </p:sp>
      <p:pic>
        <p:nvPicPr>
          <p:cNvPr id="20" name="Picture 19" descr="A black and white image of a smiley face&#10;&#10;Description automatically generated">
            <a:extLst>
              <a:ext uri="{FF2B5EF4-FFF2-40B4-BE49-F238E27FC236}">
                <a16:creationId xmlns:a16="http://schemas.microsoft.com/office/drawing/2014/main" id="{ACE7C428-0618-94A5-4EB8-2758EA0EDC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761" y="2667000"/>
            <a:ext cx="9072479" cy="130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11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7B81B4F9-034C-BA83-B970-18718F05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RNN</a:t>
            </a:r>
            <a:r>
              <a:rPr lang="en-US" spc="347" dirty="0"/>
              <a:t> </a:t>
            </a:r>
            <a:r>
              <a:rPr lang="en-US" spc="89" dirty="0"/>
              <a:t>Results</a:t>
            </a:r>
            <a:r>
              <a:rPr lang="en-US" spc="347" dirty="0"/>
              <a:t> </a:t>
            </a:r>
            <a:r>
              <a:rPr lang="en-US" dirty="0"/>
              <a:t>for</a:t>
            </a:r>
            <a:r>
              <a:rPr lang="en-US" spc="347" dirty="0"/>
              <a:t> </a:t>
            </a:r>
            <a:r>
              <a:rPr lang="en-US" dirty="0"/>
              <a:t>NYSE</a:t>
            </a:r>
            <a:r>
              <a:rPr lang="en-US" spc="347" dirty="0"/>
              <a:t> </a:t>
            </a:r>
            <a:r>
              <a:rPr lang="en-US" spc="129" dirty="0"/>
              <a:t>Data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8A52DD-6360-F83E-6DD9-5B2D106C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15</a:t>
            </a:fld>
            <a:endParaRPr lang="en-US"/>
          </a:p>
        </p:txBody>
      </p:sp>
      <p:grpSp>
        <p:nvGrpSpPr>
          <p:cNvPr id="3" name="object 3"/>
          <p:cNvGrpSpPr/>
          <p:nvPr/>
        </p:nvGrpSpPr>
        <p:grpSpPr>
          <a:xfrm>
            <a:off x="2954155" y="1875287"/>
            <a:ext cx="6515728" cy="2037267"/>
            <a:chOff x="719582" y="946324"/>
            <a:chExt cx="3288029" cy="10280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6983" y="977374"/>
              <a:ext cx="3005662" cy="91314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9582" y="946324"/>
              <a:ext cx="3288029" cy="1028065"/>
            </a:xfrm>
            <a:custGeom>
              <a:avLst/>
              <a:gdLst/>
              <a:ahLst/>
              <a:cxnLst/>
              <a:rect l="l" t="t" r="r" b="b"/>
              <a:pathLst>
                <a:path w="3288029" h="1028064">
                  <a:moveTo>
                    <a:pt x="171316" y="975247"/>
                  </a:moveTo>
                  <a:lnTo>
                    <a:pt x="2741262" y="975247"/>
                  </a:lnTo>
                </a:path>
                <a:path w="3288029" h="1028064">
                  <a:moveTo>
                    <a:pt x="171316" y="975247"/>
                  </a:moveTo>
                  <a:lnTo>
                    <a:pt x="171316" y="1027897"/>
                  </a:lnTo>
                </a:path>
                <a:path w="3288029" h="1028064">
                  <a:moveTo>
                    <a:pt x="1028302" y="975247"/>
                  </a:moveTo>
                  <a:lnTo>
                    <a:pt x="1028302" y="1027897"/>
                  </a:lnTo>
                </a:path>
                <a:path w="3288029" h="1028064">
                  <a:moveTo>
                    <a:pt x="1884208" y="975247"/>
                  </a:moveTo>
                  <a:lnTo>
                    <a:pt x="1884208" y="1027897"/>
                  </a:lnTo>
                </a:path>
                <a:path w="3288029" h="1028064">
                  <a:moveTo>
                    <a:pt x="2741262" y="975247"/>
                  </a:moveTo>
                  <a:lnTo>
                    <a:pt x="2741262" y="1027897"/>
                  </a:lnTo>
                </a:path>
                <a:path w="3288029" h="1028064">
                  <a:moveTo>
                    <a:pt x="52650" y="813043"/>
                  </a:moveTo>
                  <a:lnTo>
                    <a:pt x="52650" y="30915"/>
                  </a:lnTo>
                </a:path>
                <a:path w="3288029" h="1028064">
                  <a:moveTo>
                    <a:pt x="52650" y="813043"/>
                  </a:moveTo>
                  <a:lnTo>
                    <a:pt x="0" y="813043"/>
                  </a:lnTo>
                </a:path>
                <a:path w="3288029" h="1028064">
                  <a:moveTo>
                    <a:pt x="52650" y="617494"/>
                  </a:moveTo>
                  <a:lnTo>
                    <a:pt x="0" y="617494"/>
                  </a:lnTo>
                </a:path>
                <a:path w="3288029" h="1028064">
                  <a:moveTo>
                    <a:pt x="52650" y="422013"/>
                  </a:moveTo>
                  <a:lnTo>
                    <a:pt x="0" y="422013"/>
                  </a:lnTo>
                </a:path>
                <a:path w="3288029" h="1028064">
                  <a:moveTo>
                    <a:pt x="52650" y="226464"/>
                  </a:moveTo>
                  <a:lnTo>
                    <a:pt x="0" y="226464"/>
                  </a:lnTo>
                </a:path>
                <a:path w="3288029" h="1028064">
                  <a:moveTo>
                    <a:pt x="52650" y="30915"/>
                  </a:moveTo>
                  <a:lnTo>
                    <a:pt x="0" y="30915"/>
                  </a:lnTo>
                </a:path>
                <a:path w="3288029" h="1028064">
                  <a:moveTo>
                    <a:pt x="52650" y="975247"/>
                  </a:moveTo>
                  <a:lnTo>
                    <a:pt x="3287814" y="975247"/>
                  </a:lnTo>
                  <a:lnTo>
                    <a:pt x="3287814" y="0"/>
                  </a:lnTo>
                  <a:lnTo>
                    <a:pt x="52650" y="0"/>
                  </a:lnTo>
                  <a:lnTo>
                    <a:pt x="52650" y="975247"/>
                  </a:lnTo>
                </a:path>
              </a:pathLst>
            </a:custGeom>
            <a:ln w="50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9514" y="1083451"/>
              <a:ext cx="3000599" cy="5184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075060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73440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1982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69415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1984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797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1986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649021" y="3289700"/>
            <a:ext cx="193386" cy="393863"/>
          </a:xfrm>
          <a:prstGeom prst="rect">
            <a:avLst/>
          </a:prstGeom>
        </p:spPr>
        <p:txBody>
          <a:bodyPr vert="vert270" wrap="square" lIns="0" tIns="0" rIns="0" bIns="0" rtlCol="0">
            <a:normAutofit/>
          </a:bodyPr>
          <a:lstStyle/>
          <a:p>
            <a:pPr marL="25168">
              <a:lnSpc>
                <a:spcPts val="1526"/>
              </a:lnSpc>
            </a:pPr>
            <a:r>
              <a:rPr sz="1387" spc="-40" dirty="0">
                <a:latin typeface="Helvetica"/>
                <a:cs typeface="Helvetica"/>
              </a:rPr>
              <a:t>−1.0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49021" y="1790648"/>
            <a:ext cx="193386" cy="1067080"/>
          </a:xfrm>
          <a:prstGeom prst="rect">
            <a:avLst/>
          </a:prstGeom>
        </p:spPr>
        <p:txBody>
          <a:bodyPr vert="vert270" wrap="square" lIns="0" tIns="0" rIns="0" bIns="0" rtlCol="0">
            <a:normAutofit/>
          </a:bodyPr>
          <a:lstStyle/>
          <a:p>
            <a:pPr marL="25168">
              <a:lnSpc>
                <a:spcPts val="1526"/>
              </a:lnSpc>
            </a:pPr>
            <a:r>
              <a:rPr sz="1387" dirty="0">
                <a:latin typeface="Helvetica"/>
                <a:cs typeface="Helvetica"/>
              </a:rPr>
              <a:t>0.0</a:t>
            </a:r>
            <a:r>
              <a:rPr sz="1387" spc="694" dirty="0">
                <a:latin typeface="Helvetica"/>
                <a:cs typeface="Helvetica"/>
              </a:rPr>
              <a:t> </a:t>
            </a:r>
            <a:r>
              <a:rPr sz="1387" dirty="0">
                <a:latin typeface="Helvetica"/>
                <a:cs typeface="Helvetica"/>
              </a:rPr>
              <a:t>0.5</a:t>
            </a:r>
            <a:r>
              <a:rPr sz="1387" spc="694" dirty="0">
                <a:latin typeface="Helvetica"/>
                <a:cs typeface="Helvetica"/>
              </a:rPr>
              <a:t> </a:t>
            </a:r>
            <a:r>
              <a:rPr sz="1387" spc="-50" dirty="0">
                <a:latin typeface="Helvetica"/>
                <a:cs typeface="Helvetica"/>
              </a:rPr>
              <a:t>1.0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68140" y="1285106"/>
            <a:ext cx="3791404" cy="284586"/>
          </a:xfrm>
          <a:prstGeom prst="rect">
            <a:avLst/>
          </a:prstGeom>
        </p:spPr>
        <p:txBody>
          <a:bodyPr vert="horz" wrap="square" lIns="0" tIns="25167" rIns="0" bIns="0" rtlCol="0">
            <a:normAutofit/>
          </a:bodyPr>
          <a:lstStyle/>
          <a:p>
            <a:pPr marL="25168">
              <a:spcBef>
                <a:spcPts val="198"/>
              </a:spcBef>
            </a:pPr>
            <a:r>
              <a:rPr sz="1684" b="1" spc="-20" dirty="0">
                <a:latin typeface="Helvetica"/>
                <a:cs typeface="Helvetica"/>
              </a:rPr>
              <a:t>Test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Period: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Observed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and</a:t>
            </a:r>
            <a:r>
              <a:rPr sz="1684" b="1" spc="-40" dirty="0">
                <a:latin typeface="Helvetica"/>
                <a:cs typeface="Helvetica"/>
              </a:rPr>
              <a:t> </a:t>
            </a:r>
            <a:r>
              <a:rPr sz="1684" b="1" spc="-20" dirty="0">
                <a:latin typeface="Helvetica"/>
                <a:cs typeface="Helvetica"/>
              </a:rPr>
              <a:t>Predicted</a:t>
            </a:r>
            <a:endParaRPr sz="1684">
              <a:latin typeface="Helvetica"/>
              <a:cs typeface="Helvetic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067326" y="4401771"/>
            <a:ext cx="393863" cy="23632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1387" spc="-50" dirty="0">
                <a:latin typeface="Helvetica"/>
                <a:cs typeface="Helvetica"/>
              </a:rPr>
              <a:t>Year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231682" y="2047364"/>
            <a:ext cx="193386" cy="1589294"/>
          </a:xfrm>
          <a:prstGeom prst="rect">
            <a:avLst/>
          </a:prstGeom>
        </p:spPr>
        <p:txBody>
          <a:bodyPr vert="vert270" wrap="square" lIns="0" tIns="0" rIns="0" bIns="0" rtlCol="0">
            <a:normAutofit/>
          </a:bodyPr>
          <a:lstStyle/>
          <a:p>
            <a:pPr marL="25168">
              <a:lnSpc>
                <a:spcPts val="1526"/>
              </a:lnSpc>
            </a:pPr>
            <a:r>
              <a:rPr sz="1387" spc="-40" dirty="0">
                <a:latin typeface="Helvetica"/>
                <a:cs typeface="Helvetica"/>
              </a:rPr>
              <a:t>log(Trading</a:t>
            </a:r>
            <a:r>
              <a:rPr sz="1387" spc="10" dirty="0">
                <a:latin typeface="Helvetica"/>
                <a:cs typeface="Helvetica"/>
              </a:rPr>
              <a:t> </a:t>
            </a:r>
            <a:r>
              <a:rPr sz="1387" spc="-20" dirty="0">
                <a:latin typeface="Helvetica"/>
                <a:cs typeface="Helvetica"/>
              </a:rPr>
              <a:t>Volume)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108580" y="4562796"/>
            <a:ext cx="7917491" cy="1380422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100670">
              <a:spcBef>
                <a:spcPts val="178"/>
              </a:spcBef>
            </a:pPr>
            <a:r>
              <a:rPr sz="2180" spc="-69" dirty="0">
                <a:latin typeface="Source Sans Pro"/>
                <a:cs typeface="Source Sans Pro"/>
              </a:rPr>
              <a:t>Figure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48" dirty="0">
                <a:latin typeface="Source Sans Pro"/>
                <a:cs typeface="Source Sans Pro"/>
              </a:rPr>
              <a:t>shows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predictions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and</a:t>
            </a:r>
            <a:r>
              <a:rPr sz="2180" spc="-40" dirty="0">
                <a:latin typeface="Source Sans Pro"/>
                <a:cs typeface="Source Sans Pro"/>
              </a:rPr>
              <a:t> truth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09" dirty="0">
                <a:latin typeface="Source Sans Pro"/>
                <a:cs typeface="Source Sans Pro"/>
              </a:rPr>
              <a:t>test</a:t>
            </a:r>
            <a:r>
              <a:rPr sz="2180" spc="-4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period.</a:t>
            </a:r>
            <a:endParaRPr sz="1684" dirty="0">
              <a:latin typeface="Source Sans Pro"/>
              <a:cs typeface="Source Sans Pro"/>
            </a:endParaRPr>
          </a:p>
          <a:p>
            <a:pPr marL="100670"/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38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10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50" dirty="0">
                <a:latin typeface="Source Sans Pro"/>
                <a:cs typeface="Source Sans Pro"/>
              </a:rPr>
              <a:t>RNN</a:t>
            </a:r>
            <a:endParaRPr sz="2180" dirty="0">
              <a:latin typeface="Source Sans Pro"/>
              <a:cs typeface="Source Sans Pro"/>
            </a:endParaRPr>
          </a:p>
          <a:p>
            <a:pPr marL="100670" marR="85570">
              <a:lnSpc>
                <a:spcPct val="102600"/>
              </a:lnSpc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6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0.18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i="1" spc="-347" dirty="0">
                <a:solidFill>
                  <a:srgbClr val="009900"/>
                </a:solidFill>
                <a:latin typeface="Menlo"/>
                <a:cs typeface="Menlo"/>
              </a:rPr>
              <a:t>straw</a:t>
            </a:r>
            <a:r>
              <a:rPr sz="2180" i="1" spc="-51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i="1" dirty="0">
                <a:solidFill>
                  <a:srgbClr val="009900"/>
                </a:solidFill>
                <a:latin typeface="Menlo"/>
                <a:cs typeface="Menlo"/>
              </a:rPr>
              <a:t>man</a:t>
            </a:r>
            <a:r>
              <a:rPr sz="2180" i="1" spc="-57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—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248" dirty="0">
                <a:latin typeface="Source Sans Pro"/>
                <a:cs typeface="Source Sans Pro"/>
              </a:rPr>
              <a:t>use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59" dirty="0">
                <a:latin typeface="Source Sans Pro"/>
                <a:cs typeface="Source Sans Pro"/>
              </a:rPr>
              <a:t>yesterday’s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value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99" dirty="0">
                <a:solidFill>
                  <a:srgbClr val="990000"/>
                </a:solidFill>
                <a:latin typeface="Courier New"/>
                <a:cs typeface="Courier New"/>
              </a:rPr>
              <a:t>Log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18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18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to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109" dirty="0">
                <a:latin typeface="Source Sans Pro"/>
                <a:cs typeface="Source Sans Pro"/>
              </a:rPr>
              <a:t>predict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that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today.</a:t>
            </a:r>
            <a:endParaRPr sz="2180"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82318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3102139C-E7CB-0A5E-94B4-DF8E7BBCC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Autoregression</a:t>
            </a:r>
            <a:r>
              <a:rPr lang="en-US" spc="268" dirty="0"/>
              <a:t>  </a:t>
            </a:r>
            <a:r>
              <a:rPr lang="en-US" spc="-20" dirty="0"/>
              <a:t>Forecaster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C832A1-03EF-E930-D40E-A92C26293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2216410" y="1064863"/>
            <a:ext cx="7074436" cy="706648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25168">
              <a:spcBef>
                <a:spcPts val="178"/>
              </a:spcBef>
            </a:pPr>
            <a:r>
              <a:rPr sz="2180" spc="-20" dirty="0">
                <a:latin typeface="Source Sans Pro"/>
                <a:cs typeface="Source Sans Pro"/>
              </a:rPr>
              <a:t>The</a:t>
            </a:r>
            <a:r>
              <a:rPr sz="2180" spc="-4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RNN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168" dirty="0">
                <a:latin typeface="Source Sans Pro"/>
                <a:cs typeface="Source Sans Pro"/>
              </a:rPr>
              <a:t>forecaster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99" dirty="0">
                <a:latin typeface="Source Sans Pro"/>
                <a:cs typeface="Source Sans Pro"/>
              </a:rPr>
              <a:t>is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99" dirty="0">
                <a:latin typeface="Source Sans Pro"/>
                <a:cs typeface="Source Sans Pro"/>
              </a:rPr>
              <a:t>similar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in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structure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to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traditional</a:t>
            </a:r>
            <a:endParaRPr sz="2180">
              <a:latin typeface="Source Sans Pro"/>
              <a:cs typeface="Source Sans Pro"/>
            </a:endParaRPr>
          </a:p>
          <a:p>
            <a:pPr marL="25168">
              <a:spcBef>
                <a:spcPts val="69"/>
              </a:spcBef>
            </a:pPr>
            <a:r>
              <a:rPr sz="2180" i="1" spc="-386" dirty="0">
                <a:solidFill>
                  <a:srgbClr val="009900"/>
                </a:solidFill>
                <a:latin typeface="Menlo"/>
                <a:cs typeface="Menlo"/>
              </a:rPr>
              <a:t>autoregression</a:t>
            </a:r>
            <a:r>
              <a:rPr sz="2180" i="1" spc="-347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procedure.</a:t>
            </a:r>
            <a:endParaRPr sz="2180">
              <a:latin typeface="Source Sans Pro"/>
              <a:cs typeface="Source Sans Pro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8867111" y="596718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4" name="object 34"/>
          <p:cNvSpPr/>
          <p:nvPr/>
        </p:nvSpPr>
        <p:spPr>
          <a:xfrm>
            <a:off x="3225127" y="6308177"/>
            <a:ext cx="86826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object 35"/>
              <p:cNvSpPr txBox="1"/>
              <p:nvPr/>
            </p:nvSpPr>
            <p:spPr>
              <a:xfrm>
                <a:off x="2017644" y="3769108"/>
                <a:ext cx="8726557" cy="2260920"/>
              </a:xfrm>
              <a:prstGeom prst="rect">
                <a:avLst/>
              </a:prstGeom>
            </p:spPr>
            <p:txBody>
              <a:bodyPr vert="horz" wrap="square" lIns="0" tIns="22650" rIns="0" bIns="0" rtlCol="0">
                <a:normAutofit/>
              </a:bodyPr>
              <a:lstStyle/>
              <a:p>
                <a:pPr marL="50800">
                  <a:spcBef>
                    <a:spcPts val="90"/>
                  </a:spcBef>
                </a:pPr>
                <a:r>
                  <a:rPr lang="en-US" sz="2180" dirty="0">
                    <a:latin typeface="Source Sans Pro"/>
                    <a:cs typeface="Source Sans Pro"/>
                  </a:rPr>
                  <a:t>Fit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79" dirty="0">
                    <a:latin typeface="Source Sans Pro"/>
                    <a:cs typeface="Source Sans Pro"/>
                  </a:rPr>
                  <a:t>an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OLS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regression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of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spc="218" dirty="0">
                    <a:latin typeface="Source Sans Pro"/>
                    <a:cs typeface="Source Sans Pro"/>
                  </a:rPr>
                  <a:t>y</a:t>
                </a:r>
                <a:r>
                  <a:rPr lang="en-US" sz="2180" b="1" spc="297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18" dirty="0">
                    <a:latin typeface="Source Sans Pro"/>
                    <a:cs typeface="Source Sans Pro"/>
                  </a:rPr>
                  <a:t>on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dirty="0">
                    <a:latin typeface="Source Sans Pro"/>
                    <a:cs typeface="Source Sans Pro"/>
                  </a:rPr>
                  <a:t>M</a:t>
                </a:r>
                <a:r>
                  <a:rPr lang="en-US" sz="2180" dirty="0">
                    <a:latin typeface="Source Sans Pro"/>
                    <a:cs typeface="Source Sans Pro"/>
                  </a:rPr>
                  <a:t>,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giving </a:t>
                </a:r>
                <a:endParaRPr lang="en-US" sz="2400" dirty="0">
                  <a:latin typeface="Source Sans Pro"/>
                  <a:cs typeface="Source Sans Pro"/>
                </a:endParaRPr>
              </a:p>
              <a:p>
                <a:pPr marL="50800" marR="645160" indent="685800">
                  <a:lnSpc>
                    <a:spcPct val="1857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  <m:t>𝑡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  <a:cs typeface="Georgia"/>
                      </a:rPr>
                      <m:t>=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spc="215" dirty="0">
                    <a:latin typeface="Source Sans Pro"/>
                    <a:cs typeface="Source Sans Pro"/>
                  </a:rPr>
                  <a:t>+</a:t>
                </a:r>
                <a:r>
                  <a:rPr lang="en-US" sz="2800" spc="-459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</a:rPr>
                      <m:t>+…+ 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cs typeface="Source Sans Pro"/>
                </a:endParaRPr>
              </a:p>
              <a:p>
                <a:pPr marL="100670">
                  <a:spcBef>
                    <a:spcPts val="178"/>
                  </a:spcBef>
                </a:pPr>
                <a:r>
                  <a:rPr lang="en-US" sz="2180" spc="-99" dirty="0">
                    <a:latin typeface="Source Sans Pro"/>
                    <a:cs typeface="Source Sans Pro"/>
                  </a:rPr>
                  <a:t>Known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latin typeface="Source Sans Pro"/>
                    <a:cs typeface="Source Sans Pro"/>
                  </a:rPr>
                  <a:t>as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79" dirty="0">
                    <a:latin typeface="Source Sans Pro"/>
                    <a:cs typeface="Source Sans Pro"/>
                  </a:rPr>
                  <a:t>an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i="1" spc="-386" dirty="0">
                    <a:solidFill>
                      <a:srgbClr val="009900"/>
                    </a:solidFill>
                    <a:latin typeface="Menlo"/>
                    <a:cs typeface="Menlo"/>
                  </a:rPr>
                  <a:t>order-</a:t>
                </a:r>
                <a:r>
                  <a:rPr lang="en-US" sz="2180" spc="297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L</a:t>
                </a:r>
                <a:r>
                  <a:rPr lang="en-US" sz="2180" spc="99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 </a:t>
                </a:r>
                <a:r>
                  <a:rPr lang="en-US" sz="2180" i="1" spc="-386" dirty="0">
                    <a:solidFill>
                      <a:srgbClr val="009900"/>
                    </a:solidFill>
                    <a:latin typeface="Menlo"/>
                    <a:cs typeface="Menlo"/>
                  </a:rPr>
                  <a:t>autoregression</a:t>
                </a:r>
                <a:r>
                  <a:rPr lang="en-US" sz="2180" i="1" spc="-575" dirty="0">
                    <a:solidFill>
                      <a:srgbClr val="009900"/>
                    </a:solidFill>
                    <a:latin typeface="Menlo"/>
                    <a:cs typeface="Menlo"/>
                  </a:rPr>
                  <a:t> </a:t>
                </a:r>
                <a:r>
                  <a:rPr lang="en-US" sz="2180" spc="-188" dirty="0">
                    <a:latin typeface="Source Sans Pro"/>
                    <a:cs typeface="Source Sans Pro"/>
                  </a:rPr>
                  <a:t>model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19" dirty="0">
                    <a:latin typeface="Source Sans Pro"/>
                    <a:cs typeface="Source Sans Pro"/>
                  </a:rPr>
                  <a:t>or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AR(L).</a:t>
                </a:r>
                <a:endParaRPr lang="en-US" sz="2180" dirty="0">
                  <a:latin typeface="Source Sans Pro"/>
                  <a:cs typeface="Source Sans Pro"/>
                </a:endParaRPr>
              </a:p>
              <a:p>
                <a:pPr marL="100670">
                  <a:spcBef>
                    <a:spcPts val="69"/>
                  </a:spcBef>
                </a:pPr>
                <a:r>
                  <a:rPr lang="en-US" sz="2180" spc="-40" dirty="0">
                    <a:latin typeface="Source Sans Pro"/>
                    <a:cs typeface="Source Sans Pro"/>
                  </a:rPr>
                  <a:t>For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19" dirty="0">
                    <a:latin typeface="Source Sans Pro"/>
                    <a:cs typeface="Source Sans Pro"/>
                  </a:rPr>
                  <a:t>the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NYSE</a:t>
                </a:r>
                <a:r>
                  <a:rPr lang="en-US" sz="2180" spc="-58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89" dirty="0">
                    <a:latin typeface="Source Sans Pro"/>
                    <a:cs typeface="Source Sans Pro"/>
                  </a:rPr>
                  <a:t>data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48" dirty="0">
                    <a:latin typeface="Source Sans Pro"/>
                    <a:cs typeface="Source Sans Pro"/>
                  </a:rPr>
                  <a:t>we</a:t>
                </a:r>
                <a:r>
                  <a:rPr lang="en-US" sz="2180" spc="4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39" dirty="0">
                    <a:latin typeface="Source Sans Pro"/>
                    <a:cs typeface="Source Sans Pro"/>
                  </a:rPr>
                  <a:t>can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49" dirty="0">
                    <a:latin typeface="Source Sans Pro"/>
                    <a:cs typeface="Source Sans Pro"/>
                  </a:rPr>
                  <a:t>include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lagged</a:t>
                </a:r>
                <a:r>
                  <a:rPr lang="en-US" sz="2180" spc="4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78" dirty="0">
                    <a:latin typeface="Source Sans Pro"/>
                    <a:cs typeface="Source Sans Pro"/>
                  </a:rPr>
                  <a:t>versions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of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DJ</a:t>
                </a:r>
                <a:r>
                  <a:rPr lang="en-US" sz="2180" spc="-486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20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return</a:t>
                </a:r>
                <a:endParaRPr lang="en-US" sz="2180" dirty="0">
                  <a:latin typeface="Courier New"/>
                  <a:cs typeface="Courier New"/>
                </a:endParaRPr>
              </a:p>
              <a:p>
                <a:pPr marL="100670">
                  <a:spcBef>
                    <a:spcPts val="69"/>
                  </a:spcBef>
                </a:pPr>
                <a:r>
                  <a:rPr lang="en-US" sz="2180" spc="-129" dirty="0">
                    <a:latin typeface="Source Sans Pro"/>
                    <a:cs typeface="Source Sans Pro"/>
                  </a:rPr>
                  <a:t>and</a:t>
                </a:r>
                <a:r>
                  <a:rPr lang="en-US" sz="2180" spc="-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log</a:t>
                </a:r>
                <a:r>
                  <a:rPr lang="en-US" sz="2180" spc="-49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volatility</a:t>
                </a:r>
                <a:r>
                  <a:rPr lang="en-US" sz="2180" spc="-59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in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89" dirty="0">
                    <a:latin typeface="Source Sans Pro"/>
                    <a:cs typeface="Source Sans Pro"/>
                  </a:rPr>
                  <a:t>matrix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dirty="0">
                    <a:latin typeface="Source Sans Pro"/>
                    <a:cs typeface="Source Sans Pro"/>
                  </a:rPr>
                  <a:t>M</a:t>
                </a:r>
                <a:r>
                  <a:rPr lang="en-US" sz="2180" dirty="0">
                    <a:latin typeface="Source Sans Pro"/>
                    <a:cs typeface="Source Sans Pro"/>
                  </a:rPr>
                  <a:t>,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29" dirty="0">
                    <a:latin typeface="Source Sans Pro"/>
                    <a:cs typeface="Source Sans Pro"/>
                  </a:rPr>
                  <a:t>resulting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in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3L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69" dirty="0">
                    <a:latin typeface="Source Sans Pro"/>
                    <a:cs typeface="Source Sans Pro"/>
                  </a:rPr>
                  <a:t>+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317" dirty="0">
                    <a:latin typeface="Source Sans Pro"/>
                    <a:cs typeface="Source Sans Pro"/>
                  </a:rPr>
                  <a:t>1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50" dirty="0">
                    <a:latin typeface="Source Sans Pro"/>
                    <a:cs typeface="Source Sans Pro"/>
                  </a:rPr>
                  <a:t>columns.</a:t>
                </a:r>
                <a:endParaRPr lang="en-US" sz="2180" dirty="0">
                  <a:latin typeface="Source Sans Pro"/>
                  <a:cs typeface="Source Sans Pro"/>
                </a:endParaRPr>
              </a:p>
            </p:txBody>
          </p:sp>
        </mc:Choice>
        <mc:Fallback>
          <p:sp>
            <p:nvSpPr>
              <p:cNvPr id="35" name="object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644" y="3769108"/>
                <a:ext cx="8726557" cy="2260920"/>
              </a:xfrm>
              <a:prstGeom prst="rect">
                <a:avLst/>
              </a:prstGeom>
              <a:blipFill>
                <a:blip r:embed="rId2"/>
                <a:stretch>
                  <a:fillRect l="-1306" t="-2793" b="-6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84729CA8-B238-CA15-ABC7-DBA10169C039}"/>
              </a:ext>
            </a:extLst>
          </p:cNvPr>
          <p:cNvGrpSpPr/>
          <p:nvPr/>
        </p:nvGrpSpPr>
        <p:grpSpPr>
          <a:xfrm>
            <a:off x="3637763" y="1807128"/>
            <a:ext cx="4934721" cy="1856232"/>
            <a:chOff x="869774" y="909408"/>
            <a:chExt cx="3253026" cy="1084557"/>
          </a:xfrm>
        </p:grpSpPr>
        <p:sp>
          <p:nvSpPr>
            <p:cNvPr id="40" name="object 15">
              <a:extLst>
                <a:ext uri="{FF2B5EF4-FFF2-40B4-BE49-F238E27FC236}">
                  <a16:creationId xmlns:a16="http://schemas.microsoft.com/office/drawing/2014/main" id="{CE8CC30E-234A-19F2-998F-F748FFFC68D4}"/>
                </a:ext>
              </a:extLst>
            </p:cNvPr>
            <p:cNvSpPr txBox="1"/>
            <p:nvPr/>
          </p:nvSpPr>
          <p:spPr>
            <a:xfrm>
              <a:off x="1697735" y="1388680"/>
              <a:ext cx="323215" cy="168870"/>
            </a:xfrm>
            <a:prstGeom prst="rect">
              <a:avLst/>
            </a:prstGeom>
          </p:spPr>
          <p:txBody>
            <a:bodyPr vert="horz" wrap="square" lIns="0" tIns="11430" rIns="0" bIns="0" rtlCol="0">
              <a:normAutofit/>
            </a:bodyPr>
            <a:lstStyle/>
            <a:p>
              <a:pPr marL="12700">
                <a:spcBef>
                  <a:spcPts val="90"/>
                </a:spcBef>
              </a:pPr>
              <a:r>
                <a:rPr b="1" spc="55" dirty="0">
                  <a:latin typeface="Georgia"/>
                  <a:cs typeface="Georgia"/>
                </a:rPr>
                <a:t>M</a:t>
              </a:r>
              <a:r>
                <a:rPr b="1" spc="20" dirty="0">
                  <a:latin typeface="Georgia"/>
                  <a:cs typeface="Georgia"/>
                </a:rPr>
                <a:t> </a:t>
              </a:r>
              <a:r>
                <a:rPr spc="155" dirty="0">
                  <a:latin typeface="Source Sans Pro"/>
                  <a:cs typeface="Source Sans Pro"/>
                </a:rPr>
                <a:t>=</a:t>
              </a:r>
              <a:endParaRPr dirty="0">
                <a:latin typeface="Source Sans Pro"/>
                <a:cs typeface="Source Sans Pro"/>
              </a:endParaRPr>
            </a:p>
          </p:txBody>
        </p:sp>
        <p:sp>
          <p:nvSpPr>
            <p:cNvPr id="41" name="Google Shape;5358;p32">
              <a:extLst>
                <a:ext uri="{FF2B5EF4-FFF2-40B4-BE49-F238E27FC236}">
                  <a16:creationId xmlns:a16="http://schemas.microsoft.com/office/drawing/2014/main" id="{D1CD8A7E-97C4-0FD2-E5DF-9B3021462B66}"/>
                </a:ext>
              </a:extLst>
            </p:cNvPr>
            <p:cNvSpPr txBox="1"/>
            <p:nvPr/>
          </p:nvSpPr>
          <p:spPr>
            <a:xfrm>
              <a:off x="869774" y="909408"/>
              <a:ext cx="555455" cy="1084557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t="-969" b="-96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1600">
                  <a:latin typeface="Corbel"/>
                  <a:ea typeface="Corbel"/>
                  <a:cs typeface="Corbel"/>
                  <a:sym typeface="Corbel"/>
                </a:rPr>
                <a:t> </a:t>
              </a:r>
              <a:endParaRPr sz="1600"/>
            </a:p>
          </p:txBody>
        </p:sp>
        <p:pic>
          <p:nvPicPr>
            <p:cNvPr id="42" name="Picture 41" descr="A group of black text on a white background&#10;&#10;Description automatically generated">
              <a:extLst>
                <a:ext uri="{FF2B5EF4-FFF2-40B4-BE49-F238E27FC236}">
                  <a16:creationId xmlns:a16="http://schemas.microsoft.com/office/drawing/2014/main" id="{4FFD2C7B-D4A7-C670-7BDF-9C2DABF10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20950" y="922093"/>
              <a:ext cx="2101850" cy="1070315"/>
            </a:xfrm>
            <a:prstGeom prst="rect">
              <a:avLst/>
            </a:prstGeom>
          </p:spPr>
        </p:pic>
      </p:grpSp>
      <p:sp>
        <p:nvSpPr>
          <p:cNvPr id="43" name="object 15">
            <a:extLst>
              <a:ext uri="{FF2B5EF4-FFF2-40B4-BE49-F238E27FC236}">
                <a16:creationId xmlns:a16="http://schemas.microsoft.com/office/drawing/2014/main" id="{26658C63-EA6F-A94A-7EE5-0DABCD2C7EE7}"/>
              </a:ext>
            </a:extLst>
          </p:cNvPr>
          <p:cNvSpPr txBox="1"/>
          <p:nvPr/>
        </p:nvSpPr>
        <p:spPr>
          <a:xfrm>
            <a:off x="3224382" y="2540315"/>
            <a:ext cx="490305" cy="288541"/>
          </a:xfrm>
          <a:prstGeom prst="rect">
            <a:avLst/>
          </a:prstGeom>
        </p:spPr>
        <p:txBody>
          <a:bodyPr vert="horz" wrap="square" lIns="0" tIns="11430" rIns="0" bIns="0" rtlCol="0">
            <a:normAutofit/>
          </a:bodyPr>
          <a:lstStyle/>
          <a:p>
            <a:pPr marL="12700">
              <a:spcBef>
                <a:spcPts val="90"/>
              </a:spcBef>
            </a:pPr>
            <a:r>
              <a:rPr lang="en-US" b="1" spc="20" dirty="0">
                <a:latin typeface="Georgia"/>
                <a:cs typeface="Georgia"/>
              </a:rPr>
              <a:t>y</a:t>
            </a:r>
            <a:r>
              <a:rPr b="1" spc="20" dirty="0">
                <a:latin typeface="Georgia"/>
                <a:cs typeface="Georgia"/>
              </a:rPr>
              <a:t> </a:t>
            </a:r>
            <a:r>
              <a:rPr spc="155" dirty="0">
                <a:latin typeface="Source Sans Pro"/>
                <a:cs typeface="Source Sans Pro"/>
              </a:rPr>
              <a:t>=</a:t>
            </a:r>
            <a:endParaRPr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901192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5A1CD2E-49FD-2BE9-4BF2-F96E1E5F3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Autoregression</a:t>
            </a:r>
            <a:r>
              <a:rPr lang="en-US" sz="3600" spc="595" dirty="0"/>
              <a:t> </a:t>
            </a:r>
            <a:r>
              <a:rPr lang="en-US" sz="3600" spc="89" dirty="0"/>
              <a:t>Results</a:t>
            </a:r>
            <a:r>
              <a:rPr lang="en-US" sz="3600" spc="595" dirty="0"/>
              <a:t> </a:t>
            </a:r>
            <a:r>
              <a:rPr lang="en-US" sz="3600" dirty="0"/>
              <a:t>for</a:t>
            </a:r>
            <a:r>
              <a:rPr lang="en-US" sz="3600" spc="595" dirty="0"/>
              <a:t> </a:t>
            </a:r>
            <a:r>
              <a:rPr lang="en-US" sz="3600" dirty="0"/>
              <a:t>NYSE</a:t>
            </a:r>
            <a:r>
              <a:rPr lang="en-US" sz="3600" spc="595" dirty="0"/>
              <a:t> </a:t>
            </a:r>
            <a:r>
              <a:rPr lang="en-US" sz="3600" spc="129" dirty="0"/>
              <a:t>Data</a:t>
            </a:r>
            <a:endParaRPr lang="en-US" sz="3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9E3CF3-01AE-9449-59AF-00D4D07D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object 3"/>
          <p:cNvSpPr/>
          <p:nvPr/>
        </p:nvSpPr>
        <p:spPr>
          <a:xfrm>
            <a:off x="7294024" y="427075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4" name="object 4"/>
          <p:cNvSpPr/>
          <p:nvPr/>
        </p:nvSpPr>
        <p:spPr>
          <a:xfrm>
            <a:off x="7686074" y="427075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5" name="object 5"/>
          <p:cNvSpPr txBox="1"/>
          <p:nvPr/>
        </p:nvSpPr>
        <p:spPr>
          <a:xfrm>
            <a:off x="2115742" y="2200902"/>
            <a:ext cx="7904946" cy="2463539"/>
          </a:xfrm>
          <a:prstGeom prst="rect">
            <a:avLst/>
          </a:prstGeom>
        </p:spPr>
        <p:txBody>
          <a:bodyPr vert="horz" wrap="square" lIns="0" tIns="22650" rIns="0" bIns="0" rtlCol="0">
            <a:normAutofit/>
          </a:bodyPr>
          <a:lstStyle/>
          <a:p>
            <a:pPr marL="125838">
              <a:spcBef>
                <a:spcPts val="178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7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0.41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AR(5)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(16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parameters)</a:t>
            </a:r>
            <a:endParaRPr sz="2180">
              <a:latin typeface="Source Sans Pro"/>
              <a:cs typeface="Source Sans Pro"/>
            </a:endParaRPr>
          </a:p>
          <a:p>
            <a:pPr marL="125838">
              <a:spcBef>
                <a:spcPts val="2041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6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RNN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98" dirty="0">
                <a:latin typeface="Source Sans Pro"/>
                <a:cs typeface="Source Sans Pro"/>
              </a:rPr>
              <a:t>(205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parameters)</a:t>
            </a:r>
            <a:endParaRPr sz="2180">
              <a:latin typeface="Source Sans Pro"/>
              <a:cs typeface="Source Sans Pro"/>
            </a:endParaRPr>
          </a:p>
          <a:p>
            <a:pPr marL="125838">
              <a:spcBef>
                <a:spcPts val="2041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14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AR(5)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fit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40" dirty="0">
                <a:latin typeface="Source Sans Pro"/>
                <a:cs typeface="Source Sans Pro"/>
              </a:rPr>
              <a:t>by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neural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network.</a:t>
            </a:r>
            <a:endParaRPr sz="2180">
              <a:latin typeface="Source Sans Pro"/>
              <a:cs typeface="Source Sans Pro"/>
            </a:endParaRPr>
          </a:p>
          <a:p>
            <a:pPr marL="125838" marR="85570">
              <a:lnSpc>
                <a:spcPct val="102699"/>
              </a:lnSpc>
              <a:spcBef>
                <a:spcPts val="1970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1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0.46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all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models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if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226" dirty="0">
                <a:latin typeface="Source Sans Pro"/>
                <a:cs typeface="Source Sans Pro"/>
              </a:rPr>
              <a:t>we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49" dirty="0">
                <a:latin typeface="Source Sans Pro"/>
                <a:cs typeface="Source Sans Pro"/>
              </a:rPr>
              <a:t>include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day</a:t>
            </a:r>
            <a:r>
              <a:rPr sz="2180" spc="-4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of</a:t>
            </a:r>
            <a:r>
              <a:rPr sz="2180" spc="-4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week</a:t>
            </a:r>
            <a:r>
              <a:rPr sz="218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89" dirty="0">
                <a:latin typeface="Source Sans Pro"/>
                <a:cs typeface="Source Sans Pro"/>
              </a:rPr>
              <a:t>day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being </a:t>
            </a:r>
            <a:r>
              <a:rPr sz="2180" spc="-20" dirty="0">
                <a:latin typeface="Source Sans Pro"/>
                <a:cs typeface="Source Sans Pro"/>
              </a:rPr>
              <a:t>predicted.</a:t>
            </a:r>
            <a:endParaRPr sz="218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9490247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F1F977-BF60-D81A-1E68-C1BB44F00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Summary</a:t>
            </a:r>
            <a:r>
              <a:rPr lang="en-US" spc="218" dirty="0"/>
              <a:t> </a:t>
            </a:r>
            <a:r>
              <a:rPr lang="en-US" dirty="0"/>
              <a:t>of</a:t>
            </a:r>
            <a:r>
              <a:rPr lang="en-US" spc="218" dirty="0"/>
              <a:t> </a:t>
            </a:r>
            <a:r>
              <a:rPr lang="en-US" spc="-40" dirty="0"/>
              <a:t>RNNs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A68CB-1305-6750-A6E9-C58A30A2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423988"/>
            <a:ext cx="9477375" cy="5000625"/>
          </a:xfrm>
          <a:prstGeom prst="rect">
            <a:avLst/>
          </a:prstGeom>
        </p:spPr>
        <p:txBody>
          <a:bodyPr vert="horz" wrap="square" lIns="0" tIns="13842" rIns="0" bIns="0" rtlCol="0">
            <a:normAutofit/>
          </a:bodyPr>
          <a:lstStyle/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 have presented the simplest of RNNs. Many more complex variations exist.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One variation treats the sequence as a one-dimensional image, and uses CNNs for fitting. For example, a sequence of words using an embedding representation can be viewed as an image, and the CNN convolves by sliding a convolutional filter along the sequence.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Can have additional hidden layers, where each hidden layer is a sequence, and treats the previous hidden layer as an input sequence.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Can have output also be a sequence, and input and output share the hidden units. So-called seq2seq learning is used for language translation.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endParaRPr lang="en-US"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6115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899160" y="1690688"/>
            <a:ext cx="9136380" cy="3870546"/>
          </a:xfrm>
          <a:prstGeom prst="rect">
            <a:avLst/>
          </a:prstGeom>
        </p:spPr>
        <p:txBody>
          <a:bodyPr vert="horz" wrap="square" lIns="0" tIns="13842" rIns="0" bIns="0" rtlCol="0">
            <a:normAutofit/>
          </a:bodyPr>
          <a:lstStyle/>
          <a:p>
            <a:pPr marL="649324" marR="234059" indent="-275585">
              <a:lnSpc>
                <a:spcPct val="102600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20" dirty="0">
                <a:latin typeface="Source Sans Pro"/>
                <a:cs typeface="Source Sans Pro"/>
              </a:rPr>
              <a:t>CNNs</a:t>
            </a:r>
            <a:r>
              <a:rPr spc="-59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have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had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enormous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successes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image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classification and</a:t>
            </a:r>
            <a:r>
              <a:rPr spc="-5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modeling,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are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starting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59" dirty="0">
                <a:latin typeface="Source Sans Pro"/>
                <a:cs typeface="Source Sans Pro"/>
              </a:rPr>
              <a:t>to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be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38" dirty="0">
                <a:latin typeface="Source Sans Pro"/>
                <a:cs typeface="Source Sans Pro"/>
              </a:rPr>
              <a:t>used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in </a:t>
            </a:r>
            <a:r>
              <a:rPr spc="-20" dirty="0">
                <a:latin typeface="Source Sans Pro"/>
                <a:cs typeface="Source Sans Pro"/>
              </a:rPr>
              <a:t>medical </a:t>
            </a:r>
            <a:r>
              <a:rPr spc="-159" dirty="0">
                <a:latin typeface="Source Sans Pro"/>
                <a:cs typeface="Source Sans Pro"/>
              </a:rPr>
              <a:t>diagnosis.</a:t>
            </a:r>
            <a:r>
              <a:rPr spc="218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Examples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include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digital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mammography, </a:t>
            </a:r>
            <a:r>
              <a:rPr spc="-168" dirty="0">
                <a:latin typeface="Source Sans Pro"/>
                <a:cs typeface="Source Sans Pro"/>
              </a:rPr>
              <a:t>ophthalmology,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149" dirty="0">
                <a:latin typeface="Source Sans Pro"/>
                <a:cs typeface="Source Sans Pro"/>
              </a:rPr>
              <a:t>MRI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scans,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digital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X-</a:t>
            </a:r>
            <a:r>
              <a:rPr spc="-40" dirty="0">
                <a:latin typeface="Source Sans Pro"/>
                <a:cs typeface="Source Sans Pro"/>
              </a:rPr>
              <a:t>rays.</a:t>
            </a:r>
            <a:endParaRPr dirty="0">
              <a:latin typeface="Source Sans Pro"/>
              <a:cs typeface="Source Sans Pro"/>
            </a:endParaRPr>
          </a:p>
          <a:p>
            <a:pPr marL="649324" marR="673233" indent="-275585">
              <a:lnSpc>
                <a:spcPct val="102600"/>
              </a:lnSpc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dirty="0">
                <a:latin typeface="Source Sans Pro"/>
                <a:cs typeface="Source Sans Pro"/>
              </a:rPr>
              <a:t>RNNs</a:t>
            </a:r>
            <a:r>
              <a:rPr spc="-4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have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had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big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wins</a:t>
            </a:r>
            <a:r>
              <a:rPr dirty="0">
                <a:latin typeface="Source Sans Pro"/>
                <a:cs typeface="Source Sans Pro"/>
              </a:rPr>
              <a:t> in </a:t>
            </a:r>
            <a:r>
              <a:rPr spc="-226" dirty="0">
                <a:latin typeface="Source Sans Pro"/>
                <a:cs typeface="Source Sans Pro"/>
              </a:rPr>
              <a:t>speech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modeling,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language </a:t>
            </a:r>
            <a:r>
              <a:rPr spc="-109" dirty="0">
                <a:latin typeface="Source Sans Pro"/>
                <a:cs typeface="Source Sans Pro"/>
              </a:rPr>
              <a:t>translation,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forecasting.</a:t>
            </a:r>
            <a:endParaRPr dirty="0">
              <a:latin typeface="Source Sans Pro"/>
              <a:cs typeface="Source Sans Pro"/>
            </a:endParaRPr>
          </a:p>
          <a:p>
            <a:pPr marL="100670">
              <a:spcBef>
                <a:spcPts val="565"/>
              </a:spcBef>
            </a:pPr>
            <a:r>
              <a:rPr spc="-129" dirty="0">
                <a:latin typeface="Source Sans Pro"/>
                <a:cs typeface="Source Sans Pro"/>
              </a:rPr>
              <a:t>Should</a:t>
            </a:r>
            <a:r>
              <a:rPr spc="5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we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always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use</a:t>
            </a:r>
            <a:r>
              <a:rPr spc="50"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deep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learning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models?</a:t>
            </a:r>
            <a:endParaRPr dirty="0">
              <a:latin typeface="Source Sans Pro"/>
              <a:cs typeface="Source Sans Pro"/>
            </a:endParaRPr>
          </a:p>
          <a:p>
            <a:pPr marL="649324" marR="85570" indent="-275585">
              <a:lnSpc>
                <a:spcPct val="102600"/>
              </a:lnSpc>
              <a:spcBef>
                <a:spcPts val="9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119" dirty="0">
                <a:latin typeface="Source Sans Pro"/>
                <a:cs typeface="Source Sans Pro"/>
              </a:rPr>
              <a:t>Often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the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big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successes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occur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when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the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i="1" spc="-426" dirty="0">
                <a:solidFill>
                  <a:srgbClr val="009900"/>
                </a:solidFill>
                <a:latin typeface="Menlo"/>
                <a:cs typeface="Menlo"/>
              </a:rPr>
              <a:t>signal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426" dirty="0">
                <a:solidFill>
                  <a:srgbClr val="009900"/>
                </a:solidFill>
                <a:latin typeface="Menlo"/>
                <a:cs typeface="Menlo"/>
              </a:rPr>
              <a:t>to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57" dirty="0">
                <a:solidFill>
                  <a:srgbClr val="009900"/>
                </a:solidFill>
                <a:latin typeface="Menlo"/>
                <a:cs typeface="Menlo"/>
              </a:rPr>
              <a:t>noise</a:t>
            </a:r>
            <a:r>
              <a:rPr i="1" spc="-52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77" dirty="0">
                <a:solidFill>
                  <a:srgbClr val="009900"/>
                </a:solidFill>
                <a:latin typeface="Menlo"/>
                <a:cs typeface="Menlo"/>
              </a:rPr>
              <a:t>ratio </a:t>
            </a:r>
            <a:r>
              <a:rPr spc="-99" dirty="0">
                <a:latin typeface="Source Sans Pro"/>
                <a:cs typeface="Source Sans Pro"/>
              </a:rPr>
              <a:t>is</a:t>
            </a:r>
            <a:r>
              <a:rPr spc="-79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high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—</a:t>
            </a:r>
            <a:r>
              <a:rPr spc="-59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e.g.</a:t>
            </a:r>
            <a:r>
              <a:rPr spc="208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image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recognition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language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translation. </a:t>
            </a:r>
            <a:r>
              <a:rPr spc="-129" dirty="0">
                <a:latin typeface="Source Sans Pro"/>
                <a:cs typeface="Source Sans Pro"/>
              </a:rPr>
              <a:t>Datasets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are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large,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overfitting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is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not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a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big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problem.</a:t>
            </a:r>
            <a:endParaRPr dirty="0">
              <a:latin typeface="Source Sans Pro"/>
              <a:cs typeface="Source Sans Pro"/>
            </a:endParaRPr>
          </a:p>
          <a:p>
            <a:pPr marL="649324" indent="-275585">
              <a:lnSpc>
                <a:spcPts val="2348"/>
              </a:lnSpc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40" dirty="0">
                <a:latin typeface="Source Sans Pro"/>
                <a:cs typeface="Source Sans Pro"/>
              </a:rPr>
              <a:t>For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noisier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data,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simpler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8" dirty="0">
                <a:latin typeface="Source Sans Pro"/>
                <a:cs typeface="Source Sans Pro"/>
              </a:rPr>
              <a:t>models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can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often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work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better.</a:t>
            </a:r>
            <a:endParaRPr dirty="0">
              <a:latin typeface="Source Sans Pro"/>
              <a:cs typeface="Source Sans Pro"/>
            </a:endParaRPr>
          </a:p>
          <a:p>
            <a:pPr marL="1197977" marR="127096" lvl="1" indent="-263001">
              <a:lnSpc>
                <a:spcPts val="2378"/>
              </a:lnSpc>
              <a:spcBef>
                <a:spcPts val="59"/>
              </a:spcBef>
              <a:buClr>
                <a:srgbClr val="3333B3"/>
              </a:buClr>
              <a:buFont typeface="Menlo"/>
              <a:buChar char="•"/>
              <a:tabLst>
                <a:tab pos="1199236" algn="l"/>
              </a:tabLst>
            </a:pPr>
            <a:r>
              <a:rPr sz="1600" dirty="0">
                <a:latin typeface="Source Sans Pro"/>
                <a:cs typeface="Source Sans Pro"/>
              </a:rPr>
              <a:t>On</a:t>
            </a:r>
            <a:r>
              <a:rPr sz="1600" spc="-1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NYSE</a:t>
            </a:r>
            <a:r>
              <a:rPr sz="1600" spc="-53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69" dirty="0">
                <a:latin typeface="Source Sans Pro"/>
                <a:cs typeface="Source Sans Pro"/>
              </a:rPr>
              <a:t>data,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10" dirty="0">
                <a:latin typeface="Source Sans Pro"/>
                <a:cs typeface="Source Sans Pro"/>
              </a:rPr>
              <a:t> </a:t>
            </a:r>
            <a:r>
              <a:rPr sz="1600" dirty="0">
                <a:latin typeface="Source Sans Pro"/>
                <a:cs typeface="Source Sans Pro"/>
              </a:rPr>
              <a:t>AR(5)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68" dirty="0">
                <a:latin typeface="Source Sans Pro"/>
                <a:cs typeface="Source Sans Pro"/>
              </a:rPr>
              <a:t>model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is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208" dirty="0">
                <a:latin typeface="Source Sans Pro"/>
                <a:cs typeface="Source Sans Pro"/>
              </a:rPr>
              <a:t>much</a:t>
            </a:r>
            <a:r>
              <a:rPr sz="1600" spc="30" dirty="0">
                <a:latin typeface="Source Sans Pro"/>
                <a:cs typeface="Source Sans Pro"/>
              </a:rPr>
              <a:t> </a:t>
            </a:r>
            <a:r>
              <a:rPr sz="1600" spc="-139" dirty="0">
                <a:latin typeface="Source Sans Pro"/>
                <a:cs typeface="Source Sans Pro"/>
              </a:rPr>
              <a:t>simpler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than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 </a:t>
            </a:r>
            <a:r>
              <a:rPr sz="1600" dirty="0">
                <a:latin typeface="Source Sans Pro"/>
                <a:cs typeface="Source Sans Pro"/>
              </a:rPr>
              <a:t>RNN,</a:t>
            </a:r>
            <a:r>
              <a:rPr sz="1600" spc="59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and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168" dirty="0">
                <a:latin typeface="Source Sans Pro"/>
                <a:cs typeface="Source Sans Pro"/>
              </a:rPr>
              <a:t>performed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20" dirty="0">
                <a:latin typeface="Source Sans Pro"/>
                <a:cs typeface="Source Sans Pro"/>
              </a:rPr>
              <a:t>well.</a:t>
            </a:r>
            <a:endParaRPr sz="1600" dirty="0">
              <a:latin typeface="Source Sans Pro"/>
              <a:cs typeface="Source Sans Pro"/>
            </a:endParaRPr>
          </a:p>
          <a:p>
            <a:pPr marL="1197977" lvl="1" indent="-263001">
              <a:lnSpc>
                <a:spcPts val="2279"/>
              </a:lnSpc>
              <a:buClr>
                <a:srgbClr val="3333B3"/>
              </a:buClr>
              <a:buFont typeface="Menlo"/>
              <a:buChar char="•"/>
              <a:tabLst>
                <a:tab pos="1199236" algn="l"/>
              </a:tabLst>
            </a:pPr>
            <a:r>
              <a:rPr sz="1600" spc="-20" dirty="0">
                <a:latin typeface="Source Sans Pro"/>
                <a:cs typeface="Source Sans Pro"/>
              </a:rPr>
              <a:t>On</a:t>
            </a:r>
            <a:r>
              <a:rPr sz="1600" spc="-109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the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IMDB</a:t>
            </a:r>
            <a:r>
              <a:rPr sz="1600" spc="-56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review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data,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the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linear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model</a:t>
            </a:r>
            <a:r>
              <a:rPr sz="1600" spc="-10" dirty="0">
                <a:latin typeface="Source Sans Pro"/>
                <a:cs typeface="Source Sans Pro"/>
              </a:rPr>
              <a:t> </a:t>
            </a:r>
            <a:r>
              <a:rPr sz="1600" spc="-20" dirty="0">
                <a:latin typeface="Source Sans Pro"/>
                <a:cs typeface="Source Sans Pro"/>
              </a:rPr>
              <a:t>fit </a:t>
            </a:r>
            <a:r>
              <a:rPr sz="1600" spc="-89" dirty="0">
                <a:latin typeface="Source Sans Pro"/>
                <a:cs typeface="Source Sans Pro"/>
              </a:rPr>
              <a:t>by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glmnet</a:t>
            </a:r>
            <a:r>
              <a:rPr sz="1600" spc="-56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50" dirty="0">
                <a:latin typeface="Source Sans Pro"/>
                <a:cs typeface="Source Sans Pro"/>
              </a:rPr>
              <a:t>did</a:t>
            </a:r>
            <a:endParaRPr sz="1600" dirty="0">
              <a:latin typeface="Source Sans Pro"/>
              <a:cs typeface="Source Sans Pro"/>
            </a:endParaRPr>
          </a:p>
          <a:p>
            <a:pPr marL="1197977">
              <a:lnSpc>
                <a:spcPts val="2378"/>
              </a:lnSpc>
            </a:pP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well</a:t>
            </a:r>
            <a:r>
              <a:rPr sz="1600" spc="-59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-69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neural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129" dirty="0">
                <a:latin typeface="Source Sans Pro"/>
                <a:cs typeface="Source Sans Pro"/>
              </a:rPr>
              <a:t>network,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and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better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than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40" dirty="0">
                <a:latin typeface="Source Sans Pro"/>
                <a:cs typeface="Source Sans Pro"/>
              </a:rPr>
              <a:t>RNN.</a:t>
            </a:r>
            <a:endParaRPr sz="1600" dirty="0">
              <a:latin typeface="Source Sans Pro"/>
              <a:cs typeface="Source Sans Pro"/>
            </a:endParaRPr>
          </a:p>
          <a:p>
            <a:pPr marL="649324" marR="490768" indent="-275585">
              <a:lnSpc>
                <a:spcPct val="102600"/>
              </a:lnSpc>
              <a:spcBef>
                <a:spcPts val="40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dirty="0">
                <a:latin typeface="Source Sans Pro"/>
                <a:cs typeface="Source Sans Pro"/>
              </a:rPr>
              <a:t>We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endorse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the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i="1" spc="-218" dirty="0">
                <a:solidFill>
                  <a:srgbClr val="009900"/>
                </a:solidFill>
                <a:latin typeface="Menlo"/>
                <a:cs typeface="Menlo"/>
              </a:rPr>
              <a:t>Occam’s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77" dirty="0">
                <a:solidFill>
                  <a:srgbClr val="009900"/>
                </a:solidFill>
                <a:latin typeface="Menlo"/>
                <a:cs typeface="Menlo"/>
              </a:rPr>
              <a:t>razor</a:t>
            </a:r>
            <a:r>
              <a:rPr i="1" spc="-57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principal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—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226" dirty="0">
                <a:latin typeface="Source Sans Pro"/>
                <a:cs typeface="Source Sans Pro"/>
              </a:rPr>
              <a:t>we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prefer </a:t>
            </a:r>
            <a:r>
              <a:rPr spc="-159" dirty="0">
                <a:latin typeface="Source Sans Pro"/>
                <a:cs typeface="Source Sans Pro"/>
              </a:rPr>
              <a:t>simpler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208" dirty="0">
                <a:latin typeface="Source Sans Pro"/>
                <a:cs typeface="Source Sans Pro"/>
              </a:rPr>
              <a:t>models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if</a:t>
            </a:r>
            <a:r>
              <a:rPr spc="-168" dirty="0">
                <a:latin typeface="Source Sans Pro"/>
                <a:cs typeface="Source Sans Pro"/>
              </a:rPr>
              <a:t> </a:t>
            </a:r>
            <a:r>
              <a:rPr spc="-69" dirty="0">
                <a:latin typeface="Source Sans Pro"/>
                <a:cs typeface="Source Sans Pro"/>
              </a:rPr>
              <a:t>they</a:t>
            </a:r>
            <a:r>
              <a:rPr spc="-79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work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as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69" dirty="0">
                <a:latin typeface="Source Sans Pro"/>
                <a:cs typeface="Source Sans Pro"/>
              </a:rPr>
              <a:t>well.</a:t>
            </a:r>
            <a:r>
              <a:rPr spc="178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More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interpretable!</a:t>
            </a:r>
            <a:endParaRPr dirty="0">
              <a:latin typeface="Source Sans Pro"/>
              <a:cs typeface="Source Sans Pro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85F04E-6FB1-51F8-FFC7-1ADCF879F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19" dirty="0"/>
              <a:t>When</a:t>
            </a:r>
            <a:r>
              <a:rPr lang="en-US" spc="317" dirty="0"/>
              <a:t> </a:t>
            </a:r>
            <a:r>
              <a:rPr lang="en-US" spc="149" dirty="0"/>
              <a:t>to</a:t>
            </a:r>
            <a:r>
              <a:rPr lang="en-US" spc="337" dirty="0"/>
              <a:t> </a:t>
            </a:r>
            <a:r>
              <a:rPr lang="en-US" dirty="0"/>
              <a:t>Use</a:t>
            </a:r>
            <a:r>
              <a:rPr lang="en-US" spc="327" dirty="0"/>
              <a:t> </a:t>
            </a:r>
            <a:r>
              <a:rPr lang="en-US" dirty="0"/>
              <a:t>Deep</a:t>
            </a:r>
            <a:r>
              <a:rPr lang="en-US" spc="327" dirty="0"/>
              <a:t> </a:t>
            </a:r>
            <a:r>
              <a:rPr lang="en-US" spc="-20" dirty="0"/>
              <a:t>Learning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589266-979B-67F6-CB7C-653E4762C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46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3534571199]">
  <a:themeElements>
    <a:clrScheme name="Office">
      <a:dk1>
        <a:srgbClr val="262523"/>
      </a:dk1>
      <a:lt1>
        <a:srgbClr val="F7F5F0"/>
      </a:lt1>
      <a:dk2>
        <a:srgbClr val="2F4858"/>
      </a:dk2>
      <a:lt2>
        <a:srgbClr val="E8E3D9"/>
      </a:lt2>
      <a:accent1>
        <a:srgbClr val="3B6E8F"/>
      </a:accent1>
      <a:accent2>
        <a:srgbClr val="6B8F71"/>
      </a:accent2>
      <a:accent3>
        <a:srgbClr val="B08968"/>
      </a:accent3>
      <a:accent4>
        <a:srgbClr val="8C8577"/>
      </a:accent4>
      <a:accent5>
        <a:srgbClr val="C9A227"/>
      </a:accent5>
      <a:accent6>
        <a:srgbClr val="A65A43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6376BD1-24E3-754B-BD38-892818C05043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49656f29-c6d0-4974-95fb-343cb0d09bb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1706</Words>
  <Application>Microsoft Macintosh PowerPoint</Application>
  <PresentationFormat>Widescreen</PresentationFormat>
  <Paragraphs>166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2" baseType="lpstr">
      <vt:lpstr>Meiryo UI</vt:lpstr>
      <vt:lpstr>Aptos</vt:lpstr>
      <vt:lpstr>Arial</vt:lpstr>
      <vt:lpstr>Cambria Math</vt:lpstr>
      <vt:lpstr>Corbel</vt:lpstr>
      <vt:lpstr>Courier New</vt:lpstr>
      <vt:lpstr>Georgia</vt:lpstr>
      <vt:lpstr>Helvetica</vt:lpstr>
      <vt:lpstr>Menlo</vt:lpstr>
      <vt:lpstr>Montserrat</vt:lpstr>
      <vt:lpstr>News Gothic Std</vt:lpstr>
      <vt:lpstr>Source Sans Pro</vt:lpstr>
      <vt:lpstr>Office Theme [1783534571199]</vt:lpstr>
      <vt:lpstr>Recurrent Neural Networks</vt:lpstr>
      <vt:lpstr>Recurrent Neural Networks</vt:lpstr>
      <vt:lpstr>Recurrent Neural Networks</vt:lpstr>
      <vt:lpstr>Recurrent Neural Networks</vt:lpstr>
      <vt:lpstr>Simple Recurrent Neural Network Architecture</vt:lpstr>
      <vt:lpstr>RNN in Detail</vt:lpstr>
      <vt:lpstr>Outline </vt:lpstr>
      <vt:lpstr>RNN and IMDB Reviews</vt:lpstr>
      <vt:lpstr>Word Embedding</vt:lpstr>
      <vt:lpstr>RNN on IMDB Reviews</vt:lpstr>
      <vt:lpstr>Outline </vt:lpstr>
      <vt:lpstr>Time Series Forecasting</vt:lpstr>
      <vt:lpstr>New-York Stock Exchange Data</vt:lpstr>
      <vt:lpstr>RNN Forecaster</vt:lpstr>
      <vt:lpstr>RNN Results for NYSE Data</vt:lpstr>
      <vt:lpstr>Autoregression  Forecaster</vt:lpstr>
      <vt:lpstr>Autoregression Results for NYSE Data</vt:lpstr>
      <vt:lpstr>Summary of RNNs</vt:lpstr>
      <vt:lpstr>When to Use Deep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Dantong Yu</dc:creator>
  <cp:lastModifiedBy>Dantong Yu</cp:lastModifiedBy>
  <cp:revision>9</cp:revision>
  <dcterms:created xsi:type="dcterms:W3CDTF">2026-07-08T17:57:25Z</dcterms:created>
  <dcterms:modified xsi:type="dcterms:W3CDTF">2026-07-08T18:18:26Z</dcterms:modified>
</cp:coreProperties>
</file>