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8" r:id="rId2"/>
    <p:sldId id="259" r:id="rId3"/>
    <p:sldId id="260" r:id="rId4"/>
    <p:sldId id="263" r:id="rId5"/>
    <p:sldId id="269" r:id="rId6"/>
    <p:sldId id="270" r:id="rId7"/>
    <p:sldId id="271" r:id="rId8"/>
    <p:sldId id="272" r:id="rId9"/>
    <p:sldId id="275" r:id="rId10"/>
    <p:sldId id="278" r:id="rId11"/>
    <p:sldId id="281" r:id="rId12"/>
    <p:sldId id="282" r:id="rId13"/>
    <p:sldId id="284" r:id="rId14"/>
    <p:sldId id="285" r:id="rId15"/>
    <p:sldId id="288" r:id="rId16"/>
    <p:sldId id="289" r:id="rId17"/>
    <p:sldId id="291" r:id="rId18"/>
    <p:sldId id="292" r:id="rId19"/>
    <p:sldId id="293" r:id="rId20"/>
    <p:sldId id="257" r:id="rId21"/>
    <p:sldId id="294" r:id="rId22"/>
    <p:sldId id="295" r:id="rId23"/>
    <p:sldId id="296" r:id="rId24"/>
    <p:sldId id="261" r:id="rId25"/>
    <p:sldId id="265" r:id="rId26"/>
    <p:sldId id="266" r:id="rId27"/>
    <p:sldId id="297" r:id="rId28"/>
    <p:sldId id="298" r:id="rId29"/>
    <p:sldId id="273" r:id="rId30"/>
    <p:sldId id="286" r:id="rId31"/>
    <p:sldId id="303" r:id="rId32"/>
    <p:sldId id="304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67"/>
    <p:restoredTop sz="94636"/>
  </p:normalViewPr>
  <p:slideViewPr>
    <p:cSldViewPr>
      <p:cViewPr>
        <p:scale>
          <a:sx n="219" d="100"/>
          <a:sy n="219" d="100"/>
        </p:scale>
        <p:origin x="152" y="2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ED73F-537E-6648-BDD7-CAA3F9C6AB7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68ABE-B00D-B941-A4AC-C5C1CD57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6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68ABE-B00D-B941-A4AC-C5C1CD5727A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369" y="52196"/>
            <a:ext cx="10513085" cy="134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41610" cy="285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12" Type="http://schemas.openxmlformats.org/officeDocument/2006/relationships/image" Target="../media/image25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hyperlink" Target="https://huggingface.co/blog/rlhf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1.jpg"/><Relationship Id="rId7" Type="http://schemas.openxmlformats.org/officeDocument/2006/relationships/image" Target="../media/image3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10" Type="http://schemas.openxmlformats.org/officeDocument/2006/relationships/image" Target="../media/image9.jpg"/><Relationship Id="rId4" Type="http://schemas.openxmlformats.org/officeDocument/2006/relationships/image" Target="../media/image28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9.jpg"/><Relationship Id="rId7" Type="http://schemas.openxmlformats.org/officeDocument/2006/relationships/image" Target="../media/image28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11" Type="http://schemas.openxmlformats.org/officeDocument/2006/relationships/image" Target="../media/image45.png"/><Relationship Id="rId5" Type="http://schemas.openxmlformats.org/officeDocument/2006/relationships/image" Target="../media/image41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11" Type="http://schemas.openxmlformats.org/officeDocument/2006/relationships/image" Target="../media/image65.jpg"/><Relationship Id="rId5" Type="http://schemas.openxmlformats.org/officeDocument/2006/relationships/image" Target="../media/image57.jpg"/><Relationship Id="rId15" Type="http://schemas.openxmlformats.org/officeDocument/2006/relationships/image" Target="../media/image69.png"/><Relationship Id="rId10" Type="http://schemas.openxmlformats.org/officeDocument/2006/relationships/image" Target="../media/image64.jpg"/><Relationship Id="rId4" Type="http://schemas.openxmlformats.org/officeDocument/2006/relationships/image" Target="../media/image56.jp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jp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70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72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71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99.png"/><Relationship Id="rId7" Type="http://schemas.openxmlformats.org/officeDocument/2006/relationships/image" Target="../media/image64.jp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101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100.png"/><Relationship Id="rId9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569" y="378675"/>
            <a:ext cx="10844911" cy="61006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233" y="736854"/>
            <a:ext cx="3142996" cy="17526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980684" y="1416303"/>
            <a:ext cx="774700" cy="393700"/>
            <a:chOff x="5980684" y="1416303"/>
            <a:chExt cx="774700" cy="393700"/>
          </a:xfrm>
        </p:grpSpPr>
        <p:sp>
          <p:nvSpPr>
            <p:cNvPr id="4" name="object 4"/>
            <p:cNvSpPr/>
            <p:nvPr/>
          </p:nvSpPr>
          <p:spPr>
            <a:xfrm>
              <a:off x="5987034" y="1422653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571499" y="0"/>
                  </a:moveTo>
                  <a:lnTo>
                    <a:pt x="571499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571499" y="285750"/>
                  </a:lnTo>
                  <a:lnTo>
                    <a:pt x="571499" y="381000"/>
                  </a:lnTo>
                  <a:lnTo>
                    <a:pt x="761999" y="190500"/>
                  </a:lnTo>
                  <a:lnTo>
                    <a:pt x="5714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7034" y="1422653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95250"/>
                  </a:moveTo>
                  <a:lnTo>
                    <a:pt x="571499" y="95250"/>
                  </a:lnTo>
                  <a:lnTo>
                    <a:pt x="571499" y="0"/>
                  </a:lnTo>
                  <a:lnTo>
                    <a:pt x="761999" y="190500"/>
                  </a:lnTo>
                  <a:lnTo>
                    <a:pt x="571499" y="381000"/>
                  </a:lnTo>
                  <a:lnTo>
                    <a:pt x="571499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945376" y="647700"/>
            <a:ext cx="3543935" cy="1852930"/>
            <a:chOff x="6945376" y="647700"/>
            <a:chExt cx="3543935" cy="1852930"/>
          </a:xfrm>
        </p:grpSpPr>
        <p:sp>
          <p:nvSpPr>
            <p:cNvPr id="7" name="object 7"/>
            <p:cNvSpPr/>
            <p:nvPr/>
          </p:nvSpPr>
          <p:spPr>
            <a:xfrm>
              <a:off x="6951726" y="884047"/>
              <a:ext cx="3531235" cy="1610360"/>
            </a:xfrm>
            <a:custGeom>
              <a:avLst/>
              <a:gdLst/>
              <a:ahLst/>
              <a:cxnLst/>
              <a:rect l="l" t="t" r="r" b="b"/>
              <a:pathLst>
                <a:path w="3531234" h="1610360">
                  <a:moveTo>
                    <a:pt x="3531107" y="0"/>
                  </a:moveTo>
                  <a:lnTo>
                    <a:pt x="3504158" y="40247"/>
                  </a:lnTo>
                  <a:lnTo>
                    <a:pt x="3450333" y="68968"/>
                  </a:lnTo>
                  <a:lnTo>
                    <a:pt x="3399520" y="87278"/>
                  </a:lnTo>
                  <a:lnTo>
                    <a:pt x="3337433" y="104829"/>
                  </a:lnTo>
                  <a:lnTo>
                    <a:pt x="3264646" y="121549"/>
                  </a:lnTo>
                  <a:lnTo>
                    <a:pt x="3224419" y="129573"/>
                  </a:lnTo>
                  <a:lnTo>
                    <a:pt x="3181732" y="137361"/>
                  </a:lnTo>
                  <a:lnTo>
                    <a:pt x="3136658" y="144903"/>
                  </a:lnTo>
                  <a:lnTo>
                    <a:pt x="3089267" y="152190"/>
                  </a:lnTo>
                  <a:lnTo>
                    <a:pt x="3039632" y="159213"/>
                  </a:lnTo>
                  <a:lnTo>
                    <a:pt x="2987824" y="165963"/>
                  </a:lnTo>
                  <a:lnTo>
                    <a:pt x="2933915" y="172429"/>
                  </a:lnTo>
                  <a:lnTo>
                    <a:pt x="2877977" y="178604"/>
                  </a:lnTo>
                  <a:lnTo>
                    <a:pt x="2820082" y="184476"/>
                  </a:lnTo>
                  <a:lnTo>
                    <a:pt x="2760301" y="190038"/>
                  </a:lnTo>
                  <a:lnTo>
                    <a:pt x="2698706" y="195278"/>
                  </a:lnTo>
                  <a:lnTo>
                    <a:pt x="2635369" y="200190"/>
                  </a:lnTo>
                  <a:lnTo>
                    <a:pt x="2570361" y="204762"/>
                  </a:lnTo>
                  <a:lnTo>
                    <a:pt x="2503755" y="208985"/>
                  </a:lnTo>
                  <a:lnTo>
                    <a:pt x="2435622" y="212851"/>
                  </a:lnTo>
                  <a:lnTo>
                    <a:pt x="2366033" y="216350"/>
                  </a:lnTo>
                  <a:lnTo>
                    <a:pt x="2295062" y="219472"/>
                  </a:lnTo>
                  <a:lnTo>
                    <a:pt x="2222779" y="222208"/>
                  </a:lnTo>
                  <a:lnTo>
                    <a:pt x="2149255" y="224549"/>
                  </a:lnTo>
                  <a:lnTo>
                    <a:pt x="2074564" y="226485"/>
                  </a:lnTo>
                  <a:lnTo>
                    <a:pt x="1998777" y="228007"/>
                  </a:lnTo>
                  <a:lnTo>
                    <a:pt x="1921964" y="229106"/>
                  </a:lnTo>
                  <a:lnTo>
                    <a:pt x="1844200" y="229772"/>
                  </a:lnTo>
                  <a:lnTo>
                    <a:pt x="1765553" y="229997"/>
                  </a:lnTo>
                  <a:lnTo>
                    <a:pt x="1686907" y="229772"/>
                  </a:lnTo>
                  <a:lnTo>
                    <a:pt x="1609143" y="229106"/>
                  </a:lnTo>
                  <a:lnTo>
                    <a:pt x="1532330" y="228007"/>
                  </a:lnTo>
                  <a:lnTo>
                    <a:pt x="1456543" y="226485"/>
                  </a:lnTo>
                  <a:lnTo>
                    <a:pt x="1381852" y="224549"/>
                  </a:lnTo>
                  <a:lnTo>
                    <a:pt x="1308328" y="222208"/>
                  </a:lnTo>
                  <a:lnTo>
                    <a:pt x="1236045" y="219472"/>
                  </a:lnTo>
                  <a:lnTo>
                    <a:pt x="1165074" y="216350"/>
                  </a:lnTo>
                  <a:lnTo>
                    <a:pt x="1095485" y="212851"/>
                  </a:lnTo>
                  <a:lnTo>
                    <a:pt x="1027352" y="208985"/>
                  </a:lnTo>
                  <a:lnTo>
                    <a:pt x="960746" y="204762"/>
                  </a:lnTo>
                  <a:lnTo>
                    <a:pt x="895738" y="200190"/>
                  </a:lnTo>
                  <a:lnTo>
                    <a:pt x="832401" y="195278"/>
                  </a:lnTo>
                  <a:lnTo>
                    <a:pt x="770806" y="190038"/>
                  </a:lnTo>
                  <a:lnTo>
                    <a:pt x="711025" y="184476"/>
                  </a:lnTo>
                  <a:lnTo>
                    <a:pt x="653130" y="178604"/>
                  </a:lnTo>
                  <a:lnTo>
                    <a:pt x="597192" y="172429"/>
                  </a:lnTo>
                  <a:lnTo>
                    <a:pt x="543283" y="165963"/>
                  </a:lnTo>
                  <a:lnTo>
                    <a:pt x="491475" y="159213"/>
                  </a:lnTo>
                  <a:lnTo>
                    <a:pt x="441840" y="152190"/>
                  </a:lnTo>
                  <a:lnTo>
                    <a:pt x="394449" y="144903"/>
                  </a:lnTo>
                  <a:lnTo>
                    <a:pt x="349375" y="137361"/>
                  </a:lnTo>
                  <a:lnTo>
                    <a:pt x="306688" y="129573"/>
                  </a:lnTo>
                  <a:lnTo>
                    <a:pt x="266461" y="121549"/>
                  </a:lnTo>
                  <a:lnTo>
                    <a:pt x="228766" y="113298"/>
                  </a:lnTo>
                  <a:lnTo>
                    <a:pt x="161257" y="96153"/>
                  </a:lnTo>
                  <a:lnTo>
                    <a:pt x="104735" y="78213"/>
                  </a:lnTo>
                  <a:lnTo>
                    <a:pt x="59774" y="59553"/>
                  </a:lnTo>
                  <a:lnTo>
                    <a:pt x="15266" y="30376"/>
                  </a:lnTo>
                  <a:lnTo>
                    <a:pt x="0" y="0"/>
                  </a:lnTo>
                  <a:lnTo>
                    <a:pt x="0" y="1380108"/>
                  </a:lnTo>
                  <a:lnTo>
                    <a:pt x="26949" y="1420393"/>
                  </a:lnTo>
                  <a:lnTo>
                    <a:pt x="80774" y="1449137"/>
                  </a:lnTo>
                  <a:lnTo>
                    <a:pt x="131587" y="1467459"/>
                  </a:lnTo>
                  <a:lnTo>
                    <a:pt x="193674" y="1485021"/>
                  </a:lnTo>
                  <a:lnTo>
                    <a:pt x="266461" y="1501750"/>
                  </a:lnTo>
                  <a:lnTo>
                    <a:pt x="306688" y="1509778"/>
                  </a:lnTo>
                  <a:lnTo>
                    <a:pt x="349375" y="1517570"/>
                  </a:lnTo>
                  <a:lnTo>
                    <a:pt x="394449" y="1525116"/>
                  </a:lnTo>
                  <a:lnTo>
                    <a:pt x="441840" y="1532406"/>
                  </a:lnTo>
                  <a:lnTo>
                    <a:pt x="491475" y="1539432"/>
                  </a:lnTo>
                  <a:lnTo>
                    <a:pt x="543283" y="1546184"/>
                  </a:lnTo>
                  <a:lnTo>
                    <a:pt x="597192" y="1552653"/>
                  </a:lnTo>
                  <a:lnTo>
                    <a:pt x="653130" y="1558829"/>
                  </a:lnTo>
                  <a:lnTo>
                    <a:pt x="711025" y="1564704"/>
                  </a:lnTo>
                  <a:lnTo>
                    <a:pt x="770806" y="1570267"/>
                  </a:lnTo>
                  <a:lnTo>
                    <a:pt x="832401" y="1575509"/>
                  </a:lnTo>
                  <a:lnTo>
                    <a:pt x="895738" y="1580421"/>
                  </a:lnTo>
                  <a:lnTo>
                    <a:pt x="960746" y="1584994"/>
                  </a:lnTo>
                  <a:lnTo>
                    <a:pt x="1027352" y="1589219"/>
                  </a:lnTo>
                  <a:lnTo>
                    <a:pt x="1095485" y="1593085"/>
                  </a:lnTo>
                  <a:lnTo>
                    <a:pt x="1165074" y="1596585"/>
                  </a:lnTo>
                  <a:lnTo>
                    <a:pt x="1236045" y="1599707"/>
                  </a:lnTo>
                  <a:lnTo>
                    <a:pt x="1308328" y="1602443"/>
                  </a:lnTo>
                  <a:lnTo>
                    <a:pt x="1381852" y="1604784"/>
                  </a:lnTo>
                  <a:lnTo>
                    <a:pt x="1456543" y="1606721"/>
                  </a:lnTo>
                  <a:lnTo>
                    <a:pt x="1532330" y="1608243"/>
                  </a:lnTo>
                  <a:lnTo>
                    <a:pt x="1609143" y="1609342"/>
                  </a:lnTo>
                  <a:lnTo>
                    <a:pt x="1686907" y="1610008"/>
                  </a:lnTo>
                  <a:lnTo>
                    <a:pt x="1765553" y="1610232"/>
                  </a:lnTo>
                  <a:lnTo>
                    <a:pt x="1844200" y="1610008"/>
                  </a:lnTo>
                  <a:lnTo>
                    <a:pt x="1921964" y="1609342"/>
                  </a:lnTo>
                  <a:lnTo>
                    <a:pt x="1998777" y="1608243"/>
                  </a:lnTo>
                  <a:lnTo>
                    <a:pt x="2074564" y="1606721"/>
                  </a:lnTo>
                  <a:lnTo>
                    <a:pt x="2149255" y="1604784"/>
                  </a:lnTo>
                  <a:lnTo>
                    <a:pt x="2222779" y="1602443"/>
                  </a:lnTo>
                  <a:lnTo>
                    <a:pt x="2295062" y="1599707"/>
                  </a:lnTo>
                  <a:lnTo>
                    <a:pt x="2366033" y="1596585"/>
                  </a:lnTo>
                  <a:lnTo>
                    <a:pt x="2435622" y="1593085"/>
                  </a:lnTo>
                  <a:lnTo>
                    <a:pt x="2503755" y="1589219"/>
                  </a:lnTo>
                  <a:lnTo>
                    <a:pt x="2570361" y="1584994"/>
                  </a:lnTo>
                  <a:lnTo>
                    <a:pt x="2635369" y="1580421"/>
                  </a:lnTo>
                  <a:lnTo>
                    <a:pt x="2698706" y="1575509"/>
                  </a:lnTo>
                  <a:lnTo>
                    <a:pt x="2760301" y="1570267"/>
                  </a:lnTo>
                  <a:lnTo>
                    <a:pt x="2820082" y="1564704"/>
                  </a:lnTo>
                  <a:lnTo>
                    <a:pt x="2877977" y="1558829"/>
                  </a:lnTo>
                  <a:lnTo>
                    <a:pt x="2933915" y="1552653"/>
                  </a:lnTo>
                  <a:lnTo>
                    <a:pt x="2987824" y="1546184"/>
                  </a:lnTo>
                  <a:lnTo>
                    <a:pt x="3039632" y="1539432"/>
                  </a:lnTo>
                  <a:lnTo>
                    <a:pt x="3089267" y="1532406"/>
                  </a:lnTo>
                  <a:lnTo>
                    <a:pt x="3136658" y="1525116"/>
                  </a:lnTo>
                  <a:lnTo>
                    <a:pt x="3181732" y="1517570"/>
                  </a:lnTo>
                  <a:lnTo>
                    <a:pt x="3224419" y="1509778"/>
                  </a:lnTo>
                  <a:lnTo>
                    <a:pt x="3264646" y="1501750"/>
                  </a:lnTo>
                  <a:lnTo>
                    <a:pt x="3302341" y="1493495"/>
                  </a:lnTo>
                  <a:lnTo>
                    <a:pt x="3369850" y="1476340"/>
                  </a:lnTo>
                  <a:lnTo>
                    <a:pt x="3426372" y="1458388"/>
                  </a:lnTo>
                  <a:lnTo>
                    <a:pt x="3471333" y="1439714"/>
                  </a:lnTo>
                  <a:lnTo>
                    <a:pt x="3515841" y="1410513"/>
                  </a:lnTo>
                  <a:lnTo>
                    <a:pt x="3531107" y="1380108"/>
                  </a:lnTo>
                  <a:lnTo>
                    <a:pt x="353110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51726" y="654050"/>
              <a:ext cx="3531235" cy="460375"/>
            </a:xfrm>
            <a:custGeom>
              <a:avLst/>
              <a:gdLst/>
              <a:ahLst/>
              <a:cxnLst/>
              <a:rect l="l" t="t" r="r" b="b"/>
              <a:pathLst>
                <a:path w="3531234" h="460375">
                  <a:moveTo>
                    <a:pt x="1765553" y="0"/>
                  </a:moveTo>
                  <a:lnTo>
                    <a:pt x="1686907" y="224"/>
                  </a:lnTo>
                  <a:lnTo>
                    <a:pt x="1609143" y="890"/>
                  </a:lnTo>
                  <a:lnTo>
                    <a:pt x="1532330" y="1989"/>
                  </a:lnTo>
                  <a:lnTo>
                    <a:pt x="1456543" y="3511"/>
                  </a:lnTo>
                  <a:lnTo>
                    <a:pt x="1381852" y="5447"/>
                  </a:lnTo>
                  <a:lnTo>
                    <a:pt x="1308328" y="7788"/>
                  </a:lnTo>
                  <a:lnTo>
                    <a:pt x="1236045" y="10524"/>
                  </a:lnTo>
                  <a:lnTo>
                    <a:pt x="1165074" y="13646"/>
                  </a:lnTo>
                  <a:lnTo>
                    <a:pt x="1095485" y="17145"/>
                  </a:lnTo>
                  <a:lnTo>
                    <a:pt x="1027352" y="21011"/>
                  </a:lnTo>
                  <a:lnTo>
                    <a:pt x="960746" y="25234"/>
                  </a:lnTo>
                  <a:lnTo>
                    <a:pt x="895738" y="29806"/>
                  </a:lnTo>
                  <a:lnTo>
                    <a:pt x="832401" y="34718"/>
                  </a:lnTo>
                  <a:lnTo>
                    <a:pt x="770806" y="39958"/>
                  </a:lnTo>
                  <a:lnTo>
                    <a:pt x="711025" y="45520"/>
                  </a:lnTo>
                  <a:lnTo>
                    <a:pt x="653130" y="51392"/>
                  </a:lnTo>
                  <a:lnTo>
                    <a:pt x="597192" y="57567"/>
                  </a:lnTo>
                  <a:lnTo>
                    <a:pt x="543283" y="64033"/>
                  </a:lnTo>
                  <a:lnTo>
                    <a:pt x="491475" y="70783"/>
                  </a:lnTo>
                  <a:lnTo>
                    <a:pt x="441840" y="77806"/>
                  </a:lnTo>
                  <a:lnTo>
                    <a:pt x="394449" y="85093"/>
                  </a:lnTo>
                  <a:lnTo>
                    <a:pt x="349375" y="92635"/>
                  </a:lnTo>
                  <a:lnTo>
                    <a:pt x="306688" y="100423"/>
                  </a:lnTo>
                  <a:lnTo>
                    <a:pt x="266461" y="108447"/>
                  </a:lnTo>
                  <a:lnTo>
                    <a:pt x="228766" y="116698"/>
                  </a:lnTo>
                  <a:lnTo>
                    <a:pt x="161257" y="133843"/>
                  </a:lnTo>
                  <a:lnTo>
                    <a:pt x="104735" y="151783"/>
                  </a:lnTo>
                  <a:lnTo>
                    <a:pt x="59774" y="170443"/>
                  </a:lnTo>
                  <a:lnTo>
                    <a:pt x="15266" y="199620"/>
                  </a:lnTo>
                  <a:lnTo>
                    <a:pt x="0" y="229997"/>
                  </a:lnTo>
                  <a:lnTo>
                    <a:pt x="1720" y="240240"/>
                  </a:lnTo>
                  <a:lnTo>
                    <a:pt x="26949" y="270244"/>
                  </a:lnTo>
                  <a:lnTo>
                    <a:pt x="80774" y="298965"/>
                  </a:lnTo>
                  <a:lnTo>
                    <a:pt x="131587" y="317275"/>
                  </a:lnTo>
                  <a:lnTo>
                    <a:pt x="193674" y="334826"/>
                  </a:lnTo>
                  <a:lnTo>
                    <a:pt x="266461" y="351546"/>
                  </a:lnTo>
                  <a:lnTo>
                    <a:pt x="306688" y="359570"/>
                  </a:lnTo>
                  <a:lnTo>
                    <a:pt x="349375" y="367358"/>
                  </a:lnTo>
                  <a:lnTo>
                    <a:pt x="394449" y="374900"/>
                  </a:lnTo>
                  <a:lnTo>
                    <a:pt x="441840" y="382187"/>
                  </a:lnTo>
                  <a:lnTo>
                    <a:pt x="491475" y="389210"/>
                  </a:lnTo>
                  <a:lnTo>
                    <a:pt x="543283" y="395960"/>
                  </a:lnTo>
                  <a:lnTo>
                    <a:pt x="597192" y="402426"/>
                  </a:lnTo>
                  <a:lnTo>
                    <a:pt x="653130" y="408601"/>
                  </a:lnTo>
                  <a:lnTo>
                    <a:pt x="711025" y="414473"/>
                  </a:lnTo>
                  <a:lnTo>
                    <a:pt x="770806" y="420035"/>
                  </a:lnTo>
                  <a:lnTo>
                    <a:pt x="832401" y="425275"/>
                  </a:lnTo>
                  <a:lnTo>
                    <a:pt x="895738" y="430187"/>
                  </a:lnTo>
                  <a:lnTo>
                    <a:pt x="960746" y="434759"/>
                  </a:lnTo>
                  <a:lnTo>
                    <a:pt x="1027352" y="438982"/>
                  </a:lnTo>
                  <a:lnTo>
                    <a:pt x="1095485" y="442848"/>
                  </a:lnTo>
                  <a:lnTo>
                    <a:pt x="1165074" y="446347"/>
                  </a:lnTo>
                  <a:lnTo>
                    <a:pt x="1236045" y="449469"/>
                  </a:lnTo>
                  <a:lnTo>
                    <a:pt x="1308328" y="452205"/>
                  </a:lnTo>
                  <a:lnTo>
                    <a:pt x="1381852" y="454546"/>
                  </a:lnTo>
                  <a:lnTo>
                    <a:pt x="1456543" y="456482"/>
                  </a:lnTo>
                  <a:lnTo>
                    <a:pt x="1532330" y="458004"/>
                  </a:lnTo>
                  <a:lnTo>
                    <a:pt x="1609143" y="459103"/>
                  </a:lnTo>
                  <a:lnTo>
                    <a:pt x="1686907" y="459769"/>
                  </a:lnTo>
                  <a:lnTo>
                    <a:pt x="1765553" y="459994"/>
                  </a:lnTo>
                  <a:lnTo>
                    <a:pt x="1844200" y="459769"/>
                  </a:lnTo>
                  <a:lnTo>
                    <a:pt x="1921964" y="459103"/>
                  </a:lnTo>
                  <a:lnTo>
                    <a:pt x="1998777" y="458004"/>
                  </a:lnTo>
                  <a:lnTo>
                    <a:pt x="2074564" y="456482"/>
                  </a:lnTo>
                  <a:lnTo>
                    <a:pt x="2149255" y="454546"/>
                  </a:lnTo>
                  <a:lnTo>
                    <a:pt x="2222779" y="452205"/>
                  </a:lnTo>
                  <a:lnTo>
                    <a:pt x="2295062" y="449469"/>
                  </a:lnTo>
                  <a:lnTo>
                    <a:pt x="2366033" y="446347"/>
                  </a:lnTo>
                  <a:lnTo>
                    <a:pt x="2435622" y="442848"/>
                  </a:lnTo>
                  <a:lnTo>
                    <a:pt x="2503755" y="438982"/>
                  </a:lnTo>
                  <a:lnTo>
                    <a:pt x="2570361" y="434759"/>
                  </a:lnTo>
                  <a:lnTo>
                    <a:pt x="2635369" y="430187"/>
                  </a:lnTo>
                  <a:lnTo>
                    <a:pt x="2698706" y="425275"/>
                  </a:lnTo>
                  <a:lnTo>
                    <a:pt x="2760301" y="420035"/>
                  </a:lnTo>
                  <a:lnTo>
                    <a:pt x="2820082" y="414473"/>
                  </a:lnTo>
                  <a:lnTo>
                    <a:pt x="2877977" y="408601"/>
                  </a:lnTo>
                  <a:lnTo>
                    <a:pt x="2933915" y="402426"/>
                  </a:lnTo>
                  <a:lnTo>
                    <a:pt x="2987824" y="395960"/>
                  </a:lnTo>
                  <a:lnTo>
                    <a:pt x="3039632" y="389210"/>
                  </a:lnTo>
                  <a:lnTo>
                    <a:pt x="3089267" y="382187"/>
                  </a:lnTo>
                  <a:lnTo>
                    <a:pt x="3136658" y="374900"/>
                  </a:lnTo>
                  <a:lnTo>
                    <a:pt x="3181732" y="367358"/>
                  </a:lnTo>
                  <a:lnTo>
                    <a:pt x="3224419" y="359570"/>
                  </a:lnTo>
                  <a:lnTo>
                    <a:pt x="3264646" y="351546"/>
                  </a:lnTo>
                  <a:lnTo>
                    <a:pt x="3302341" y="343295"/>
                  </a:lnTo>
                  <a:lnTo>
                    <a:pt x="3369850" y="326150"/>
                  </a:lnTo>
                  <a:lnTo>
                    <a:pt x="3426372" y="308210"/>
                  </a:lnTo>
                  <a:lnTo>
                    <a:pt x="3471333" y="289550"/>
                  </a:lnTo>
                  <a:lnTo>
                    <a:pt x="3515841" y="260373"/>
                  </a:lnTo>
                  <a:lnTo>
                    <a:pt x="3531107" y="229997"/>
                  </a:lnTo>
                  <a:lnTo>
                    <a:pt x="3529387" y="219753"/>
                  </a:lnTo>
                  <a:lnTo>
                    <a:pt x="3504158" y="189749"/>
                  </a:lnTo>
                  <a:lnTo>
                    <a:pt x="3450333" y="161028"/>
                  </a:lnTo>
                  <a:lnTo>
                    <a:pt x="3399520" y="142718"/>
                  </a:lnTo>
                  <a:lnTo>
                    <a:pt x="3337433" y="125167"/>
                  </a:lnTo>
                  <a:lnTo>
                    <a:pt x="3264646" y="108447"/>
                  </a:lnTo>
                  <a:lnTo>
                    <a:pt x="3224419" y="100423"/>
                  </a:lnTo>
                  <a:lnTo>
                    <a:pt x="3181732" y="92635"/>
                  </a:lnTo>
                  <a:lnTo>
                    <a:pt x="3136658" y="85093"/>
                  </a:lnTo>
                  <a:lnTo>
                    <a:pt x="3089267" y="77806"/>
                  </a:lnTo>
                  <a:lnTo>
                    <a:pt x="3039632" y="70783"/>
                  </a:lnTo>
                  <a:lnTo>
                    <a:pt x="2987824" y="64033"/>
                  </a:lnTo>
                  <a:lnTo>
                    <a:pt x="2933915" y="57567"/>
                  </a:lnTo>
                  <a:lnTo>
                    <a:pt x="2877977" y="51392"/>
                  </a:lnTo>
                  <a:lnTo>
                    <a:pt x="2820082" y="45520"/>
                  </a:lnTo>
                  <a:lnTo>
                    <a:pt x="2760301" y="39958"/>
                  </a:lnTo>
                  <a:lnTo>
                    <a:pt x="2698706" y="34718"/>
                  </a:lnTo>
                  <a:lnTo>
                    <a:pt x="2635369" y="29806"/>
                  </a:lnTo>
                  <a:lnTo>
                    <a:pt x="2570361" y="25234"/>
                  </a:lnTo>
                  <a:lnTo>
                    <a:pt x="2503755" y="21011"/>
                  </a:lnTo>
                  <a:lnTo>
                    <a:pt x="2435622" y="17145"/>
                  </a:lnTo>
                  <a:lnTo>
                    <a:pt x="2366033" y="13646"/>
                  </a:lnTo>
                  <a:lnTo>
                    <a:pt x="2295062" y="10524"/>
                  </a:lnTo>
                  <a:lnTo>
                    <a:pt x="2222779" y="7788"/>
                  </a:lnTo>
                  <a:lnTo>
                    <a:pt x="2149255" y="5447"/>
                  </a:lnTo>
                  <a:lnTo>
                    <a:pt x="2074564" y="3511"/>
                  </a:lnTo>
                  <a:lnTo>
                    <a:pt x="1998777" y="1989"/>
                  </a:lnTo>
                  <a:lnTo>
                    <a:pt x="1921964" y="890"/>
                  </a:lnTo>
                  <a:lnTo>
                    <a:pt x="1844200" y="224"/>
                  </a:lnTo>
                  <a:lnTo>
                    <a:pt x="1765553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1726" y="654050"/>
              <a:ext cx="3531235" cy="1840230"/>
            </a:xfrm>
            <a:custGeom>
              <a:avLst/>
              <a:gdLst/>
              <a:ahLst/>
              <a:cxnLst/>
              <a:rect l="l" t="t" r="r" b="b"/>
              <a:pathLst>
                <a:path w="3531234" h="1840230">
                  <a:moveTo>
                    <a:pt x="3531107" y="229997"/>
                  </a:moveTo>
                  <a:lnTo>
                    <a:pt x="3504158" y="270244"/>
                  </a:lnTo>
                  <a:lnTo>
                    <a:pt x="3450333" y="298965"/>
                  </a:lnTo>
                  <a:lnTo>
                    <a:pt x="3399520" y="317275"/>
                  </a:lnTo>
                  <a:lnTo>
                    <a:pt x="3337433" y="334826"/>
                  </a:lnTo>
                  <a:lnTo>
                    <a:pt x="3264646" y="351546"/>
                  </a:lnTo>
                  <a:lnTo>
                    <a:pt x="3224419" y="359570"/>
                  </a:lnTo>
                  <a:lnTo>
                    <a:pt x="3181732" y="367358"/>
                  </a:lnTo>
                  <a:lnTo>
                    <a:pt x="3136658" y="374900"/>
                  </a:lnTo>
                  <a:lnTo>
                    <a:pt x="3089267" y="382187"/>
                  </a:lnTo>
                  <a:lnTo>
                    <a:pt x="3039632" y="389210"/>
                  </a:lnTo>
                  <a:lnTo>
                    <a:pt x="2987824" y="395960"/>
                  </a:lnTo>
                  <a:lnTo>
                    <a:pt x="2933915" y="402426"/>
                  </a:lnTo>
                  <a:lnTo>
                    <a:pt x="2877977" y="408601"/>
                  </a:lnTo>
                  <a:lnTo>
                    <a:pt x="2820082" y="414473"/>
                  </a:lnTo>
                  <a:lnTo>
                    <a:pt x="2760301" y="420035"/>
                  </a:lnTo>
                  <a:lnTo>
                    <a:pt x="2698706" y="425275"/>
                  </a:lnTo>
                  <a:lnTo>
                    <a:pt x="2635369" y="430187"/>
                  </a:lnTo>
                  <a:lnTo>
                    <a:pt x="2570361" y="434759"/>
                  </a:lnTo>
                  <a:lnTo>
                    <a:pt x="2503755" y="438982"/>
                  </a:lnTo>
                  <a:lnTo>
                    <a:pt x="2435622" y="442848"/>
                  </a:lnTo>
                  <a:lnTo>
                    <a:pt x="2366033" y="446347"/>
                  </a:lnTo>
                  <a:lnTo>
                    <a:pt x="2295062" y="449469"/>
                  </a:lnTo>
                  <a:lnTo>
                    <a:pt x="2222779" y="452205"/>
                  </a:lnTo>
                  <a:lnTo>
                    <a:pt x="2149255" y="454546"/>
                  </a:lnTo>
                  <a:lnTo>
                    <a:pt x="2074564" y="456482"/>
                  </a:lnTo>
                  <a:lnTo>
                    <a:pt x="1998777" y="458004"/>
                  </a:lnTo>
                  <a:lnTo>
                    <a:pt x="1921964" y="459103"/>
                  </a:lnTo>
                  <a:lnTo>
                    <a:pt x="1844200" y="459769"/>
                  </a:lnTo>
                  <a:lnTo>
                    <a:pt x="1765553" y="459994"/>
                  </a:lnTo>
                  <a:lnTo>
                    <a:pt x="1686907" y="459769"/>
                  </a:lnTo>
                  <a:lnTo>
                    <a:pt x="1609143" y="459103"/>
                  </a:lnTo>
                  <a:lnTo>
                    <a:pt x="1532330" y="458004"/>
                  </a:lnTo>
                  <a:lnTo>
                    <a:pt x="1456543" y="456482"/>
                  </a:lnTo>
                  <a:lnTo>
                    <a:pt x="1381852" y="454546"/>
                  </a:lnTo>
                  <a:lnTo>
                    <a:pt x="1308328" y="452205"/>
                  </a:lnTo>
                  <a:lnTo>
                    <a:pt x="1236045" y="449469"/>
                  </a:lnTo>
                  <a:lnTo>
                    <a:pt x="1165074" y="446347"/>
                  </a:lnTo>
                  <a:lnTo>
                    <a:pt x="1095485" y="442848"/>
                  </a:lnTo>
                  <a:lnTo>
                    <a:pt x="1027352" y="438982"/>
                  </a:lnTo>
                  <a:lnTo>
                    <a:pt x="960746" y="434759"/>
                  </a:lnTo>
                  <a:lnTo>
                    <a:pt x="895738" y="430187"/>
                  </a:lnTo>
                  <a:lnTo>
                    <a:pt x="832401" y="425275"/>
                  </a:lnTo>
                  <a:lnTo>
                    <a:pt x="770806" y="420035"/>
                  </a:lnTo>
                  <a:lnTo>
                    <a:pt x="711025" y="414473"/>
                  </a:lnTo>
                  <a:lnTo>
                    <a:pt x="653130" y="408601"/>
                  </a:lnTo>
                  <a:lnTo>
                    <a:pt x="597192" y="402426"/>
                  </a:lnTo>
                  <a:lnTo>
                    <a:pt x="543283" y="395960"/>
                  </a:lnTo>
                  <a:lnTo>
                    <a:pt x="491475" y="389210"/>
                  </a:lnTo>
                  <a:lnTo>
                    <a:pt x="441840" y="382187"/>
                  </a:lnTo>
                  <a:lnTo>
                    <a:pt x="394449" y="374900"/>
                  </a:lnTo>
                  <a:lnTo>
                    <a:pt x="349375" y="367358"/>
                  </a:lnTo>
                  <a:lnTo>
                    <a:pt x="306688" y="359570"/>
                  </a:lnTo>
                  <a:lnTo>
                    <a:pt x="266461" y="351546"/>
                  </a:lnTo>
                  <a:lnTo>
                    <a:pt x="228766" y="343295"/>
                  </a:lnTo>
                  <a:lnTo>
                    <a:pt x="161257" y="326150"/>
                  </a:lnTo>
                  <a:lnTo>
                    <a:pt x="104735" y="308210"/>
                  </a:lnTo>
                  <a:lnTo>
                    <a:pt x="59774" y="289550"/>
                  </a:lnTo>
                  <a:lnTo>
                    <a:pt x="15266" y="260373"/>
                  </a:lnTo>
                  <a:lnTo>
                    <a:pt x="0" y="229997"/>
                  </a:lnTo>
                  <a:lnTo>
                    <a:pt x="1720" y="219753"/>
                  </a:lnTo>
                  <a:lnTo>
                    <a:pt x="26949" y="189749"/>
                  </a:lnTo>
                  <a:lnTo>
                    <a:pt x="80774" y="161028"/>
                  </a:lnTo>
                  <a:lnTo>
                    <a:pt x="131587" y="142718"/>
                  </a:lnTo>
                  <a:lnTo>
                    <a:pt x="193674" y="125167"/>
                  </a:lnTo>
                  <a:lnTo>
                    <a:pt x="266461" y="108447"/>
                  </a:lnTo>
                  <a:lnTo>
                    <a:pt x="306688" y="100423"/>
                  </a:lnTo>
                  <a:lnTo>
                    <a:pt x="349375" y="92635"/>
                  </a:lnTo>
                  <a:lnTo>
                    <a:pt x="394449" y="85093"/>
                  </a:lnTo>
                  <a:lnTo>
                    <a:pt x="441840" y="77806"/>
                  </a:lnTo>
                  <a:lnTo>
                    <a:pt x="491475" y="70783"/>
                  </a:lnTo>
                  <a:lnTo>
                    <a:pt x="543283" y="64033"/>
                  </a:lnTo>
                  <a:lnTo>
                    <a:pt x="597192" y="57567"/>
                  </a:lnTo>
                  <a:lnTo>
                    <a:pt x="653130" y="51392"/>
                  </a:lnTo>
                  <a:lnTo>
                    <a:pt x="711025" y="45520"/>
                  </a:lnTo>
                  <a:lnTo>
                    <a:pt x="770806" y="39958"/>
                  </a:lnTo>
                  <a:lnTo>
                    <a:pt x="832401" y="34718"/>
                  </a:lnTo>
                  <a:lnTo>
                    <a:pt x="895738" y="29806"/>
                  </a:lnTo>
                  <a:lnTo>
                    <a:pt x="960746" y="25234"/>
                  </a:lnTo>
                  <a:lnTo>
                    <a:pt x="1027352" y="21011"/>
                  </a:lnTo>
                  <a:lnTo>
                    <a:pt x="1095485" y="17145"/>
                  </a:lnTo>
                  <a:lnTo>
                    <a:pt x="1165074" y="13646"/>
                  </a:lnTo>
                  <a:lnTo>
                    <a:pt x="1236045" y="10524"/>
                  </a:lnTo>
                  <a:lnTo>
                    <a:pt x="1308328" y="7788"/>
                  </a:lnTo>
                  <a:lnTo>
                    <a:pt x="1381852" y="5447"/>
                  </a:lnTo>
                  <a:lnTo>
                    <a:pt x="1456543" y="3511"/>
                  </a:lnTo>
                  <a:lnTo>
                    <a:pt x="1532330" y="1989"/>
                  </a:lnTo>
                  <a:lnTo>
                    <a:pt x="1609143" y="890"/>
                  </a:lnTo>
                  <a:lnTo>
                    <a:pt x="1686907" y="224"/>
                  </a:lnTo>
                  <a:lnTo>
                    <a:pt x="1765553" y="0"/>
                  </a:lnTo>
                  <a:lnTo>
                    <a:pt x="1844200" y="224"/>
                  </a:lnTo>
                  <a:lnTo>
                    <a:pt x="1921964" y="890"/>
                  </a:lnTo>
                  <a:lnTo>
                    <a:pt x="1998777" y="1989"/>
                  </a:lnTo>
                  <a:lnTo>
                    <a:pt x="2074564" y="3511"/>
                  </a:lnTo>
                  <a:lnTo>
                    <a:pt x="2149255" y="5447"/>
                  </a:lnTo>
                  <a:lnTo>
                    <a:pt x="2222779" y="7788"/>
                  </a:lnTo>
                  <a:lnTo>
                    <a:pt x="2295062" y="10524"/>
                  </a:lnTo>
                  <a:lnTo>
                    <a:pt x="2366033" y="13646"/>
                  </a:lnTo>
                  <a:lnTo>
                    <a:pt x="2435622" y="17145"/>
                  </a:lnTo>
                  <a:lnTo>
                    <a:pt x="2503755" y="21011"/>
                  </a:lnTo>
                  <a:lnTo>
                    <a:pt x="2570361" y="25234"/>
                  </a:lnTo>
                  <a:lnTo>
                    <a:pt x="2635369" y="29806"/>
                  </a:lnTo>
                  <a:lnTo>
                    <a:pt x="2698706" y="34718"/>
                  </a:lnTo>
                  <a:lnTo>
                    <a:pt x="2760301" y="39958"/>
                  </a:lnTo>
                  <a:lnTo>
                    <a:pt x="2820082" y="45520"/>
                  </a:lnTo>
                  <a:lnTo>
                    <a:pt x="2877977" y="51392"/>
                  </a:lnTo>
                  <a:lnTo>
                    <a:pt x="2933915" y="57567"/>
                  </a:lnTo>
                  <a:lnTo>
                    <a:pt x="2987824" y="64033"/>
                  </a:lnTo>
                  <a:lnTo>
                    <a:pt x="3039632" y="70783"/>
                  </a:lnTo>
                  <a:lnTo>
                    <a:pt x="3089267" y="77806"/>
                  </a:lnTo>
                  <a:lnTo>
                    <a:pt x="3136658" y="85093"/>
                  </a:lnTo>
                  <a:lnTo>
                    <a:pt x="3181732" y="92635"/>
                  </a:lnTo>
                  <a:lnTo>
                    <a:pt x="3224419" y="100423"/>
                  </a:lnTo>
                  <a:lnTo>
                    <a:pt x="3264646" y="108447"/>
                  </a:lnTo>
                  <a:lnTo>
                    <a:pt x="3302341" y="116698"/>
                  </a:lnTo>
                  <a:lnTo>
                    <a:pt x="3369850" y="133843"/>
                  </a:lnTo>
                  <a:lnTo>
                    <a:pt x="3426372" y="151783"/>
                  </a:lnTo>
                  <a:lnTo>
                    <a:pt x="3471333" y="170443"/>
                  </a:lnTo>
                  <a:lnTo>
                    <a:pt x="3515841" y="199620"/>
                  </a:lnTo>
                  <a:lnTo>
                    <a:pt x="3531107" y="229997"/>
                  </a:lnTo>
                  <a:lnTo>
                    <a:pt x="3531107" y="1610105"/>
                  </a:lnTo>
                  <a:lnTo>
                    <a:pt x="3504158" y="1650390"/>
                  </a:lnTo>
                  <a:lnTo>
                    <a:pt x="3450333" y="1679134"/>
                  </a:lnTo>
                  <a:lnTo>
                    <a:pt x="3399520" y="1697456"/>
                  </a:lnTo>
                  <a:lnTo>
                    <a:pt x="3337433" y="1715018"/>
                  </a:lnTo>
                  <a:lnTo>
                    <a:pt x="3264646" y="1731747"/>
                  </a:lnTo>
                  <a:lnTo>
                    <a:pt x="3224419" y="1739775"/>
                  </a:lnTo>
                  <a:lnTo>
                    <a:pt x="3181732" y="1747567"/>
                  </a:lnTo>
                  <a:lnTo>
                    <a:pt x="3136658" y="1755113"/>
                  </a:lnTo>
                  <a:lnTo>
                    <a:pt x="3089267" y="1762403"/>
                  </a:lnTo>
                  <a:lnTo>
                    <a:pt x="3039632" y="1769429"/>
                  </a:lnTo>
                  <a:lnTo>
                    <a:pt x="2987824" y="1776181"/>
                  </a:lnTo>
                  <a:lnTo>
                    <a:pt x="2933915" y="1782650"/>
                  </a:lnTo>
                  <a:lnTo>
                    <a:pt x="2877977" y="1788826"/>
                  </a:lnTo>
                  <a:lnTo>
                    <a:pt x="2820082" y="1794701"/>
                  </a:lnTo>
                  <a:lnTo>
                    <a:pt x="2760301" y="1800264"/>
                  </a:lnTo>
                  <a:lnTo>
                    <a:pt x="2698706" y="1805506"/>
                  </a:lnTo>
                  <a:lnTo>
                    <a:pt x="2635369" y="1810418"/>
                  </a:lnTo>
                  <a:lnTo>
                    <a:pt x="2570361" y="1814991"/>
                  </a:lnTo>
                  <a:lnTo>
                    <a:pt x="2503755" y="1819216"/>
                  </a:lnTo>
                  <a:lnTo>
                    <a:pt x="2435622" y="1823082"/>
                  </a:lnTo>
                  <a:lnTo>
                    <a:pt x="2366033" y="1826582"/>
                  </a:lnTo>
                  <a:lnTo>
                    <a:pt x="2295062" y="1829704"/>
                  </a:lnTo>
                  <a:lnTo>
                    <a:pt x="2222779" y="1832440"/>
                  </a:lnTo>
                  <a:lnTo>
                    <a:pt x="2149255" y="1834781"/>
                  </a:lnTo>
                  <a:lnTo>
                    <a:pt x="2074564" y="1836718"/>
                  </a:lnTo>
                  <a:lnTo>
                    <a:pt x="1998777" y="1838240"/>
                  </a:lnTo>
                  <a:lnTo>
                    <a:pt x="1921964" y="1839339"/>
                  </a:lnTo>
                  <a:lnTo>
                    <a:pt x="1844200" y="1840005"/>
                  </a:lnTo>
                  <a:lnTo>
                    <a:pt x="1765553" y="1840229"/>
                  </a:lnTo>
                  <a:lnTo>
                    <a:pt x="1686907" y="1840005"/>
                  </a:lnTo>
                  <a:lnTo>
                    <a:pt x="1609143" y="1839339"/>
                  </a:lnTo>
                  <a:lnTo>
                    <a:pt x="1532330" y="1838240"/>
                  </a:lnTo>
                  <a:lnTo>
                    <a:pt x="1456543" y="1836718"/>
                  </a:lnTo>
                  <a:lnTo>
                    <a:pt x="1381852" y="1834781"/>
                  </a:lnTo>
                  <a:lnTo>
                    <a:pt x="1308328" y="1832440"/>
                  </a:lnTo>
                  <a:lnTo>
                    <a:pt x="1236045" y="1829704"/>
                  </a:lnTo>
                  <a:lnTo>
                    <a:pt x="1165074" y="1826582"/>
                  </a:lnTo>
                  <a:lnTo>
                    <a:pt x="1095485" y="1823082"/>
                  </a:lnTo>
                  <a:lnTo>
                    <a:pt x="1027352" y="1819216"/>
                  </a:lnTo>
                  <a:lnTo>
                    <a:pt x="960746" y="1814991"/>
                  </a:lnTo>
                  <a:lnTo>
                    <a:pt x="895738" y="1810418"/>
                  </a:lnTo>
                  <a:lnTo>
                    <a:pt x="832401" y="1805506"/>
                  </a:lnTo>
                  <a:lnTo>
                    <a:pt x="770806" y="1800264"/>
                  </a:lnTo>
                  <a:lnTo>
                    <a:pt x="711025" y="1794701"/>
                  </a:lnTo>
                  <a:lnTo>
                    <a:pt x="653130" y="1788826"/>
                  </a:lnTo>
                  <a:lnTo>
                    <a:pt x="597192" y="1782650"/>
                  </a:lnTo>
                  <a:lnTo>
                    <a:pt x="543283" y="1776181"/>
                  </a:lnTo>
                  <a:lnTo>
                    <a:pt x="491475" y="1769429"/>
                  </a:lnTo>
                  <a:lnTo>
                    <a:pt x="441840" y="1762403"/>
                  </a:lnTo>
                  <a:lnTo>
                    <a:pt x="394449" y="1755113"/>
                  </a:lnTo>
                  <a:lnTo>
                    <a:pt x="349375" y="1747567"/>
                  </a:lnTo>
                  <a:lnTo>
                    <a:pt x="306688" y="1739775"/>
                  </a:lnTo>
                  <a:lnTo>
                    <a:pt x="266461" y="1731747"/>
                  </a:lnTo>
                  <a:lnTo>
                    <a:pt x="228766" y="1723492"/>
                  </a:lnTo>
                  <a:lnTo>
                    <a:pt x="161257" y="1706337"/>
                  </a:lnTo>
                  <a:lnTo>
                    <a:pt x="104735" y="1688385"/>
                  </a:lnTo>
                  <a:lnTo>
                    <a:pt x="59774" y="1669711"/>
                  </a:lnTo>
                  <a:lnTo>
                    <a:pt x="15266" y="1640510"/>
                  </a:lnTo>
                  <a:lnTo>
                    <a:pt x="0" y="1610105"/>
                  </a:lnTo>
                  <a:lnTo>
                    <a:pt x="0" y="229997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431148" y="665734"/>
            <a:ext cx="57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/>
              <a:t>data</a:t>
            </a:r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7322184" y="1168895"/>
            <a:ext cx="3056890" cy="1158240"/>
            <a:chOff x="7322184" y="1168895"/>
            <a:chExt cx="3056890" cy="1158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4668" y="2077262"/>
              <a:ext cx="771067" cy="2495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2184" y="1168895"/>
              <a:ext cx="948728" cy="8105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5903" y="1574342"/>
              <a:ext cx="2003171" cy="252806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8833" y="3784892"/>
            <a:ext cx="4773041" cy="268478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520430" y="2638805"/>
            <a:ext cx="393700" cy="1681480"/>
            <a:chOff x="8520430" y="2638805"/>
            <a:chExt cx="393700" cy="1681480"/>
          </a:xfrm>
        </p:grpSpPr>
        <p:sp>
          <p:nvSpPr>
            <p:cNvPr id="17" name="object 17"/>
            <p:cNvSpPr/>
            <p:nvPr/>
          </p:nvSpPr>
          <p:spPr>
            <a:xfrm>
              <a:off x="8526780" y="2645155"/>
              <a:ext cx="381000" cy="1668780"/>
            </a:xfrm>
            <a:custGeom>
              <a:avLst/>
              <a:gdLst/>
              <a:ahLst/>
              <a:cxnLst/>
              <a:rect l="l" t="t" r="r" b="b"/>
              <a:pathLst>
                <a:path w="381000" h="1668779">
                  <a:moveTo>
                    <a:pt x="285750" y="0"/>
                  </a:moveTo>
                  <a:lnTo>
                    <a:pt x="95250" y="0"/>
                  </a:lnTo>
                  <a:lnTo>
                    <a:pt x="95250" y="1477772"/>
                  </a:lnTo>
                  <a:lnTo>
                    <a:pt x="0" y="1477772"/>
                  </a:lnTo>
                  <a:lnTo>
                    <a:pt x="190500" y="1668272"/>
                  </a:lnTo>
                  <a:lnTo>
                    <a:pt x="381000" y="1477772"/>
                  </a:lnTo>
                  <a:lnTo>
                    <a:pt x="285750" y="1477772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26780" y="2645155"/>
              <a:ext cx="381000" cy="1668780"/>
            </a:xfrm>
            <a:custGeom>
              <a:avLst/>
              <a:gdLst/>
              <a:ahLst/>
              <a:cxnLst/>
              <a:rect l="l" t="t" r="r" b="b"/>
              <a:pathLst>
                <a:path w="381000" h="1668779">
                  <a:moveTo>
                    <a:pt x="285750" y="0"/>
                  </a:moveTo>
                  <a:lnTo>
                    <a:pt x="285750" y="1477772"/>
                  </a:lnTo>
                  <a:lnTo>
                    <a:pt x="381000" y="1477772"/>
                  </a:lnTo>
                  <a:lnTo>
                    <a:pt x="190500" y="1668272"/>
                  </a:lnTo>
                  <a:lnTo>
                    <a:pt x="0" y="1477772"/>
                  </a:lnTo>
                  <a:lnTo>
                    <a:pt x="95250" y="1477772"/>
                  </a:lnTo>
                  <a:lnTo>
                    <a:pt x="95250" y="0"/>
                  </a:lnTo>
                  <a:lnTo>
                    <a:pt x="285750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842250" y="4489450"/>
            <a:ext cx="1750060" cy="1155700"/>
            <a:chOff x="7842250" y="4489450"/>
            <a:chExt cx="1750060" cy="1155700"/>
          </a:xfrm>
        </p:grpSpPr>
        <p:sp>
          <p:nvSpPr>
            <p:cNvPr id="20" name="object 20"/>
            <p:cNvSpPr/>
            <p:nvPr/>
          </p:nvSpPr>
          <p:spPr>
            <a:xfrm>
              <a:off x="7848600" y="4495800"/>
              <a:ext cx="1737360" cy="1143000"/>
            </a:xfrm>
            <a:custGeom>
              <a:avLst/>
              <a:gdLst/>
              <a:ahLst/>
              <a:cxnLst/>
              <a:rect l="l" t="t" r="r" b="b"/>
              <a:pathLst>
                <a:path w="1737359" h="1143000">
                  <a:moveTo>
                    <a:pt x="1546859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7"/>
                  </a:lnTo>
                  <a:lnTo>
                    <a:pt x="41867" y="71374"/>
                  </a:lnTo>
                  <a:lnTo>
                    <a:pt x="19372" y="106746"/>
                  </a:lnTo>
                  <a:lnTo>
                    <a:pt x="5034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1546859" y="1143000"/>
                  </a:lnTo>
                  <a:lnTo>
                    <a:pt x="1590562" y="1137965"/>
                  </a:lnTo>
                  <a:lnTo>
                    <a:pt x="1630668" y="1123627"/>
                  </a:lnTo>
                  <a:lnTo>
                    <a:pt x="1666038" y="1101132"/>
                  </a:lnTo>
                  <a:lnTo>
                    <a:pt x="1695532" y="1071625"/>
                  </a:lnTo>
                  <a:lnTo>
                    <a:pt x="1718010" y="1036253"/>
                  </a:lnTo>
                  <a:lnTo>
                    <a:pt x="1732332" y="996162"/>
                  </a:lnTo>
                  <a:lnTo>
                    <a:pt x="1737359" y="952500"/>
                  </a:lnTo>
                  <a:lnTo>
                    <a:pt x="1737359" y="190500"/>
                  </a:lnTo>
                  <a:lnTo>
                    <a:pt x="1732332" y="146837"/>
                  </a:lnTo>
                  <a:lnTo>
                    <a:pt x="1718010" y="106746"/>
                  </a:lnTo>
                  <a:lnTo>
                    <a:pt x="1695532" y="71374"/>
                  </a:lnTo>
                  <a:lnTo>
                    <a:pt x="1666038" y="41867"/>
                  </a:lnTo>
                  <a:lnTo>
                    <a:pt x="1630668" y="19372"/>
                  </a:lnTo>
                  <a:lnTo>
                    <a:pt x="1590562" y="5034"/>
                  </a:lnTo>
                  <a:lnTo>
                    <a:pt x="15468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48600" y="4495800"/>
              <a:ext cx="1737360" cy="1143000"/>
            </a:xfrm>
            <a:custGeom>
              <a:avLst/>
              <a:gdLst/>
              <a:ahLst/>
              <a:cxnLst/>
              <a:rect l="l" t="t" r="r" b="b"/>
              <a:pathLst>
                <a:path w="1737359" h="1143000">
                  <a:moveTo>
                    <a:pt x="0" y="190500"/>
                  </a:move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1546859" y="0"/>
                  </a:lnTo>
                  <a:lnTo>
                    <a:pt x="1590562" y="5034"/>
                  </a:lnTo>
                  <a:lnTo>
                    <a:pt x="1630668" y="19372"/>
                  </a:lnTo>
                  <a:lnTo>
                    <a:pt x="1666038" y="41867"/>
                  </a:lnTo>
                  <a:lnTo>
                    <a:pt x="1695532" y="71374"/>
                  </a:lnTo>
                  <a:lnTo>
                    <a:pt x="1718010" y="106746"/>
                  </a:lnTo>
                  <a:lnTo>
                    <a:pt x="1732332" y="146837"/>
                  </a:lnTo>
                  <a:lnTo>
                    <a:pt x="1737359" y="190500"/>
                  </a:lnTo>
                  <a:lnTo>
                    <a:pt x="1737359" y="952500"/>
                  </a:lnTo>
                  <a:lnTo>
                    <a:pt x="1732332" y="996162"/>
                  </a:lnTo>
                  <a:lnTo>
                    <a:pt x="1718010" y="1036253"/>
                  </a:lnTo>
                  <a:lnTo>
                    <a:pt x="1695532" y="1071625"/>
                  </a:lnTo>
                  <a:lnTo>
                    <a:pt x="1666038" y="1101132"/>
                  </a:lnTo>
                  <a:lnTo>
                    <a:pt x="1630668" y="1123627"/>
                  </a:lnTo>
                  <a:lnTo>
                    <a:pt x="1590562" y="1137965"/>
                  </a:lnTo>
                  <a:lnTo>
                    <a:pt x="1546859" y="1143000"/>
                  </a:lnTo>
                  <a:lnTo>
                    <a:pt x="190500" y="1143000"/>
                  </a:lnTo>
                  <a:lnTo>
                    <a:pt x="146837" y="1137965"/>
                  </a:lnTo>
                  <a:lnTo>
                    <a:pt x="106746" y="1123627"/>
                  </a:lnTo>
                  <a:lnTo>
                    <a:pt x="71374" y="1101132"/>
                  </a:lnTo>
                  <a:lnTo>
                    <a:pt x="41867" y="1071625"/>
                  </a:lnTo>
                  <a:lnTo>
                    <a:pt x="19372" y="1036253"/>
                  </a:lnTo>
                  <a:lnTo>
                    <a:pt x="5034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042909" y="4765929"/>
            <a:ext cx="1351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reinforcement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85484" y="4870450"/>
            <a:ext cx="1388745" cy="393700"/>
            <a:chOff x="6285484" y="4870450"/>
            <a:chExt cx="1388745" cy="393700"/>
          </a:xfrm>
        </p:grpSpPr>
        <p:sp>
          <p:nvSpPr>
            <p:cNvPr id="24" name="object 24"/>
            <p:cNvSpPr/>
            <p:nvPr/>
          </p:nvSpPr>
          <p:spPr>
            <a:xfrm>
              <a:off x="6291834" y="4876800"/>
              <a:ext cx="1376045" cy="381000"/>
            </a:xfrm>
            <a:custGeom>
              <a:avLst/>
              <a:gdLst/>
              <a:ahLst/>
              <a:cxnLst/>
              <a:rect l="l" t="t" r="r" b="b"/>
              <a:pathLst>
                <a:path w="1376045" h="381000">
                  <a:moveTo>
                    <a:pt x="190500" y="0"/>
                  </a:moveTo>
                  <a:lnTo>
                    <a:pt x="0" y="190500"/>
                  </a:lnTo>
                  <a:lnTo>
                    <a:pt x="190500" y="381000"/>
                  </a:lnTo>
                  <a:lnTo>
                    <a:pt x="190500" y="285750"/>
                  </a:lnTo>
                  <a:lnTo>
                    <a:pt x="1375917" y="285750"/>
                  </a:lnTo>
                  <a:lnTo>
                    <a:pt x="1375917" y="95250"/>
                  </a:lnTo>
                  <a:lnTo>
                    <a:pt x="190500" y="952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91834" y="4876800"/>
              <a:ext cx="1376045" cy="381000"/>
            </a:xfrm>
            <a:custGeom>
              <a:avLst/>
              <a:gdLst/>
              <a:ahLst/>
              <a:cxnLst/>
              <a:rect l="l" t="t" r="r" b="b"/>
              <a:pathLst>
                <a:path w="1376045" h="381000">
                  <a:moveTo>
                    <a:pt x="1375917" y="285750"/>
                  </a:moveTo>
                  <a:lnTo>
                    <a:pt x="190500" y="285750"/>
                  </a:lnTo>
                  <a:lnTo>
                    <a:pt x="190500" y="381000"/>
                  </a:lnTo>
                  <a:lnTo>
                    <a:pt x="0" y="190500"/>
                  </a:lnTo>
                  <a:lnTo>
                    <a:pt x="190500" y="0"/>
                  </a:lnTo>
                  <a:lnTo>
                    <a:pt x="190500" y="95250"/>
                  </a:lnTo>
                  <a:lnTo>
                    <a:pt x="1375917" y="95250"/>
                  </a:lnTo>
                  <a:lnTo>
                    <a:pt x="1375917" y="2857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008882" y="2664332"/>
            <a:ext cx="393700" cy="945515"/>
            <a:chOff x="4008882" y="2664332"/>
            <a:chExt cx="393700" cy="945515"/>
          </a:xfrm>
        </p:grpSpPr>
        <p:sp>
          <p:nvSpPr>
            <p:cNvPr id="27" name="object 27"/>
            <p:cNvSpPr/>
            <p:nvPr/>
          </p:nvSpPr>
          <p:spPr>
            <a:xfrm>
              <a:off x="4015232" y="2670682"/>
              <a:ext cx="381000" cy="932815"/>
            </a:xfrm>
            <a:custGeom>
              <a:avLst/>
              <a:gdLst/>
              <a:ahLst/>
              <a:cxnLst/>
              <a:rect l="l" t="t" r="r" b="b"/>
              <a:pathLst>
                <a:path w="381000" h="932814">
                  <a:moveTo>
                    <a:pt x="190500" y="0"/>
                  </a:moveTo>
                  <a:lnTo>
                    <a:pt x="0" y="190500"/>
                  </a:lnTo>
                  <a:lnTo>
                    <a:pt x="95250" y="190500"/>
                  </a:lnTo>
                  <a:lnTo>
                    <a:pt x="95250" y="932814"/>
                  </a:lnTo>
                  <a:lnTo>
                    <a:pt x="285750" y="932814"/>
                  </a:lnTo>
                  <a:lnTo>
                    <a:pt x="285750" y="190500"/>
                  </a:lnTo>
                  <a:lnTo>
                    <a:pt x="3810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5232" y="2670682"/>
              <a:ext cx="381000" cy="932815"/>
            </a:xfrm>
            <a:custGeom>
              <a:avLst/>
              <a:gdLst/>
              <a:ahLst/>
              <a:cxnLst/>
              <a:rect l="l" t="t" r="r" b="b"/>
              <a:pathLst>
                <a:path w="381000" h="932814">
                  <a:moveTo>
                    <a:pt x="95250" y="932814"/>
                  </a:moveTo>
                  <a:lnTo>
                    <a:pt x="95250" y="190500"/>
                  </a:lnTo>
                  <a:lnTo>
                    <a:pt x="0" y="190500"/>
                  </a:lnTo>
                  <a:lnTo>
                    <a:pt x="190500" y="0"/>
                  </a:lnTo>
                  <a:lnTo>
                    <a:pt x="381000" y="190500"/>
                  </a:lnTo>
                  <a:lnTo>
                    <a:pt x="285750" y="190500"/>
                  </a:lnTo>
                  <a:lnTo>
                    <a:pt x="285750" y="932814"/>
                  </a:lnTo>
                  <a:lnTo>
                    <a:pt x="95250" y="932814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364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95"/>
              </a:spcBef>
            </a:pPr>
            <a:r>
              <a:rPr sz="2800" spc="-105" dirty="0"/>
              <a:t>What</a:t>
            </a:r>
            <a:r>
              <a:rPr sz="2800" spc="-114" dirty="0"/>
              <a:t> </a:t>
            </a:r>
            <a:r>
              <a:rPr sz="2800" spc="-145" dirty="0"/>
              <a:t>are</a:t>
            </a:r>
            <a:r>
              <a:rPr sz="2800" spc="-120" dirty="0"/>
              <a:t> </a:t>
            </a:r>
            <a:r>
              <a:rPr sz="2800" spc="-185" dirty="0"/>
              <a:t>some</a:t>
            </a:r>
            <a:r>
              <a:rPr sz="2800" spc="-114" dirty="0"/>
              <a:t> </a:t>
            </a:r>
            <a:r>
              <a:rPr sz="2800" spc="-95" dirty="0"/>
              <a:t>recent</a:t>
            </a:r>
            <a:r>
              <a:rPr sz="2800" spc="-125" dirty="0"/>
              <a:t> </a:t>
            </a:r>
            <a:r>
              <a:rPr sz="2800" spc="-165" dirty="0"/>
              <a:t>advances</a:t>
            </a:r>
            <a:endParaRPr sz="2800"/>
          </a:p>
          <a:p>
            <a:pPr marL="328295">
              <a:lnSpc>
                <a:spcPct val="100000"/>
              </a:lnSpc>
            </a:pPr>
            <a:r>
              <a:rPr sz="2800" spc="-120" dirty="0"/>
              <a:t>we’ve </a:t>
            </a:r>
            <a:r>
              <a:rPr sz="2800" spc="-204" dirty="0"/>
              <a:t>seen</a:t>
            </a:r>
            <a:r>
              <a:rPr sz="2800" spc="-114" dirty="0"/>
              <a:t> </a:t>
            </a:r>
            <a:r>
              <a:rPr sz="2800" spc="-50" dirty="0"/>
              <a:t>in</a:t>
            </a:r>
            <a:r>
              <a:rPr sz="2800" spc="-120" dirty="0"/>
              <a:t> </a:t>
            </a:r>
            <a:r>
              <a:rPr sz="2800" spc="-25" dirty="0"/>
              <a:t>AI?</a:t>
            </a:r>
            <a:endParaRPr sz="2800"/>
          </a:p>
        </p:txBody>
      </p:sp>
      <p:pic>
        <p:nvPicPr>
          <p:cNvPr id="4" name="object 4" descr="OpenAI to change the digital image-making game with DALL.E 2, its text to  image generato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413" y="1763902"/>
            <a:ext cx="5061458" cy="36668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4341" y="704850"/>
            <a:ext cx="3105658" cy="33574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809403" y="663701"/>
            <a:ext cx="6108700" cy="5963920"/>
            <a:chOff x="5809403" y="663701"/>
            <a:chExt cx="6108700" cy="5963920"/>
          </a:xfrm>
        </p:grpSpPr>
        <p:pic>
          <p:nvPicPr>
            <p:cNvPr id="7" name="object 7" descr="I don't know if it is a repost, but PaLM explaining a joke never posted on  the internet before… : r/singularity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9403" y="4221454"/>
              <a:ext cx="3984709" cy="24059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25407" y="663701"/>
              <a:ext cx="2692400" cy="42862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270997" y="4971363"/>
            <a:ext cx="15690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5" dirty="0">
                <a:latin typeface="Arial"/>
                <a:cs typeface="Arial"/>
              </a:rPr>
              <a:t>image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credit: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UW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5" dirty="0">
                <a:latin typeface="Arial"/>
                <a:cs typeface="Arial"/>
              </a:rPr>
              <a:t>IPD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1935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5142" y="412496"/>
            <a:ext cx="73507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/>
              <a:t>Reinforcement</a:t>
            </a:r>
            <a:r>
              <a:rPr sz="2800" spc="-100" dirty="0"/>
              <a:t> </a:t>
            </a:r>
            <a:r>
              <a:rPr sz="2800" spc="-105" dirty="0"/>
              <a:t>learning</a:t>
            </a:r>
            <a:r>
              <a:rPr sz="2800" spc="-95" dirty="0"/>
              <a:t> </a:t>
            </a:r>
            <a:r>
              <a:rPr sz="2800" spc="-204" dirty="0"/>
              <a:t>can</a:t>
            </a:r>
            <a:r>
              <a:rPr sz="2800" spc="-114" dirty="0"/>
              <a:t> </a:t>
            </a:r>
            <a:r>
              <a:rPr sz="2800" spc="-145" dirty="0"/>
              <a:t>discover</a:t>
            </a:r>
            <a:r>
              <a:rPr sz="2800" spc="-90" dirty="0"/>
              <a:t> </a:t>
            </a:r>
            <a:r>
              <a:rPr sz="2800" spc="-120" dirty="0"/>
              <a:t>new</a:t>
            </a:r>
            <a:r>
              <a:rPr sz="2800" spc="-105" dirty="0"/>
              <a:t> </a:t>
            </a:r>
            <a:r>
              <a:rPr sz="2800" spc="-55" dirty="0"/>
              <a:t>solutions</a:t>
            </a:r>
            <a:endParaRPr sz="2800" dirty="0"/>
          </a:p>
        </p:txBody>
      </p:sp>
      <p:pic>
        <p:nvPicPr>
          <p:cNvPr id="4" name="object 4" descr="Move 37!! Lee Sedol vs AlphaGo Match 2 - YouTub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522" y="2242057"/>
            <a:ext cx="5271135" cy="29649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7814" y="5366410"/>
            <a:ext cx="5123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“Move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37”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Lee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Sedol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AlphaGo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match: </a:t>
            </a:r>
            <a:r>
              <a:rPr sz="1800" spc="-40" dirty="0">
                <a:latin typeface="Arial"/>
                <a:cs typeface="Arial"/>
              </a:rPr>
              <a:t>reinforcement </a:t>
            </a:r>
            <a:r>
              <a:rPr sz="1800" spc="-60" dirty="0">
                <a:latin typeface="Arial"/>
                <a:cs typeface="Arial"/>
              </a:rPr>
              <a:t>learning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“discovers”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move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surprises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everyone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 descr="OpenAI to change the digital image-making game with DALL.E 2, its text to  image generator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3479" y="2241981"/>
            <a:ext cx="5100320" cy="36950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66840" y="1168234"/>
            <a:ext cx="4673600" cy="83121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328930" marR="318770" indent="78740">
              <a:lnSpc>
                <a:spcPct val="100000"/>
              </a:lnSpc>
              <a:spcBef>
                <a:spcPts val="204"/>
              </a:spcBef>
            </a:pPr>
            <a:r>
              <a:rPr sz="2400" spc="-125" dirty="0">
                <a:latin typeface="Arial"/>
                <a:cs typeface="Arial"/>
              </a:rPr>
              <a:t>Impressive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because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it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looks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like </a:t>
            </a:r>
            <a:r>
              <a:rPr sz="2400" spc="-105" dirty="0">
                <a:latin typeface="Arial"/>
                <a:cs typeface="Arial"/>
              </a:rPr>
              <a:t>something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person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might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draw!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264" y="1168234"/>
            <a:ext cx="4673600" cy="83121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1513840" marR="198120" indent="-1308100">
              <a:lnSpc>
                <a:spcPct val="100000"/>
              </a:lnSpc>
              <a:spcBef>
                <a:spcPts val="204"/>
              </a:spcBef>
            </a:pPr>
            <a:r>
              <a:rPr sz="2400" spc="-125" dirty="0">
                <a:latin typeface="Arial"/>
                <a:cs typeface="Arial"/>
              </a:rPr>
              <a:t>Impressive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because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no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person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had </a:t>
            </a:r>
            <a:r>
              <a:rPr sz="2400" spc="-40" dirty="0">
                <a:latin typeface="Arial"/>
                <a:cs typeface="Arial"/>
              </a:rPr>
              <a:t>thought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it!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08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What</a:t>
            </a:r>
            <a:r>
              <a:rPr spc="-200" dirty="0"/>
              <a:t> </a:t>
            </a:r>
            <a:r>
              <a:rPr spc="-254" dirty="0"/>
              <a:t>is</a:t>
            </a:r>
            <a:r>
              <a:rPr spc="-204" dirty="0"/>
              <a:t> </a:t>
            </a:r>
            <a:r>
              <a:rPr spc="-145" dirty="0"/>
              <a:t>reinforcement</a:t>
            </a:r>
            <a:r>
              <a:rPr spc="-200" dirty="0"/>
              <a:t> </a:t>
            </a:r>
            <a:r>
              <a:rPr spc="-175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0089"/>
            <a:ext cx="10279380" cy="328549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1439545">
              <a:lnSpc>
                <a:spcPts val="4320"/>
              </a:lnSpc>
              <a:spcBef>
                <a:spcPts val="640"/>
              </a:spcBef>
            </a:pPr>
            <a:r>
              <a:rPr sz="4000" spc="-145" dirty="0">
                <a:latin typeface="Arial"/>
                <a:cs typeface="Arial"/>
              </a:rPr>
              <a:t>Mathematical</a:t>
            </a:r>
            <a:r>
              <a:rPr sz="4000" spc="-165" dirty="0">
                <a:latin typeface="Arial"/>
                <a:cs typeface="Arial"/>
              </a:rPr>
              <a:t> </a:t>
            </a:r>
            <a:r>
              <a:rPr sz="4000" spc="-155" dirty="0">
                <a:latin typeface="Arial"/>
                <a:cs typeface="Arial"/>
              </a:rPr>
              <a:t>formalism</a:t>
            </a:r>
            <a:r>
              <a:rPr sz="4000" spc="-170" dirty="0">
                <a:latin typeface="Arial"/>
                <a:cs typeface="Arial"/>
              </a:rPr>
              <a:t> </a:t>
            </a:r>
            <a:r>
              <a:rPr sz="4000" spc="-25" dirty="0">
                <a:latin typeface="Arial"/>
                <a:cs typeface="Arial"/>
              </a:rPr>
              <a:t>for</a:t>
            </a:r>
            <a:r>
              <a:rPr sz="4000" spc="-170" dirty="0">
                <a:latin typeface="Arial"/>
                <a:cs typeface="Arial"/>
              </a:rPr>
              <a:t> </a:t>
            </a:r>
            <a:r>
              <a:rPr sz="4000" spc="-160" dirty="0">
                <a:latin typeface="Arial"/>
                <a:cs typeface="Arial"/>
              </a:rPr>
              <a:t>learning-</a:t>
            </a:r>
            <a:r>
              <a:rPr sz="4000" spc="-295" dirty="0">
                <a:latin typeface="Arial"/>
                <a:cs typeface="Arial"/>
              </a:rPr>
              <a:t>based </a:t>
            </a:r>
            <a:r>
              <a:rPr sz="4000" spc="-200" dirty="0">
                <a:latin typeface="Arial"/>
                <a:cs typeface="Arial"/>
              </a:rPr>
              <a:t>decision</a:t>
            </a:r>
            <a:r>
              <a:rPr sz="4000" spc="-150" dirty="0">
                <a:latin typeface="Arial"/>
                <a:cs typeface="Arial"/>
              </a:rPr>
              <a:t> </a:t>
            </a:r>
            <a:r>
              <a:rPr sz="4000" spc="-45" dirty="0">
                <a:latin typeface="Arial"/>
                <a:cs typeface="Arial"/>
              </a:rPr>
              <a:t>making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4"/>
              </a:spcBef>
            </a:pPr>
            <a:endParaRPr sz="4000">
              <a:latin typeface="Arial"/>
              <a:cs typeface="Arial"/>
            </a:endParaRPr>
          </a:p>
          <a:p>
            <a:pPr marL="12700" marR="5080">
              <a:lnSpc>
                <a:spcPts val="4320"/>
              </a:lnSpc>
            </a:pPr>
            <a:r>
              <a:rPr sz="4000" spc="-220" dirty="0">
                <a:latin typeface="Arial"/>
                <a:cs typeface="Arial"/>
              </a:rPr>
              <a:t>Approach</a:t>
            </a:r>
            <a:r>
              <a:rPr sz="4000" spc="-229" dirty="0">
                <a:latin typeface="Arial"/>
                <a:cs typeface="Arial"/>
              </a:rPr>
              <a:t> </a:t>
            </a:r>
            <a:r>
              <a:rPr sz="4000" spc="-35" dirty="0">
                <a:latin typeface="Arial"/>
                <a:cs typeface="Arial"/>
              </a:rPr>
              <a:t>for</a:t>
            </a:r>
            <a:r>
              <a:rPr sz="4000" spc="-200" dirty="0">
                <a:latin typeface="Arial"/>
                <a:cs typeface="Arial"/>
              </a:rPr>
              <a:t> </a:t>
            </a:r>
            <a:r>
              <a:rPr sz="4000" spc="-160" dirty="0">
                <a:latin typeface="Arial"/>
                <a:cs typeface="Arial"/>
              </a:rPr>
              <a:t>learning</a:t>
            </a:r>
            <a:r>
              <a:rPr sz="4000" spc="-215" dirty="0">
                <a:latin typeface="Arial"/>
                <a:cs typeface="Arial"/>
              </a:rPr>
              <a:t> </a:t>
            </a:r>
            <a:r>
              <a:rPr sz="4000" spc="-190" dirty="0">
                <a:latin typeface="Arial"/>
                <a:cs typeface="Arial"/>
              </a:rPr>
              <a:t>decision</a:t>
            </a:r>
            <a:r>
              <a:rPr sz="4000" spc="-215" dirty="0">
                <a:latin typeface="Arial"/>
                <a:cs typeface="Arial"/>
              </a:rPr>
              <a:t> making</a:t>
            </a:r>
            <a:r>
              <a:rPr sz="4000" spc="-200" dirty="0">
                <a:latin typeface="Arial"/>
                <a:cs typeface="Arial"/>
              </a:rPr>
              <a:t> </a:t>
            </a:r>
            <a:r>
              <a:rPr sz="4000" spc="-229" dirty="0">
                <a:latin typeface="Arial"/>
                <a:cs typeface="Arial"/>
              </a:rPr>
              <a:t>and</a:t>
            </a:r>
            <a:r>
              <a:rPr sz="4000" spc="-204" dirty="0">
                <a:latin typeface="Arial"/>
                <a:cs typeface="Arial"/>
              </a:rPr>
              <a:t> </a:t>
            </a:r>
            <a:r>
              <a:rPr sz="4000" spc="-60" dirty="0">
                <a:latin typeface="Arial"/>
                <a:cs typeface="Arial"/>
              </a:rPr>
              <a:t>control </a:t>
            </a:r>
            <a:r>
              <a:rPr sz="4000" spc="-100" dirty="0">
                <a:latin typeface="Arial"/>
                <a:cs typeface="Arial"/>
              </a:rPr>
              <a:t>from</a:t>
            </a:r>
            <a:r>
              <a:rPr sz="4000" spc="-305" dirty="0">
                <a:latin typeface="Arial"/>
                <a:cs typeface="Arial"/>
              </a:rPr>
              <a:t> </a:t>
            </a:r>
            <a:r>
              <a:rPr sz="4000" spc="-130" dirty="0">
                <a:latin typeface="Arial"/>
                <a:cs typeface="Arial"/>
              </a:rPr>
              <a:t>experience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40" y="95503"/>
            <a:ext cx="913765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65" dirty="0"/>
              <a:t>How</a:t>
            </a:r>
            <a:r>
              <a:rPr spc="-195" dirty="0"/>
              <a:t> </a:t>
            </a:r>
            <a:r>
              <a:rPr spc="-254" dirty="0"/>
              <a:t>is</a:t>
            </a:r>
            <a:r>
              <a:rPr spc="-210" dirty="0"/>
              <a:t> </a:t>
            </a:r>
            <a:r>
              <a:rPr spc="-125" dirty="0"/>
              <a:t>this</a:t>
            </a:r>
            <a:r>
              <a:rPr spc="-210" dirty="0"/>
              <a:t> </a:t>
            </a:r>
            <a:r>
              <a:rPr spc="-90" dirty="0"/>
              <a:t>different</a:t>
            </a:r>
            <a:r>
              <a:rPr spc="-240" dirty="0"/>
              <a:t> </a:t>
            </a:r>
            <a:r>
              <a:rPr spc="-85" dirty="0"/>
              <a:t>from</a:t>
            </a:r>
            <a:r>
              <a:rPr spc="-225" dirty="0"/>
              <a:t> </a:t>
            </a:r>
            <a:r>
              <a:rPr spc="-85" dirty="0"/>
              <a:t>other</a:t>
            </a:r>
            <a:r>
              <a:rPr spc="-204" dirty="0"/>
              <a:t> </a:t>
            </a:r>
            <a:r>
              <a:rPr spc="-175" dirty="0"/>
              <a:t>machine </a:t>
            </a:r>
            <a:r>
              <a:rPr spc="-185" dirty="0"/>
              <a:t>learning</a:t>
            </a:r>
            <a:r>
              <a:rPr spc="-175" dirty="0"/>
              <a:t> </a:t>
            </a:r>
            <a:r>
              <a:rPr spc="-55" dirty="0"/>
              <a:t>topics?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123" y="1525016"/>
            <a:ext cx="3132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80" dirty="0">
                <a:latin typeface="Arial"/>
                <a:cs typeface="Arial"/>
              </a:rPr>
              <a:t>Standard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(supervised)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123" y="1866392"/>
            <a:ext cx="2576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5" dirty="0">
                <a:latin typeface="Arial"/>
                <a:cs typeface="Arial"/>
              </a:rPr>
              <a:t>machine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learning: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642" y="2699562"/>
            <a:ext cx="2187092" cy="2525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642" y="3263836"/>
            <a:ext cx="2757195" cy="2296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4363" y="3252393"/>
            <a:ext cx="948943" cy="2525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7872" y="3849115"/>
            <a:ext cx="2446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70" dirty="0">
                <a:latin typeface="Arial"/>
                <a:cs typeface="Arial"/>
              </a:rPr>
              <a:t>Usually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assumes: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559" y="4517517"/>
            <a:ext cx="394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-35" dirty="0">
                <a:latin typeface="Arial"/>
                <a:cs typeface="Arial"/>
              </a:rPr>
              <a:t>i.i.d.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70" dirty="0">
                <a:latin typeface="Arial"/>
                <a:cs typeface="Arial"/>
              </a:rPr>
              <a:t>known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ground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truth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outputs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training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5189" y="1681937"/>
            <a:ext cx="3457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45" dirty="0">
                <a:latin typeface="Arial"/>
                <a:cs typeface="Arial"/>
              </a:rPr>
              <a:t>Reinforcement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learning: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5189" y="2240407"/>
            <a:ext cx="45751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1590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spc="-114" dirty="0">
                <a:latin typeface="Arial"/>
                <a:cs typeface="Arial"/>
              </a:rPr>
              <a:t>Data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is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not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i.i.d.: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previous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outputs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influence </a:t>
            </a:r>
            <a:r>
              <a:rPr sz="1800" spc="-20" dirty="0">
                <a:latin typeface="Arial"/>
                <a:cs typeface="Arial"/>
              </a:rPr>
              <a:t>future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inputs!</a:t>
            </a:r>
            <a:endParaRPr sz="18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90" dirty="0">
                <a:latin typeface="Arial"/>
                <a:cs typeface="Arial"/>
              </a:rPr>
              <a:t>Ground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truth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answer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is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known,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only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know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we </a:t>
            </a:r>
            <a:r>
              <a:rPr sz="1800" spc="-110" dirty="0">
                <a:latin typeface="Arial"/>
                <a:cs typeface="Arial"/>
              </a:rPr>
              <a:t>succeeded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failed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60" dirty="0">
                <a:latin typeface="Arial"/>
                <a:cs typeface="Arial"/>
              </a:rPr>
              <a:t>more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generally,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we </a:t>
            </a:r>
            <a:r>
              <a:rPr sz="1800" spc="-70" dirty="0">
                <a:latin typeface="Arial"/>
                <a:cs typeface="Arial"/>
              </a:rPr>
              <a:t>know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reward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4494" y="5437251"/>
            <a:ext cx="2335530" cy="1224915"/>
            <a:chOff x="604494" y="5437251"/>
            <a:chExt cx="2335530" cy="1224915"/>
          </a:xfrm>
        </p:grpSpPr>
        <p:sp>
          <p:nvSpPr>
            <p:cNvPr id="13" name="object 13"/>
            <p:cNvSpPr/>
            <p:nvPr/>
          </p:nvSpPr>
          <p:spPr>
            <a:xfrm>
              <a:off x="610844" y="5595112"/>
              <a:ext cx="2322830" cy="1060450"/>
            </a:xfrm>
            <a:custGeom>
              <a:avLst/>
              <a:gdLst/>
              <a:ahLst/>
              <a:cxnLst/>
              <a:rect l="l" t="t" r="r" b="b"/>
              <a:pathLst>
                <a:path w="2322830" h="1060450">
                  <a:moveTo>
                    <a:pt x="2322220" y="0"/>
                  </a:moveTo>
                  <a:lnTo>
                    <a:pt x="2283930" y="38725"/>
                  </a:lnTo>
                  <a:lnTo>
                    <a:pt x="2237902" y="56776"/>
                  </a:lnTo>
                  <a:lnTo>
                    <a:pt x="2175585" y="73740"/>
                  </a:lnTo>
                  <a:lnTo>
                    <a:pt x="2098200" y="89457"/>
                  </a:lnTo>
                  <a:lnTo>
                    <a:pt x="2054240" y="96798"/>
                  </a:lnTo>
                  <a:lnTo>
                    <a:pt x="2006972" y="103767"/>
                  </a:lnTo>
                  <a:lnTo>
                    <a:pt x="1956549" y="110345"/>
                  </a:lnTo>
                  <a:lnTo>
                    <a:pt x="1903125" y="116512"/>
                  </a:lnTo>
                  <a:lnTo>
                    <a:pt x="1846851" y="122247"/>
                  </a:lnTo>
                  <a:lnTo>
                    <a:pt x="1787881" y="127530"/>
                  </a:lnTo>
                  <a:lnTo>
                    <a:pt x="1726368" y="132342"/>
                  </a:lnTo>
                  <a:lnTo>
                    <a:pt x="1662464" y="136663"/>
                  </a:lnTo>
                  <a:lnTo>
                    <a:pt x="1596323" y="140472"/>
                  </a:lnTo>
                  <a:lnTo>
                    <a:pt x="1528098" y="143750"/>
                  </a:lnTo>
                  <a:lnTo>
                    <a:pt x="1457941" y="146477"/>
                  </a:lnTo>
                  <a:lnTo>
                    <a:pt x="1386006" y="148632"/>
                  </a:lnTo>
                  <a:lnTo>
                    <a:pt x="1312445" y="150197"/>
                  </a:lnTo>
                  <a:lnTo>
                    <a:pt x="1237412" y="151150"/>
                  </a:lnTo>
                  <a:lnTo>
                    <a:pt x="1161059" y="151472"/>
                  </a:lnTo>
                  <a:lnTo>
                    <a:pt x="1084720" y="151150"/>
                  </a:lnTo>
                  <a:lnTo>
                    <a:pt x="1009700" y="150197"/>
                  </a:lnTo>
                  <a:lnTo>
                    <a:pt x="936151" y="148632"/>
                  </a:lnTo>
                  <a:lnTo>
                    <a:pt x="864226" y="146477"/>
                  </a:lnTo>
                  <a:lnTo>
                    <a:pt x="794079" y="143750"/>
                  </a:lnTo>
                  <a:lnTo>
                    <a:pt x="725862" y="140472"/>
                  </a:lnTo>
                  <a:lnTo>
                    <a:pt x="659728" y="136663"/>
                  </a:lnTo>
                  <a:lnTo>
                    <a:pt x="595831" y="132342"/>
                  </a:lnTo>
                  <a:lnTo>
                    <a:pt x="534323" y="127530"/>
                  </a:lnTo>
                  <a:lnTo>
                    <a:pt x="475358" y="122247"/>
                  </a:lnTo>
                  <a:lnTo>
                    <a:pt x="419087" y="116512"/>
                  </a:lnTo>
                  <a:lnTo>
                    <a:pt x="365666" y="110345"/>
                  </a:lnTo>
                  <a:lnTo>
                    <a:pt x="315245" y="103767"/>
                  </a:lnTo>
                  <a:lnTo>
                    <a:pt x="267979" y="96798"/>
                  </a:lnTo>
                  <a:lnTo>
                    <a:pt x="224020" y="89457"/>
                  </a:lnTo>
                  <a:lnTo>
                    <a:pt x="183522" y="81764"/>
                  </a:lnTo>
                  <a:lnTo>
                    <a:pt x="113518" y="65404"/>
                  </a:lnTo>
                  <a:lnTo>
                    <a:pt x="59192" y="47876"/>
                  </a:lnTo>
                  <a:lnTo>
                    <a:pt x="21768" y="29341"/>
                  </a:lnTo>
                  <a:lnTo>
                    <a:pt x="0" y="0"/>
                  </a:lnTo>
                  <a:lnTo>
                    <a:pt x="0" y="908862"/>
                  </a:lnTo>
                  <a:lnTo>
                    <a:pt x="38291" y="947593"/>
                  </a:lnTo>
                  <a:lnTo>
                    <a:pt x="84319" y="965646"/>
                  </a:lnTo>
                  <a:lnTo>
                    <a:pt x="146637" y="982611"/>
                  </a:lnTo>
                  <a:lnTo>
                    <a:pt x="224020" y="998330"/>
                  </a:lnTo>
                  <a:lnTo>
                    <a:pt x="267979" y="1005671"/>
                  </a:lnTo>
                  <a:lnTo>
                    <a:pt x="315245" y="1012641"/>
                  </a:lnTo>
                  <a:lnTo>
                    <a:pt x="365666" y="1019219"/>
                  </a:lnTo>
                  <a:lnTo>
                    <a:pt x="419087" y="1025386"/>
                  </a:lnTo>
                  <a:lnTo>
                    <a:pt x="475358" y="1031121"/>
                  </a:lnTo>
                  <a:lnTo>
                    <a:pt x="534323" y="1036405"/>
                  </a:lnTo>
                  <a:lnTo>
                    <a:pt x="595831" y="1041217"/>
                  </a:lnTo>
                  <a:lnTo>
                    <a:pt x="659728" y="1045538"/>
                  </a:lnTo>
                  <a:lnTo>
                    <a:pt x="725862" y="1049347"/>
                  </a:lnTo>
                  <a:lnTo>
                    <a:pt x="794079" y="1052625"/>
                  </a:lnTo>
                  <a:lnTo>
                    <a:pt x="864226" y="1055352"/>
                  </a:lnTo>
                  <a:lnTo>
                    <a:pt x="936151" y="1057508"/>
                  </a:lnTo>
                  <a:lnTo>
                    <a:pt x="1009700" y="1059072"/>
                  </a:lnTo>
                  <a:lnTo>
                    <a:pt x="1084720" y="1060026"/>
                  </a:lnTo>
                  <a:lnTo>
                    <a:pt x="1161059" y="1060348"/>
                  </a:lnTo>
                  <a:lnTo>
                    <a:pt x="1237412" y="1060026"/>
                  </a:lnTo>
                  <a:lnTo>
                    <a:pt x="1312445" y="1059072"/>
                  </a:lnTo>
                  <a:lnTo>
                    <a:pt x="1386006" y="1057508"/>
                  </a:lnTo>
                  <a:lnTo>
                    <a:pt x="1457941" y="1055352"/>
                  </a:lnTo>
                  <a:lnTo>
                    <a:pt x="1528098" y="1052625"/>
                  </a:lnTo>
                  <a:lnTo>
                    <a:pt x="1596323" y="1049347"/>
                  </a:lnTo>
                  <a:lnTo>
                    <a:pt x="1662464" y="1045538"/>
                  </a:lnTo>
                  <a:lnTo>
                    <a:pt x="1726368" y="1041217"/>
                  </a:lnTo>
                  <a:lnTo>
                    <a:pt x="1787881" y="1036405"/>
                  </a:lnTo>
                  <a:lnTo>
                    <a:pt x="1846851" y="1031121"/>
                  </a:lnTo>
                  <a:lnTo>
                    <a:pt x="1903125" y="1025386"/>
                  </a:lnTo>
                  <a:lnTo>
                    <a:pt x="1956549" y="1019219"/>
                  </a:lnTo>
                  <a:lnTo>
                    <a:pt x="2006972" y="1012641"/>
                  </a:lnTo>
                  <a:lnTo>
                    <a:pt x="2054240" y="1005671"/>
                  </a:lnTo>
                  <a:lnTo>
                    <a:pt x="2098200" y="998330"/>
                  </a:lnTo>
                  <a:lnTo>
                    <a:pt x="2138699" y="990636"/>
                  </a:lnTo>
                  <a:lnTo>
                    <a:pt x="2208703" y="974274"/>
                  </a:lnTo>
                  <a:lnTo>
                    <a:pt x="2263029" y="956745"/>
                  </a:lnTo>
                  <a:lnTo>
                    <a:pt x="2300452" y="938208"/>
                  </a:lnTo>
                  <a:lnTo>
                    <a:pt x="2322220" y="908862"/>
                  </a:lnTo>
                  <a:lnTo>
                    <a:pt x="232222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0844" y="5443601"/>
              <a:ext cx="2322830" cy="303530"/>
            </a:xfrm>
            <a:custGeom>
              <a:avLst/>
              <a:gdLst/>
              <a:ahLst/>
              <a:cxnLst/>
              <a:rect l="l" t="t" r="r" b="b"/>
              <a:pathLst>
                <a:path w="2322830" h="303529">
                  <a:moveTo>
                    <a:pt x="1161059" y="0"/>
                  </a:moveTo>
                  <a:lnTo>
                    <a:pt x="1084720" y="322"/>
                  </a:lnTo>
                  <a:lnTo>
                    <a:pt x="1009700" y="1275"/>
                  </a:lnTo>
                  <a:lnTo>
                    <a:pt x="936151" y="2839"/>
                  </a:lnTo>
                  <a:lnTo>
                    <a:pt x="864226" y="4995"/>
                  </a:lnTo>
                  <a:lnTo>
                    <a:pt x="794079" y="7722"/>
                  </a:lnTo>
                  <a:lnTo>
                    <a:pt x="725862" y="11000"/>
                  </a:lnTo>
                  <a:lnTo>
                    <a:pt x="659728" y="14810"/>
                  </a:lnTo>
                  <a:lnTo>
                    <a:pt x="595831" y="19131"/>
                  </a:lnTo>
                  <a:lnTo>
                    <a:pt x="534323" y="23944"/>
                  </a:lnTo>
                  <a:lnTo>
                    <a:pt x="475358" y="29228"/>
                  </a:lnTo>
                  <a:lnTo>
                    <a:pt x="419087" y="34963"/>
                  </a:lnTo>
                  <a:lnTo>
                    <a:pt x="365666" y="41131"/>
                  </a:lnTo>
                  <a:lnTo>
                    <a:pt x="315245" y="47710"/>
                  </a:lnTo>
                  <a:lnTo>
                    <a:pt x="267979" y="54681"/>
                  </a:lnTo>
                  <a:lnTo>
                    <a:pt x="224020" y="62023"/>
                  </a:lnTo>
                  <a:lnTo>
                    <a:pt x="183522" y="69718"/>
                  </a:lnTo>
                  <a:lnTo>
                    <a:pt x="113518" y="86082"/>
                  </a:lnTo>
                  <a:lnTo>
                    <a:pt x="59192" y="103615"/>
                  </a:lnTo>
                  <a:lnTo>
                    <a:pt x="21768" y="122157"/>
                  </a:lnTo>
                  <a:lnTo>
                    <a:pt x="0" y="151511"/>
                  </a:lnTo>
                  <a:lnTo>
                    <a:pt x="2469" y="161470"/>
                  </a:lnTo>
                  <a:lnTo>
                    <a:pt x="38291" y="190236"/>
                  </a:lnTo>
                  <a:lnTo>
                    <a:pt x="84319" y="208287"/>
                  </a:lnTo>
                  <a:lnTo>
                    <a:pt x="146637" y="225251"/>
                  </a:lnTo>
                  <a:lnTo>
                    <a:pt x="224020" y="240968"/>
                  </a:lnTo>
                  <a:lnTo>
                    <a:pt x="267979" y="248309"/>
                  </a:lnTo>
                  <a:lnTo>
                    <a:pt x="315245" y="255278"/>
                  </a:lnTo>
                  <a:lnTo>
                    <a:pt x="365666" y="261856"/>
                  </a:lnTo>
                  <a:lnTo>
                    <a:pt x="419087" y="268023"/>
                  </a:lnTo>
                  <a:lnTo>
                    <a:pt x="475358" y="273758"/>
                  </a:lnTo>
                  <a:lnTo>
                    <a:pt x="534323" y="279041"/>
                  </a:lnTo>
                  <a:lnTo>
                    <a:pt x="595831" y="283853"/>
                  </a:lnTo>
                  <a:lnTo>
                    <a:pt x="659728" y="288174"/>
                  </a:lnTo>
                  <a:lnTo>
                    <a:pt x="725862" y="291983"/>
                  </a:lnTo>
                  <a:lnTo>
                    <a:pt x="794079" y="295261"/>
                  </a:lnTo>
                  <a:lnTo>
                    <a:pt x="864226" y="297988"/>
                  </a:lnTo>
                  <a:lnTo>
                    <a:pt x="936151" y="300143"/>
                  </a:lnTo>
                  <a:lnTo>
                    <a:pt x="1009700" y="301708"/>
                  </a:lnTo>
                  <a:lnTo>
                    <a:pt x="1084720" y="302661"/>
                  </a:lnTo>
                  <a:lnTo>
                    <a:pt x="1161059" y="302983"/>
                  </a:lnTo>
                  <a:lnTo>
                    <a:pt x="1237412" y="302661"/>
                  </a:lnTo>
                  <a:lnTo>
                    <a:pt x="1312445" y="301708"/>
                  </a:lnTo>
                  <a:lnTo>
                    <a:pt x="1386006" y="300143"/>
                  </a:lnTo>
                  <a:lnTo>
                    <a:pt x="1457941" y="297988"/>
                  </a:lnTo>
                  <a:lnTo>
                    <a:pt x="1528098" y="295261"/>
                  </a:lnTo>
                  <a:lnTo>
                    <a:pt x="1596323" y="291983"/>
                  </a:lnTo>
                  <a:lnTo>
                    <a:pt x="1662464" y="288174"/>
                  </a:lnTo>
                  <a:lnTo>
                    <a:pt x="1726368" y="283853"/>
                  </a:lnTo>
                  <a:lnTo>
                    <a:pt x="1787881" y="279041"/>
                  </a:lnTo>
                  <a:lnTo>
                    <a:pt x="1846851" y="273758"/>
                  </a:lnTo>
                  <a:lnTo>
                    <a:pt x="1903125" y="268023"/>
                  </a:lnTo>
                  <a:lnTo>
                    <a:pt x="1956549" y="261856"/>
                  </a:lnTo>
                  <a:lnTo>
                    <a:pt x="2006972" y="255278"/>
                  </a:lnTo>
                  <a:lnTo>
                    <a:pt x="2054240" y="248309"/>
                  </a:lnTo>
                  <a:lnTo>
                    <a:pt x="2098200" y="240968"/>
                  </a:lnTo>
                  <a:lnTo>
                    <a:pt x="2138699" y="233275"/>
                  </a:lnTo>
                  <a:lnTo>
                    <a:pt x="2208703" y="216915"/>
                  </a:lnTo>
                  <a:lnTo>
                    <a:pt x="2263029" y="199387"/>
                  </a:lnTo>
                  <a:lnTo>
                    <a:pt x="2300452" y="180852"/>
                  </a:lnTo>
                  <a:lnTo>
                    <a:pt x="2322220" y="151511"/>
                  </a:lnTo>
                  <a:lnTo>
                    <a:pt x="2319750" y="141547"/>
                  </a:lnTo>
                  <a:lnTo>
                    <a:pt x="2283930" y="112770"/>
                  </a:lnTo>
                  <a:lnTo>
                    <a:pt x="2237902" y="94713"/>
                  </a:lnTo>
                  <a:lnTo>
                    <a:pt x="2175585" y="77744"/>
                  </a:lnTo>
                  <a:lnTo>
                    <a:pt x="2098200" y="62023"/>
                  </a:lnTo>
                  <a:lnTo>
                    <a:pt x="2054240" y="54681"/>
                  </a:lnTo>
                  <a:lnTo>
                    <a:pt x="2006972" y="47710"/>
                  </a:lnTo>
                  <a:lnTo>
                    <a:pt x="1956549" y="41131"/>
                  </a:lnTo>
                  <a:lnTo>
                    <a:pt x="1903125" y="34963"/>
                  </a:lnTo>
                  <a:lnTo>
                    <a:pt x="1846851" y="29228"/>
                  </a:lnTo>
                  <a:lnTo>
                    <a:pt x="1787881" y="23944"/>
                  </a:lnTo>
                  <a:lnTo>
                    <a:pt x="1726368" y="19131"/>
                  </a:lnTo>
                  <a:lnTo>
                    <a:pt x="1662464" y="14810"/>
                  </a:lnTo>
                  <a:lnTo>
                    <a:pt x="1596323" y="11000"/>
                  </a:lnTo>
                  <a:lnTo>
                    <a:pt x="1528098" y="7722"/>
                  </a:lnTo>
                  <a:lnTo>
                    <a:pt x="1457941" y="4995"/>
                  </a:lnTo>
                  <a:lnTo>
                    <a:pt x="1386006" y="2839"/>
                  </a:lnTo>
                  <a:lnTo>
                    <a:pt x="1312445" y="1275"/>
                  </a:lnTo>
                  <a:lnTo>
                    <a:pt x="1237412" y="322"/>
                  </a:lnTo>
                  <a:lnTo>
                    <a:pt x="116105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844" y="5443601"/>
              <a:ext cx="2322830" cy="1212215"/>
            </a:xfrm>
            <a:custGeom>
              <a:avLst/>
              <a:gdLst/>
              <a:ahLst/>
              <a:cxnLst/>
              <a:rect l="l" t="t" r="r" b="b"/>
              <a:pathLst>
                <a:path w="2322830" h="1212215">
                  <a:moveTo>
                    <a:pt x="2322220" y="151511"/>
                  </a:moveTo>
                  <a:lnTo>
                    <a:pt x="2283930" y="190236"/>
                  </a:lnTo>
                  <a:lnTo>
                    <a:pt x="2237902" y="208287"/>
                  </a:lnTo>
                  <a:lnTo>
                    <a:pt x="2175585" y="225251"/>
                  </a:lnTo>
                  <a:lnTo>
                    <a:pt x="2098200" y="240968"/>
                  </a:lnTo>
                  <a:lnTo>
                    <a:pt x="2054240" y="248309"/>
                  </a:lnTo>
                  <a:lnTo>
                    <a:pt x="2006972" y="255278"/>
                  </a:lnTo>
                  <a:lnTo>
                    <a:pt x="1956549" y="261856"/>
                  </a:lnTo>
                  <a:lnTo>
                    <a:pt x="1903125" y="268023"/>
                  </a:lnTo>
                  <a:lnTo>
                    <a:pt x="1846851" y="273758"/>
                  </a:lnTo>
                  <a:lnTo>
                    <a:pt x="1787881" y="279041"/>
                  </a:lnTo>
                  <a:lnTo>
                    <a:pt x="1726368" y="283853"/>
                  </a:lnTo>
                  <a:lnTo>
                    <a:pt x="1662464" y="288174"/>
                  </a:lnTo>
                  <a:lnTo>
                    <a:pt x="1596323" y="291983"/>
                  </a:lnTo>
                  <a:lnTo>
                    <a:pt x="1528098" y="295261"/>
                  </a:lnTo>
                  <a:lnTo>
                    <a:pt x="1457941" y="297988"/>
                  </a:lnTo>
                  <a:lnTo>
                    <a:pt x="1386006" y="300143"/>
                  </a:lnTo>
                  <a:lnTo>
                    <a:pt x="1312445" y="301708"/>
                  </a:lnTo>
                  <a:lnTo>
                    <a:pt x="1237412" y="302661"/>
                  </a:lnTo>
                  <a:lnTo>
                    <a:pt x="1161059" y="302983"/>
                  </a:lnTo>
                  <a:lnTo>
                    <a:pt x="1084720" y="302661"/>
                  </a:lnTo>
                  <a:lnTo>
                    <a:pt x="1009700" y="301708"/>
                  </a:lnTo>
                  <a:lnTo>
                    <a:pt x="936151" y="300143"/>
                  </a:lnTo>
                  <a:lnTo>
                    <a:pt x="864226" y="297988"/>
                  </a:lnTo>
                  <a:lnTo>
                    <a:pt x="794079" y="295261"/>
                  </a:lnTo>
                  <a:lnTo>
                    <a:pt x="725862" y="291983"/>
                  </a:lnTo>
                  <a:lnTo>
                    <a:pt x="659728" y="288174"/>
                  </a:lnTo>
                  <a:lnTo>
                    <a:pt x="595831" y="283853"/>
                  </a:lnTo>
                  <a:lnTo>
                    <a:pt x="534323" y="279041"/>
                  </a:lnTo>
                  <a:lnTo>
                    <a:pt x="475358" y="273758"/>
                  </a:lnTo>
                  <a:lnTo>
                    <a:pt x="419087" y="268023"/>
                  </a:lnTo>
                  <a:lnTo>
                    <a:pt x="365666" y="261856"/>
                  </a:lnTo>
                  <a:lnTo>
                    <a:pt x="315245" y="255278"/>
                  </a:lnTo>
                  <a:lnTo>
                    <a:pt x="267979" y="248309"/>
                  </a:lnTo>
                  <a:lnTo>
                    <a:pt x="224020" y="240968"/>
                  </a:lnTo>
                  <a:lnTo>
                    <a:pt x="183522" y="233275"/>
                  </a:lnTo>
                  <a:lnTo>
                    <a:pt x="113518" y="216915"/>
                  </a:lnTo>
                  <a:lnTo>
                    <a:pt x="59192" y="199387"/>
                  </a:lnTo>
                  <a:lnTo>
                    <a:pt x="21768" y="180852"/>
                  </a:lnTo>
                  <a:lnTo>
                    <a:pt x="0" y="151511"/>
                  </a:lnTo>
                  <a:lnTo>
                    <a:pt x="2469" y="141547"/>
                  </a:lnTo>
                  <a:lnTo>
                    <a:pt x="38291" y="112770"/>
                  </a:lnTo>
                  <a:lnTo>
                    <a:pt x="84319" y="94713"/>
                  </a:lnTo>
                  <a:lnTo>
                    <a:pt x="146637" y="77744"/>
                  </a:lnTo>
                  <a:lnTo>
                    <a:pt x="224020" y="62023"/>
                  </a:lnTo>
                  <a:lnTo>
                    <a:pt x="267979" y="54681"/>
                  </a:lnTo>
                  <a:lnTo>
                    <a:pt x="315245" y="47710"/>
                  </a:lnTo>
                  <a:lnTo>
                    <a:pt x="365666" y="41131"/>
                  </a:lnTo>
                  <a:lnTo>
                    <a:pt x="419087" y="34963"/>
                  </a:lnTo>
                  <a:lnTo>
                    <a:pt x="475358" y="29228"/>
                  </a:lnTo>
                  <a:lnTo>
                    <a:pt x="534323" y="23944"/>
                  </a:lnTo>
                  <a:lnTo>
                    <a:pt x="595831" y="19131"/>
                  </a:lnTo>
                  <a:lnTo>
                    <a:pt x="659728" y="14810"/>
                  </a:lnTo>
                  <a:lnTo>
                    <a:pt x="725862" y="11000"/>
                  </a:lnTo>
                  <a:lnTo>
                    <a:pt x="794079" y="7722"/>
                  </a:lnTo>
                  <a:lnTo>
                    <a:pt x="864226" y="4995"/>
                  </a:lnTo>
                  <a:lnTo>
                    <a:pt x="936151" y="2839"/>
                  </a:lnTo>
                  <a:lnTo>
                    <a:pt x="1009700" y="1275"/>
                  </a:lnTo>
                  <a:lnTo>
                    <a:pt x="1084720" y="322"/>
                  </a:lnTo>
                  <a:lnTo>
                    <a:pt x="1161059" y="0"/>
                  </a:lnTo>
                  <a:lnTo>
                    <a:pt x="1237412" y="322"/>
                  </a:lnTo>
                  <a:lnTo>
                    <a:pt x="1312445" y="1275"/>
                  </a:lnTo>
                  <a:lnTo>
                    <a:pt x="1386006" y="2839"/>
                  </a:lnTo>
                  <a:lnTo>
                    <a:pt x="1457941" y="4995"/>
                  </a:lnTo>
                  <a:lnTo>
                    <a:pt x="1528098" y="7722"/>
                  </a:lnTo>
                  <a:lnTo>
                    <a:pt x="1596323" y="11000"/>
                  </a:lnTo>
                  <a:lnTo>
                    <a:pt x="1662464" y="14810"/>
                  </a:lnTo>
                  <a:lnTo>
                    <a:pt x="1726368" y="19131"/>
                  </a:lnTo>
                  <a:lnTo>
                    <a:pt x="1787881" y="23944"/>
                  </a:lnTo>
                  <a:lnTo>
                    <a:pt x="1846851" y="29228"/>
                  </a:lnTo>
                  <a:lnTo>
                    <a:pt x="1903125" y="34963"/>
                  </a:lnTo>
                  <a:lnTo>
                    <a:pt x="1956549" y="41131"/>
                  </a:lnTo>
                  <a:lnTo>
                    <a:pt x="2006972" y="47710"/>
                  </a:lnTo>
                  <a:lnTo>
                    <a:pt x="2054240" y="54681"/>
                  </a:lnTo>
                  <a:lnTo>
                    <a:pt x="2098200" y="62023"/>
                  </a:lnTo>
                  <a:lnTo>
                    <a:pt x="2138699" y="69718"/>
                  </a:lnTo>
                  <a:lnTo>
                    <a:pt x="2208703" y="86082"/>
                  </a:lnTo>
                  <a:lnTo>
                    <a:pt x="2263029" y="103615"/>
                  </a:lnTo>
                  <a:lnTo>
                    <a:pt x="2300452" y="122157"/>
                  </a:lnTo>
                  <a:lnTo>
                    <a:pt x="2322220" y="151511"/>
                  </a:lnTo>
                  <a:lnTo>
                    <a:pt x="2322220" y="1060373"/>
                  </a:lnTo>
                  <a:lnTo>
                    <a:pt x="2283930" y="1099104"/>
                  </a:lnTo>
                  <a:lnTo>
                    <a:pt x="2237902" y="1117157"/>
                  </a:lnTo>
                  <a:lnTo>
                    <a:pt x="2175585" y="1134122"/>
                  </a:lnTo>
                  <a:lnTo>
                    <a:pt x="2098200" y="1149841"/>
                  </a:lnTo>
                  <a:lnTo>
                    <a:pt x="2054240" y="1157182"/>
                  </a:lnTo>
                  <a:lnTo>
                    <a:pt x="2006972" y="1164152"/>
                  </a:lnTo>
                  <a:lnTo>
                    <a:pt x="1956549" y="1170730"/>
                  </a:lnTo>
                  <a:lnTo>
                    <a:pt x="1903125" y="1176897"/>
                  </a:lnTo>
                  <a:lnTo>
                    <a:pt x="1846851" y="1182632"/>
                  </a:lnTo>
                  <a:lnTo>
                    <a:pt x="1787881" y="1187916"/>
                  </a:lnTo>
                  <a:lnTo>
                    <a:pt x="1726368" y="1192728"/>
                  </a:lnTo>
                  <a:lnTo>
                    <a:pt x="1662464" y="1197049"/>
                  </a:lnTo>
                  <a:lnTo>
                    <a:pt x="1596323" y="1200858"/>
                  </a:lnTo>
                  <a:lnTo>
                    <a:pt x="1528098" y="1204136"/>
                  </a:lnTo>
                  <a:lnTo>
                    <a:pt x="1457941" y="1206863"/>
                  </a:lnTo>
                  <a:lnTo>
                    <a:pt x="1386006" y="1209019"/>
                  </a:lnTo>
                  <a:lnTo>
                    <a:pt x="1312445" y="1210583"/>
                  </a:lnTo>
                  <a:lnTo>
                    <a:pt x="1237412" y="1211537"/>
                  </a:lnTo>
                  <a:lnTo>
                    <a:pt x="1161059" y="1211859"/>
                  </a:lnTo>
                  <a:lnTo>
                    <a:pt x="1084720" y="1211537"/>
                  </a:lnTo>
                  <a:lnTo>
                    <a:pt x="1009700" y="1210583"/>
                  </a:lnTo>
                  <a:lnTo>
                    <a:pt x="936151" y="1209019"/>
                  </a:lnTo>
                  <a:lnTo>
                    <a:pt x="864226" y="1206863"/>
                  </a:lnTo>
                  <a:lnTo>
                    <a:pt x="794079" y="1204136"/>
                  </a:lnTo>
                  <a:lnTo>
                    <a:pt x="725862" y="1200858"/>
                  </a:lnTo>
                  <a:lnTo>
                    <a:pt x="659728" y="1197049"/>
                  </a:lnTo>
                  <a:lnTo>
                    <a:pt x="595831" y="1192728"/>
                  </a:lnTo>
                  <a:lnTo>
                    <a:pt x="534323" y="1187916"/>
                  </a:lnTo>
                  <a:lnTo>
                    <a:pt x="475358" y="1182632"/>
                  </a:lnTo>
                  <a:lnTo>
                    <a:pt x="419087" y="1176897"/>
                  </a:lnTo>
                  <a:lnTo>
                    <a:pt x="365666" y="1170730"/>
                  </a:lnTo>
                  <a:lnTo>
                    <a:pt x="315245" y="1164152"/>
                  </a:lnTo>
                  <a:lnTo>
                    <a:pt x="267979" y="1157182"/>
                  </a:lnTo>
                  <a:lnTo>
                    <a:pt x="224020" y="1149841"/>
                  </a:lnTo>
                  <a:lnTo>
                    <a:pt x="183522" y="1142147"/>
                  </a:lnTo>
                  <a:lnTo>
                    <a:pt x="113518" y="1125785"/>
                  </a:lnTo>
                  <a:lnTo>
                    <a:pt x="59192" y="1108256"/>
                  </a:lnTo>
                  <a:lnTo>
                    <a:pt x="21768" y="1089719"/>
                  </a:lnTo>
                  <a:lnTo>
                    <a:pt x="0" y="1060373"/>
                  </a:lnTo>
                  <a:lnTo>
                    <a:pt x="0" y="151511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65528" y="5446572"/>
            <a:ext cx="43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0683" y="5812967"/>
            <a:ext cx="1930400" cy="704850"/>
            <a:chOff x="900683" y="5812967"/>
            <a:chExt cx="1930400" cy="70485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8175" y="6004064"/>
              <a:ext cx="922312" cy="2984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683" y="5812967"/>
              <a:ext cx="825030" cy="70485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040379" y="5791822"/>
            <a:ext cx="774700" cy="393700"/>
            <a:chOff x="3040379" y="5791822"/>
            <a:chExt cx="774700" cy="393700"/>
          </a:xfrm>
        </p:grpSpPr>
        <p:sp>
          <p:nvSpPr>
            <p:cNvPr id="21" name="object 21"/>
            <p:cNvSpPr/>
            <p:nvPr/>
          </p:nvSpPr>
          <p:spPr>
            <a:xfrm>
              <a:off x="3046729" y="5798172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571499" y="0"/>
                  </a:moveTo>
                  <a:lnTo>
                    <a:pt x="571499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571499" y="285750"/>
                  </a:lnTo>
                  <a:lnTo>
                    <a:pt x="571499" y="381000"/>
                  </a:lnTo>
                  <a:lnTo>
                    <a:pt x="761999" y="190500"/>
                  </a:lnTo>
                  <a:lnTo>
                    <a:pt x="5714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46729" y="5798172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95250"/>
                  </a:moveTo>
                  <a:lnTo>
                    <a:pt x="571499" y="95250"/>
                  </a:lnTo>
                  <a:lnTo>
                    <a:pt x="571499" y="0"/>
                  </a:lnTo>
                  <a:lnTo>
                    <a:pt x="761999" y="190500"/>
                  </a:lnTo>
                  <a:lnTo>
                    <a:pt x="571499" y="381000"/>
                  </a:lnTo>
                  <a:lnTo>
                    <a:pt x="571499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000880" y="5415788"/>
            <a:ext cx="1484630" cy="1155700"/>
            <a:chOff x="4000880" y="5415788"/>
            <a:chExt cx="1484630" cy="1155700"/>
          </a:xfrm>
        </p:grpSpPr>
        <p:sp>
          <p:nvSpPr>
            <p:cNvPr id="24" name="object 24"/>
            <p:cNvSpPr/>
            <p:nvPr/>
          </p:nvSpPr>
          <p:spPr>
            <a:xfrm>
              <a:off x="4007230" y="5422138"/>
              <a:ext cx="1471930" cy="1143000"/>
            </a:xfrm>
            <a:custGeom>
              <a:avLst/>
              <a:gdLst/>
              <a:ahLst/>
              <a:cxnLst/>
              <a:rect l="l" t="t" r="r" b="b"/>
              <a:pathLst>
                <a:path w="1471929" h="1143000">
                  <a:moveTo>
                    <a:pt x="1281176" y="0"/>
                  </a:moveTo>
                  <a:lnTo>
                    <a:pt x="190500" y="0"/>
                  </a:lnTo>
                  <a:lnTo>
                    <a:pt x="146837" y="5034"/>
                  </a:lnTo>
                  <a:lnTo>
                    <a:pt x="106746" y="19372"/>
                  </a:lnTo>
                  <a:lnTo>
                    <a:pt x="71374" y="41868"/>
                  </a:lnTo>
                  <a:lnTo>
                    <a:pt x="41867" y="71377"/>
                  </a:lnTo>
                  <a:lnTo>
                    <a:pt x="19372" y="106751"/>
                  </a:lnTo>
                  <a:lnTo>
                    <a:pt x="5034" y="146845"/>
                  </a:lnTo>
                  <a:lnTo>
                    <a:pt x="0" y="190512"/>
                  </a:lnTo>
                  <a:lnTo>
                    <a:pt x="0" y="952500"/>
                  </a:lnTo>
                  <a:lnTo>
                    <a:pt x="5034" y="996178"/>
                  </a:lnTo>
                  <a:lnTo>
                    <a:pt x="19372" y="1036275"/>
                  </a:lnTo>
                  <a:lnTo>
                    <a:pt x="41867" y="1071646"/>
                  </a:lnTo>
                  <a:lnTo>
                    <a:pt x="71374" y="1101148"/>
                  </a:lnTo>
                  <a:lnTo>
                    <a:pt x="106746" y="1123636"/>
                  </a:lnTo>
                  <a:lnTo>
                    <a:pt x="146837" y="1137968"/>
                  </a:lnTo>
                  <a:lnTo>
                    <a:pt x="190500" y="1143000"/>
                  </a:lnTo>
                  <a:lnTo>
                    <a:pt x="1281176" y="1143000"/>
                  </a:lnTo>
                  <a:lnTo>
                    <a:pt x="1324878" y="1137968"/>
                  </a:lnTo>
                  <a:lnTo>
                    <a:pt x="1364984" y="1123636"/>
                  </a:lnTo>
                  <a:lnTo>
                    <a:pt x="1400354" y="1101148"/>
                  </a:lnTo>
                  <a:lnTo>
                    <a:pt x="1429848" y="1071646"/>
                  </a:lnTo>
                  <a:lnTo>
                    <a:pt x="1452326" y="1036275"/>
                  </a:lnTo>
                  <a:lnTo>
                    <a:pt x="1466648" y="996178"/>
                  </a:lnTo>
                  <a:lnTo>
                    <a:pt x="1471676" y="952500"/>
                  </a:lnTo>
                  <a:lnTo>
                    <a:pt x="1471676" y="190512"/>
                  </a:lnTo>
                  <a:lnTo>
                    <a:pt x="1466648" y="146845"/>
                  </a:lnTo>
                  <a:lnTo>
                    <a:pt x="1452326" y="106751"/>
                  </a:lnTo>
                  <a:lnTo>
                    <a:pt x="1429848" y="71377"/>
                  </a:lnTo>
                  <a:lnTo>
                    <a:pt x="1400354" y="41868"/>
                  </a:lnTo>
                  <a:lnTo>
                    <a:pt x="1364984" y="19372"/>
                  </a:lnTo>
                  <a:lnTo>
                    <a:pt x="1324878" y="5034"/>
                  </a:lnTo>
                  <a:lnTo>
                    <a:pt x="128117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07230" y="5422138"/>
              <a:ext cx="1471930" cy="1143000"/>
            </a:xfrm>
            <a:custGeom>
              <a:avLst/>
              <a:gdLst/>
              <a:ahLst/>
              <a:cxnLst/>
              <a:rect l="l" t="t" r="r" b="b"/>
              <a:pathLst>
                <a:path w="1471929" h="1143000">
                  <a:moveTo>
                    <a:pt x="0" y="190512"/>
                  </a:moveTo>
                  <a:lnTo>
                    <a:pt x="5034" y="146845"/>
                  </a:lnTo>
                  <a:lnTo>
                    <a:pt x="19372" y="106751"/>
                  </a:lnTo>
                  <a:lnTo>
                    <a:pt x="41867" y="71377"/>
                  </a:lnTo>
                  <a:lnTo>
                    <a:pt x="71374" y="41868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1281176" y="0"/>
                  </a:lnTo>
                  <a:lnTo>
                    <a:pt x="1324878" y="5034"/>
                  </a:lnTo>
                  <a:lnTo>
                    <a:pt x="1364984" y="19372"/>
                  </a:lnTo>
                  <a:lnTo>
                    <a:pt x="1400354" y="41868"/>
                  </a:lnTo>
                  <a:lnTo>
                    <a:pt x="1429848" y="71377"/>
                  </a:lnTo>
                  <a:lnTo>
                    <a:pt x="1452326" y="106751"/>
                  </a:lnTo>
                  <a:lnTo>
                    <a:pt x="1466648" y="146845"/>
                  </a:lnTo>
                  <a:lnTo>
                    <a:pt x="1471676" y="190512"/>
                  </a:lnTo>
                  <a:lnTo>
                    <a:pt x="1471676" y="952500"/>
                  </a:lnTo>
                  <a:lnTo>
                    <a:pt x="1466648" y="996178"/>
                  </a:lnTo>
                  <a:lnTo>
                    <a:pt x="1452326" y="1036275"/>
                  </a:lnTo>
                  <a:lnTo>
                    <a:pt x="1429848" y="1071646"/>
                  </a:lnTo>
                  <a:lnTo>
                    <a:pt x="1400354" y="1101148"/>
                  </a:lnTo>
                  <a:lnTo>
                    <a:pt x="1364984" y="1123636"/>
                  </a:lnTo>
                  <a:lnTo>
                    <a:pt x="1324878" y="1137968"/>
                  </a:lnTo>
                  <a:lnTo>
                    <a:pt x="1281176" y="1143000"/>
                  </a:lnTo>
                  <a:lnTo>
                    <a:pt x="190500" y="1143000"/>
                  </a:lnTo>
                  <a:lnTo>
                    <a:pt x="146837" y="1137968"/>
                  </a:lnTo>
                  <a:lnTo>
                    <a:pt x="106746" y="1123636"/>
                  </a:lnTo>
                  <a:lnTo>
                    <a:pt x="71374" y="1101148"/>
                  </a:lnTo>
                  <a:lnTo>
                    <a:pt x="41867" y="1071646"/>
                  </a:lnTo>
                  <a:lnTo>
                    <a:pt x="19372" y="1036275"/>
                  </a:lnTo>
                  <a:lnTo>
                    <a:pt x="5034" y="996178"/>
                  </a:lnTo>
                  <a:lnTo>
                    <a:pt x="0" y="952500"/>
                  </a:lnTo>
                  <a:lnTo>
                    <a:pt x="0" y="190512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227957" y="5692546"/>
            <a:ext cx="1029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Arial"/>
                <a:cs typeface="Arial"/>
              </a:rPr>
              <a:t>supervised </a:t>
            </a:r>
            <a:r>
              <a:rPr sz="1800" spc="-10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17082" y="3976395"/>
            <a:ext cx="2212975" cy="1234033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8428990" y="4396485"/>
            <a:ext cx="774700" cy="393700"/>
            <a:chOff x="8428990" y="4396485"/>
            <a:chExt cx="774700" cy="393700"/>
          </a:xfrm>
        </p:grpSpPr>
        <p:sp>
          <p:nvSpPr>
            <p:cNvPr id="29" name="object 29"/>
            <p:cNvSpPr/>
            <p:nvPr/>
          </p:nvSpPr>
          <p:spPr>
            <a:xfrm>
              <a:off x="8435340" y="4402835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571500" y="0"/>
                  </a:moveTo>
                  <a:lnTo>
                    <a:pt x="57150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571500" y="285750"/>
                  </a:lnTo>
                  <a:lnTo>
                    <a:pt x="571500" y="381000"/>
                  </a:lnTo>
                  <a:lnTo>
                    <a:pt x="762000" y="1905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5340" y="4402835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95250"/>
                  </a:moveTo>
                  <a:lnTo>
                    <a:pt x="571500" y="95250"/>
                  </a:lnTo>
                  <a:lnTo>
                    <a:pt x="571500" y="0"/>
                  </a:lnTo>
                  <a:lnTo>
                    <a:pt x="762000" y="190500"/>
                  </a:lnTo>
                  <a:lnTo>
                    <a:pt x="571500" y="381000"/>
                  </a:lnTo>
                  <a:lnTo>
                    <a:pt x="571500" y="285750"/>
                  </a:lnTo>
                  <a:lnTo>
                    <a:pt x="0" y="285750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9318879" y="3965828"/>
            <a:ext cx="2828290" cy="1356995"/>
            <a:chOff x="9318879" y="3965828"/>
            <a:chExt cx="2828290" cy="1356995"/>
          </a:xfrm>
        </p:grpSpPr>
        <p:sp>
          <p:nvSpPr>
            <p:cNvPr id="32" name="object 32"/>
            <p:cNvSpPr/>
            <p:nvPr/>
          </p:nvSpPr>
          <p:spPr>
            <a:xfrm>
              <a:off x="9325229" y="4140072"/>
              <a:ext cx="2815590" cy="1176020"/>
            </a:xfrm>
            <a:custGeom>
              <a:avLst/>
              <a:gdLst/>
              <a:ahLst/>
              <a:cxnLst/>
              <a:rect l="l" t="t" r="r" b="b"/>
              <a:pathLst>
                <a:path w="2815590" h="1176020">
                  <a:moveTo>
                    <a:pt x="2815081" y="0"/>
                  </a:moveTo>
                  <a:lnTo>
                    <a:pt x="2782617" y="36056"/>
                  </a:lnTo>
                  <a:lnTo>
                    <a:pt x="2743324" y="53123"/>
                  </a:lnTo>
                  <a:lnTo>
                    <a:pt x="2689803" y="69412"/>
                  </a:lnTo>
                  <a:lnTo>
                    <a:pt x="2622912" y="84821"/>
                  </a:lnTo>
                  <a:lnTo>
                    <a:pt x="2584720" y="92164"/>
                  </a:lnTo>
                  <a:lnTo>
                    <a:pt x="2543509" y="99248"/>
                  </a:lnTo>
                  <a:lnTo>
                    <a:pt x="2499384" y="106062"/>
                  </a:lnTo>
                  <a:lnTo>
                    <a:pt x="2452453" y="112591"/>
                  </a:lnTo>
                  <a:lnTo>
                    <a:pt x="2402824" y="118824"/>
                  </a:lnTo>
                  <a:lnTo>
                    <a:pt x="2350603" y="124747"/>
                  </a:lnTo>
                  <a:lnTo>
                    <a:pt x="2295899" y="130348"/>
                  </a:lnTo>
                  <a:lnTo>
                    <a:pt x="2238817" y="135614"/>
                  </a:lnTo>
                  <a:lnTo>
                    <a:pt x="2179467" y="140532"/>
                  </a:lnTo>
                  <a:lnTo>
                    <a:pt x="2117955" y="145090"/>
                  </a:lnTo>
                  <a:lnTo>
                    <a:pt x="2054388" y="149274"/>
                  </a:lnTo>
                  <a:lnTo>
                    <a:pt x="1988874" y="153072"/>
                  </a:lnTo>
                  <a:lnTo>
                    <a:pt x="1921520" y="156471"/>
                  </a:lnTo>
                  <a:lnTo>
                    <a:pt x="1852434" y="159459"/>
                  </a:lnTo>
                  <a:lnTo>
                    <a:pt x="1781722" y="162022"/>
                  </a:lnTo>
                  <a:lnTo>
                    <a:pt x="1709492" y="164147"/>
                  </a:lnTo>
                  <a:lnTo>
                    <a:pt x="1635852" y="165823"/>
                  </a:lnTo>
                  <a:lnTo>
                    <a:pt x="1560908" y="167035"/>
                  </a:lnTo>
                  <a:lnTo>
                    <a:pt x="1484769" y="167772"/>
                  </a:lnTo>
                  <a:lnTo>
                    <a:pt x="1407541" y="168020"/>
                  </a:lnTo>
                  <a:lnTo>
                    <a:pt x="1330312" y="167772"/>
                  </a:lnTo>
                  <a:lnTo>
                    <a:pt x="1254173" y="167035"/>
                  </a:lnTo>
                  <a:lnTo>
                    <a:pt x="1179229" y="165823"/>
                  </a:lnTo>
                  <a:lnTo>
                    <a:pt x="1105589" y="164147"/>
                  </a:lnTo>
                  <a:lnTo>
                    <a:pt x="1033359" y="162022"/>
                  </a:lnTo>
                  <a:lnTo>
                    <a:pt x="962647" y="159459"/>
                  </a:lnTo>
                  <a:lnTo>
                    <a:pt x="893561" y="156471"/>
                  </a:lnTo>
                  <a:lnTo>
                    <a:pt x="826207" y="153072"/>
                  </a:lnTo>
                  <a:lnTo>
                    <a:pt x="760693" y="149274"/>
                  </a:lnTo>
                  <a:lnTo>
                    <a:pt x="697126" y="145090"/>
                  </a:lnTo>
                  <a:lnTo>
                    <a:pt x="635614" y="140532"/>
                  </a:lnTo>
                  <a:lnTo>
                    <a:pt x="576264" y="135614"/>
                  </a:lnTo>
                  <a:lnTo>
                    <a:pt x="519182" y="130348"/>
                  </a:lnTo>
                  <a:lnTo>
                    <a:pt x="464478" y="124747"/>
                  </a:lnTo>
                  <a:lnTo>
                    <a:pt x="412257" y="118824"/>
                  </a:lnTo>
                  <a:lnTo>
                    <a:pt x="362628" y="112591"/>
                  </a:lnTo>
                  <a:lnTo>
                    <a:pt x="315697" y="106062"/>
                  </a:lnTo>
                  <a:lnTo>
                    <a:pt x="271572" y="99248"/>
                  </a:lnTo>
                  <a:lnTo>
                    <a:pt x="230361" y="92164"/>
                  </a:lnTo>
                  <a:lnTo>
                    <a:pt x="192169" y="84821"/>
                  </a:lnTo>
                  <a:lnTo>
                    <a:pt x="125278" y="69412"/>
                  </a:lnTo>
                  <a:lnTo>
                    <a:pt x="71757" y="53123"/>
                  </a:lnTo>
                  <a:lnTo>
                    <a:pt x="32464" y="36056"/>
                  </a:lnTo>
                  <a:lnTo>
                    <a:pt x="2082" y="9222"/>
                  </a:lnTo>
                  <a:lnTo>
                    <a:pt x="0" y="0"/>
                  </a:lnTo>
                  <a:lnTo>
                    <a:pt x="0" y="1007871"/>
                  </a:lnTo>
                  <a:lnTo>
                    <a:pt x="32464" y="1043890"/>
                  </a:lnTo>
                  <a:lnTo>
                    <a:pt x="71757" y="1060946"/>
                  </a:lnTo>
                  <a:lnTo>
                    <a:pt x="125278" y="1077230"/>
                  </a:lnTo>
                  <a:lnTo>
                    <a:pt x="192169" y="1092637"/>
                  </a:lnTo>
                  <a:lnTo>
                    <a:pt x="230361" y="1099980"/>
                  </a:lnTo>
                  <a:lnTo>
                    <a:pt x="271572" y="1107066"/>
                  </a:lnTo>
                  <a:lnTo>
                    <a:pt x="315697" y="1113881"/>
                  </a:lnTo>
                  <a:lnTo>
                    <a:pt x="362628" y="1120413"/>
                  </a:lnTo>
                  <a:lnTo>
                    <a:pt x="412257" y="1126648"/>
                  </a:lnTo>
                  <a:lnTo>
                    <a:pt x="464478" y="1132575"/>
                  </a:lnTo>
                  <a:lnTo>
                    <a:pt x="519182" y="1138180"/>
                  </a:lnTo>
                  <a:lnTo>
                    <a:pt x="576264" y="1143450"/>
                  </a:lnTo>
                  <a:lnTo>
                    <a:pt x="635614" y="1148372"/>
                  </a:lnTo>
                  <a:lnTo>
                    <a:pt x="697126" y="1152934"/>
                  </a:lnTo>
                  <a:lnTo>
                    <a:pt x="760693" y="1157122"/>
                  </a:lnTo>
                  <a:lnTo>
                    <a:pt x="826207" y="1160924"/>
                  </a:lnTo>
                  <a:lnTo>
                    <a:pt x="893561" y="1164327"/>
                  </a:lnTo>
                  <a:lnTo>
                    <a:pt x="962647" y="1167318"/>
                  </a:lnTo>
                  <a:lnTo>
                    <a:pt x="1033359" y="1169885"/>
                  </a:lnTo>
                  <a:lnTo>
                    <a:pt x="1105589" y="1172013"/>
                  </a:lnTo>
                  <a:lnTo>
                    <a:pt x="1179229" y="1173691"/>
                  </a:lnTo>
                  <a:lnTo>
                    <a:pt x="1254173" y="1174906"/>
                  </a:lnTo>
                  <a:lnTo>
                    <a:pt x="1330312" y="1175644"/>
                  </a:lnTo>
                  <a:lnTo>
                    <a:pt x="1407541" y="1175892"/>
                  </a:lnTo>
                  <a:lnTo>
                    <a:pt x="1484769" y="1175644"/>
                  </a:lnTo>
                  <a:lnTo>
                    <a:pt x="1560908" y="1174906"/>
                  </a:lnTo>
                  <a:lnTo>
                    <a:pt x="1635852" y="1173691"/>
                  </a:lnTo>
                  <a:lnTo>
                    <a:pt x="1709492" y="1172013"/>
                  </a:lnTo>
                  <a:lnTo>
                    <a:pt x="1781722" y="1169885"/>
                  </a:lnTo>
                  <a:lnTo>
                    <a:pt x="1852434" y="1167318"/>
                  </a:lnTo>
                  <a:lnTo>
                    <a:pt x="1921520" y="1164327"/>
                  </a:lnTo>
                  <a:lnTo>
                    <a:pt x="1988874" y="1160924"/>
                  </a:lnTo>
                  <a:lnTo>
                    <a:pt x="2054388" y="1157122"/>
                  </a:lnTo>
                  <a:lnTo>
                    <a:pt x="2117955" y="1152934"/>
                  </a:lnTo>
                  <a:lnTo>
                    <a:pt x="2179467" y="1148372"/>
                  </a:lnTo>
                  <a:lnTo>
                    <a:pt x="2238817" y="1143450"/>
                  </a:lnTo>
                  <a:lnTo>
                    <a:pt x="2295899" y="1138180"/>
                  </a:lnTo>
                  <a:lnTo>
                    <a:pt x="2350603" y="1132575"/>
                  </a:lnTo>
                  <a:lnTo>
                    <a:pt x="2402824" y="1126648"/>
                  </a:lnTo>
                  <a:lnTo>
                    <a:pt x="2452453" y="1120413"/>
                  </a:lnTo>
                  <a:lnTo>
                    <a:pt x="2499384" y="1113881"/>
                  </a:lnTo>
                  <a:lnTo>
                    <a:pt x="2543509" y="1107066"/>
                  </a:lnTo>
                  <a:lnTo>
                    <a:pt x="2584720" y="1099980"/>
                  </a:lnTo>
                  <a:lnTo>
                    <a:pt x="2622912" y="1092637"/>
                  </a:lnTo>
                  <a:lnTo>
                    <a:pt x="2689803" y="1077230"/>
                  </a:lnTo>
                  <a:lnTo>
                    <a:pt x="2743324" y="1060946"/>
                  </a:lnTo>
                  <a:lnTo>
                    <a:pt x="2782617" y="1043890"/>
                  </a:lnTo>
                  <a:lnTo>
                    <a:pt x="2812999" y="1017082"/>
                  </a:lnTo>
                  <a:lnTo>
                    <a:pt x="2815081" y="1007871"/>
                  </a:lnTo>
                  <a:lnTo>
                    <a:pt x="281508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25229" y="3972178"/>
              <a:ext cx="2815590" cy="335915"/>
            </a:xfrm>
            <a:custGeom>
              <a:avLst/>
              <a:gdLst/>
              <a:ahLst/>
              <a:cxnLst/>
              <a:rect l="l" t="t" r="r" b="b"/>
              <a:pathLst>
                <a:path w="2815590" h="335914">
                  <a:moveTo>
                    <a:pt x="1407541" y="0"/>
                  </a:moveTo>
                  <a:lnTo>
                    <a:pt x="1330312" y="248"/>
                  </a:lnTo>
                  <a:lnTo>
                    <a:pt x="1254173" y="985"/>
                  </a:lnTo>
                  <a:lnTo>
                    <a:pt x="1179229" y="2197"/>
                  </a:lnTo>
                  <a:lnTo>
                    <a:pt x="1105589" y="3873"/>
                  </a:lnTo>
                  <a:lnTo>
                    <a:pt x="1033359" y="5998"/>
                  </a:lnTo>
                  <a:lnTo>
                    <a:pt x="962647" y="8560"/>
                  </a:lnTo>
                  <a:lnTo>
                    <a:pt x="893561" y="11547"/>
                  </a:lnTo>
                  <a:lnTo>
                    <a:pt x="826207" y="14945"/>
                  </a:lnTo>
                  <a:lnTo>
                    <a:pt x="760693" y="18742"/>
                  </a:lnTo>
                  <a:lnTo>
                    <a:pt x="697126" y="22925"/>
                  </a:lnTo>
                  <a:lnTo>
                    <a:pt x="635614" y="27481"/>
                  </a:lnTo>
                  <a:lnTo>
                    <a:pt x="576264" y="32398"/>
                  </a:lnTo>
                  <a:lnTo>
                    <a:pt x="519182" y="37662"/>
                  </a:lnTo>
                  <a:lnTo>
                    <a:pt x="464478" y="43260"/>
                  </a:lnTo>
                  <a:lnTo>
                    <a:pt x="412257" y="49180"/>
                  </a:lnTo>
                  <a:lnTo>
                    <a:pt x="362628" y="55410"/>
                  </a:lnTo>
                  <a:lnTo>
                    <a:pt x="315697" y="61935"/>
                  </a:lnTo>
                  <a:lnTo>
                    <a:pt x="271572" y="68744"/>
                  </a:lnTo>
                  <a:lnTo>
                    <a:pt x="230361" y="75824"/>
                  </a:lnTo>
                  <a:lnTo>
                    <a:pt x="192169" y="83161"/>
                  </a:lnTo>
                  <a:lnTo>
                    <a:pt x="125278" y="98558"/>
                  </a:lnTo>
                  <a:lnTo>
                    <a:pt x="71757" y="114832"/>
                  </a:lnTo>
                  <a:lnTo>
                    <a:pt x="32464" y="131881"/>
                  </a:lnTo>
                  <a:lnTo>
                    <a:pt x="2082" y="158683"/>
                  </a:lnTo>
                  <a:lnTo>
                    <a:pt x="0" y="167894"/>
                  </a:lnTo>
                  <a:lnTo>
                    <a:pt x="2082" y="177116"/>
                  </a:lnTo>
                  <a:lnTo>
                    <a:pt x="32464" y="203950"/>
                  </a:lnTo>
                  <a:lnTo>
                    <a:pt x="71757" y="221017"/>
                  </a:lnTo>
                  <a:lnTo>
                    <a:pt x="125278" y="237306"/>
                  </a:lnTo>
                  <a:lnTo>
                    <a:pt x="192169" y="252715"/>
                  </a:lnTo>
                  <a:lnTo>
                    <a:pt x="230361" y="260058"/>
                  </a:lnTo>
                  <a:lnTo>
                    <a:pt x="271572" y="267142"/>
                  </a:lnTo>
                  <a:lnTo>
                    <a:pt x="315697" y="273956"/>
                  </a:lnTo>
                  <a:lnTo>
                    <a:pt x="362628" y="280485"/>
                  </a:lnTo>
                  <a:lnTo>
                    <a:pt x="412257" y="286718"/>
                  </a:lnTo>
                  <a:lnTo>
                    <a:pt x="464478" y="292641"/>
                  </a:lnTo>
                  <a:lnTo>
                    <a:pt x="519182" y="298242"/>
                  </a:lnTo>
                  <a:lnTo>
                    <a:pt x="576264" y="303508"/>
                  </a:lnTo>
                  <a:lnTo>
                    <a:pt x="635614" y="308426"/>
                  </a:lnTo>
                  <a:lnTo>
                    <a:pt x="697126" y="312984"/>
                  </a:lnTo>
                  <a:lnTo>
                    <a:pt x="760693" y="317168"/>
                  </a:lnTo>
                  <a:lnTo>
                    <a:pt x="826207" y="320966"/>
                  </a:lnTo>
                  <a:lnTo>
                    <a:pt x="893561" y="324365"/>
                  </a:lnTo>
                  <a:lnTo>
                    <a:pt x="962647" y="327353"/>
                  </a:lnTo>
                  <a:lnTo>
                    <a:pt x="1033359" y="329916"/>
                  </a:lnTo>
                  <a:lnTo>
                    <a:pt x="1105589" y="332041"/>
                  </a:lnTo>
                  <a:lnTo>
                    <a:pt x="1179229" y="333717"/>
                  </a:lnTo>
                  <a:lnTo>
                    <a:pt x="1254173" y="334929"/>
                  </a:lnTo>
                  <a:lnTo>
                    <a:pt x="1330312" y="335666"/>
                  </a:lnTo>
                  <a:lnTo>
                    <a:pt x="1407541" y="335915"/>
                  </a:lnTo>
                  <a:lnTo>
                    <a:pt x="1484769" y="335666"/>
                  </a:lnTo>
                  <a:lnTo>
                    <a:pt x="1560908" y="334929"/>
                  </a:lnTo>
                  <a:lnTo>
                    <a:pt x="1635852" y="333717"/>
                  </a:lnTo>
                  <a:lnTo>
                    <a:pt x="1709492" y="332041"/>
                  </a:lnTo>
                  <a:lnTo>
                    <a:pt x="1781722" y="329916"/>
                  </a:lnTo>
                  <a:lnTo>
                    <a:pt x="1852434" y="327353"/>
                  </a:lnTo>
                  <a:lnTo>
                    <a:pt x="1921520" y="324365"/>
                  </a:lnTo>
                  <a:lnTo>
                    <a:pt x="1988874" y="320966"/>
                  </a:lnTo>
                  <a:lnTo>
                    <a:pt x="2054388" y="317168"/>
                  </a:lnTo>
                  <a:lnTo>
                    <a:pt x="2117955" y="312984"/>
                  </a:lnTo>
                  <a:lnTo>
                    <a:pt x="2179467" y="308426"/>
                  </a:lnTo>
                  <a:lnTo>
                    <a:pt x="2238817" y="303508"/>
                  </a:lnTo>
                  <a:lnTo>
                    <a:pt x="2295899" y="298242"/>
                  </a:lnTo>
                  <a:lnTo>
                    <a:pt x="2350603" y="292641"/>
                  </a:lnTo>
                  <a:lnTo>
                    <a:pt x="2402824" y="286718"/>
                  </a:lnTo>
                  <a:lnTo>
                    <a:pt x="2452453" y="280485"/>
                  </a:lnTo>
                  <a:lnTo>
                    <a:pt x="2499384" y="273956"/>
                  </a:lnTo>
                  <a:lnTo>
                    <a:pt x="2543509" y="267142"/>
                  </a:lnTo>
                  <a:lnTo>
                    <a:pt x="2584720" y="260058"/>
                  </a:lnTo>
                  <a:lnTo>
                    <a:pt x="2622912" y="252715"/>
                  </a:lnTo>
                  <a:lnTo>
                    <a:pt x="2689803" y="237306"/>
                  </a:lnTo>
                  <a:lnTo>
                    <a:pt x="2743324" y="221017"/>
                  </a:lnTo>
                  <a:lnTo>
                    <a:pt x="2782617" y="203950"/>
                  </a:lnTo>
                  <a:lnTo>
                    <a:pt x="2812999" y="177116"/>
                  </a:lnTo>
                  <a:lnTo>
                    <a:pt x="2815081" y="167894"/>
                  </a:lnTo>
                  <a:lnTo>
                    <a:pt x="2812999" y="158683"/>
                  </a:lnTo>
                  <a:lnTo>
                    <a:pt x="2782617" y="131881"/>
                  </a:lnTo>
                  <a:lnTo>
                    <a:pt x="2743324" y="114832"/>
                  </a:lnTo>
                  <a:lnTo>
                    <a:pt x="2689803" y="98558"/>
                  </a:lnTo>
                  <a:lnTo>
                    <a:pt x="2622912" y="83161"/>
                  </a:lnTo>
                  <a:lnTo>
                    <a:pt x="2584720" y="75824"/>
                  </a:lnTo>
                  <a:lnTo>
                    <a:pt x="2543509" y="68744"/>
                  </a:lnTo>
                  <a:lnTo>
                    <a:pt x="2499384" y="61935"/>
                  </a:lnTo>
                  <a:lnTo>
                    <a:pt x="2452453" y="55410"/>
                  </a:lnTo>
                  <a:lnTo>
                    <a:pt x="2402824" y="49180"/>
                  </a:lnTo>
                  <a:lnTo>
                    <a:pt x="2350603" y="43260"/>
                  </a:lnTo>
                  <a:lnTo>
                    <a:pt x="2295899" y="37662"/>
                  </a:lnTo>
                  <a:lnTo>
                    <a:pt x="2238817" y="32398"/>
                  </a:lnTo>
                  <a:lnTo>
                    <a:pt x="2179467" y="27481"/>
                  </a:lnTo>
                  <a:lnTo>
                    <a:pt x="2117955" y="22925"/>
                  </a:lnTo>
                  <a:lnTo>
                    <a:pt x="2054388" y="18742"/>
                  </a:lnTo>
                  <a:lnTo>
                    <a:pt x="1988874" y="14945"/>
                  </a:lnTo>
                  <a:lnTo>
                    <a:pt x="1921520" y="11547"/>
                  </a:lnTo>
                  <a:lnTo>
                    <a:pt x="1852434" y="8560"/>
                  </a:lnTo>
                  <a:lnTo>
                    <a:pt x="1781722" y="5998"/>
                  </a:lnTo>
                  <a:lnTo>
                    <a:pt x="1709492" y="3873"/>
                  </a:lnTo>
                  <a:lnTo>
                    <a:pt x="1635852" y="2197"/>
                  </a:lnTo>
                  <a:lnTo>
                    <a:pt x="1560908" y="985"/>
                  </a:lnTo>
                  <a:lnTo>
                    <a:pt x="1484769" y="248"/>
                  </a:lnTo>
                  <a:lnTo>
                    <a:pt x="1407541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25229" y="3972178"/>
              <a:ext cx="2815590" cy="1344295"/>
            </a:xfrm>
            <a:custGeom>
              <a:avLst/>
              <a:gdLst/>
              <a:ahLst/>
              <a:cxnLst/>
              <a:rect l="l" t="t" r="r" b="b"/>
              <a:pathLst>
                <a:path w="2815590" h="1344295">
                  <a:moveTo>
                    <a:pt x="2815081" y="167894"/>
                  </a:moveTo>
                  <a:lnTo>
                    <a:pt x="2782617" y="203950"/>
                  </a:lnTo>
                  <a:lnTo>
                    <a:pt x="2743324" y="221017"/>
                  </a:lnTo>
                  <a:lnTo>
                    <a:pt x="2689803" y="237306"/>
                  </a:lnTo>
                  <a:lnTo>
                    <a:pt x="2622912" y="252715"/>
                  </a:lnTo>
                  <a:lnTo>
                    <a:pt x="2584720" y="260058"/>
                  </a:lnTo>
                  <a:lnTo>
                    <a:pt x="2543509" y="267142"/>
                  </a:lnTo>
                  <a:lnTo>
                    <a:pt x="2499384" y="273956"/>
                  </a:lnTo>
                  <a:lnTo>
                    <a:pt x="2452453" y="280485"/>
                  </a:lnTo>
                  <a:lnTo>
                    <a:pt x="2402824" y="286718"/>
                  </a:lnTo>
                  <a:lnTo>
                    <a:pt x="2350603" y="292641"/>
                  </a:lnTo>
                  <a:lnTo>
                    <a:pt x="2295899" y="298242"/>
                  </a:lnTo>
                  <a:lnTo>
                    <a:pt x="2238817" y="303508"/>
                  </a:lnTo>
                  <a:lnTo>
                    <a:pt x="2179467" y="308426"/>
                  </a:lnTo>
                  <a:lnTo>
                    <a:pt x="2117955" y="312984"/>
                  </a:lnTo>
                  <a:lnTo>
                    <a:pt x="2054388" y="317168"/>
                  </a:lnTo>
                  <a:lnTo>
                    <a:pt x="1988874" y="320966"/>
                  </a:lnTo>
                  <a:lnTo>
                    <a:pt x="1921520" y="324365"/>
                  </a:lnTo>
                  <a:lnTo>
                    <a:pt x="1852434" y="327353"/>
                  </a:lnTo>
                  <a:lnTo>
                    <a:pt x="1781722" y="329916"/>
                  </a:lnTo>
                  <a:lnTo>
                    <a:pt x="1709492" y="332041"/>
                  </a:lnTo>
                  <a:lnTo>
                    <a:pt x="1635852" y="333717"/>
                  </a:lnTo>
                  <a:lnTo>
                    <a:pt x="1560908" y="334929"/>
                  </a:lnTo>
                  <a:lnTo>
                    <a:pt x="1484769" y="335666"/>
                  </a:lnTo>
                  <a:lnTo>
                    <a:pt x="1407541" y="335915"/>
                  </a:lnTo>
                  <a:lnTo>
                    <a:pt x="1330312" y="335666"/>
                  </a:lnTo>
                  <a:lnTo>
                    <a:pt x="1254173" y="334929"/>
                  </a:lnTo>
                  <a:lnTo>
                    <a:pt x="1179229" y="333717"/>
                  </a:lnTo>
                  <a:lnTo>
                    <a:pt x="1105589" y="332041"/>
                  </a:lnTo>
                  <a:lnTo>
                    <a:pt x="1033359" y="329916"/>
                  </a:lnTo>
                  <a:lnTo>
                    <a:pt x="962647" y="327353"/>
                  </a:lnTo>
                  <a:lnTo>
                    <a:pt x="893561" y="324365"/>
                  </a:lnTo>
                  <a:lnTo>
                    <a:pt x="826207" y="320966"/>
                  </a:lnTo>
                  <a:lnTo>
                    <a:pt x="760693" y="317168"/>
                  </a:lnTo>
                  <a:lnTo>
                    <a:pt x="697126" y="312984"/>
                  </a:lnTo>
                  <a:lnTo>
                    <a:pt x="635614" y="308426"/>
                  </a:lnTo>
                  <a:lnTo>
                    <a:pt x="576264" y="303508"/>
                  </a:lnTo>
                  <a:lnTo>
                    <a:pt x="519182" y="298242"/>
                  </a:lnTo>
                  <a:lnTo>
                    <a:pt x="464478" y="292641"/>
                  </a:lnTo>
                  <a:lnTo>
                    <a:pt x="412257" y="286718"/>
                  </a:lnTo>
                  <a:lnTo>
                    <a:pt x="362628" y="280485"/>
                  </a:lnTo>
                  <a:lnTo>
                    <a:pt x="315697" y="273956"/>
                  </a:lnTo>
                  <a:lnTo>
                    <a:pt x="271572" y="267142"/>
                  </a:lnTo>
                  <a:lnTo>
                    <a:pt x="230361" y="260058"/>
                  </a:lnTo>
                  <a:lnTo>
                    <a:pt x="192169" y="252715"/>
                  </a:lnTo>
                  <a:lnTo>
                    <a:pt x="125278" y="237306"/>
                  </a:lnTo>
                  <a:lnTo>
                    <a:pt x="71757" y="221017"/>
                  </a:lnTo>
                  <a:lnTo>
                    <a:pt x="32464" y="203950"/>
                  </a:lnTo>
                  <a:lnTo>
                    <a:pt x="2082" y="177116"/>
                  </a:lnTo>
                  <a:lnTo>
                    <a:pt x="0" y="167894"/>
                  </a:lnTo>
                  <a:lnTo>
                    <a:pt x="2082" y="158683"/>
                  </a:lnTo>
                  <a:lnTo>
                    <a:pt x="32464" y="131881"/>
                  </a:lnTo>
                  <a:lnTo>
                    <a:pt x="71757" y="114832"/>
                  </a:lnTo>
                  <a:lnTo>
                    <a:pt x="125278" y="98558"/>
                  </a:lnTo>
                  <a:lnTo>
                    <a:pt x="192169" y="83161"/>
                  </a:lnTo>
                  <a:lnTo>
                    <a:pt x="230361" y="75824"/>
                  </a:lnTo>
                  <a:lnTo>
                    <a:pt x="271572" y="68744"/>
                  </a:lnTo>
                  <a:lnTo>
                    <a:pt x="315697" y="61935"/>
                  </a:lnTo>
                  <a:lnTo>
                    <a:pt x="362628" y="55410"/>
                  </a:lnTo>
                  <a:lnTo>
                    <a:pt x="412257" y="49180"/>
                  </a:lnTo>
                  <a:lnTo>
                    <a:pt x="464478" y="43260"/>
                  </a:lnTo>
                  <a:lnTo>
                    <a:pt x="519182" y="37662"/>
                  </a:lnTo>
                  <a:lnTo>
                    <a:pt x="576264" y="32398"/>
                  </a:lnTo>
                  <a:lnTo>
                    <a:pt x="635614" y="27481"/>
                  </a:lnTo>
                  <a:lnTo>
                    <a:pt x="697126" y="22925"/>
                  </a:lnTo>
                  <a:lnTo>
                    <a:pt x="760693" y="18742"/>
                  </a:lnTo>
                  <a:lnTo>
                    <a:pt x="826207" y="14945"/>
                  </a:lnTo>
                  <a:lnTo>
                    <a:pt x="893561" y="11547"/>
                  </a:lnTo>
                  <a:lnTo>
                    <a:pt x="962647" y="8560"/>
                  </a:lnTo>
                  <a:lnTo>
                    <a:pt x="1033359" y="5998"/>
                  </a:lnTo>
                  <a:lnTo>
                    <a:pt x="1105589" y="3873"/>
                  </a:lnTo>
                  <a:lnTo>
                    <a:pt x="1179229" y="2197"/>
                  </a:lnTo>
                  <a:lnTo>
                    <a:pt x="1254173" y="985"/>
                  </a:lnTo>
                  <a:lnTo>
                    <a:pt x="1330312" y="248"/>
                  </a:lnTo>
                  <a:lnTo>
                    <a:pt x="1407541" y="0"/>
                  </a:lnTo>
                  <a:lnTo>
                    <a:pt x="1484769" y="248"/>
                  </a:lnTo>
                  <a:lnTo>
                    <a:pt x="1560908" y="985"/>
                  </a:lnTo>
                  <a:lnTo>
                    <a:pt x="1635852" y="2197"/>
                  </a:lnTo>
                  <a:lnTo>
                    <a:pt x="1709492" y="3873"/>
                  </a:lnTo>
                  <a:lnTo>
                    <a:pt x="1781722" y="5998"/>
                  </a:lnTo>
                  <a:lnTo>
                    <a:pt x="1852434" y="8560"/>
                  </a:lnTo>
                  <a:lnTo>
                    <a:pt x="1921520" y="11547"/>
                  </a:lnTo>
                  <a:lnTo>
                    <a:pt x="1988874" y="14945"/>
                  </a:lnTo>
                  <a:lnTo>
                    <a:pt x="2054388" y="18742"/>
                  </a:lnTo>
                  <a:lnTo>
                    <a:pt x="2117955" y="22925"/>
                  </a:lnTo>
                  <a:lnTo>
                    <a:pt x="2179467" y="27481"/>
                  </a:lnTo>
                  <a:lnTo>
                    <a:pt x="2238817" y="32398"/>
                  </a:lnTo>
                  <a:lnTo>
                    <a:pt x="2295899" y="37662"/>
                  </a:lnTo>
                  <a:lnTo>
                    <a:pt x="2350603" y="43260"/>
                  </a:lnTo>
                  <a:lnTo>
                    <a:pt x="2402824" y="49180"/>
                  </a:lnTo>
                  <a:lnTo>
                    <a:pt x="2452453" y="55410"/>
                  </a:lnTo>
                  <a:lnTo>
                    <a:pt x="2499384" y="61935"/>
                  </a:lnTo>
                  <a:lnTo>
                    <a:pt x="2543509" y="68744"/>
                  </a:lnTo>
                  <a:lnTo>
                    <a:pt x="2584720" y="75824"/>
                  </a:lnTo>
                  <a:lnTo>
                    <a:pt x="2622912" y="83161"/>
                  </a:lnTo>
                  <a:lnTo>
                    <a:pt x="2689803" y="98558"/>
                  </a:lnTo>
                  <a:lnTo>
                    <a:pt x="2743324" y="114832"/>
                  </a:lnTo>
                  <a:lnTo>
                    <a:pt x="2782617" y="131881"/>
                  </a:lnTo>
                  <a:lnTo>
                    <a:pt x="2812999" y="158683"/>
                  </a:lnTo>
                  <a:lnTo>
                    <a:pt x="2815081" y="167894"/>
                  </a:lnTo>
                  <a:lnTo>
                    <a:pt x="2815081" y="1175766"/>
                  </a:lnTo>
                  <a:lnTo>
                    <a:pt x="2782617" y="1211784"/>
                  </a:lnTo>
                  <a:lnTo>
                    <a:pt x="2743324" y="1228840"/>
                  </a:lnTo>
                  <a:lnTo>
                    <a:pt x="2689803" y="1245124"/>
                  </a:lnTo>
                  <a:lnTo>
                    <a:pt x="2622912" y="1260531"/>
                  </a:lnTo>
                  <a:lnTo>
                    <a:pt x="2584720" y="1267874"/>
                  </a:lnTo>
                  <a:lnTo>
                    <a:pt x="2543509" y="1274960"/>
                  </a:lnTo>
                  <a:lnTo>
                    <a:pt x="2499384" y="1281775"/>
                  </a:lnTo>
                  <a:lnTo>
                    <a:pt x="2452453" y="1288307"/>
                  </a:lnTo>
                  <a:lnTo>
                    <a:pt x="2402824" y="1294542"/>
                  </a:lnTo>
                  <a:lnTo>
                    <a:pt x="2350603" y="1300469"/>
                  </a:lnTo>
                  <a:lnTo>
                    <a:pt x="2295899" y="1306074"/>
                  </a:lnTo>
                  <a:lnTo>
                    <a:pt x="2238817" y="1311344"/>
                  </a:lnTo>
                  <a:lnTo>
                    <a:pt x="2179467" y="1316266"/>
                  </a:lnTo>
                  <a:lnTo>
                    <a:pt x="2117955" y="1320828"/>
                  </a:lnTo>
                  <a:lnTo>
                    <a:pt x="2054388" y="1325016"/>
                  </a:lnTo>
                  <a:lnTo>
                    <a:pt x="1988874" y="1328818"/>
                  </a:lnTo>
                  <a:lnTo>
                    <a:pt x="1921520" y="1332221"/>
                  </a:lnTo>
                  <a:lnTo>
                    <a:pt x="1852434" y="1335212"/>
                  </a:lnTo>
                  <a:lnTo>
                    <a:pt x="1781722" y="1337779"/>
                  </a:lnTo>
                  <a:lnTo>
                    <a:pt x="1709492" y="1339907"/>
                  </a:lnTo>
                  <a:lnTo>
                    <a:pt x="1635852" y="1341585"/>
                  </a:lnTo>
                  <a:lnTo>
                    <a:pt x="1560908" y="1342800"/>
                  </a:lnTo>
                  <a:lnTo>
                    <a:pt x="1484769" y="1343538"/>
                  </a:lnTo>
                  <a:lnTo>
                    <a:pt x="1407541" y="1343787"/>
                  </a:lnTo>
                  <a:lnTo>
                    <a:pt x="1330312" y="1343538"/>
                  </a:lnTo>
                  <a:lnTo>
                    <a:pt x="1254173" y="1342800"/>
                  </a:lnTo>
                  <a:lnTo>
                    <a:pt x="1179229" y="1341585"/>
                  </a:lnTo>
                  <a:lnTo>
                    <a:pt x="1105589" y="1339907"/>
                  </a:lnTo>
                  <a:lnTo>
                    <a:pt x="1033359" y="1337779"/>
                  </a:lnTo>
                  <a:lnTo>
                    <a:pt x="962647" y="1335212"/>
                  </a:lnTo>
                  <a:lnTo>
                    <a:pt x="893561" y="1332221"/>
                  </a:lnTo>
                  <a:lnTo>
                    <a:pt x="826207" y="1328818"/>
                  </a:lnTo>
                  <a:lnTo>
                    <a:pt x="760693" y="1325016"/>
                  </a:lnTo>
                  <a:lnTo>
                    <a:pt x="697126" y="1320828"/>
                  </a:lnTo>
                  <a:lnTo>
                    <a:pt x="635614" y="1316266"/>
                  </a:lnTo>
                  <a:lnTo>
                    <a:pt x="576264" y="1311344"/>
                  </a:lnTo>
                  <a:lnTo>
                    <a:pt x="519182" y="1306074"/>
                  </a:lnTo>
                  <a:lnTo>
                    <a:pt x="464478" y="1300469"/>
                  </a:lnTo>
                  <a:lnTo>
                    <a:pt x="412257" y="1294542"/>
                  </a:lnTo>
                  <a:lnTo>
                    <a:pt x="362628" y="1288307"/>
                  </a:lnTo>
                  <a:lnTo>
                    <a:pt x="315697" y="1281775"/>
                  </a:lnTo>
                  <a:lnTo>
                    <a:pt x="271572" y="1274960"/>
                  </a:lnTo>
                  <a:lnTo>
                    <a:pt x="230361" y="1267874"/>
                  </a:lnTo>
                  <a:lnTo>
                    <a:pt x="192169" y="1260531"/>
                  </a:lnTo>
                  <a:lnTo>
                    <a:pt x="125278" y="1245124"/>
                  </a:lnTo>
                  <a:lnTo>
                    <a:pt x="71757" y="1228840"/>
                  </a:lnTo>
                  <a:lnTo>
                    <a:pt x="32464" y="1211784"/>
                  </a:lnTo>
                  <a:lnTo>
                    <a:pt x="2082" y="1184976"/>
                  </a:lnTo>
                  <a:lnTo>
                    <a:pt x="0" y="1175766"/>
                  </a:lnTo>
                  <a:lnTo>
                    <a:pt x="0" y="167894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447401" y="3985005"/>
            <a:ext cx="57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620504" y="4348048"/>
            <a:ext cx="2437130" cy="845819"/>
            <a:chOff x="9620504" y="4348048"/>
            <a:chExt cx="2437130" cy="845819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70288" y="5011470"/>
              <a:ext cx="614730" cy="18219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20504" y="4348048"/>
              <a:ext cx="756361" cy="59187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59720" y="4644034"/>
              <a:ext cx="1597914" cy="184759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59372" y="5653200"/>
            <a:ext cx="1980565" cy="1114044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10535919" y="5415788"/>
            <a:ext cx="393700" cy="387985"/>
            <a:chOff x="10535919" y="5415788"/>
            <a:chExt cx="393700" cy="387985"/>
          </a:xfrm>
        </p:grpSpPr>
        <p:sp>
          <p:nvSpPr>
            <p:cNvPr id="42" name="object 42"/>
            <p:cNvSpPr/>
            <p:nvPr/>
          </p:nvSpPr>
          <p:spPr>
            <a:xfrm>
              <a:off x="10542269" y="5422138"/>
              <a:ext cx="381000" cy="375285"/>
            </a:xfrm>
            <a:custGeom>
              <a:avLst/>
              <a:gdLst/>
              <a:ahLst/>
              <a:cxnLst/>
              <a:rect l="l" t="t" r="r" b="b"/>
              <a:pathLst>
                <a:path w="381000" h="375285">
                  <a:moveTo>
                    <a:pt x="285750" y="0"/>
                  </a:moveTo>
                  <a:lnTo>
                    <a:pt x="95250" y="0"/>
                  </a:lnTo>
                  <a:lnTo>
                    <a:pt x="95250" y="187401"/>
                  </a:lnTo>
                  <a:lnTo>
                    <a:pt x="0" y="187401"/>
                  </a:lnTo>
                  <a:lnTo>
                    <a:pt x="190500" y="374789"/>
                  </a:lnTo>
                  <a:lnTo>
                    <a:pt x="381000" y="187401"/>
                  </a:lnTo>
                  <a:lnTo>
                    <a:pt x="285750" y="187401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542269" y="5422138"/>
              <a:ext cx="381000" cy="375285"/>
            </a:xfrm>
            <a:custGeom>
              <a:avLst/>
              <a:gdLst/>
              <a:ahLst/>
              <a:cxnLst/>
              <a:rect l="l" t="t" r="r" b="b"/>
              <a:pathLst>
                <a:path w="381000" h="375285">
                  <a:moveTo>
                    <a:pt x="285750" y="0"/>
                  </a:moveTo>
                  <a:lnTo>
                    <a:pt x="285750" y="187401"/>
                  </a:lnTo>
                  <a:lnTo>
                    <a:pt x="381000" y="187401"/>
                  </a:lnTo>
                  <a:lnTo>
                    <a:pt x="190500" y="374789"/>
                  </a:lnTo>
                  <a:lnTo>
                    <a:pt x="0" y="187401"/>
                  </a:lnTo>
                  <a:lnTo>
                    <a:pt x="95250" y="187401"/>
                  </a:lnTo>
                  <a:lnTo>
                    <a:pt x="95250" y="0"/>
                  </a:lnTo>
                  <a:lnTo>
                    <a:pt x="285750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9796271" y="5896813"/>
            <a:ext cx="1873250" cy="876935"/>
            <a:chOff x="9796271" y="5896813"/>
            <a:chExt cx="1873250" cy="876935"/>
          </a:xfrm>
        </p:grpSpPr>
        <p:sp>
          <p:nvSpPr>
            <p:cNvPr id="45" name="object 45"/>
            <p:cNvSpPr/>
            <p:nvPr/>
          </p:nvSpPr>
          <p:spPr>
            <a:xfrm>
              <a:off x="9802621" y="5903163"/>
              <a:ext cx="1860550" cy="864235"/>
            </a:xfrm>
            <a:custGeom>
              <a:avLst/>
              <a:gdLst/>
              <a:ahLst/>
              <a:cxnLst/>
              <a:rect l="l" t="t" r="r" b="b"/>
              <a:pathLst>
                <a:path w="1860550" h="864234">
                  <a:moveTo>
                    <a:pt x="1716277" y="0"/>
                  </a:moveTo>
                  <a:lnTo>
                    <a:pt x="144018" y="0"/>
                  </a:lnTo>
                  <a:lnTo>
                    <a:pt x="98511" y="7342"/>
                  </a:lnTo>
                  <a:lnTo>
                    <a:pt x="58978" y="27786"/>
                  </a:lnTo>
                  <a:lnTo>
                    <a:pt x="27797" y="58962"/>
                  </a:lnTo>
                  <a:lnTo>
                    <a:pt x="7345" y="98496"/>
                  </a:lnTo>
                  <a:lnTo>
                    <a:pt x="0" y="144017"/>
                  </a:lnTo>
                  <a:lnTo>
                    <a:pt x="0" y="720064"/>
                  </a:lnTo>
                  <a:lnTo>
                    <a:pt x="7345" y="765585"/>
                  </a:lnTo>
                  <a:lnTo>
                    <a:pt x="27797" y="805120"/>
                  </a:lnTo>
                  <a:lnTo>
                    <a:pt x="58978" y="836295"/>
                  </a:lnTo>
                  <a:lnTo>
                    <a:pt x="98511" y="856740"/>
                  </a:lnTo>
                  <a:lnTo>
                    <a:pt x="144018" y="864082"/>
                  </a:lnTo>
                  <a:lnTo>
                    <a:pt x="1716277" y="864082"/>
                  </a:lnTo>
                  <a:lnTo>
                    <a:pt x="1761833" y="856740"/>
                  </a:lnTo>
                  <a:lnTo>
                    <a:pt x="1801372" y="836295"/>
                  </a:lnTo>
                  <a:lnTo>
                    <a:pt x="1832534" y="805120"/>
                  </a:lnTo>
                  <a:lnTo>
                    <a:pt x="1852962" y="765585"/>
                  </a:lnTo>
                  <a:lnTo>
                    <a:pt x="1860296" y="720064"/>
                  </a:lnTo>
                  <a:lnTo>
                    <a:pt x="1860296" y="144017"/>
                  </a:lnTo>
                  <a:lnTo>
                    <a:pt x="1852962" y="98496"/>
                  </a:lnTo>
                  <a:lnTo>
                    <a:pt x="1832534" y="58962"/>
                  </a:lnTo>
                  <a:lnTo>
                    <a:pt x="1801372" y="27786"/>
                  </a:lnTo>
                  <a:lnTo>
                    <a:pt x="1761833" y="7342"/>
                  </a:lnTo>
                  <a:lnTo>
                    <a:pt x="171627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802621" y="5903163"/>
              <a:ext cx="1860550" cy="864235"/>
            </a:xfrm>
            <a:custGeom>
              <a:avLst/>
              <a:gdLst/>
              <a:ahLst/>
              <a:cxnLst/>
              <a:rect l="l" t="t" r="r" b="b"/>
              <a:pathLst>
                <a:path w="1860550" h="864234">
                  <a:moveTo>
                    <a:pt x="0" y="144017"/>
                  </a:moveTo>
                  <a:lnTo>
                    <a:pt x="7345" y="98496"/>
                  </a:lnTo>
                  <a:lnTo>
                    <a:pt x="27797" y="58962"/>
                  </a:lnTo>
                  <a:lnTo>
                    <a:pt x="58978" y="27786"/>
                  </a:lnTo>
                  <a:lnTo>
                    <a:pt x="98511" y="7342"/>
                  </a:lnTo>
                  <a:lnTo>
                    <a:pt x="144018" y="0"/>
                  </a:lnTo>
                  <a:lnTo>
                    <a:pt x="1716277" y="0"/>
                  </a:lnTo>
                  <a:lnTo>
                    <a:pt x="1761833" y="7342"/>
                  </a:lnTo>
                  <a:lnTo>
                    <a:pt x="1801372" y="27786"/>
                  </a:lnTo>
                  <a:lnTo>
                    <a:pt x="1832534" y="58962"/>
                  </a:lnTo>
                  <a:lnTo>
                    <a:pt x="1852962" y="98496"/>
                  </a:lnTo>
                  <a:lnTo>
                    <a:pt x="1860296" y="144017"/>
                  </a:lnTo>
                  <a:lnTo>
                    <a:pt x="1860296" y="720064"/>
                  </a:lnTo>
                  <a:lnTo>
                    <a:pt x="1852962" y="765585"/>
                  </a:lnTo>
                  <a:lnTo>
                    <a:pt x="1832534" y="805120"/>
                  </a:lnTo>
                  <a:lnTo>
                    <a:pt x="1801372" y="836295"/>
                  </a:lnTo>
                  <a:lnTo>
                    <a:pt x="1761833" y="856740"/>
                  </a:lnTo>
                  <a:lnTo>
                    <a:pt x="1716277" y="864082"/>
                  </a:lnTo>
                  <a:lnTo>
                    <a:pt x="144018" y="864082"/>
                  </a:lnTo>
                  <a:lnTo>
                    <a:pt x="98511" y="856740"/>
                  </a:lnTo>
                  <a:lnTo>
                    <a:pt x="58978" y="836295"/>
                  </a:lnTo>
                  <a:lnTo>
                    <a:pt x="27797" y="805120"/>
                  </a:lnTo>
                  <a:lnTo>
                    <a:pt x="7345" y="765585"/>
                  </a:lnTo>
                  <a:lnTo>
                    <a:pt x="0" y="720064"/>
                  </a:lnTo>
                  <a:lnTo>
                    <a:pt x="0" y="144017"/>
                  </a:lnTo>
                  <a:close/>
                </a:path>
              </a:pathLst>
            </a:custGeom>
            <a:ln w="12700">
              <a:solidFill>
                <a:srgbClr val="BB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0057892" y="6034227"/>
            <a:ext cx="1351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reinforcement </a:t>
            </a:r>
            <a:r>
              <a:rPr sz="1800" spc="-10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288146" y="6142609"/>
            <a:ext cx="1388745" cy="393700"/>
            <a:chOff x="8288146" y="6142609"/>
            <a:chExt cx="1388745" cy="393700"/>
          </a:xfrm>
        </p:grpSpPr>
        <p:sp>
          <p:nvSpPr>
            <p:cNvPr id="49" name="object 49"/>
            <p:cNvSpPr/>
            <p:nvPr/>
          </p:nvSpPr>
          <p:spPr>
            <a:xfrm>
              <a:off x="8294496" y="6148959"/>
              <a:ext cx="1376045" cy="381000"/>
            </a:xfrm>
            <a:custGeom>
              <a:avLst/>
              <a:gdLst/>
              <a:ahLst/>
              <a:cxnLst/>
              <a:rect l="l" t="t" r="r" b="b"/>
              <a:pathLst>
                <a:path w="1376045" h="381000">
                  <a:moveTo>
                    <a:pt x="190500" y="0"/>
                  </a:moveTo>
                  <a:lnTo>
                    <a:pt x="0" y="190499"/>
                  </a:lnTo>
                  <a:lnTo>
                    <a:pt x="190500" y="380999"/>
                  </a:lnTo>
                  <a:lnTo>
                    <a:pt x="190500" y="285749"/>
                  </a:lnTo>
                  <a:lnTo>
                    <a:pt x="1375791" y="285749"/>
                  </a:lnTo>
                  <a:lnTo>
                    <a:pt x="1375791" y="95249"/>
                  </a:lnTo>
                  <a:lnTo>
                    <a:pt x="190500" y="95249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294496" y="6148959"/>
              <a:ext cx="1376045" cy="381000"/>
            </a:xfrm>
            <a:custGeom>
              <a:avLst/>
              <a:gdLst/>
              <a:ahLst/>
              <a:cxnLst/>
              <a:rect l="l" t="t" r="r" b="b"/>
              <a:pathLst>
                <a:path w="1376045" h="381000">
                  <a:moveTo>
                    <a:pt x="1375791" y="285749"/>
                  </a:moveTo>
                  <a:lnTo>
                    <a:pt x="190500" y="285749"/>
                  </a:lnTo>
                  <a:lnTo>
                    <a:pt x="190500" y="380999"/>
                  </a:lnTo>
                  <a:lnTo>
                    <a:pt x="0" y="190499"/>
                  </a:lnTo>
                  <a:lnTo>
                    <a:pt x="190500" y="0"/>
                  </a:lnTo>
                  <a:lnTo>
                    <a:pt x="190500" y="95249"/>
                  </a:lnTo>
                  <a:lnTo>
                    <a:pt x="1375791" y="95249"/>
                  </a:lnTo>
                  <a:lnTo>
                    <a:pt x="1375791" y="28574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7032243" y="5309615"/>
            <a:ext cx="393700" cy="274955"/>
            <a:chOff x="7032243" y="5309615"/>
            <a:chExt cx="393700" cy="274955"/>
          </a:xfrm>
        </p:grpSpPr>
        <p:sp>
          <p:nvSpPr>
            <p:cNvPr id="52" name="object 52"/>
            <p:cNvSpPr/>
            <p:nvPr/>
          </p:nvSpPr>
          <p:spPr>
            <a:xfrm>
              <a:off x="7038593" y="5315965"/>
              <a:ext cx="381000" cy="262255"/>
            </a:xfrm>
            <a:custGeom>
              <a:avLst/>
              <a:gdLst/>
              <a:ahLst/>
              <a:cxnLst/>
              <a:rect l="l" t="t" r="r" b="b"/>
              <a:pathLst>
                <a:path w="381000" h="262254">
                  <a:moveTo>
                    <a:pt x="190500" y="0"/>
                  </a:moveTo>
                  <a:lnTo>
                    <a:pt x="0" y="131064"/>
                  </a:lnTo>
                  <a:lnTo>
                    <a:pt x="95250" y="131064"/>
                  </a:lnTo>
                  <a:lnTo>
                    <a:pt x="95250" y="262128"/>
                  </a:lnTo>
                  <a:lnTo>
                    <a:pt x="285750" y="262128"/>
                  </a:lnTo>
                  <a:lnTo>
                    <a:pt x="285750" y="131064"/>
                  </a:lnTo>
                  <a:lnTo>
                    <a:pt x="381000" y="131064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38593" y="5315965"/>
              <a:ext cx="381000" cy="262255"/>
            </a:xfrm>
            <a:custGeom>
              <a:avLst/>
              <a:gdLst/>
              <a:ahLst/>
              <a:cxnLst/>
              <a:rect l="l" t="t" r="r" b="b"/>
              <a:pathLst>
                <a:path w="381000" h="262254">
                  <a:moveTo>
                    <a:pt x="95250" y="262128"/>
                  </a:moveTo>
                  <a:lnTo>
                    <a:pt x="95250" y="131064"/>
                  </a:lnTo>
                  <a:lnTo>
                    <a:pt x="0" y="131064"/>
                  </a:lnTo>
                  <a:lnTo>
                    <a:pt x="190500" y="0"/>
                  </a:lnTo>
                  <a:lnTo>
                    <a:pt x="381000" y="131064"/>
                  </a:lnTo>
                  <a:lnTo>
                    <a:pt x="285750" y="131064"/>
                  </a:lnTo>
                  <a:lnTo>
                    <a:pt x="285750" y="262128"/>
                  </a:lnTo>
                  <a:lnTo>
                    <a:pt x="95250" y="2621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814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What</a:t>
            </a:r>
            <a:r>
              <a:rPr spc="-215" dirty="0"/>
              <a:t> </a:t>
            </a:r>
            <a:r>
              <a:rPr spc="-254" dirty="0"/>
              <a:t>is</a:t>
            </a:r>
            <a:r>
              <a:rPr spc="-220" dirty="0"/>
              <a:t> </a:t>
            </a:r>
            <a:r>
              <a:rPr spc="-145" dirty="0"/>
              <a:t>reinforcement</a:t>
            </a:r>
            <a:r>
              <a:rPr spc="-215" dirty="0"/>
              <a:t> </a:t>
            </a:r>
            <a:r>
              <a:rPr spc="-165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5394" y="1846834"/>
            <a:ext cx="1875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latin typeface="Arial"/>
                <a:cs typeface="Arial"/>
              </a:rPr>
              <a:t>supervised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5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514625"/>
            <a:ext cx="4696265" cy="1028392"/>
          </a:xfrm>
          <a:prstGeom prst="rect">
            <a:avLst/>
          </a:prstGeom>
        </p:spPr>
      </p:pic>
      <p:pic>
        <p:nvPicPr>
          <p:cNvPr id="5" name="object 5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input: $\mathbf{x}$  \end{document}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6977" y="3763835"/>
            <a:ext cx="912622" cy="217487"/>
          </a:xfrm>
          <a:prstGeom prst="rect">
            <a:avLst/>
          </a:prstGeom>
        </p:spPr>
      </p:pic>
      <p:pic>
        <p:nvPicPr>
          <p:cNvPr id="6" name="object 6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output: $\mathbf{y}$  \end{document}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9879" y="4125163"/>
            <a:ext cx="1069746" cy="205155"/>
          </a:xfrm>
          <a:prstGeom prst="rect">
            <a:avLst/>
          </a:prstGeom>
        </p:spPr>
      </p:pic>
      <p:pic>
        <p:nvPicPr>
          <p:cNvPr id="7" name="object 7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data: $\mathcal{D} = \{ (\mathbf{x}_i, \mathbf{y}_i) \}$  \end{document}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5435" y="4478324"/>
            <a:ext cx="2226564" cy="252425"/>
          </a:xfrm>
          <a:prstGeom prst="rect">
            <a:avLst/>
          </a:prstGeom>
        </p:spPr>
      </p:pic>
      <p:pic>
        <p:nvPicPr>
          <p:cNvPr id="8" name="object 8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goal: $f_\theta(\mathbf{x}_i) \approx \mathbf{y}_i$  \end{document}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07285" y="4880660"/>
            <a:ext cx="1854708" cy="2522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23429" y="1846834"/>
            <a:ext cx="2201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latin typeface="Arial"/>
                <a:cs typeface="Arial"/>
              </a:rPr>
              <a:t>reinforcement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0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 descr="5 Things You Need to Know about Reinforcement Learning - KDnuggets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02060" y="2379696"/>
            <a:ext cx="4185879" cy="1544820"/>
          </a:xfrm>
          <a:prstGeom prst="rect">
            <a:avLst/>
          </a:prstGeom>
        </p:spPr>
      </p:pic>
      <p:pic>
        <p:nvPicPr>
          <p:cNvPr id="11" name="object 11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input: $\bs_t$ \emph{at each time step}  \end{document}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65923" y="4198683"/>
            <a:ext cx="2934588" cy="223456"/>
          </a:xfrm>
          <a:prstGeom prst="rect">
            <a:avLst/>
          </a:prstGeom>
        </p:spPr>
      </p:pic>
      <p:pic>
        <p:nvPicPr>
          <p:cNvPr id="12" name="object 12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output: $\ba_t$ \emph{at each time step}  \end{document}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19746" y="4551997"/>
            <a:ext cx="3119119" cy="223329"/>
          </a:xfrm>
          <a:prstGeom prst="rect">
            <a:avLst/>
          </a:prstGeom>
        </p:spPr>
      </p:pic>
      <p:pic>
        <p:nvPicPr>
          <p:cNvPr id="13" name="object 13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data: $(\bs_1, \ba_1, r_1, \dots, \bs_T, \ba_T, r_T)$  \end{document}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92416" y="4877485"/>
            <a:ext cx="3410204" cy="25229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648200" y="4661027"/>
            <a:ext cx="461645" cy="224790"/>
          </a:xfrm>
          <a:custGeom>
            <a:avLst/>
            <a:gdLst/>
            <a:ahLst/>
            <a:cxnLst/>
            <a:rect l="l" t="t" r="r" b="b"/>
            <a:pathLst>
              <a:path w="461645" h="224789">
                <a:moveTo>
                  <a:pt x="73102" y="25945"/>
                </a:moveTo>
                <a:lnTo>
                  <a:pt x="65026" y="43242"/>
                </a:lnTo>
                <a:lnTo>
                  <a:pt x="453136" y="224409"/>
                </a:lnTo>
                <a:lnTo>
                  <a:pt x="461263" y="207137"/>
                </a:lnTo>
                <a:lnTo>
                  <a:pt x="73102" y="25945"/>
                </a:lnTo>
                <a:close/>
              </a:path>
              <a:path w="461645" h="224789">
                <a:moveTo>
                  <a:pt x="85216" y="0"/>
                </a:moveTo>
                <a:lnTo>
                  <a:pt x="0" y="2286"/>
                </a:lnTo>
                <a:lnTo>
                  <a:pt x="52959" y="69087"/>
                </a:lnTo>
                <a:lnTo>
                  <a:pt x="65026" y="43242"/>
                </a:lnTo>
                <a:lnTo>
                  <a:pt x="53466" y="37846"/>
                </a:lnTo>
                <a:lnTo>
                  <a:pt x="61595" y="20574"/>
                </a:lnTo>
                <a:lnTo>
                  <a:pt x="75610" y="20574"/>
                </a:lnTo>
                <a:lnTo>
                  <a:pt x="85216" y="0"/>
                </a:lnTo>
                <a:close/>
              </a:path>
              <a:path w="461645" h="224789">
                <a:moveTo>
                  <a:pt x="61595" y="20574"/>
                </a:moveTo>
                <a:lnTo>
                  <a:pt x="53466" y="37846"/>
                </a:lnTo>
                <a:lnTo>
                  <a:pt x="65026" y="43242"/>
                </a:lnTo>
                <a:lnTo>
                  <a:pt x="73102" y="25945"/>
                </a:lnTo>
                <a:lnTo>
                  <a:pt x="61595" y="20574"/>
                </a:lnTo>
                <a:close/>
              </a:path>
              <a:path w="461645" h="224789">
                <a:moveTo>
                  <a:pt x="75610" y="20574"/>
                </a:moveTo>
                <a:lnTo>
                  <a:pt x="61595" y="20574"/>
                </a:lnTo>
                <a:lnTo>
                  <a:pt x="73102" y="25945"/>
                </a:lnTo>
                <a:lnTo>
                  <a:pt x="75610" y="20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56175" y="4889119"/>
            <a:ext cx="1404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Arial"/>
                <a:cs typeface="Arial"/>
              </a:rPr>
              <a:t>someone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gives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latin typeface="Arial"/>
                <a:cs typeface="Arial"/>
              </a:rPr>
              <a:t>this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you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649204" y="4379467"/>
            <a:ext cx="314960" cy="444500"/>
          </a:xfrm>
          <a:custGeom>
            <a:avLst/>
            <a:gdLst/>
            <a:ahLst/>
            <a:cxnLst/>
            <a:rect l="l" t="t" r="r" b="b"/>
            <a:pathLst>
              <a:path w="314959" h="444500">
                <a:moveTo>
                  <a:pt x="12446" y="359790"/>
                </a:moveTo>
                <a:lnTo>
                  <a:pt x="0" y="444118"/>
                </a:lnTo>
                <a:lnTo>
                  <a:pt x="74802" y="403478"/>
                </a:lnTo>
                <a:lnTo>
                  <a:pt x="66283" y="397509"/>
                </a:lnTo>
                <a:lnTo>
                  <a:pt x="44196" y="397509"/>
                </a:lnTo>
                <a:lnTo>
                  <a:pt x="28575" y="386587"/>
                </a:lnTo>
                <a:lnTo>
                  <a:pt x="35849" y="376187"/>
                </a:lnTo>
                <a:lnTo>
                  <a:pt x="12446" y="359790"/>
                </a:lnTo>
                <a:close/>
              </a:path>
              <a:path w="314959" h="444500">
                <a:moveTo>
                  <a:pt x="35849" y="376187"/>
                </a:moveTo>
                <a:lnTo>
                  <a:pt x="28575" y="386587"/>
                </a:lnTo>
                <a:lnTo>
                  <a:pt x="44196" y="397509"/>
                </a:lnTo>
                <a:lnTo>
                  <a:pt x="51459" y="387124"/>
                </a:lnTo>
                <a:lnTo>
                  <a:pt x="35849" y="376187"/>
                </a:lnTo>
                <a:close/>
              </a:path>
              <a:path w="314959" h="444500">
                <a:moveTo>
                  <a:pt x="51459" y="387124"/>
                </a:moveTo>
                <a:lnTo>
                  <a:pt x="44196" y="397509"/>
                </a:lnTo>
                <a:lnTo>
                  <a:pt x="66283" y="397509"/>
                </a:lnTo>
                <a:lnTo>
                  <a:pt x="51459" y="387124"/>
                </a:lnTo>
                <a:close/>
              </a:path>
              <a:path w="314959" h="444500">
                <a:moveTo>
                  <a:pt x="298957" y="0"/>
                </a:moveTo>
                <a:lnTo>
                  <a:pt x="35849" y="376187"/>
                </a:lnTo>
                <a:lnTo>
                  <a:pt x="51459" y="387124"/>
                </a:lnTo>
                <a:lnTo>
                  <a:pt x="314578" y="10921"/>
                </a:lnTo>
                <a:lnTo>
                  <a:pt x="298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717530" y="3775329"/>
            <a:ext cx="1144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Arial"/>
                <a:cs typeface="Arial"/>
              </a:rPr>
              <a:t>pick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your </a:t>
            </a:r>
            <a:r>
              <a:rPr sz="1800" spc="-55" dirty="0">
                <a:latin typeface="Arial"/>
                <a:cs typeface="Arial"/>
              </a:rPr>
              <a:t>own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actions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8" name="object 18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goal: learn $\pi_\theta : \bs_t \rightarrow \ba_t$  \end{document}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50073" y="5258498"/>
            <a:ext cx="2536698" cy="226377"/>
          </a:xfrm>
          <a:prstGeom prst="rect">
            <a:avLst/>
          </a:prstGeom>
        </p:spPr>
      </p:pic>
      <p:pic>
        <p:nvPicPr>
          <p:cNvPr id="19" name="object 19" descr="IguanaTex Bitmap Display  \documentclass{article} \usepackage{amsmath} \usepackage{amsmath} \pagestyle{empty} \begin{document} \newcommand{\bigCI}{\mathrel{\text{\scalebox{1.07}{$\perp\mkern-10mu\perp$}}}}  \newcommand{\xb}{\mathbf{x}} \newcommand{\ub}{\mathbf{u}} \newcommand{\bs}{\mathbf{s}} \newcommand{\ba}{\mathbf{a}}  to maximize $\sum_t r_t$  \end{document}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17713" y="5601411"/>
            <a:ext cx="2016886" cy="265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 result for inventory managemen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0636" y="4113314"/>
            <a:ext cx="3738499" cy="1712849"/>
          </a:xfrm>
          <a:prstGeom prst="rect">
            <a:avLst/>
          </a:prstGeom>
        </p:spPr>
      </p:pic>
      <p:pic>
        <p:nvPicPr>
          <p:cNvPr id="3" name="object 3" descr="Image result for robot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542" y="1994280"/>
            <a:ext cx="1143000" cy="1447419"/>
          </a:xfrm>
          <a:prstGeom prst="rect">
            <a:avLst/>
          </a:prstGeom>
        </p:spPr>
      </p:pic>
      <p:pic>
        <p:nvPicPr>
          <p:cNvPr id="4" name="object 4" descr="Image result for worl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3125" y="2108530"/>
            <a:ext cx="1218869" cy="12188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39787" y="1187830"/>
            <a:ext cx="3316604" cy="707390"/>
            <a:chOff x="739787" y="1187830"/>
            <a:chExt cx="3316604" cy="707390"/>
          </a:xfrm>
        </p:grpSpPr>
        <p:sp>
          <p:nvSpPr>
            <p:cNvPr id="6" name="object 6"/>
            <p:cNvSpPr/>
            <p:nvPr/>
          </p:nvSpPr>
          <p:spPr>
            <a:xfrm>
              <a:off x="2292350" y="1194180"/>
              <a:ext cx="1757680" cy="694690"/>
            </a:xfrm>
            <a:custGeom>
              <a:avLst/>
              <a:gdLst/>
              <a:ahLst/>
              <a:cxnLst/>
              <a:rect l="l" t="t" r="r" b="b"/>
              <a:pathLst>
                <a:path w="1757679" h="694689">
                  <a:moveTo>
                    <a:pt x="173608" y="0"/>
                  </a:moveTo>
                  <a:lnTo>
                    <a:pt x="0" y="0"/>
                  </a:lnTo>
                  <a:lnTo>
                    <a:pt x="61963" y="552"/>
                  </a:lnTo>
                  <a:lnTo>
                    <a:pt x="123409" y="2199"/>
                  </a:lnTo>
                  <a:lnTo>
                    <a:pt x="184285" y="4920"/>
                  </a:lnTo>
                  <a:lnTo>
                    <a:pt x="244538" y="8697"/>
                  </a:lnTo>
                  <a:lnTo>
                    <a:pt x="304113" y="13512"/>
                  </a:lnTo>
                  <a:lnTo>
                    <a:pt x="362957" y="19347"/>
                  </a:lnTo>
                  <a:lnTo>
                    <a:pt x="421018" y="26181"/>
                  </a:lnTo>
                  <a:lnTo>
                    <a:pt x="478241" y="33998"/>
                  </a:lnTo>
                  <a:lnTo>
                    <a:pt x="534572" y="42777"/>
                  </a:lnTo>
                  <a:lnTo>
                    <a:pt x="589960" y="52502"/>
                  </a:lnTo>
                  <a:lnTo>
                    <a:pt x="644349" y="63152"/>
                  </a:lnTo>
                  <a:lnTo>
                    <a:pt x="697687" y="74710"/>
                  </a:lnTo>
                  <a:lnTo>
                    <a:pt x="749921" y="87157"/>
                  </a:lnTo>
                  <a:lnTo>
                    <a:pt x="800996" y="100474"/>
                  </a:lnTo>
                  <a:lnTo>
                    <a:pt x="850859" y="114643"/>
                  </a:lnTo>
                  <a:lnTo>
                    <a:pt x="899457" y="129645"/>
                  </a:lnTo>
                  <a:lnTo>
                    <a:pt x="946737" y="145462"/>
                  </a:lnTo>
                  <a:lnTo>
                    <a:pt x="992644" y="162075"/>
                  </a:lnTo>
                  <a:lnTo>
                    <a:pt x="1037126" y="179465"/>
                  </a:lnTo>
                  <a:lnTo>
                    <a:pt x="1080129" y="197613"/>
                  </a:lnTo>
                  <a:lnTo>
                    <a:pt x="1121600" y="216502"/>
                  </a:lnTo>
                  <a:lnTo>
                    <a:pt x="1161485" y="236113"/>
                  </a:lnTo>
                  <a:lnTo>
                    <a:pt x="1199730" y="256426"/>
                  </a:lnTo>
                  <a:lnTo>
                    <a:pt x="1236283" y="277424"/>
                  </a:lnTo>
                  <a:lnTo>
                    <a:pt x="1271089" y="299088"/>
                  </a:lnTo>
                  <a:lnTo>
                    <a:pt x="1304096" y="321398"/>
                  </a:lnTo>
                  <a:lnTo>
                    <a:pt x="1335250" y="344338"/>
                  </a:lnTo>
                  <a:lnTo>
                    <a:pt x="1391784" y="392028"/>
                  </a:lnTo>
                  <a:lnTo>
                    <a:pt x="1440264" y="442010"/>
                  </a:lnTo>
                  <a:lnTo>
                    <a:pt x="1480263" y="494134"/>
                  </a:lnTo>
                  <a:lnTo>
                    <a:pt x="1496949" y="520954"/>
                  </a:lnTo>
                  <a:lnTo>
                    <a:pt x="1410208" y="520954"/>
                  </a:lnTo>
                  <a:lnTo>
                    <a:pt x="1632965" y="694690"/>
                  </a:lnTo>
                  <a:lnTo>
                    <a:pt x="1757552" y="520954"/>
                  </a:lnTo>
                  <a:lnTo>
                    <a:pt x="1670685" y="520954"/>
                  </a:lnTo>
                  <a:lnTo>
                    <a:pt x="1653999" y="494134"/>
                  </a:lnTo>
                  <a:lnTo>
                    <a:pt x="1613998" y="442010"/>
                  </a:lnTo>
                  <a:lnTo>
                    <a:pt x="1565513" y="392028"/>
                  </a:lnTo>
                  <a:lnTo>
                    <a:pt x="1508972" y="344338"/>
                  </a:lnTo>
                  <a:lnTo>
                    <a:pt x="1477814" y="321398"/>
                  </a:lnTo>
                  <a:lnTo>
                    <a:pt x="1444803" y="299088"/>
                  </a:lnTo>
                  <a:lnTo>
                    <a:pt x="1409993" y="277424"/>
                  </a:lnTo>
                  <a:lnTo>
                    <a:pt x="1373435" y="256426"/>
                  </a:lnTo>
                  <a:lnTo>
                    <a:pt x="1335185" y="236113"/>
                  </a:lnTo>
                  <a:lnTo>
                    <a:pt x="1295295" y="216502"/>
                  </a:lnTo>
                  <a:lnTo>
                    <a:pt x="1253819" y="197613"/>
                  </a:lnTo>
                  <a:lnTo>
                    <a:pt x="1210810" y="179465"/>
                  </a:lnTo>
                  <a:lnTo>
                    <a:pt x="1166322" y="162075"/>
                  </a:lnTo>
                  <a:lnTo>
                    <a:pt x="1120409" y="145462"/>
                  </a:lnTo>
                  <a:lnTo>
                    <a:pt x="1073124" y="129645"/>
                  </a:lnTo>
                  <a:lnTo>
                    <a:pt x="1024520" y="114643"/>
                  </a:lnTo>
                  <a:lnTo>
                    <a:pt x="974652" y="100474"/>
                  </a:lnTo>
                  <a:lnTo>
                    <a:pt x="923571" y="87157"/>
                  </a:lnTo>
                  <a:lnTo>
                    <a:pt x="871333" y="74710"/>
                  </a:lnTo>
                  <a:lnTo>
                    <a:pt x="817990" y="63152"/>
                  </a:lnTo>
                  <a:lnTo>
                    <a:pt x="763595" y="52502"/>
                  </a:lnTo>
                  <a:lnTo>
                    <a:pt x="708203" y="42777"/>
                  </a:lnTo>
                  <a:lnTo>
                    <a:pt x="651867" y="33998"/>
                  </a:lnTo>
                  <a:lnTo>
                    <a:pt x="594641" y="26181"/>
                  </a:lnTo>
                  <a:lnTo>
                    <a:pt x="536577" y="19347"/>
                  </a:lnTo>
                  <a:lnTo>
                    <a:pt x="477729" y="13512"/>
                  </a:lnTo>
                  <a:lnTo>
                    <a:pt x="418151" y="8697"/>
                  </a:lnTo>
                  <a:lnTo>
                    <a:pt x="357897" y="4920"/>
                  </a:lnTo>
                  <a:lnTo>
                    <a:pt x="297019" y="2199"/>
                  </a:lnTo>
                  <a:lnTo>
                    <a:pt x="235572" y="552"/>
                  </a:lnTo>
                  <a:lnTo>
                    <a:pt x="1736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137" y="1194180"/>
              <a:ext cx="1633220" cy="694690"/>
            </a:xfrm>
            <a:custGeom>
              <a:avLst/>
              <a:gdLst/>
              <a:ahLst/>
              <a:cxnLst/>
              <a:rect l="l" t="t" r="r" b="b"/>
              <a:pathLst>
                <a:path w="1633220" h="694689">
                  <a:moveTo>
                    <a:pt x="1546212" y="0"/>
                  </a:moveTo>
                  <a:lnTo>
                    <a:pt x="1480851" y="609"/>
                  </a:lnTo>
                  <a:lnTo>
                    <a:pt x="1416182" y="2421"/>
                  </a:lnTo>
                  <a:lnTo>
                    <a:pt x="1352259" y="5412"/>
                  </a:lnTo>
                  <a:lnTo>
                    <a:pt x="1289133" y="9558"/>
                  </a:lnTo>
                  <a:lnTo>
                    <a:pt x="1226861" y="14834"/>
                  </a:lnTo>
                  <a:lnTo>
                    <a:pt x="1165494" y="21216"/>
                  </a:lnTo>
                  <a:lnTo>
                    <a:pt x="1105088" y="28681"/>
                  </a:lnTo>
                  <a:lnTo>
                    <a:pt x="1045695" y="37203"/>
                  </a:lnTo>
                  <a:lnTo>
                    <a:pt x="987369" y="46760"/>
                  </a:lnTo>
                  <a:lnTo>
                    <a:pt x="930164" y="57327"/>
                  </a:lnTo>
                  <a:lnTo>
                    <a:pt x="874133" y="68879"/>
                  </a:lnTo>
                  <a:lnTo>
                    <a:pt x="819330" y="81393"/>
                  </a:lnTo>
                  <a:lnTo>
                    <a:pt x="765809" y="94845"/>
                  </a:lnTo>
                  <a:lnTo>
                    <a:pt x="713624" y="109210"/>
                  </a:lnTo>
                  <a:lnTo>
                    <a:pt x="662828" y="124465"/>
                  </a:lnTo>
                  <a:lnTo>
                    <a:pt x="613475" y="140584"/>
                  </a:lnTo>
                  <a:lnTo>
                    <a:pt x="565618" y="157545"/>
                  </a:lnTo>
                  <a:lnTo>
                    <a:pt x="519311" y="175323"/>
                  </a:lnTo>
                  <a:lnTo>
                    <a:pt x="474608" y="193894"/>
                  </a:lnTo>
                  <a:lnTo>
                    <a:pt x="431563" y="213234"/>
                  </a:lnTo>
                  <a:lnTo>
                    <a:pt x="390229" y="233318"/>
                  </a:lnTo>
                  <a:lnTo>
                    <a:pt x="350659" y="254123"/>
                  </a:lnTo>
                  <a:lnTo>
                    <a:pt x="312908" y="275624"/>
                  </a:lnTo>
                  <a:lnTo>
                    <a:pt x="277030" y="297798"/>
                  </a:lnTo>
                  <a:lnTo>
                    <a:pt x="243077" y="320620"/>
                  </a:lnTo>
                  <a:lnTo>
                    <a:pt x="211103" y="344066"/>
                  </a:lnTo>
                  <a:lnTo>
                    <a:pt x="181163" y="368112"/>
                  </a:lnTo>
                  <a:lnTo>
                    <a:pt x="127596" y="417908"/>
                  </a:lnTo>
                  <a:lnTo>
                    <a:pt x="82806" y="469814"/>
                  </a:lnTo>
                  <a:lnTo>
                    <a:pt x="47222" y="523639"/>
                  </a:lnTo>
                  <a:lnTo>
                    <a:pt x="21274" y="579188"/>
                  </a:lnTo>
                  <a:lnTo>
                    <a:pt x="5390" y="636269"/>
                  </a:lnTo>
                  <a:lnTo>
                    <a:pt x="0" y="694690"/>
                  </a:lnTo>
                  <a:lnTo>
                    <a:pt x="173672" y="694690"/>
                  </a:lnTo>
                  <a:lnTo>
                    <a:pt x="175066" y="664952"/>
                  </a:lnTo>
                  <a:lnTo>
                    <a:pt x="179212" y="635521"/>
                  </a:lnTo>
                  <a:lnTo>
                    <a:pt x="195542" y="577685"/>
                  </a:lnTo>
                  <a:lnTo>
                    <a:pt x="222222" y="521389"/>
                  </a:lnTo>
                  <a:lnTo>
                    <a:pt x="258816" y="466842"/>
                  </a:lnTo>
                  <a:lnTo>
                    <a:pt x="304886" y="414251"/>
                  </a:lnTo>
                  <a:lnTo>
                    <a:pt x="359994" y="363826"/>
                  </a:lnTo>
                  <a:lnTo>
                    <a:pt x="390801" y="339490"/>
                  </a:lnTo>
                  <a:lnTo>
                    <a:pt x="423703" y="315773"/>
                  </a:lnTo>
                  <a:lnTo>
                    <a:pt x="458646" y="292701"/>
                  </a:lnTo>
                  <a:lnTo>
                    <a:pt x="495575" y="270301"/>
                  </a:lnTo>
                  <a:lnTo>
                    <a:pt x="534435" y="248598"/>
                  </a:lnTo>
                  <a:lnTo>
                    <a:pt x="575171" y="227618"/>
                  </a:lnTo>
                  <a:lnTo>
                    <a:pt x="617730" y="207388"/>
                  </a:lnTo>
                  <a:lnTo>
                    <a:pt x="662056" y="187932"/>
                  </a:lnTo>
                  <a:lnTo>
                    <a:pt x="708094" y="169278"/>
                  </a:lnTo>
                  <a:lnTo>
                    <a:pt x="755790" y="151452"/>
                  </a:lnTo>
                  <a:lnTo>
                    <a:pt x="805088" y="134478"/>
                  </a:lnTo>
                  <a:lnTo>
                    <a:pt x="855936" y="118384"/>
                  </a:lnTo>
                  <a:lnTo>
                    <a:pt x="908276" y="103196"/>
                  </a:lnTo>
                  <a:lnTo>
                    <a:pt x="962056" y="88938"/>
                  </a:lnTo>
                  <a:lnTo>
                    <a:pt x="1017220" y="75638"/>
                  </a:lnTo>
                  <a:lnTo>
                    <a:pt x="1073713" y="63322"/>
                  </a:lnTo>
                  <a:lnTo>
                    <a:pt x="1131482" y="52015"/>
                  </a:lnTo>
                  <a:lnTo>
                    <a:pt x="1190470" y="41743"/>
                  </a:lnTo>
                  <a:lnTo>
                    <a:pt x="1250623" y="32532"/>
                  </a:lnTo>
                  <a:lnTo>
                    <a:pt x="1311887" y="24409"/>
                  </a:lnTo>
                  <a:lnTo>
                    <a:pt x="1374207" y="17400"/>
                  </a:lnTo>
                  <a:lnTo>
                    <a:pt x="1437529" y="11529"/>
                  </a:lnTo>
                  <a:lnTo>
                    <a:pt x="1501797" y="6825"/>
                  </a:lnTo>
                  <a:lnTo>
                    <a:pt x="1566956" y="3311"/>
                  </a:lnTo>
                  <a:lnTo>
                    <a:pt x="1632953" y="1016"/>
                  </a:lnTo>
                  <a:lnTo>
                    <a:pt x="1589630" y="222"/>
                  </a:lnTo>
                  <a:lnTo>
                    <a:pt x="1546212" y="0"/>
                  </a:lnTo>
                  <a:close/>
                </a:path>
              </a:pathLst>
            </a:custGeom>
            <a:solidFill>
              <a:srgbClr val="487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6137" y="1194180"/>
              <a:ext cx="3303904" cy="694690"/>
            </a:xfrm>
            <a:custGeom>
              <a:avLst/>
              <a:gdLst/>
              <a:ahLst/>
              <a:cxnLst/>
              <a:rect l="l" t="t" r="r" b="b"/>
              <a:pathLst>
                <a:path w="3303904" h="694689">
                  <a:moveTo>
                    <a:pt x="1632953" y="1016"/>
                  </a:moveTo>
                  <a:lnTo>
                    <a:pt x="1566956" y="3311"/>
                  </a:lnTo>
                  <a:lnTo>
                    <a:pt x="1501797" y="6825"/>
                  </a:lnTo>
                  <a:lnTo>
                    <a:pt x="1437529" y="11529"/>
                  </a:lnTo>
                  <a:lnTo>
                    <a:pt x="1374207" y="17400"/>
                  </a:lnTo>
                  <a:lnTo>
                    <a:pt x="1311887" y="24409"/>
                  </a:lnTo>
                  <a:lnTo>
                    <a:pt x="1250623" y="32532"/>
                  </a:lnTo>
                  <a:lnTo>
                    <a:pt x="1190470" y="41743"/>
                  </a:lnTo>
                  <a:lnTo>
                    <a:pt x="1131482" y="52015"/>
                  </a:lnTo>
                  <a:lnTo>
                    <a:pt x="1073713" y="63322"/>
                  </a:lnTo>
                  <a:lnTo>
                    <a:pt x="1017220" y="75638"/>
                  </a:lnTo>
                  <a:lnTo>
                    <a:pt x="962056" y="88938"/>
                  </a:lnTo>
                  <a:lnTo>
                    <a:pt x="908276" y="103196"/>
                  </a:lnTo>
                  <a:lnTo>
                    <a:pt x="855936" y="118384"/>
                  </a:lnTo>
                  <a:lnTo>
                    <a:pt x="805088" y="134478"/>
                  </a:lnTo>
                  <a:lnTo>
                    <a:pt x="755790" y="151452"/>
                  </a:lnTo>
                  <a:lnTo>
                    <a:pt x="708094" y="169278"/>
                  </a:lnTo>
                  <a:lnTo>
                    <a:pt x="662056" y="187932"/>
                  </a:lnTo>
                  <a:lnTo>
                    <a:pt x="617730" y="207388"/>
                  </a:lnTo>
                  <a:lnTo>
                    <a:pt x="575171" y="227618"/>
                  </a:lnTo>
                  <a:lnTo>
                    <a:pt x="534435" y="248598"/>
                  </a:lnTo>
                  <a:lnTo>
                    <a:pt x="495575" y="270301"/>
                  </a:lnTo>
                  <a:lnTo>
                    <a:pt x="458646" y="292701"/>
                  </a:lnTo>
                  <a:lnTo>
                    <a:pt x="423703" y="315773"/>
                  </a:lnTo>
                  <a:lnTo>
                    <a:pt x="390801" y="339490"/>
                  </a:lnTo>
                  <a:lnTo>
                    <a:pt x="359994" y="363826"/>
                  </a:lnTo>
                  <a:lnTo>
                    <a:pt x="304886" y="414251"/>
                  </a:lnTo>
                  <a:lnTo>
                    <a:pt x="258816" y="466842"/>
                  </a:lnTo>
                  <a:lnTo>
                    <a:pt x="222222" y="521389"/>
                  </a:lnTo>
                  <a:lnTo>
                    <a:pt x="195542" y="577685"/>
                  </a:lnTo>
                  <a:lnTo>
                    <a:pt x="179212" y="635521"/>
                  </a:lnTo>
                  <a:lnTo>
                    <a:pt x="173672" y="694690"/>
                  </a:lnTo>
                  <a:lnTo>
                    <a:pt x="0" y="694690"/>
                  </a:lnTo>
                  <a:lnTo>
                    <a:pt x="5390" y="636269"/>
                  </a:lnTo>
                  <a:lnTo>
                    <a:pt x="21274" y="579188"/>
                  </a:lnTo>
                  <a:lnTo>
                    <a:pt x="47222" y="523639"/>
                  </a:lnTo>
                  <a:lnTo>
                    <a:pt x="82806" y="469814"/>
                  </a:lnTo>
                  <a:lnTo>
                    <a:pt x="127596" y="417908"/>
                  </a:lnTo>
                  <a:lnTo>
                    <a:pt x="181163" y="368112"/>
                  </a:lnTo>
                  <a:lnTo>
                    <a:pt x="211103" y="344066"/>
                  </a:lnTo>
                  <a:lnTo>
                    <a:pt x="243077" y="320620"/>
                  </a:lnTo>
                  <a:lnTo>
                    <a:pt x="277030" y="297798"/>
                  </a:lnTo>
                  <a:lnTo>
                    <a:pt x="312908" y="275624"/>
                  </a:lnTo>
                  <a:lnTo>
                    <a:pt x="350659" y="254123"/>
                  </a:lnTo>
                  <a:lnTo>
                    <a:pt x="390229" y="233318"/>
                  </a:lnTo>
                  <a:lnTo>
                    <a:pt x="431563" y="213234"/>
                  </a:lnTo>
                  <a:lnTo>
                    <a:pt x="474608" y="193894"/>
                  </a:lnTo>
                  <a:lnTo>
                    <a:pt x="519311" y="175323"/>
                  </a:lnTo>
                  <a:lnTo>
                    <a:pt x="565618" y="157545"/>
                  </a:lnTo>
                  <a:lnTo>
                    <a:pt x="613475" y="140584"/>
                  </a:lnTo>
                  <a:lnTo>
                    <a:pt x="662828" y="124465"/>
                  </a:lnTo>
                  <a:lnTo>
                    <a:pt x="713624" y="109210"/>
                  </a:lnTo>
                  <a:lnTo>
                    <a:pt x="765809" y="94845"/>
                  </a:lnTo>
                  <a:lnTo>
                    <a:pt x="819330" y="81393"/>
                  </a:lnTo>
                  <a:lnTo>
                    <a:pt x="874133" y="68879"/>
                  </a:lnTo>
                  <a:lnTo>
                    <a:pt x="930164" y="57327"/>
                  </a:lnTo>
                  <a:lnTo>
                    <a:pt x="987369" y="46760"/>
                  </a:lnTo>
                  <a:lnTo>
                    <a:pt x="1045695" y="37203"/>
                  </a:lnTo>
                  <a:lnTo>
                    <a:pt x="1105088" y="28681"/>
                  </a:lnTo>
                  <a:lnTo>
                    <a:pt x="1165494" y="21216"/>
                  </a:lnTo>
                  <a:lnTo>
                    <a:pt x="1226861" y="14834"/>
                  </a:lnTo>
                  <a:lnTo>
                    <a:pt x="1289133" y="9558"/>
                  </a:lnTo>
                  <a:lnTo>
                    <a:pt x="1352259" y="5412"/>
                  </a:lnTo>
                  <a:lnTo>
                    <a:pt x="1416182" y="2421"/>
                  </a:lnTo>
                  <a:lnTo>
                    <a:pt x="1480851" y="609"/>
                  </a:lnTo>
                  <a:lnTo>
                    <a:pt x="1546212" y="0"/>
                  </a:lnTo>
                  <a:lnTo>
                    <a:pt x="1719821" y="0"/>
                  </a:lnTo>
                  <a:lnTo>
                    <a:pt x="1781784" y="552"/>
                  </a:lnTo>
                  <a:lnTo>
                    <a:pt x="1843232" y="2199"/>
                  </a:lnTo>
                  <a:lnTo>
                    <a:pt x="1904109" y="4920"/>
                  </a:lnTo>
                  <a:lnTo>
                    <a:pt x="1964364" y="8697"/>
                  </a:lnTo>
                  <a:lnTo>
                    <a:pt x="2023941" y="13512"/>
                  </a:lnTo>
                  <a:lnTo>
                    <a:pt x="2082789" y="19347"/>
                  </a:lnTo>
                  <a:lnTo>
                    <a:pt x="2140853" y="26181"/>
                  </a:lnTo>
                  <a:lnTo>
                    <a:pt x="2198080" y="33998"/>
                  </a:lnTo>
                  <a:lnTo>
                    <a:pt x="2254416" y="42777"/>
                  </a:lnTo>
                  <a:lnTo>
                    <a:pt x="2309808" y="52502"/>
                  </a:lnTo>
                  <a:lnTo>
                    <a:pt x="2364202" y="63152"/>
                  </a:lnTo>
                  <a:lnTo>
                    <a:pt x="2417545" y="74710"/>
                  </a:lnTo>
                  <a:lnTo>
                    <a:pt x="2469783" y="87157"/>
                  </a:lnTo>
                  <a:lnTo>
                    <a:pt x="2520864" y="100474"/>
                  </a:lnTo>
                  <a:lnTo>
                    <a:pt x="2570733" y="114643"/>
                  </a:lnTo>
                  <a:lnTo>
                    <a:pt x="2619336" y="129645"/>
                  </a:lnTo>
                  <a:lnTo>
                    <a:pt x="2666622" y="145462"/>
                  </a:lnTo>
                  <a:lnTo>
                    <a:pt x="2712535" y="162075"/>
                  </a:lnTo>
                  <a:lnTo>
                    <a:pt x="2757022" y="179465"/>
                  </a:lnTo>
                  <a:lnTo>
                    <a:pt x="2800031" y="197613"/>
                  </a:lnTo>
                  <a:lnTo>
                    <a:pt x="2841507" y="216502"/>
                  </a:lnTo>
                  <a:lnTo>
                    <a:pt x="2881397" y="236113"/>
                  </a:lnTo>
                  <a:lnTo>
                    <a:pt x="2919647" y="256426"/>
                  </a:lnTo>
                  <a:lnTo>
                    <a:pt x="2956205" y="277424"/>
                  </a:lnTo>
                  <a:lnTo>
                    <a:pt x="2991016" y="299088"/>
                  </a:lnTo>
                  <a:lnTo>
                    <a:pt x="3024027" y="321398"/>
                  </a:lnTo>
                  <a:lnTo>
                    <a:pt x="3055184" y="344338"/>
                  </a:lnTo>
                  <a:lnTo>
                    <a:pt x="3111725" y="392028"/>
                  </a:lnTo>
                  <a:lnTo>
                    <a:pt x="3160210" y="442010"/>
                  </a:lnTo>
                  <a:lnTo>
                    <a:pt x="3200211" y="494134"/>
                  </a:lnTo>
                  <a:lnTo>
                    <a:pt x="3216897" y="520954"/>
                  </a:lnTo>
                  <a:lnTo>
                    <a:pt x="3303765" y="520954"/>
                  </a:lnTo>
                  <a:lnTo>
                    <a:pt x="3179178" y="694690"/>
                  </a:lnTo>
                  <a:lnTo>
                    <a:pt x="2956420" y="520954"/>
                  </a:lnTo>
                  <a:lnTo>
                    <a:pt x="3043161" y="520954"/>
                  </a:lnTo>
                  <a:lnTo>
                    <a:pt x="3026476" y="494134"/>
                  </a:lnTo>
                  <a:lnTo>
                    <a:pt x="2986477" y="442010"/>
                  </a:lnTo>
                  <a:lnTo>
                    <a:pt x="2937996" y="392028"/>
                  </a:lnTo>
                  <a:lnTo>
                    <a:pt x="2881462" y="344338"/>
                  </a:lnTo>
                  <a:lnTo>
                    <a:pt x="2850309" y="321398"/>
                  </a:lnTo>
                  <a:lnTo>
                    <a:pt x="2817302" y="299088"/>
                  </a:lnTo>
                  <a:lnTo>
                    <a:pt x="2782495" y="277424"/>
                  </a:lnTo>
                  <a:lnTo>
                    <a:pt x="2745943" y="256426"/>
                  </a:lnTo>
                  <a:lnTo>
                    <a:pt x="2707697" y="236113"/>
                  </a:lnTo>
                  <a:lnTo>
                    <a:pt x="2667812" y="216502"/>
                  </a:lnTo>
                  <a:lnTo>
                    <a:pt x="2626342" y="197613"/>
                  </a:lnTo>
                  <a:lnTo>
                    <a:pt x="2583339" y="179465"/>
                  </a:lnTo>
                  <a:lnTo>
                    <a:pt x="2538857" y="162075"/>
                  </a:lnTo>
                  <a:lnTo>
                    <a:pt x="2492949" y="145462"/>
                  </a:lnTo>
                  <a:lnTo>
                    <a:pt x="2445670" y="129645"/>
                  </a:lnTo>
                  <a:lnTo>
                    <a:pt x="2397071" y="114643"/>
                  </a:lnTo>
                  <a:lnTo>
                    <a:pt x="2347208" y="100474"/>
                  </a:lnTo>
                  <a:lnTo>
                    <a:pt x="2296133" y="87157"/>
                  </a:lnTo>
                  <a:lnTo>
                    <a:pt x="2243900" y="74710"/>
                  </a:lnTo>
                  <a:lnTo>
                    <a:pt x="2190562" y="63152"/>
                  </a:lnTo>
                  <a:lnTo>
                    <a:pt x="2136172" y="52502"/>
                  </a:lnTo>
                  <a:lnTo>
                    <a:pt x="2080785" y="42777"/>
                  </a:lnTo>
                  <a:lnTo>
                    <a:pt x="2024453" y="33998"/>
                  </a:lnTo>
                  <a:lnTo>
                    <a:pt x="1967230" y="26181"/>
                  </a:lnTo>
                  <a:lnTo>
                    <a:pt x="1909170" y="19347"/>
                  </a:lnTo>
                  <a:lnTo>
                    <a:pt x="1850325" y="13512"/>
                  </a:lnTo>
                  <a:lnTo>
                    <a:pt x="1790750" y="8697"/>
                  </a:lnTo>
                  <a:lnTo>
                    <a:pt x="1730498" y="4920"/>
                  </a:lnTo>
                  <a:lnTo>
                    <a:pt x="1669621" y="2199"/>
                  </a:lnTo>
                  <a:lnTo>
                    <a:pt x="1608175" y="552"/>
                  </a:lnTo>
                  <a:lnTo>
                    <a:pt x="1546212" y="0"/>
                  </a:lnTo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3293" rIns="0" bIns="0" rtlCol="0">
            <a:spAutoFit/>
          </a:bodyPr>
          <a:lstStyle/>
          <a:p>
            <a:pPr marL="1230630">
              <a:lnSpc>
                <a:spcPct val="100000"/>
              </a:lnSpc>
              <a:spcBef>
                <a:spcPts val="100"/>
              </a:spcBef>
            </a:pPr>
            <a:r>
              <a:rPr sz="1800" spc="-95" dirty="0"/>
              <a:t>decisions</a:t>
            </a:r>
            <a:r>
              <a:rPr sz="1800" spc="-55" dirty="0"/>
              <a:t> </a:t>
            </a:r>
            <a:r>
              <a:rPr sz="1800" spc="-60" dirty="0"/>
              <a:t>(actions)</a:t>
            </a:r>
            <a:endParaRPr sz="1800"/>
          </a:p>
        </p:txBody>
      </p:sp>
      <p:grpSp>
        <p:nvGrpSpPr>
          <p:cNvPr id="10" name="object 10"/>
          <p:cNvGrpSpPr/>
          <p:nvPr/>
        </p:nvGrpSpPr>
        <p:grpSpPr>
          <a:xfrm>
            <a:off x="712520" y="3540759"/>
            <a:ext cx="3316604" cy="707390"/>
            <a:chOff x="712520" y="3540759"/>
            <a:chExt cx="3316604" cy="707390"/>
          </a:xfrm>
        </p:grpSpPr>
        <p:sp>
          <p:nvSpPr>
            <p:cNvPr id="11" name="object 11"/>
            <p:cNvSpPr/>
            <p:nvPr/>
          </p:nvSpPr>
          <p:spPr>
            <a:xfrm>
              <a:off x="718870" y="3547109"/>
              <a:ext cx="1757680" cy="694690"/>
            </a:xfrm>
            <a:custGeom>
              <a:avLst/>
              <a:gdLst/>
              <a:ahLst/>
              <a:cxnLst/>
              <a:rect l="l" t="t" r="r" b="b"/>
              <a:pathLst>
                <a:path w="1757680" h="694689">
                  <a:moveTo>
                    <a:pt x="124574" y="0"/>
                  </a:moveTo>
                  <a:lnTo>
                    <a:pt x="0" y="173735"/>
                  </a:lnTo>
                  <a:lnTo>
                    <a:pt x="86829" y="173735"/>
                  </a:lnTo>
                  <a:lnTo>
                    <a:pt x="103514" y="200555"/>
                  </a:lnTo>
                  <a:lnTo>
                    <a:pt x="143510" y="252679"/>
                  </a:lnTo>
                  <a:lnTo>
                    <a:pt x="191989" y="302661"/>
                  </a:lnTo>
                  <a:lnTo>
                    <a:pt x="248523" y="350351"/>
                  </a:lnTo>
                  <a:lnTo>
                    <a:pt x="279676" y="373291"/>
                  </a:lnTo>
                  <a:lnTo>
                    <a:pt x="312683" y="395601"/>
                  </a:lnTo>
                  <a:lnTo>
                    <a:pt x="347490" y="417265"/>
                  </a:lnTo>
                  <a:lnTo>
                    <a:pt x="384043" y="438263"/>
                  </a:lnTo>
                  <a:lnTo>
                    <a:pt x="422289" y="458576"/>
                  </a:lnTo>
                  <a:lnTo>
                    <a:pt x="462175" y="478187"/>
                  </a:lnTo>
                  <a:lnTo>
                    <a:pt x="503647" y="497076"/>
                  </a:lnTo>
                  <a:lnTo>
                    <a:pt x="546652" y="515224"/>
                  </a:lnTo>
                  <a:lnTo>
                    <a:pt x="591136" y="532614"/>
                  </a:lnTo>
                  <a:lnTo>
                    <a:pt x="637046" y="549227"/>
                  </a:lnTo>
                  <a:lnTo>
                    <a:pt x="684328" y="565044"/>
                  </a:lnTo>
                  <a:lnTo>
                    <a:pt x="732929" y="580046"/>
                  </a:lnTo>
                  <a:lnTo>
                    <a:pt x="782796" y="594215"/>
                  </a:lnTo>
                  <a:lnTo>
                    <a:pt x="833875" y="607532"/>
                  </a:lnTo>
                  <a:lnTo>
                    <a:pt x="886113" y="619979"/>
                  </a:lnTo>
                  <a:lnTo>
                    <a:pt x="939456" y="631537"/>
                  </a:lnTo>
                  <a:lnTo>
                    <a:pt x="993850" y="642187"/>
                  </a:lnTo>
                  <a:lnTo>
                    <a:pt x="1049244" y="651912"/>
                  </a:lnTo>
                  <a:lnTo>
                    <a:pt x="1105582" y="660691"/>
                  </a:lnTo>
                  <a:lnTo>
                    <a:pt x="1162811" y="668508"/>
                  </a:lnTo>
                  <a:lnTo>
                    <a:pt x="1220879" y="675342"/>
                  </a:lnTo>
                  <a:lnTo>
                    <a:pt x="1279731" y="681177"/>
                  </a:lnTo>
                  <a:lnTo>
                    <a:pt x="1339315" y="685992"/>
                  </a:lnTo>
                  <a:lnTo>
                    <a:pt x="1399576" y="689769"/>
                  </a:lnTo>
                  <a:lnTo>
                    <a:pt x="1460462" y="692490"/>
                  </a:lnTo>
                  <a:lnTo>
                    <a:pt x="1521919" y="694137"/>
                  </a:lnTo>
                  <a:lnTo>
                    <a:pt x="1583893" y="694689"/>
                  </a:lnTo>
                  <a:lnTo>
                    <a:pt x="1757502" y="694689"/>
                  </a:lnTo>
                  <a:lnTo>
                    <a:pt x="1695538" y="694137"/>
                  </a:lnTo>
                  <a:lnTo>
                    <a:pt x="1634091" y="692490"/>
                  </a:lnTo>
                  <a:lnTo>
                    <a:pt x="1573215" y="689769"/>
                  </a:lnTo>
                  <a:lnTo>
                    <a:pt x="1512961" y="685992"/>
                  </a:lnTo>
                  <a:lnTo>
                    <a:pt x="1453385" y="681177"/>
                  </a:lnTo>
                  <a:lnTo>
                    <a:pt x="1394539" y="675342"/>
                  </a:lnTo>
                  <a:lnTo>
                    <a:pt x="1336477" y="668508"/>
                  </a:lnTo>
                  <a:lnTo>
                    <a:pt x="1279252" y="660691"/>
                  </a:lnTo>
                  <a:lnTo>
                    <a:pt x="1222918" y="651912"/>
                  </a:lnTo>
                  <a:lnTo>
                    <a:pt x="1167529" y="642187"/>
                  </a:lnTo>
                  <a:lnTo>
                    <a:pt x="1113137" y="631537"/>
                  </a:lnTo>
                  <a:lnTo>
                    <a:pt x="1059796" y="619979"/>
                  </a:lnTo>
                  <a:lnTo>
                    <a:pt x="1007560" y="607532"/>
                  </a:lnTo>
                  <a:lnTo>
                    <a:pt x="956483" y="594215"/>
                  </a:lnTo>
                  <a:lnTo>
                    <a:pt x="906617" y="580046"/>
                  </a:lnTo>
                  <a:lnTo>
                    <a:pt x="858016" y="565044"/>
                  </a:lnTo>
                  <a:lnTo>
                    <a:pt x="810734" y="549227"/>
                  </a:lnTo>
                  <a:lnTo>
                    <a:pt x="764824" y="532614"/>
                  </a:lnTo>
                  <a:lnTo>
                    <a:pt x="720340" y="515224"/>
                  </a:lnTo>
                  <a:lnTo>
                    <a:pt x="677334" y="497076"/>
                  </a:lnTo>
                  <a:lnTo>
                    <a:pt x="635861" y="478187"/>
                  </a:lnTo>
                  <a:lnTo>
                    <a:pt x="595974" y="458576"/>
                  </a:lnTo>
                  <a:lnTo>
                    <a:pt x="557727" y="438263"/>
                  </a:lnTo>
                  <a:lnTo>
                    <a:pt x="521172" y="417265"/>
                  </a:lnTo>
                  <a:lnTo>
                    <a:pt x="486364" y="395601"/>
                  </a:lnTo>
                  <a:lnTo>
                    <a:pt x="453356" y="373291"/>
                  </a:lnTo>
                  <a:lnTo>
                    <a:pt x="422201" y="350351"/>
                  </a:lnTo>
                  <a:lnTo>
                    <a:pt x="365665" y="302661"/>
                  </a:lnTo>
                  <a:lnTo>
                    <a:pt x="317184" y="252679"/>
                  </a:lnTo>
                  <a:lnTo>
                    <a:pt x="277186" y="200555"/>
                  </a:lnTo>
                  <a:lnTo>
                    <a:pt x="260502" y="173735"/>
                  </a:lnTo>
                  <a:lnTo>
                    <a:pt x="347332" y="173735"/>
                  </a:lnTo>
                  <a:lnTo>
                    <a:pt x="12457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9631" y="3547109"/>
              <a:ext cx="1633220" cy="694690"/>
            </a:xfrm>
            <a:custGeom>
              <a:avLst/>
              <a:gdLst/>
              <a:ahLst/>
              <a:cxnLst/>
              <a:rect l="l" t="t" r="r" b="b"/>
              <a:pathLst>
                <a:path w="1633220" h="694689">
                  <a:moveTo>
                    <a:pt x="1632966" y="0"/>
                  </a:moveTo>
                  <a:lnTo>
                    <a:pt x="1459230" y="0"/>
                  </a:lnTo>
                  <a:lnTo>
                    <a:pt x="1457835" y="29737"/>
                  </a:lnTo>
                  <a:lnTo>
                    <a:pt x="1453690" y="59167"/>
                  </a:lnTo>
                  <a:lnTo>
                    <a:pt x="1437362" y="117000"/>
                  </a:lnTo>
                  <a:lnTo>
                    <a:pt x="1410683" y="173291"/>
                  </a:lnTo>
                  <a:lnTo>
                    <a:pt x="1374091" y="227832"/>
                  </a:lnTo>
                  <a:lnTo>
                    <a:pt x="1328024" y="280415"/>
                  </a:lnTo>
                  <a:lnTo>
                    <a:pt x="1272920" y="330832"/>
                  </a:lnTo>
                  <a:lnTo>
                    <a:pt x="1242115" y="355163"/>
                  </a:lnTo>
                  <a:lnTo>
                    <a:pt x="1209215" y="378875"/>
                  </a:lnTo>
                  <a:lnTo>
                    <a:pt x="1174274" y="401942"/>
                  </a:lnTo>
                  <a:lnTo>
                    <a:pt x="1137347" y="424337"/>
                  </a:lnTo>
                  <a:lnTo>
                    <a:pt x="1098489" y="446035"/>
                  </a:lnTo>
                  <a:lnTo>
                    <a:pt x="1057754" y="467010"/>
                  </a:lnTo>
                  <a:lnTo>
                    <a:pt x="1015198" y="487235"/>
                  </a:lnTo>
                  <a:lnTo>
                    <a:pt x="970874" y="506685"/>
                  </a:lnTo>
                  <a:lnTo>
                    <a:pt x="924838" y="525334"/>
                  </a:lnTo>
                  <a:lnTo>
                    <a:pt x="877144" y="543156"/>
                  </a:lnTo>
                  <a:lnTo>
                    <a:pt x="827848" y="560124"/>
                  </a:lnTo>
                  <a:lnTo>
                    <a:pt x="777002" y="576214"/>
                  </a:lnTo>
                  <a:lnTo>
                    <a:pt x="724663" y="591398"/>
                  </a:lnTo>
                  <a:lnTo>
                    <a:pt x="670885" y="605651"/>
                  </a:lnTo>
                  <a:lnTo>
                    <a:pt x="615723" y="618946"/>
                  </a:lnTo>
                  <a:lnTo>
                    <a:pt x="559231" y="631259"/>
                  </a:lnTo>
                  <a:lnTo>
                    <a:pt x="501465" y="642563"/>
                  </a:lnTo>
                  <a:lnTo>
                    <a:pt x="442478" y="652831"/>
                  </a:lnTo>
                  <a:lnTo>
                    <a:pt x="382325" y="662039"/>
                  </a:lnTo>
                  <a:lnTo>
                    <a:pt x="321062" y="670159"/>
                  </a:lnTo>
                  <a:lnTo>
                    <a:pt x="258743" y="677166"/>
                  </a:lnTo>
                  <a:lnTo>
                    <a:pt x="195423" y="683035"/>
                  </a:lnTo>
                  <a:lnTo>
                    <a:pt x="131155" y="687738"/>
                  </a:lnTo>
                  <a:lnTo>
                    <a:pt x="65996" y="691251"/>
                  </a:lnTo>
                  <a:lnTo>
                    <a:pt x="0" y="693546"/>
                  </a:lnTo>
                  <a:lnTo>
                    <a:pt x="43322" y="694404"/>
                  </a:lnTo>
                  <a:lnTo>
                    <a:pt x="86741" y="694689"/>
                  </a:lnTo>
                  <a:lnTo>
                    <a:pt x="152101" y="694080"/>
                  </a:lnTo>
                  <a:lnTo>
                    <a:pt x="216770" y="692268"/>
                  </a:lnTo>
                  <a:lnTo>
                    <a:pt x="280694" y="689277"/>
                  </a:lnTo>
                  <a:lnTo>
                    <a:pt x="343819" y="685131"/>
                  </a:lnTo>
                  <a:lnTo>
                    <a:pt x="406092" y="679855"/>
                  </a:lnTo>
                  <a:lnTo>
                    <a:pt x="467459" y="673473"/>
                  </a:lnTo>
                  <a:lnTo>
                    <a:pt x="527866" y="666008"/>
                  </a:lnTo>
                  <a:lnTo>
                    <a:pt x="587259" y="657486"/>
                  </a:lnTo>
                  <a:lnTo>
                    <a:pt x="645585" y="647929"/>
                  </a:lnTo>
                  <a:lnTo>
                    <a:pt x="702791" y="637362"/>
                  </a:lnTo>
                  <a:lnTo>
                    <a:pt x="758822" y="625810"/>
                  </a:lnTo>
                  <a:lnTo>
                    <a:pt x="813625" y="613296"/>
                  </a:lnTo>
                  <a:lnTo>
                    <a:pt x="867146" y="599844"/>
                  </a:lnTo>
                  <a:lnTo>
                    <a:pt x="919332" y="585479"/>
                  </a:lnTo>
                  <a:lnTo>
                    <a:pt x="970128" y="570224"/>
                  </a:lnTo>
                  <a:lnTo>
                    <a:pt x="1019482" y="554105"/>
                  </a:lnTo>
                  <a:lnTo>
                    <a:pt x="1067339" y="537144"/>
                  </a:lnTo>
                  <a:lnTo>
                    <a:pt x="1113647" y="519366"/>
                  </a:lnTo>
                  <a:lnTo>
                    <a:pt x="1158350" y="500795"/>
                  </a:lnTo>
                  <a:lnTo>
                    <a:pt x="1201396" y="481455"/>
                  </a:lnTo>
                  <a:lnTo>
                    <a:pt x="1242731" y="461371"/>
                  </a:lnTo>
                  <a:lnTo>
                    <a:pt x="1282301" y="440566"/>
                  </a:lnTo>
                  <a:lnTo>
                    <a:pt x="1320052" y="419065"/>
                  </a:lnTo>
                  <a:lnTo>
                    <a:pt x="1355931" y="396891"/>
                  </a:lnTo>
                  <a:lnTo>
                    <a:pt x="1389885" y="374069"/>
                  </a:lnTo>
                  <a:lnTo>
                    <a:pt x="1421859" y="350623"/>
                  </a:lnTo>
                  <a:lnTo>
                    <a:pt x="1451799" y="326577"/>
                  </a:lnTo>
                  <a:lnTo>
                    <a:pt x="1505367" y="276781"/>
                  </a:lnTo>
                  <a:lnTo>
                    <a:pt x="1550157" y="224875"/>
                  </a:lnTo>
                  <a:lnTo>
                    <a:pt x="1585742" y="171050"/>
                  </a:lnTo>
                  <a:lnTo>
                    <a:pt x="1611691" y="115501"/>
                  </a:lnTo>
                  <a:lnTo>
                    <a:pt x="1627575" y="58420"/>
                  </a:lnTo>
                  <a:lnTo>
                    <a:pt x="1631609" y="29365"/>
                  </a:lnTo>
                  <a:lnTo>
                    <a:pt x="1632966" y="0"/>
                  </a:lnTo>
                  <a:close/>
                </a:path>
              </a:pathLst>
            </a:custGeom>
            <a:solidFill>
              <a:srgbClr val="487C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8870" y="3547109"/>
              <a:ext cx="3303904" cy="694690"/>
            </a:xfrm>
            <a:custGeom>
              <a:avLst/>
              <a:gdLst/>
              <a:ahLst/>
              <a:cxnLst/>
              <a:rect l="l" t="t" r="r" b="b"/>
              <a:pathLst>
                <a:path w="3303904" h="694689">
                  <a:moveTo>
                    <a:pt x="1670761" y="693546"/>
                  </a:moveTo>
                  <a:lnTo>
                    <a:pt x="1736757" y="691251"/>
                  </a:lnTo>
                  <a:lnTo>
                    <a:pt x="1801917" y="687738"/>
                  </a:lnTo>
                  <a:lnTo>
                    <a:pt x="1866184" y="683035"/>
                  </a:lnTo>
                  <a:lnTo>
                    <a:pt x="1929504" y="677166"/>
                  </a:lnTo>
                  <a:lnTo>
                    <a:pt x="1991824" y="670159"/>
                  </a:lnTo>
                  <a:lnTo>
                    <a:pt x="2053087" y="662039"/>
                  </a:lnTo>
                  <a:lnTo>
                    <a:pt x="2113239" y="652831"/>
                  </a:lnTo>
                  <a:lnTo>
                    <a:pt x="2172226" y="642563"/>
                  </a:lnTo>
                  <a:lnTo>
                    <a:pt x="2229993" y="631259"/>
                  </a:lnTo>
                  <a:lnTo>
                    <a:pt x="2286484" y="618946"/>
                  </a:lnTo>
                  <a:lnTo>
                    <a:pt x="2341647" y="605651"/>
                  </a:lnTo>
                  <a:lnTo>
                    <a:pt x="2395424" y="591398"/>
                  </a:lnTo>
                  <a:lnTo>
                    <a:pt x="2447763" y="576214"/>
                  </a:lnTo>
                  <a:lnTo>
                    <a:pt x="2498609" y="560124"/>
                  </a:lnTo>
                  <a:lnTo>
                    <a:pt x="2547906" y="543156"/>
                  </a:lnTo>
                  <a:lnTo>
                    <a:pt x="2595599" y="525334"/>
                  </a:lnTo>
                  <a:lnTo>
                    <a:pt x="2641636" y="506685"/>
                  </a:lnTo>
                  <a:lnTo>
                    <a:pt x="2685959" y="487235"/>
                  </a:lnTo>
                  <a:lnTo>
                    <a:pt x="2728516" y="467010"/>
                  </a:lnTo>
                  <a:lnTo>
                    <a:pt x="2769250" y="446035"/>
                  </a:lnTo>
                  <a:lnTo>
                    <a:pt x="2808108" y="424337"/>
                  </a:lnTo>
                  <a:lnTo>
                    <a:pt x="2845035" y="401942"/>
                  </a:lnTo>
                  <a:lnTo>
                    <a:pt x="2879976" y="378875"/>
                  </a:lnTo>
                  <a:lnTo>
                    <a:pt x="2912876" y="355163"/>
                  </a:lnTo>
                  <a:lnTo>
                    <a:pt x="2943681" y="330832"/>
                  </a:lnTo>
                  <a:lnTo>
                    <a:pt x="2998786" y="280415"/>
                  </a:lnTo>
                  <a:lnTo>
                    <a:pt x="3044852" y="227832"/>
                  </a:lnTo>
                  <a:lnTo>
                    <a:pt x="3081444" y="173291"/>
                  </a:lnTo>
                  <a:lnTo>
                    <a:pt x="3108123" y="117000"/>
                  </a:lnTo>
                  <a:lnTo>
                    <a:pt x="3124451" y="59167"/>
                  </a:lnTo>
                  <a:lnTo>
                    <a:pt x="3129991" y="0"/>
                  </a:lnTo>
                  <a:lnTo>
                    <a:pt x="3303727" y="0"/>
                  </a:lnTo>
                  <a:lnTo>
                    <a:pt x="3298337" y="58420"/>
                  </a:lnTo>
                  <a:lnTo>
                    <a:pt x="3282452" y="115501"/>
                  </a:lnTo>
                  <a:lnTo>
                    <a:pt x="3256503" y="171050"/>
                  </a:lnTo>
                  <a:lnTo>
                    <a:pt x="3220918" y="224875"/>
                  </a:lnTo>
                  <a:lnTo>
                    <a:pt x="3176128" y="276781"/>
                  </a:lnTo>
                  <a:lnTo>
                    <a:pt x="3122561" y="326577"/>
                  </a:lnTo>
                  <a:lnTo>
                    <a:pt x="3092620" y="350623"/>
                  </a:lnTo>
                  <a:lnTo>
                    <a:pt x="3060646" y="374069"/>
                  </a:lnTo>
                  <a:lnTo>
                    <a:pt x="3026692" y="396891"/>
                  </a:lnTo>
                  <a:lnTo>
                    <a:pt x="2990813" y="419065"/>
                  </a:lnTo>
                  <a:lnTo>
                    <a:pt x="2953062" y="440566"/>
                  </a:lnTo>
                  <a:lnTo>
                    <a:pt x="2913492" y="461371"/>
                  </a:lnTo>
                  <a:lnTo>
                    <a:pt x="2872157" y="481455"/>
                  </a:lnTo>
                  <a:lnTo>
                    <a:pt x="2829111" y="500795"/>
                  </a:lnTo>
                  <a:lnTo>
                    <a:pt x="2784408" y="519366"/>
                  </a:lnTo>
                  <a:lnTo>
                    <a:pt x="2738101" y="537144"/>
                  </a:lnTo>
                  <a:lnTo>
                    <a:pt x="2690243" y="554105"/>
                  </a:lnTo>
                  <a:lnTo>
                    <a:pt x="2640890" y="570224"/>
                  </a:lnTo>
                  <a:lnTo>
                    <a:pt x="2590093" y="585479"/>
                  </a:lnTo>
                  <a:lnTo>
                    <a:pt x="2537907" y="599844"/>
                  </a:lnTo>
                  <a:lnTo>
                    <a:pt x="2484386" y="613296"/>
                  </a:lnTo>
                  <a:lnTo>
                    <a:pt x="2429583" y="625810"/>
                  </a:lnTo>
                  <a:lnTo>
                    <a:pt x="2373552" y="637362"/>
                  </a:lnTo>
                  <a:lnTo>
                    <a:pt x="2316346" y="647929"/>
                  </a:lnTo>
                  <a:lnTo>
                    <a:pt x="2258020" y="657486"/>
                  </a:lnTo>
                  <a:lnTo>
                    <a:pt x="2198627" y="666008"/>
                  </a:lnTo>
                  <a:lnTo>
                    <a:pt x="2138220" y="673473"/>
                  </a:lnTo>
                  <a:lnTo>
                    <a:pt x="2076853" y="679855"/>
                  </a:lnTo>
                  <a:lnTo>
                    <a:pt x="2014580" y="685131"/>
                  </a:lnTo>
                  <a:lnTo>
                    <a:pt x="1951455" y="689277"/>
                  </a:lnTo>
                  <a:lnTo>
                    <a:pt x="1887531" y="692268"/>
                  </a:lnTo>
                  <a:lnTo>
                    <a:pt x="1822862" y="694080"/>
                  </a:lnTo>
                  <a:lnTo>
                    <a:pt x="1757502" y="694689"/>
                  </a:lnTo>
                  <a:lnTo>
                    <a:pt x="1583893" y="694689"/>
                  </a:lnTo>
                  <a:lnTo>
                    <a:pt x="1521919" y="694137"/>
                  </a:lnTo>
                  <a:lnTo>
                    <a:pt x="1460462" y="692490"/>
                  </a:lnTo>
                  <a:lnTo>
                    <a:pt x="1399576" y="689769"/>
                  </a:lnTo>
                  <a:lnTo>
                    <a:pt x="1339315" y="685992"/>
                  </a:lnTo>
                  <a:lnTo>
                    <a:pt x="1279731" y="681177"/>
                  </a:lnTo>
                  <a:lnTo>
                    <a:pt x="1220879" y="675342"/>
                  </a:lnTo>
                  <a:lnTo>
                    <a:pt x="1162811" y="668508"/>
                  </a:lnTo>
                  <a:lnTo>
                    <a:pt x="1105582" y="660691"/>
                  </a:lnTo>
                  <a:lnTo>
                    <a:pt x="1049244" y="651912"/>
                  </a:lnTo>
                  <a:lnTo>
                    <a:pt x="993850" y="642187"/>
                  </a:lnTo>
                  <a:lnTo>
                    <a:pt x="939456" y="631537"/>
                  </a:lnTo>
                  <a:lnTo>
                    <a:pt x="886113" y="619979"/>
                  </a:lnTo>
                  <a:lnTo>
                    <a:pt x="833875" y="607532"/>
                  </a:lnTo>
                  <a:lnTo>
                    <a:pt x="782796" y="594215"/>
                  </a:lnTo>
                  <a:lnTo>
                    <a:pt x="732929" y="580046"/>
                  </a:lnTo>
                  <a:lnTo>
                    <a:pt x="684328" y="565044"/>
                  </a:lnTo>
                  <a:lnTo>
                    <a:pt x="637046" y="549227"/>
                  </a:lnTo>
                  <a:lnTo>
                    <a:pt x="591136" y="532614"/>
                  </a:lnTo>
                  <a:lnTo>
                    <a:pt x="546652" y="515224"/>
                  </a:lnTo>
                  <a:lnTo>
                    <a:pt x="503647" y="497076"/>
                  </a:lnTo>
                  <a:lnTo>
                    <a:pt x="462175" y="478187"/>
                  </a:lnTo>
                  <a:lnTo>
                    <a:pt x="422289" y="458576"/>
                  </a:lnTo>
                  <a:lnTo>
                    <a:pt x="384043" y="438263"/>
                  </a:lnTo>
                  <a:lnTo>
                    <a:pt x="347490" y="417265"/>
                  </a:lnTo>
                  <a:lnTo>
                    <a:pt x="312683" y="395601"/>
                  </a:lnTo>
                  <a:lnTo>
                    <a:pt x="279676" y="373291"/>
                  </a:lnTo>
                  <a:lnTo>
                    <a:pt x="248523" y="350351"/>
                  </a:lnTo>
                  <a:lnTo>
                    <a:pt x="191989" y="302661"/>
                  </a:lnTo>
                  <a:lnTo>
                    <a:pt x="143510" y="252679"/>
                  </a:lnTo>
                  <a:lnTo>
                    <a:pt x="103514" y="200555"/>
                  </a:lnTo>
                  <a:lnTo>
                    <a:pt x="86829" y="173735"/>
                  </a:lnTo>
                  <a:lnTo>
                    <a:pt x="0" y="173735"/>
                  </a:lnTo>
                  <a:lnTo>
                    <a:pt x="124574" y="0"/>
                  </a:lnTo>
                  <a:lnTo>
                    <a:pt x="347332" y="173735"/>
                  </a:lnTo>
                  <a:lnTo>
                    <a:pt x="260502" y="173735"/>
                  </a:lnTo>
                  <a:lnTo>
                    <a:pt x="277186" y="200555"/>
                  </a:lnTo>
                  <a:lnTo>
                    <a:pt x="317184" y="252679"/>
                  </a:lnTo>
                  <a:lnTo>
                    <a:pt x="365665" y="302661"/>
                  </a:lnTo>
                  <a:lnTo>
                    <a:pt x="422201" y="350351"/>
                  </a:lnTo>
                  <a:lnTo>
                    <a:pt x="453356" y="373291"/>
                  </a:lnTo>
                  <a:lnTo>
                    <a:pt x="486364" y="395601"/>
                  </a:lnTo>
                  <a:lnTo>
                    <a:pt x="521172" y="417265"/>
                  </a:lnTo>
                  <a:lnTo>
                    <a:pt x="557727" y="438263"/>
                  </a:lnTo>
                  <a:lnTo>
                    <a:pt x="595974" y="458576"/>
                  </a:lnTo>
                  <a:lnTo>
                    <a:pt x="635861" y="478187"/>
                  </a:lnTo>
                  <a:lnTo>
                    <a:pt x="677334" y="497076"/>
                  </a:lnTo>
                  <a:lnTo>
                    <a:pt x="720340" y="515224"/>
                  </a:lnTo>
                  <a:lnTo>
                    <a:pt x="764824" y="532614"/>
                  </a:lnTo>
                  <a:lnTo>
                    <a:pt x="810734" y="549227"/>
                  </a:lnTo>
                  <a:lnTo>
                    <a:pt x="858016" y="565044"/>
                  </a:lnTo>
                  <a:lnTo>
                    <a:pt x="906617" y="580046"/>
                  </a:lnTo>
                  <a:lnTo>
                    <a:pt x="956483" y="594215"/>
                  </a:lnTo>
                  <a:lnTo>
                    <a:pt x="1007560" y="607532"/>
                  </a:lnTo>
                  <a:lnTo>
                    <a:pt x="1059796" y="619979"/>
                  </a:lnTo>
                  <a:lnTo>
                    <a:pt x="1113137" y="631537"/>
                  </a:lnTo>
                  <a:lnTo>
                    <a:pt x="1167529" y="642187"/>
                  </a:lnTo>
                  <a:lnTo>
                    <a:pt x="1222918" y="651912"/>
                  </a:lnTo>
                  <a:lnTo>
                    <a:pt x="1279252" y="660691"/>
                  </a:lnTo>
                  <a:lnTo>
                    <a:pt x="1336477" y="668508"/>
                  </a:lnTo>
                  <a:lnTo>
                    <a:pt x="1394539" y="675342"/>
                  </a:lnTo>
                  <a:lnTo>
                    <a:pt x="1453385" y="681177"/>
                  </a:lnTo>
                  <a:lnTo>
                    <a:pt x="1512961" y="685992"/>
                  </a:lnTo>
                  <a:lnTo>
                    <a:pt x="1573215" y="689769"/>
                  </a:lnTo>
                  <a:lnTo>
                    <a:pt x="1634091" y="692490"/>
                  </a:lnTo>
                  <a:lnTo>
                    <a:pt x="1695538" y="694137"/>
                  </a:lnTo>
                  <a:lnTo>
                    <a:pt x="1757502" y="694689"/>
                  </a:lnTo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68526" y="4295647"/>
            <a:ext cx="1339850" cy="84010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130"/>
              </a:lnSpc>
              <a:spcBef>
                <a:spcPts val="195"/>
              </a:spcBef>
            </a:pPr>
            <a:r>
              <a:rPr sz="1800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consequences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observations rewards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5" name="object 15" descr="Image result for dog reinforcement learni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9646" y="387604"/>
            <a:ext cx="2171065" cy="28939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476747" y="3396233"/>
            <a:ext cx="2094864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latin typeface="Arial"/>
                <a:cs typeface="Arial"/>
              </a:rPr>
              <a:t>Actions: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muscle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contractions </a:t>
            </a:r>
            <a:r>
              <a:rPr sz="1400" spc="-70" dirty="0">
                <a:latin typeface="Arial"/>
                <a:cs typeface="Arial"/>
              </a:rPr>
              <a:t>Observations: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sight,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smell </a:t>
            </a:r>
            <a:r>
              <a:rPr sz="1400" spc="-95" dirty="0">
                <a:latin typeface="Arial"/>
                <a:cs typeface="Arial"/>
              </a:rPr>
              <a:t>Rewards: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food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7" name="object 17" descr="Image result for baymax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33206" y="668507"/>
            <a:ext cx="2762377" cy="225723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636889" y="3350132"/>
            <a:ext cx="267398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latin typeface="Arial"/>
                <a:cs typeface="Arial"/>
              </a:rPr>
              <a:t>Actions: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motor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current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or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torque </a:t>
            </a:r>
            <a:r>
              <a:rPr sz="1400" spc="-70" dirty="0">
                <a:latin typeface="Arial"/>
                <a:cs typeface="Arial"/>
              </a:rPr>
              <a:t>Observations: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camera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images </a:t>
            </a:r>
            <a:r>
              <a:rPr sz="1400" spc="-95" dirty="0">
                <a:latin typeface="Arial"/>
                <a:cs typeface="Arial"/>
              </a:rPr>
              <a:t>Rewards: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task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25" dirty="0">
                <a:latin typeface="Arial"/>
                <a:cs typeface="Arial"/>
              </a:rPr>
              <a:t>success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measure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(e.g., running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speed)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6777" y="5950102"/>
            <a:ext cx="220091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latin typeface="Arial"/>
                <a:cs typeface="Arial"/>
              </a:rPr>
              <a:t>Actions: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what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purchase </a:t>
            </a:r>
            <a:r>
              <a:rPr sz="1400" spc="-70" dirty="0">
                <a:latin typeface="Arial"/>
                <a:cs typeface="Arial"/>
              </a:rPr>
              <a:t>Observations: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inventory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levels </a:t>
            </a:r>
            <a:r>
              <a:rPr sz="1400" spc="-95" dirty="0">
                <a:latin typeface="Arial"/>
                <a:cs typeface="Arial"/>
              </a:rPr>
              <a:t>Rewards: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profit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13023" y="4565650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Arial"/>
                <a:cs typeface="Arial"/>
              </a:rPr>
              <a:t>(states)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Really</a:t>
            </a:r>
            <a:r>
              <a:rPr spc="-225" dirty="0"/>
              <a:t> </a:t>
            </a:r>
            <a:r>
              <a:rPr spc="-190" dirty="0"/>
              <a:t>really</a:t>
            </a:r>
            <a:r>
              <a:rPr spc="-245" dirty="0"/>
              <a:t> </a:t>
            </a:r>
            <a:r>
              <a:rPr spc="-250" dirty="0"/>
              <a:t>complex</a:t>
            </a:r>
            <a:r>
              <a:rPr spc="-220" dirty="0"/>
              <a:t> </a:t>
            </a:r>
            <a:r>
              <a:rPr spc="-260" dirty="0"/>
              <a:t>physical</a:t>
            </a:r>
            <a:r>
              <a:rPr spc="-200" dirty="0"/>
              <a:t> </a:t>
            </a:r>
            <a:r>
              <a:rPr spc="-150" dirty="0"/>
              <a:t>tasks!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507886"/>
            <a:ext cx="970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Arial"/>
                <a:cs typeface="Arial"/>
              </a:rPr>
              <a:t>pi.website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24" y="899388"/>
            <a:ext cx="9772777" cy="5497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Reinforcement</a:t>
            </a:r>
            <a:r>
              <a:rPr spc="-210" dirty="0"/>
              <a:t> </a:t>
            </a:r>
            <a:r>
              <a:rPr spc="-185" dirty="0"/>
              <a:t>learning</a:t>
            </a:r>
            <a:r>
              <a:rPr spc="-220" dirty="0"/>
              <a:t> </a:t>
            </a:r>
            <a:r>
              <a:rPr spc="-10" dirty="0"/>
              <a:t>with</a:t>
            </a:r>
            <a:r>
              <a:rPr spc="-204" dirty="0"/>
              <a:t> </a:t>
            </a:r>
            <a:r>
              <a:rPr spc="-290" dirty="0"/>
              <a:t>language</a:t>
            </a:r>
            <a:r>
              <a:rPr spc="-204" dirty="0"/>
              <a:t> </a:t>
            </a:r>
            <a:r>
              <a:rPr spc="-12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6507886"/>
            <a:ext cx="37896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"/>
                <a:cs typeface="Arial"/>
              </a:rPr>
              <a:t>Source: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  <a:hlinkClick r:id="rId2"/>
              </a:rPr>
              <a:t>https://huggingface.co/blog/rlhf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846" y="1647068"/>
            <a:ext cx="5853541" cy="42454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400" y="1685709"/>
            <a:ext cx="4955159" cy="45104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709494"/>
            <a:ext cx="9304020" cy="130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spc="-240" dirty="0"/>
              <a:t>Part</a:t>
            </a:r>
            <a:r>
              <a:rPr spc="-200" dirty="0"/>
              <a:t> </a:t>
            </a:r>
            <a:r>
              <a:rPr spc="-25" dirty="0"/>
              <a:t>3:</a:t>
            </a:r>
          </a:p>
          <a:p>
            <a:pPr marL="12700">
              <a:lnSpc>
                <a:spcPts val="5015"/>
              </a:lnSpc>
            </a:pPr>
            <a:r>
              <a:rPr spc="-275" dirty="0"/>
              <a:t>Why</a:t>
            </a:r>
            <a:r>
              <a:rPr spc="-215" dirty="0"/>
              <a:t> </a:t>
            </a:r>
            <a:r>
              <a:rPr spc="-165" dirty="0"/>
              <a:t>learn</a:t>
            </a:r>
            <a:r>
              <a:rPr spc="-200" dirty="0"/>
              <a:t> </a:t>
            </a:r>
            <a:r>
              <a:rPr spc="-140" dirty="0"/>
              <a:t>about</a:t>
            </a:r>
            <a:r>
              <a:rPr spc="-200" dirty="0"/>
              <a:t> </a:t>
            </a:r>
            <a:r>
              <a:rPr spc="-145" dirty="0"/>
              <a:t>reinforcement</a:t>
            </a:r>
            <a:r>
              <a:rPr spc="-220" dirty="0"/>
              <a:t> </a:t>
            </a:r>
            <a:r>
              <a:rPr spc="-160" dirty="0"/>
              <a:t>learning?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5142" y="412496"/>
            <a:ext cx="73507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/>
              <a:t>Reinforcement</a:t>
            </a:r>
            <a:r>
              <a:rPr sz="2800" spc="-100" dirty="0"/>
              <a:t> </a:t>
            </a:r>
            <a:r>
              <a:rPr sz="2800" spc="-105" dirty="0"/>
              <a:t>learning</a:t>
            </a:r>
            <a:r>
              <a:rPr sz="2800" spc="-95" dirty="0"/>
              <a:t> </a:t>
            </a:r>
            <a:r>
              <a:rPr sz="2800" spc="-204" dirty="0"/>
              <a:t>can</a:t>
            </a:r>
            <a:r>
              <a:rPr sz="2800" spc="-114" dirty="0"/>
              <a:t> </a:t>
            </a:r>
            <a:r>
              <a:rPr sz="2800" spc="-145" dirty="0"/>
              <a:t>discover</a:t>
            </a:r>
            <a:r>
              <a:rPr sz="2800" spc="-90" dirty="0"/>
              <a:t> </a:t>
            </a:r>
            <a:r>
              <a:rPr sz="2800" spc="-120" dirty="0"/>
              <a:t>new</a:t>
            </a:r>
            <a:r>
              <a:rPr sz="2800" spc="-105" dirty="0"/>
              <a:t> </a:t>
            </a:r>
            <a:r>
              <a:rPr sz="2800" spc="-55" dirty="0"/>
              <a:t>solutions</a:t>
            </a:r>
            <a:endParaRPr sz="2800"/>
          </a:p>
        </p:txBody>
      </p:sp>
      <p:pic>
        <p:nvPicPr>
          <p:cNvPr id="4" name="object 4" descr="Move 37!! Lee Sedol vs AlphaGo Match 2 - YouTub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522" y="2242057"/>
            <a:ext cx="5271135" cy="29649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7814" y="5366410"/>
            <a:ext cx="5123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“Move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37”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Lee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Sedol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AlphaGo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match: </a:t>
            </a:r>
            <a:r>
              <a:rPr sz="1800" spc="-40" dirty="0">
                <a:latin typeface="Arial"/>
                <a:cs typeface="Arial"/>
              </a:rPr>
              <a:t>reinforcement </a:t>
            </a:r>
            <a:r>
              <a:rPr sz="1800" spc="-60" dirty="0">
                <a:latin typeface="Arial"/>
                <a:cs typeface="Arial"/>
              </a:rPr>
              <a:t>learning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“discovers”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move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surprises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everyone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 descr="OpenAI to change the digital image-making game with DALL.E 2, its text to  image generator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3479" y="2241981"/>
            <a:ext cx="5100320" cy="36950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66840" y="1168234"/>
            <a:ext cx="4673600" cy="83121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328930" marR="318770" indent="78740">
              <a:lnSpc>
                <a:spcPct val="100000"/>
              </a:lnSpc>
              <a:spcBef>
                <a:spcPts val="204"/>
              </a:spcBef>
            </a:pPr>
            <a:r>
              <a:rPr sz="2400" spc="-125" dirty="0">
                <a:latin typeface="Arial"/>
                <a:cs typeface="Arial"/>
              </a:rPr>
              <a:t>Impressive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because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it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looks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like </a:t>
            </a:r>
            <a:r>
              <a:rPr sz="2400" spc="-105" dirty="0">
                <a:latin typeface="Arial"/>
                <a:cs typeface="Arial"/>
              </a:rPr>
              <a:t>something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person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might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draw!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264" y="1168234"/>
            <a:ext cx="4673600" cy="83121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1513840" marR="198120" indent="-1308100">
              <a:lnSpc>
                <a:spcPct val="100000"/>
              </a:lnSpc>
              <a:spcBef>
                <a:spcPts val="204"/>
              </a:spcBef>
            </a:pPr>
            <a:r>
              <a:rPr sz="2400" spc="-125" dirty="0">
                <a:latin typeface="Arial"/>
                <a:cs typeface="Arial"/>
              </a:rPr>
              <a:t>Impressive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because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no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person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had </a:t>
            </a:r>
            <a:r>
              <a:rPr sz="2400" spc="-40" dirty="0">
                <a:latin typeface="Arial"/>
                <a:cs typeface="Arial"/>
              </a:rPr>
              <a:t>thought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it!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OpenAI to change the digital image-making game with DALL.E 2, its text to  image generato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97" y="1923033"/>
            <a:ext cx="2220341" cy="1608582"/>
          </a:xfrm>
          <a:prstGeom prst="rect">
            <a:avLst/>
          </a:prstGeom>
        </p:spPr>
      </p:pic>
      <p:pic>
        <p:nvPicPr>
          <p:cNvPr id="4" name="object 4" descr="Move 37!! Lee Sedol vs AlphaGo Match 2 - YouTub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6047" y="1907285"/>
            <a:ext cx="2862579" cy="16102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112636" y="1841106"/>
            <a:ext cx="2408555" cy="1591945"/>
            <a:chOff x="6112636" y="1841106"/>
            <a:chExt cx="2408555" cy="1591945"/>
          </a:xfrm>
        </p:grpSpPr>
        <p:pic>
          <p:nvPicPr>
            <p:cNvPr id="6" name="object 6" descr="Image result for worl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2636" y="2399245"/>
              <a:ext cx="719632" cy="716191"/>
            </a:xfrm>
            <a:prstGeom prst="rect">
              <a:avLst/>
            </a:prstGeom>
          </p:spPr>
        </p:pic>
        <p:pic>
          <p:nvPicPr>
            <p:cNvPr id="7" name="object 7" descr="Image result for robot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0458" y="1841106"/>
              <a:ext cx="507682" cy="6398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5180" y="2025522"/>
              <a:ext cx="546353" cy="35064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55180" y="2025522"/>
              <a:ext cx="546735" cy="351155"/>
            </a:xfrm>
            <a:custGeom>
              <a:avLst/>
              <a:gdLst/>
              <a:ahLst/>
              <a:cxnLst/>
              <a:rect l="l" t="t" r="r" b="b"/>
              <a:pathLst>
                <a:path w="546734" h="351155">
                  <a:moveTo>
                    <a:pt x="0" y="322961"/>
                  </a:moveTo>
                  <a:lnTo>
                    <a:pt x="19290" y="277544"/>
                  </a:lnTo>
                  <a:lnTo>
                    <a:pt x="42888" y="235128"/>
                  </a:lnTo>
                  <a:lnTo>
                    <a:pt x="70381" y="195965"/>
                  </a:lnTo>
                  <a:lnTo>
                    <a:pt x="101357" y="160304"/>
                  </a:lnTo>
                  <a:lnTo>
                    <a:pt x="135403" y="128396"/>
                  </a:lnTo>
                  <a:lnTo>
                    <a:pt x="172106" y="100493"/>
                  </a:lnTo>
                  <a:lnTo>
                    <a:pt x="211053" y="76845"/>
                  </a:lnTo>
                  <a:lnTo>
                    <a:pt x="251832" y="57703"/>
                  </a:lnTo>
                  <a:lnTo>
                    <a:pt x="294030" y="43317"/>
                  </a:lnTo>
                  <a:lnTo>
                    <a:pt x="337235" y="33938"/>
                  </a:lnTo>
                  <a:lnTo>
                    <a:pt x="381032" y="29818"/>
                  </a:lnTo>
                  <a:lnTo>
                    <a:pt x="425010" y="31206"/>
                  </a:lnTo>
                  <a:lnTo>
                    <a:pt x="468757" y="38353"/>
                  </a:lnTo>
                  <a:lnTo>
                    <a:pt x="494792" y="0"/>
                  </a:lnTo>
                  <a:lnTo>
                    <a:pt x="546353" y="126618"/>
                  </a:lnTo>
                  <a:lnTo>
                    <a:pt x="380492" y="167766"/>
                  </a:lnTo>
                  <a:lnTo>
                    <a:pt x="405384" y="131317"/>
                  </a:lnTo>
                  <a:lnTo>
                    <a:pt x="358033" y="133225"/>
                  </a:lnTo>
                  <a:lnTo>
                    <a:pt x="311374" y="143746"/>
                  </a:lnTo>
                  <a:lnTo>
                    <a:pt x="266337" y="162216"/>
                  </a:lnTo>
                  <a:lnTo>
                    <a:pt x="223853" y="187975"/>
                  </a:lnTo>
                  <a:lnTo>
                    <a:pt x="184851" y="220360"/>
                  </a:lnTo>
                  <a:lnTo>
                    <a:pt x="150262" y="258708"/>
                  </a:lnTo>
                  <a:lnTo>
                    <a:pt x="121016" y="302358"/>
                  </a:lnTo>
                  <a:lnTo>
                    <a:pt x="98044" y="350647"/>
                  </a:lnTo>
                  <a:lnTo>
                    <a:pt x="0" y="322961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http://neuralnetworksanddeeplearning.com/images/tikz41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433" y="2852419"/>
              <a:ext cx="977631" cy="5805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26376" y="3136772"/>
              <a:ext cx="585470" cy="2662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26376" y="3136772"/>
              <a:ext cx="585470" cy="266700"/>
            </a:xfrm>
            <a:custGeom>
              <a:avLst/>
              <a:gdLst/>
              <a:ahLst/>
              <a:cxnLst/>
              <a:rect l="l" t="t" r="r" b="b"/>
              <a:pathLst>
                <a:path w="585470" h="266700">
                  <a:moveTo>
                    <a:pt x="585470" y="208534"/>
                  </a:moveTo>
                  <a:lnTo>
                    <a:pt x="541012" y="229968"/>
                  </a:lnTo>
                  <a:lnTo>
                    <a:pt x="495292" y="246379"/>
                  </a:lnTo>
                  <a:lnTo>
                    <a:pt x="448783" y="257844"/>
                  </a:lnTo>
                  <a:lnTo>
                    <a:pt x="401958" y="264443"/>
                  </a:lnTo>
                  <a:lnTo>
                    <a:pt x="355291" y="266256"/>
                  </a:lnTo>
                  <a:lnTo>
                    <a:pt x="309256" y="263362"/>
                  </a:lnTo>
                  <a:lnTo>
                    <a:pt x="264325" y="255841"/>
                  </a:lnTo>
                  <a:lnTo>
                    <a:pt x="220972" y="243771"/>
                  </a:lnTo>
                  <a:lnTo>
                    <a:pt x="179671" y="227233"/>
                  </a:lnTo>
                  <a:lnTo>
                    <a:pt x="140894" y="206306"/>
                  </a:lnTo>
                  <a:lnTo>
                    <a:pt x="105116" y="181068"/>
                  </a:lnTo>
                  <a:lnTo>
                    <a:pt x="72810" y="151601"/>
                  </a:lnTo>
                  <a:lnTo>
                    <a:pt x="44450" y="117982"/>
                  </a:lnTo>
                  <a:lnTo>
                    <a:pt x="0" y="129666"/>
                  </a:lnTo>
                  <a:lnTo>
                    <a:pt x="42925" y="0"/>
                  </a:lnTo>
                  <a:lnTo>
                    <a:pt x="195325" y="78359"/>
                  </a:lnTo>
                  <a:lnTo>
                    <a:pt x="153162" y="89407"/>
                  </a:lnTo>
                  <a:lnTo>
                    <a:pt x="190277" y="118442"/>
                  </a:lnTo>
                  <a:lnTo>
                    <a:pt x="232487" y="140612"/>
                  </a:lnTo>
                  <a:lnTo>
                    <a:pt x="278670" y="155818"/>
                  </a:lnTo>
                  <a:lnTo>
                    <a:pt x="327707" y="163956"/>
                  </a:lnTo>
                  <a:lnTo>
                    <a:pt x="378476" y="164928"/>
                  </a:lnTo>
                  <a:lnTo>
                    <a:pt x="429857" y="158630"/>
                  </a:lnTo>
                  <a:lnTo>
                    <a:pt x="480728" y="144963"/>
                  </a:lnTo>
                  <a:lnTo>
                    <a:pt x="529971" y="123825"/>
                  </a:lnTo>
                  <a:lnTo>
                    <a:pt x="585470" y="208534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25231" y="2209673"/>
            <a:ext cx="348615" cy="557530"/>
            <a:chOff x="7825231" y="2209673"/>
            <a:chExt cx="348615" cy="55753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8406" y="2212848"/>
              <a:ext cx="341757" cy="5511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828406" y="2212848"/>
              <a:ext cx="342265" cy="551180"/>
            </a:xfrm>
            <a:custGeom>
              <a:avLst/>
              <a:gdLst/>
              <a:ahLst/>
              <a:cxnLst/>
              <a:rect l="l" t="t" r="r" b="b"/>
              <a:pathLst>
                <a:path w="342265" h="551180">
                  <a:moveTo>
                    <a:pt x="30099" y="0"/>
                  </a:moveTo>
                  <a:lnTo>
                    <a:pt x="74919" y="20683"/>
                  </a:lnTo>
                  <a:lnTo>
                    <a:pt x="116669" y="45528"/>
                  </a:lnTo>
                  <a:lnTo>
                    <a:pt x="155105" y="74120"/>
                  </a:lnTo>
                  <a:lnTo>
                    <a:pt x="189989" y="106046"/>
                  </a:lnTo>
                  <a:lnTo>
                    <a:pt x="221081" y="140890"/>
                  </a:lnTo>
                  <a:lnTo>
                    <a:pt x="248138" y="178239"/>
                  </a:lnTo>
                  <a:lnTo>
                    <a:pt x="270922" y="217677"/>
                  </a:lnTo>
                  <a:lnTo>
                    <a:pt x="289192" y="258790"/>
                  </a:lnTo>
                  <a:lnTo>
                    <a:pt x="302708" y="301165"/>
                  </a:lnTo>
                  <a:lnTo>
                    <a:pt x="311229" y="344385"/>
                  </a:lnTo>
                  <a:lnTo>
                    <a:pt x="314514" y="388037"/>
                  </a:lnTo>
                  <a:lnTo>
                    <a:pt x="312324" y="431707"/>
                  </a:lnTo>
                  <a:lnTo>
                    <a:pt x="304419" y="474979"/>
                  </a:lnTo>
                  <a:lnTo>
                    <a:pt x="341757" y="501903"/>
                  </a:lnTo>
                  <a:lnTo>
                    <a:pt x="214502" y="551179"/>
                  </a:lnTo>
                  <a:lnTo>
                    <a:pt x="177926" y="383793"/>
                  </a:lnTo>
                  <a:lnTo>
                    <a:pt x="213233" y="409321"/>
                  </a:lnTo>
                  <a:lnTo>
                    <a:pt x="212035" y="362225"/>
                  </a:lnTo>
                  <a:lnTo>
                    <a:pt x="202293" y="315569"/>
                  </a:lnTo>
                  <a:lnTo>
                    <a:pt x="184642" y="270279"/>
                  </a:lnTo>
                  <a:lnTo>
                    <a:pt x="159718" y="227282"/>
                  </a:lnTo>
                  <a:lnTo>
                    <a:pt x="128156" y="187506"/>
                  </a:lnTo>
                  <a:lnTo>
                    <a:pt x="90592" y="151878"/>
                  </a:lnTo>
                  <a:lnTo>
                    <a:pt x="47661" y="121324"/>
                  </a:lnTo>
                  <a:lnTo>
                    <a:pt x="0" y="96774"/>
                  </a:lnTo>
                  <a:lnTo>
                    <a:pt x="30099" y="0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 descr="I don't know if it is a repost, but PaLM explaining a joke never posted on  the internet before… : r/singularity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71175" y="1917826"/>
            <a:ext cx="2594421" cy="15665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921510" y="1199515"/>
            <a:ext cx="8707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0" algn="l"/>
              </a:tabLst>
            </a:pPr>
            <a:r>
              <a:rPr sz="2800" b="1" spc="-160" dirty="0">
                <a:latin typeface="Arial"/>
                <a:cs typeface="Arial"/>
              </a:rPr>
              <a:t>Data-</a:t>
            </a:r>
            <a:r>
              <a:rPr sz="2800" b="1" spc="-200" dirty="0">
                <a:latin typeface="Arial"/>
                <a:cs typeface="Arial"/>
              </a:rPr>
              <a:t>Driven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AI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04" dirty="0">
                <a:latin typeface="Arial"/>
                <a:cs typeface="Arial"/>
              </a:rPr>
              <a:t>Reinforcement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1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880230" y="417703"/>
            <a:ext cx="4226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45" dirty="0"/>
              <a:t>So</a:t>
            </a:r>
            <a:r>
              <a:rPr sz="2800" spc="-125" dirty="0"/>
              <a:t> </a:t>
            </a:r>
            <a:r>
              <a:rPr sz="2800" spc="-110" dirty="0"/>
              <a:t>where</a:t>
            </a:r>
            <a:r>
              <a:rPr sz="2800" spc="-120" dirty="0"/>
              <a:t> </a:t>
            </a:r>
            <a:r>
              <a:rPr sz="2800" spc="-180" dirty="0"/>
              <a:t>does</a:t>
            </a:r>
            <a:r>
              <a:rPr sz="2800" spc="-95" dirty="0"/>
              <a:t> </a:t>
            </a:r>
            <a:r>
              <a:rPr sz="2800" dirty="0"/>
              <a:t>that</a:t>
            </a:r>
            <a:r>
              <a:rPr sz="2800" spc="-130" dirty="0"/>
              <a:t> </a:t>
            </a:r>
            <a:r>
              <a:rPr sz="2800" spc="-165" dirty="0"/>
              <a:t>leave</a:t>
            </a:r>
            <a:r>
              <a:rPr sz="2800" spc="-130" dirty="0"/>
              <a:t> </a:t>
            </a:r>
            <a:r>
              <a:rPr sz="2800" spc="-155" dirty="0"/>
              <a:t>us?</a:t>
            </a:r>
            <a:endParaRPr sz="2800"/>
          </a:p>
        </p:txBody>
      </p:sp>
      <p:sp>
        <p:nvSpPr>
          <p:cNvPr id="19" name="object 19"/>
          <p:cNvSpPr txBox="1"/>
          <p:nvPr/>
        </p:nvSpPr>
        <p:spPr>
          <a:xfrm>
            <a:off x="742289" y="3604724"/>
            <a:ext cx="4079875" cy="94678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000" spc="-180" dirty="0">
                <a:solidFill>
                  <a:srgbClr val="538235"/>
                </a:solidFill>
                <a:latin typeface="Arial"/>
                <a:cs typeface="Arial"/>
              </a:rPr>
              <a:t>+</a:t>
            </a:r>
            <a:r>
              <a:rPr sz="2000" spc="-9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538235"/>
                </a:solidFill>
                <a:latin typeface="Arial"/>
                <a:cs typeface="Arial"/>
              </a:rPr>
              <a:t>learns</a:t>
            </a:r>
            <a:r>
              <a:rPr sz="2000" spc="-7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538235"/>
                </a:solidFill>
                <a:latin typeface="Arial"/>
                <a:cs typeface="Arial"/>
              </a:rPr>
              <a:t>about</a:t>
            </a:r>
            <a:r>
              <a:rPr sz="2000" spc="-11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38235"/>
                </a:solidFill>
                <a:latin typeface="Arial"/>
                <a:cs typeface="Arial"/>
              </a:rPr>
              <a:t>the</a:t>
            </a:r>
            <a:r>
              <a:rPr sz="2000" spc="-8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538235"/>
                </a:solidFill>
                <a:latin typeface="Arial"/>
                <a:cs typeface="Arial"/>
              </a:rPr>
              <a:t>real</a:t>
            </a:r>
            <a:r>
              <a:rPr sz="2000" spc="-7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538235"/>
                </a:solidFill>
                <a:latin typeface="Arial"/>
                <a:cs typeface="Arial"/>
              </a:rPr>
              <a:t>world</a:t>
            </a:r>
            <a:r>
              <a:rPr sz="2000" spc="-9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38235"/>
                </a:solidFill>
                <a:latin typeface="Arial"/>
                <a:cs typeface="Arial"/>
              </a:rPr>
              <a:t>from</a:t>
            </a:r>
            <a:r>
              <a:rPr sz="2000" spc="-8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38235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doesn’t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try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80" dirty="0">
                <a:solidFill>
                  <a:srgbClr val="FF0000"/>
                </a:solidFill>
                <a:latin typeface="Arial"/>
                <a:cs typeface="Arial"/>
              </a:rPr>
              <a:t>better</a:t>
            </a:r>
            <a:r>
              <a:rPr sz="20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than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8048" y="3604724"/>
            <a:ext cx="4544695" cy="94678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000" spc="-180" dirty="0">
                <a:solidFill>
                  <a:srgbClr val="538235"/>
                </a:solidFill>
                <a:latin typeface="Arial"/>
                <a:cs typeface="Arial"/>
              </a:rPr>
              <a:t>+</a:t>
            </a:r>
            <a:r>
              <a:rPr sz="2000" spc="-9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538235"/>
                </a:solidFill>
                <a:latin typeface="Arial"/>
                <a:cs typeface="Arial"/>
              </a:rPr>
              <a:t>optimizes </a:t>
            </a:r>
            <a:r>
              <a:rPr sz="2000" spc="-165" dirty="0">
                <a:solidFill>
                  <a:srgbClr val="538235"/>
                </a:solidFill>
                <a:latin typeface="Arial"/>
                <a:cs typeface="Arial"/>
              </a:rPr>
              <a:t>a</a:t>
            </a:r>
            <a:r>
              <a:rPr sz="2000" spc="-9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538235"/>
                </a:solidFill>
                <a:latin typeface="Arial"/>
                <a:cs typeface="Arial"/>
              </a:rPr>
              <a:t>goal</a:t>
            </a:r>
            <a:r>
              <a:rPr sz="2000" spc="-10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38235"/>
                </a:solidFill>
                <a:latin typeface="Arial"/>
                <a:cs typeface="Arial"/>
              </a:rPr>
              <a:t>with</a:t>
            </a:r>
            <a:r>
              <a:rPr sz="2000" spc="-8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538235"/>
                </a:solidFill>
                <a:latin typeface="Arial"/>
                <a:cs typeface="Arial"/>
              </a:rPr>
              <a:t>emergent</a:t>
            </a:r>
            <a:r>
              <a:rPr sz="2000" spc="-9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Arial"/>
                <a:cs typeface="Arial"/>
              </a:rPr>
              <a:t>behavior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but</a:t>
            </a:r>
            <a:r>
              <a:rPr sz="2000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FF0000"/>
                </a:solidFill>
                <a:latin typeface="Arial"/>
                <a:cs typeface="Arial"/>
              </a:rPr>
              <a:t>need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figure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out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sz="2000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45" dirty="0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sz="20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scale!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6991" y="5124653"/>
            <a:ext cx="3829685" cy="1200785"/>
          </a:xfrm>
          <a:prstGeom prst="rect">
            <a:avLst/>
          </a:prstGeom>
          <a:solidFill>
            <a:srgbClr val="FFC000"/>
          </a:solidFill>
          <a:ln w="76200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0"/>
              </a:spcBef>
            </a:pPr>
            <a:r>
              <a:rPr sz="2400" b="1" spc="-155" dirty="0">
                <a:latin typeface="Arial"/>
                <a:cs typeface="Arial"/>
              </a:rPr>
              <a:t>Data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without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optimization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spc="-70" dirty="0">
                <a:latin typeface="Arial"/>
                <a:cs typeface="Arial"/>
              </a:rPr>
              <a:t>doesn’t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allow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us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solve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new</a:t>
            </a:r>
            <a:endParaRPr sz="24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400" spc="-105" dirty="0">
                <a:latin typeface="Arial"/>
                <a:cs typeface="Arial"/>
              </a:rPr>
              <a:t>problems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105" dirty="0">
                <a:latin typeface="Arial"/>
                <a:cs typeface="Arial"/>
              </a:rPr>
              <a:t> new </a:t>
            </a:r>
            <a:r>
              <a:rPr sz="2400" spc="-20" dirty="0">
                <a:latin typeface="Arial"/>
                <a:cs typeface="Arial"/>
              </a:rPr>
              <a:t>ways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4330" y="2653766"/>
            <a:ext cx="2983230" cy="462280"/>
          </a:xfrm>
          <a:prstGeom prst="rect">
            <a:avLst/>
          </a:prstGeom>
          <a:solidFill>
            <a:srgbClr val="FFC000"/>
          </a:solidFill>
          <a:ln w="76200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204"/>
              </a:spcBef>
            </a:pPr>
            <a:r>
              <a:rPr sz="2400" spc="-70" dirty="0">
                <a:latin typeface="Arial"/>
                <a:cs typeface="Arial"/>
              </a:rPr>
              <a:t>All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about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using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5725" y="2610586"/>
            <a:ext cx="2983230" cy="462280"/>
          </a:xfrm>
          <a:prstGeom prst="rect">
            <a:avLst/>
          </a:prstGeom>
          <a:solidFill>
            <a:srgbClr val="FFC000"/>
          </a:solidFill>
          <a:ln w="76200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09"/>
              </a:spcBef>
            </a:pPr>
            <a:r>
              <a:rPr sz="2400" spc="-70" dirty="0">
                <a:latin typeface="Arial"/>
                <a:cs typeface="Arial"/>
              </a:rPr>
              <a:t>All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about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65" dirty="0">
                <a:latin typeface="Arial"/>
                <a:cs typeface="Arial"/>
              </a:rPr>
              <a:t>optimization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9956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spc="-470" dirty="0"/>
              <a:t>A</a:t>
            </a:r>
            <a:r>
              <a:rPr spc="-229" dirty="0"/>
              <a:t> </a:t>
            </a:r>
            <a:r>
              <a:rPr dirty="0"/>
              <a:t>bitter</a:t>
            </a:r>
            <a:r>
              <a:rPr spc="-265" dirty="0"/>
              <a:t> </a:t>
            </a:r>
            <a:r>
              <a:rPr spc="-35" dirty="0"/>
              <a:t>but</a:t>
            </a:r>
            <a:r>
              <a:rPr spc="-250" dirty="0"/>
              <a:t> </a:t>
            </a:r>
            <a:r>
              <a:rPr spc="-190" dirty="0"/>
              <a:t>misunderstood</a:t>
            </a:r>
            <a:r>
              <a:rPr spc="-254" dirty="0"/>
              <a:t> </a:t>
            </a:r>
            <a:r>
              <a:rPr spc="-290" dirty="0"/>
              <a:t>lesson</a:t>
            </a:r>
          </a:p>
        </p:txBody>
      </p:sp>
      <p:pic>
        <p:nvPicPr>
          <p:cNvPr id="4" name="object 4" descr="Interview with Dr.Richard Sutton: we might have strong AI algorithms by  2030. | by Synced | SyncedReview | Mediu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804" y="1529461"/>
            <a:ext cx="2165223" cy="21797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4926" y="3728188"/>
            <a:ext cx="1273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Arial"/>
                <a:cs typeface="Arial"/>
              </a:rPr>
              <a:t>Richard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Sutto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7710" y="2645155"/>
            <a:ext cx="36722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"/>
                <a:cs typeface="Palatino"/>
              </a:rPr>
              <a:t>The</a:t>
            </a:r>
            <a:r>
              <a:rPr sz="1800" spc="-30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two</a:t>
            </a:r>
            <a:r>
              <a:rPr sz="1800" spc="-2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methods</a:t>
            </a:r>
            <a:r>
              <a:rPr sz="1800" spc="-30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that</a:t>
            </a:r>
            <a:r>
              <a:rPr sz="1800" spc="-3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seem</a:t>
            </a:r>
            <a:r>
              <a:rPr sz="1800" spc="-40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to</a:t>
            </a:r>
            <a:r>
              <a:rPr sz="1800" spc="-25" dirty="0">
                <a:latin typeface="Palatino"/>
                <a:cs typeface="Palatino"/>
              </a:rPr>
              <a:t> </a:t>
            </a:r>
            <a:r>
              <a:rPr sz="1800" spc="-10" dirty="0">
                <a:latin typeface="Palatino"/>
                <a:cs typeface="Palatino"/>
              </a:rPr>
              <a:t>scale</a:t>
            </a:r>
            <a:endParaRPr sz="1800">
              <a:latin typeface="Palatino"/>
              <a:cs typeface="Palatino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Palatino"/>
                <a:cs typeface="Palatino"/>
              </a:rPr>
              <a:t>arbitrarily</a:t>
            </a:r>
            <a:r>
              <a:rPr sz="1800" spc="-40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…</a:t>
            </a:r>
            <a:r>
              <a:rPr sz="1800" spc="-30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are</a:t>
            </a:r>
            <a:r>
              <a:rPr sz="1800" spc="-30" dirty="0">
                <a:latin typeface="Palatino"/>
                <a:cs typeface="Palatino"/>
              </a:rPr>
              <a:t> </a:t>
            </a:r>
            <a:r>
              <a:rPr sz="1800" i="1" dirty="0">
                <a:latin typeface="Palatino"/>
                <a:cs typeface="Palatino"/>
              </a:rPr>
              <a:t>learning</a:t>
            </a:r>
            <a:r>
              <a:rPr sz="1800" i="1" spc="-2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and</a:t>
            </a:r>
            <a:r>
              <a:rPr sz="1800" spc="-45" dirty="0">
                <a:latin typeface="Palatino"/>
                <a:cs typeface="Palatino"/>
              </a:rPr>
              <a:t> </a:t>
            </a:r>
            <a:r>
              <a:rPr sz="1800" i="1" spc="-10" dirty="0">
                <a:latin typeface="Palatino"/>
                <a:cs typeface="Palatino"/>
              </a:rPr>
              <a:t>search</a:t>
            </a:r>
            <a:r>
              <a:rPr sz="1800" spc="-10" dirty="0">
                <a:latin typeface="Palatino"/>
                <a:cs typeface="Palatino"/>
              </a:rPr>
              <a:t>.</a:t>
            </a:r>
            <a:endParaRPr sz="1800">
              <a:latin typeface="Palatino"/>
              <a:cs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9343" y="3542095"/>
            <a:ext cx="4265257" cy="22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3795">
              <a:lnSpc>
                <a:spcPts val="1620"/>
              </a:lnSpc>
            </a:pPr>
            <a:r>
              <a:rPr sz="1800" dirty="0">
                <a:latin typeface="Palatino"/>
                <a:cs typeface="Palatino"/>
              </a:rPr>
              <a:t>-</a:t>
            </a:r>
            <a:r>
              <a:rPr sz="1800" spc="-3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“The</a:t>
            </a:r>
            <a:r>
              <a:rPr sz="1800" spc="-2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Bitter</a:t>
            </a:r>
            <a:r>
              <a:rPr sz="1800" spc="-35" dirty="0">
                <a:latin typeface="Palatino"/>
                <a:cs typeface="Palatino"/>
              </a:rPr>
              <a:t> </a:t>
            </a:r>
            <a:r>
              <a:rPr sz="1800" dirty="0">
                <a:latin typeface="Palatino"/>
                <a:cs typeface="Palatino"/>
              </a:rPr>
              <a:t>Lesson”,</a:t>
            </a:r>
            <a:r>
              <a:rPr sz="1800" spc="-25" dirty="0">
                <a:latin typeface="Palatino"/>
                <a:cs typeface="Palatino"/>
              </a:rPr>
              <a:t> </a:t>
            </a:r>
            <a:r>
              <a:rPr sz="1800" spc="-20" dirty="0">
                <a:latin typeface="Palatino"/>
                <a:cs typeface="Palatino"/>
              </a:rPr>
              <a:t>Sutt</a:t>
            </a:r>
            <a:r>
              <a:rPr lang="en-US" sz="1800" spc="-20" dirty="0">
                <a:latin typeface="Palatino"/>
                <a:cs typeface="Palatino"/>
              </a:rPr>
              <a:t>on</a:t>
            </a:r>
            <a:endParaRPr sz="1800" dirty="0">
              <a:latin typeface="Palatino"/>
              <a:cs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81170" y="3520566"/>
            <a:ext cx="3063240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  <a:tabLst>
                <a:tab pos="1037590" algn="l"/>
              </a:tabLst>
            </a:pPr>
            <a:r>
              <a:rPr sz="2700" baseline="-4629" dirty="0">
                <a:latin typeface="Palatino"/>
                <a:cs typeface="Palatino"/>
              </a:rPr>
              <a:t>	</a:t>
            </a:r>
            <a:r>
              <a:rPr sz="1800" spc="-200" dirty="0">
                <a:latin typeface="Arial"/>
                <a:cs typeface="Arial"/>
              </a:rPr>
              <a:t>You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mean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we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should</a:t>
            </a:r>
            <a:endParaRPr sz="1800" dirty="0">
              <a:latin typeface="Arial"/>
              <a:cs typeface="Arial"/>
            </a:endParaRPr>
          </a:p>
          <a:p>
            <a:pPr marL="1037590">
              <a:lnSpc>
                <a:spcPct val="100000"/>
              </a:lnSpc>
            </a:pPr>
            <a:r>
              <a:rPr sz="1800" spc="-95" dirty="0">
                <a:latin typeface="Arial"/>
                <a:cs typeface="Arial"/>
              </a:rPr>
              <a:t>shovel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more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data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into 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0" dirty="0">
                <a:latin typeface="Arial"/>
                <a:cs typeface="Arial"/>
              </a:rPr>
              <a:t>GPU,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right?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38322" y="1206880"/>
            <a:ext cx="1616075" cy="2163445"/>
            <a:chOff x="7638322" y="1206880"/>
            <a:chExt cx="1616075" cy="216344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8322" y="1628901"/>
              <a:ext cx="764163" cy="14440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9984" y="1206880"/>
              <a:ext cx="764163" cy="14440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9353" y="1907539"/>
              <a:ext cx="819073" cy="1462404"/>
            </a:xfrm>
            <a:prstGeom prst="rect">
              <a:avLst/>
            </a:prstGeom>
          </p:spPr>
        </p:pic>
      </p:grpSp>
      <p:pic>
        <p:nvPicPr>
          <p:cNvPr id="14" name="object 14" descr="Cloud TPU | Google Clou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43871" y="2979927"/>
            <a:ext cx="2220468" cy="1288415"/>
          </a:xfrm>
          <a:prstGeom prst="rect">
            <a:avLst/>
          </a:prstGeom>
        </p:spPr>
      </p:pic>
      <p:pic>
        <p:nvPicPr>
          <p:cNvPr id="15" name="object 15" descr="xkcd: Machine Learni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96577" y="1302638"/>
            <a:ext cx="2143144" cy="149761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524615" y="2745740"/>
            <a:ext cx="311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5" dirty="0">
                <a:latin typeface="Arial"/>
                <a:cs typeface="Arial"/>
              </a:rPr>
              <a:t>xkcd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4523" y="4304206"/>
            <a:ext cx="2622550" cy="70675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2400" b="1" spc="-85" dirty="0">
                <a:solidFill>
                  <a:srgbClr val="00AFEF"/>
                </a:solidFill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35"/>
              </a:spcBef>
            </a:pPr>
            <a:r>
              <a:rPr sz="1800" spc="-135" dirty="0">
                <a:latin typeface="Arial"/>
                <a:cs typeface="Arial"/>
              </a:rPr>
              <a:t>use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b="1" spc="-100" dirty="0">
                <a:latin typeface="Arial"/>
                <a:cs typeface="Arial"/>
              </a:rPr>
              <a:t>data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extract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b="1" spc="-90" dirty="0"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8" name="object 18" descr="Image result for world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804" y="5094427"/>
            <a:ext cx="1218869" cy="121886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765935" y="5466715"/>
            <a:ext cx="593725" cy="474345"/>
            <a:chOff x="1765935" y="5466715"/>
            <a:chExt cx="593725" cy="474345"/>
          </a:xfrm>
        </p:grpSpPr>
        <p:sp>
          <p:nvSpPr>
            <p:cNvPr id="20" name="object 20"/>
            <p:cNvSpPr/>
            <p:nvPr/>
          </p:nvSpPr>
          <p:spPr>
            <a:xfrm>
              <a:off x="1772285" y="5473065"/>
              <a:ext cx="581025" cy="461645"/>
            </a:xfrm>
            <a:custGeom>
              <a:avLst/>
              <a:gdLst/>
              <a:ahLst/>
              <a:cxnLst/>
              <a:rect l="l" t="t" r="r" b="b"/>
              <a:pathLst>
                <a:path w="581025" h="461645">
                  <a:moveTo>
                    <a:pt x="350012" y="0"/>
                  </a:moveTo>
                  <a:lnTo>
                    <a:pt x="350012" y="115379"/>
                  </a:lnTo>
                  <a:lnTo>
                    <a:pt x="0" y="115379"/>
                  </a:lnTo>
                  <a:lnTo>
                    <a:pt x="0" y="346214"/>
                  </a:lnTo>
                  <a:lnTo>
                    <a:pt x="350012" y="346214"/>
                  </a:lnTo>
                  <a:lnTo>
                    <a:pt x="350012" y="461619"/>
                  </a:lnTo>
                  <a:lnTo>
                    <a:pt x="580897" y="230797"/>
                  </a:lnTo>
                  <a:lnTo>
                    <a:pt x="35001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72285" y="5473065"/>
              <a:ext cx="581025" cy="461645"/>
            </a:xfrm>
            <a:custGeom>
              <a:avLst/>
              <a:gdLst/>
              <a:ahLst/>
              <a:cxnLst/>
              <a:rect l="l" t="t" r="r" b="b"/>
              <a:pathLst>
                <a:path w="581025" h="461645">
                  <a:moveTo>
                    <a:pt x="580897" y="230797"/>
                  </a:moveTo>
                  <a:lnTo>
                    <a:pt x="350012" y="0"/>
                  </a:lnTo>
                  <a:lnTo>
                    <a:pt x="350012" y="115379"/>
                  </a:lnTo>
                  <a:lnTo>
                    <a:pt x="0" y="115379"/>
                  </a:lnTo>
                  <a:lnTo>
                    <a:pt x="0" y="346214"/>
                  </a:lnTo>
                  <a:lnTo>
                    <a:pt x="350012" y="346214"/>
                  </a:lnTo>
                  <a:lnTo>
                    <a:pt x="350012" y="461619"/>
                  </a:lnTo>
                  <a:lnTo>
                    <a:pt x="580897" y="230797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 descr="http://neuralnetworksanddeeplearning.com/images/tikz41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11193" y="5246751"/>
            <a:ext cx="1655930" cy="98795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517641" y="4299415"/>
            <a:ext cx="3590925" cy="7112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305"/>
              </a:spcBef>
            </a:pPr>
            <a:r>
              <a:rPr sz="2400" b="1" spc="-80" dirty="0">
                <a:solidFill>
                  <a:srgbClr val="00AF50"/>
                </a:solidFill>
                <a:latin typeface="Arial"/>
                <a:cs typeface="Arial"/>
              </a:rPr>
              <a:t>Search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800" spc="-135" dirty="0">
                <a:latin typeface="Arial"/>
                <a:cs typeface="Arial"/>
              </a:rPr>
              <a:t>use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computation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extract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b="1" spc="-114" dirty="0">
                <a:latin typeface="Arial"/>
                <a:cs typeface="Arial"/>
              </a:rPr>
              <a:t>inferences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40282"/>
              </p:ext>
            </p:extLst>
          </p:nvPr>
        </p:nvGraphicFramePr>
        <p:xfrm>
          <a:off x="2762604" y="3261394"/>
          <a:ext cx="8175625" cy="1161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">
                <a:tc rowSpan="2">
                  <a:txBody>
                    <a:bodyPr/>
                    <a:lstStyle/>
                    <a:p>
                      <a:pPr marL="91440">
                        <a:lnSpc>
                          <a:spcPts val="2880"/>
                        </a:lnSpc>
                        <a:spcBef>
                          <a:spcPts val="5"/>
                        </a:spcBef>
                      </a:pPr>
                      <a:r>
                        <a:rPr sz="2400" b="1" spc="-15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400" b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without</a:t>
                      </a:r>
                      <a:r>
                        <a:rPr sz="2400" spc="-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50" dirty="0">
                          <a:latin typeface="Arial"/>
                          <a:cs typeface="Arial"/>
                        </a:rPr>
                        <a:t>optimization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doesn’t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allow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90" dirty="0">
                          <a:latin typeface="Arial"/>
                          <a:cs typeface="Arial"/>
                        </a:rPr>
                        <a:t>us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2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5" dirty="0">
                          <a:latin typeface="Arial"/>
                          <a:cs typeface="Arial"/>
                        </a:rPr>
                        <a:t>solve</a:t>
                      </a:r>
                      <a:r>
                        <a:rPr sz="2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2700" spc="-15" baseline="40123" dirty="0">
                          <a:latin typeface="Palatino"/>
                          <a:cs typeface="Palatino"/>
                        </a:rPr>
                        <a:t>on 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problems</a:t>
                      </a:r>
                      <a:r>
                        <a:rPr sz="24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5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ways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76200">
                      <a:solidFill>
                        <a:srgbClr val="00AF5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 marR="153670">
                        <a:lnSpc>
                          <a:spcPts val="2880"/>
                        </a:lnSpc>
                        <a:spcBef>
                          <a:spcPts val="5"/>
                        </a:spcBef>
                      </a:pPr>
                      <a:r>
                        <a:rPr sz="2400" b="1" spc="-140" dirty="0">
                          <a:latin typeface="Arial"/>
                          <a:cs typeface="Arial"/>
                        </a:rPr>
                        <a:t>Optimization</a:t>
                      </a:r>
                      <a:r>
                        <a:rPr sz="24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without</a:t>
                      </a:r>
                      <a:r>
                        <a:rPr sz="24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4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24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is </a:t>
                      </a:r>
                      <a:r>
                        <a:rPr sz="2400" spc="-90" dirty="0">
                          <a:latin typeface="Arial"/>
                          <a:cs typeface="Arial"/>
                        </a:rPr>
                        <a:t>hard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2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apply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2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24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real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world</a:t>
                      </a:r>
                      <a:r>
                        <a:rPr sz="2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outside</a:t>
                      </a:r>
                      <a:r>
                        <a:rPr sz="24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4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simulators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4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spc="-50" dirty="0">
                          <a:latin typeface="Palatino"/>
                          <a:cs typeface="Palatino"/>
                        </a:rPr>
                        <a:t>2</a:t>
                      </a:r>
                      <a:endParaRPr sz="1800" dirty="0">
                        <a:latin typeface="Palatino"/>
                        <a:cs typeface="Palatino"/>
                      </a:endParaRPr>
                    </a:p>
                  </a:txBody>
                  <a:tcPr marL="0" marR="0" marT="206375" marB="0">
                    <a:lnT w="76200">
                      <a:solidFill>
                        <a:srgbClr val="00AF5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" name="object 25"/>
          <p:cNvGrpSpPr/>
          <p:nvPr/>
        </p:nvGrpSpPr>
        <p:grpSpPr>
          <a:xfrm>
            <a:off x="4299203" y="4958165"/>
            <a:ext cx="992505" cy="376555"/>
            <a:chOff x="4299203" y="4958165"/>
            <a:chExt cx="992505" cy="37655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02378" y="4961340"/>
              <a:ext cx="985774" cy="3701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02378" y="4961340"/>
              <a:ext cx="986155" cy="370205"/>
            </a:xfrm>
            <a:custGeom>
              <a:avLst/>
              <a:gdLst/>
              <a:ahLst/>
              <a:cxnLst/>
              <a:rect l="l" t="t" r="r" b="b"/>
              <a:pathLst>
                <a:path w="986154" h="370204">
                  <a:moveTo>
                    <a:pt x="0" y="266741"/>
                  </a:moveTo>
                  <a:lnTo>
                    <a:pt x="33866" y="230386"/>
                  </a:lnTo>
                  <a:lnTo>
                    <a:pt x="69580" y="196573"/>
                  </a:lnTo>
                  <a:lnTo>
                    <a:pt x="106975" y="165331"/>
                  </a:lnTo>
                  <a:lnTo>
                    <a:pt x="145885" y="136691"/>
                  </a:lnTo>
                  <a:lnTo>
                    <a:pt x="186144" y="110682"/>
                  </a:lnTo>
                  <a:lnTo>
                    <a:pt x="227586" y="87335"/>
                  </a:lnTo>
                  <a:lnTo>
                    <a:pt x="270045" y="66680"/>
                  </a:lnTo>
                  <a:lnTo>
                    <a:pt x="313354" y="48747"/>
                  </a:lnTo>
                  <a:lnTo>
                    <a:pt x="357347" y="33567"/>
                  </a:lnTo>
                  <a:lnTo>
                    <a:pt x="401859" y="21168"/>
                  </a:lnTo>
                  <a:lnTo>
                    <a:pt x="446722" y="11582"/>
                  </a:lnTo>
                  <a:lnTo>
                    <a:pt x="491771" y="4838"/>
                  </a:lnTo>
                  <a:lnTo>
                    <a:pt x="536840" y="968"/>
                  </a:lnTo>
                  <a:lnTo>
                    <a:pt x="581762" y="0"/>
                  </a:lnTo>
                  <a:lnTo>
                    <a:pt x="626372" y="1964"/>
                  </a:lnTo>
                  <a:lnTo>
                    <a:pt x="670502" y="6892"/>
                  </a:lnTo>
                  <a:lnTo>
                    <a:pt x="713988" y="14813"/>
                  </a:lnTo>
                  <a:lnTo>
                    <a:pt x="756662" y="25758"/>
                  </a:lnTo>
                  <a:lnTo>
                    <a:pt x="798359" y="39756"/>
                  </a:lnTo>
                  <a:lnTo>
                    <a:pt x="838912" y="56837"/>
                  </a:lnTo>
                  <a:lnTo>
                    <a:pt x="878156" y="77032"/>
                  </a:lnTo>
                  <a:lnTo>
                    <a:pt x="915924" y="100371"/>
                  </a:lnTo>
                  <a:lnTo>
                    <a:pt x="980440" y="55794"/>
                  </a:lnTo>
                  <a:lnTo>
                    <a:pt x="985774" y="287696"/>
                  </a:lnTo>
                  <a:lnTo>
                    <a:pt x="697611" y="251247"/>
                  </a:lnTo>
                  <a:lnTo>
                    <a:pt x="758825" y="208829"/>
                  </a:lnTo>
                  <a:lnTo>
                    <a:pt x="715963" y="192588"/>
                  </a:lnTo>
                  <a:lnTo>
                    <a:pt x="671486" y="180981"/>
                  </a:lnTo>
                  <a:lnTo>
                    <a:pt x="625739" y="173916"/>
                  </a:lnTo>
                  <a:lnTo>
                    <a:pt x="579069" y="171303"/>
                  </a:lnTo>
                  <a:lnTo>
                    <a:pt x="531823" y="173051"/>
                  </a:lnTo>
                  <a:lnTo>
                    <a:pt x="484348" y="179071"/>
                  </a:lnTo>
                  <a:lnTo>
                    <a:pt x="436991" y="189271"/>
                  </a:lnTo>
                  <a:lnTo>
                    <a:pt x="390098" y="203561"/>
                  </a:lnTo>
                  <a:lnTo>
                    <a:pt x="344017" y="221850"/>
                  </a:lnTo>
                  <a:lnTo>
                    <a:pt x="299094" y="244048"/>
                  </a:lnTo>
                  <a:lnTo>
                    <a:pt x="255676" y="270065"/>
                  </a:lnTo>
                  <a:lnTo>
                    <a:pt x="214110" y="299809"/>
                  </a:lnTo>
                  <a:lnTo>
                    <a:pt x="174743" y="333191"/>
                  </a:lnTo>
                  <a:lnTo>
                    <a:pt x="137922" y="370119"/>
                  </a:lnTo>
                  <a:lnTo>
                    <a:pt x="0" y="266741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311396" y="6036538"/>
            <a:ext cx="1008380" cy="415290"/>
            <a:chOff x="4311396" y="6036538"/>
            <a:chExt cx="1008380" cy="415290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14571" y="6039713"/>
              <a:ext cx="1001521" cy="4088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314571" y="6039713"/>
              <a:ext cx="1002030" cy="408940"/>
            </a:xfrm>
            <a:custGeom>
              <a:avLst/>
              <a:gdLst/>
              <a:ahLst/>
              <a:cxnLst/>
              <a:rect l="l" t="t" r="r" b="b"/>
              <a:pathLst>
                <a:path w="1002029" h="408939">
                  <a:moveTo>
                    <a:pt x="1001521" y="276072"/>
                  </a:moveTo>
                  <a:lnTo>
                    <a:pt x="959375" y="302385"/>
                  </a:lnTo>
                  <a:lnTo>
                    <a:pt x="916106" y="325764"/>
                  </a:lnTo>
                  <a:lnTo>
                    <a:pt x="871881" y="346225"/>
                  </a:lnTo>
                  <a:lnTo>
                    <a:pt x="826871" y="363781"/>
                  </a:lnTo>
                  <a:lnTo>
                    <a:pt x="781241" y="378446"/>
                  </a:lnTo>
                  <a:lnTo>
                    <a:pt x="735161" y="390235"/>
                  </a:lnTo>
                  <a:lnTo>
                    <a:pt x="688799" y="399160"/>
                  </a:lnTo>
                  <a:lnTo>
                    <a:pt x="642322" y="405237"/>
                  </a:lnTo>
                  <a:lnTo>
                    <a:pt x="595900" y="408478"/>
                  </a:lnTo>
                  <a:lnTo>
                    <a:pt x="549699" y="408899"/>
                  </a:lnTo>
                  <a:lnTo>
                    <a:pt x="503888" y="406512"/>
                  </a:lnTo>
                  <a:lnTo>
                    <a:pt x="458635" y="401333"/>
                  </a:lnTo>
                  <a:lnTo>
                    <a:pt x="414109" y="393374"/>
                  </a:lnTo>
                  <a:lnTo>
                    <a:pt x="370476" y="382651"/>
                  </a:lnTo>
                  <a:lnTo>
                    <a:pt x="327907" y="369176"/>
                  </a:lnTo>
                  <a:lnTo>
                    <a:pt x="286567" y="352964"/>
                  </a:lnTo>
                  <a:lnTo>
                    <a:pt x="246627" y="334029"/>
                  </a:lnTo>
                  <a:lnTo>
                    <a:pt x="208253" y="312385"/>
                  </a:lnTo>
                  <a:lnTo>
                    <a:pt x="171614" y="288045"/>
                  </a:lnTo>
                  <a:lnTo>
                    <a:pt x="136878" y="261025"/>
                  </a:lnTo>
                  <a:lnTo>
                    <a:pt x="104213" y="231337"/>
                  </a:lnTo>
                  <a:lnTo>
                    <a:pt x="73787" y="198996"/>
                  </a:lnTo>
                  <a:lnTo>
                    <a:pt x="0" y="225285"/>
                  </a:lnTo>
                  <a:lnTo>
                    <a:pt x="54990" y="0"/>
                  </a:lnTo>
                  <a:lnTo>
                    <a:pt x="323723" y="110007"/>
                  </a:lnTo>
                  <a:lnTo>
                    <a:pt x="253618" y="134975"/>
                  </a:lnTo>
                  <a:lnTo>
                    <a:pt x="290798" y="161789"/>
                  </a:lnTo>
                  <a:lnTo>
                    <a:pt x="330740" y="184549"/>
                  </a:lnTo>
                  <a:lnTo>
                    <a:pt x="373089" y="203254"/>
                  </a:lnTo>
                  <a:lnTo>
                    <a:pt x="417484" y="217899"/>
                  </a:lnTo>
                  <a:lnTo>
                    <a:pt x="463568" y="228482"/>
                  </a:lnTo>
                  <a:lnTo>
                    <a:pt x="510983" y="235000"/>
                  </a:lnTo>
                  <a:lnTo>
                    <a:pt x="559371" y="237450"/>
                  </a:lnTo>
                  <a:lnTo>
                    <a:pt x="608373" y="235828"/>
                  </a:lnTo>
                  <a:lnTo>
                    <a:pt x="657631" y="230131"/>
                  </a:lnTo>
                  <a:lnTo>
                    <a:pt x="706786" y="220357"/>
                  </a:lnTo>
                  <a:lnTo>
                    <a:pt x="755482" y="206503"/>
                  </a:lnTo>
                  <a:lnTo>
                    <a:pt x="803358" y="188564"/>
                  </a:lnTo>
                  <a:lnTo>
                    <a:pt x="850058" y="166539"/>
                  </a:lnTo>
                  <a:lnTo>
                    <a:pt x="895223" y="140423"/>
                  </a:lnTo>
                  <a:lnTo>
                    <a:pt x="1001521" y="276072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453126" y="5265039"/>
            <a:ext cx="1670685" cy="994410"/>
            <a:chOff x="5453126" y="5265039"/>
            <a:chExt cx="1670685" cy="994410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56301" y="5268214"/>
              <a:ext cx="1663953" cy="98797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56301" y="5268214"/>
              <a:ext cx="1664335" cy="988060"/>
            </a:xfrm>
            <a:custGeom>
              <a:avLst/>
              <a:gdLst/>
              <a:ahLst/>
              <a:cxnLst/>
              <a:rect l="l" t="t" r="r" b="b"/>
              <a:pathLst>
                <a:path w="1664334" h="988060">
                  <a:moveTo>
                    <a:pt x="0" y="164592"/>
                  </a:moveTo>
                  <a:lnTo>
                    <a:pt x="5877" y="120826"/>
                  </a:lnTo>
                  <a:lnTo>
                    <a:pt x="22469" y="81505"/>
                  </a:lnTo>
                  <a:lnTo>
                    <a:pt x="48212" y="48196"/>
                  </a:lnTo>
                  <a:lnTo>
                    <a:pt x="81543" y="22464"/>
                  </a:lnTo>
                  <a:lnTo>
                    <a:pt x="120899" y="5877"/>
                  </a:lnTo>
                  <a:lnTo>
                    <a:pt x="164719" y="0"/>
                  </a:lnTo>
                  <a:lnTo>
                    <a:pt x="1499234" y="0"/>
                  </a:lnTo>
                  <a:lnTo>
                    <a:pt x="1543010" y="5877"/>
                  </a:lnTo>
                  <a:lnTo>
                    <a:pt x="1582354" y="22464"/>
                  </a:lnTo>
                  <a:lnTo>
                    <a:pt x="1615693" y="48196"/>
                  </a:lnTo>
                  <a:lnTo>
                    <a:pt x="1641456" y="81505"/>
                  </a:lnTo>
                  <a:lnTo>
                    <a:pt x="1658067" y="120826"/>
                  </a:lnTo>
                  <a:lnTo>
                    <a:pt x="1663953" y="164592"/>
                  </a:lnTo>
                  <a:lnTo>
                    <a:pt x="1663953" y="823302"/>
                  </a:lnTo>
                  <a:lnTo>
                    <a:pt x="1658067" y="867078"/>
                  </a:lnTo>
                  <a:lnTo>
                    <a:pt x="1641456" y="906414"/>
                  </a:lnTo>
                  <a:lnTo>
                    <a:pt x="1615694" y="939741"/>
                  </a:lnTo>
                  <a:lnTo>
                    <a:pt x="1582354" y="965489"/>
                  </a:lnTo>
                  <a:lnTo>
                    <a:pt x="1543010" y="982089"/>
                  </a:lnTo>
                  <a:lnTo>
                    <a:pt x="1499234" y="987971"/>
                  </a:lnTo>
                  <a:lnTo>
                    <a:pt x="164719" y="987971"/>
                  </a:lnTo>
                  <a:lnTo>
                    <a:pt x="120899" y="982089"/>
                  </a:lnTo>
                  <a:lnTo>
                    <a:pt x="81543" y="965489"/>
                  </a:lnTo>
                  <a:lnTo>
                    <a:pt x="48212" y="939741"/>
                  </a:lnTo>
                  <a:lnTo>
                    <a:pt x="22469" y="906414"/>
                  </a:lnTo>
                  <a:lnTo>
                    <a:pt x="5877" y="867078"/>
                  </a:lnTo>
                  <a:lnTo>
                    <a:pt x="0" y="823302"/>
                  </a:lnTo>
                  <a:lnTo>
                    <a:pt x="0" y="164592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92266" y="5598363"/>
            <a:ext cx="1193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48232" y="6365240"/>
            <a:ext cx="3202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allows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us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b="1" spc="-140" dirty="0">
                <a:latin typeface="Arial"/>
                <a:cs typeface="Arial"/>
              </a:rPr>
              <a:t>understand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world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01385" y="6354267"/>
            <a:ext cx="4171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"/>
                <a:cs typeface="Arial"/>
              </a:rPr>
              <a:t>leverages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b="1" spc="-145" dirty="0">
                <a:latin typeface="Arial"/>
                <a:cs typeface="Arial"/>
              </a:rPr>
              <a:t>understanding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emergence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82891" y="5311381"/>
            <a:ext cx="3829685" cy="9239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 marR="345440">
              <a:lnSpc>
                <a:spcPct val="100000"/>
              </a:lnSpc>
              <a:spcBef>
                <a:spcPts val="245"/>
              </a:spcBef>
            </a:pPr>
            <a:r>
              <a:rPr sz="1800" spc="-110" dirty="0">
                <a:latin typeface="Arial"/>
                <a:cs typeface="Arial"/>
              </a:rPr>
              <a:t>some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optimization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process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uses </a:t>
            </a:r>
            <a:r>
              <a:rPr sz="1800" spc="-50" dirty="0">
                <a:latin typeface="Arial"/>
                <a:cs typeface="Arial"/>
              </a:rPr>
              <a:t>(typically </a:t>
            </a:r>
            <a:r>
              <a:rPr sz="1800" spc="-40" dirty="0">
                <a:latin typeface="Arial"/>
                <a:cs typeface="Arial"/>
              </a:rPr>
              <a:t>iterative)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computation </a:t>
            </a:r>
            <a:r>
              <a:rPr sz="1800" spc="-35" dirty="0">
                <a:latin typeface="Arial"/>
                <a:cs typeface="Arial"/>
              </a:rPr>
              <a:t>to </a:t>
            </a:r>
            <a:r>
              <a:rPr sz="1800" spc="-120" dirty="0">
                <a:latin typeface="Arial"/>
                <a:cs typeface="Arial"/>
              </a:rPr>
              <a:t>make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rational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decisions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814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5"/>
              </a:spcBef>
            </a:pPr>
            <a:r>
              <a:rPr spc="-265" dirty="0"/>
              <a:t>How</a:t>
            </a:r>
            <a:r>
              <a:rPr spc="-180" dirty="0"/>
              <a:t> do</a:t>
            </a:r>
            <a:r>
              <a:rPr spc="-195" dirty="0"/>
              <a:t> </a:t>
            </a:r>
            <a:r>
              <a:rPr spc="-245" dirty="0"/>
              <a:t>we</a:t>
            </a:r>
            <a:r>
              <a:rPr spc="-195" dirty="0"/>
              <a:t> </a:t>
            </a:r>
            <a:r>
              <a:rPr spc="-110" dirty="0"/>
              <a:t>build</a:t>
            </a:r>
            <a:r>
              <a:rPr spc="-190" dirty="0"/>
              <a:t> </a:t>
            </a:r>
            <a:r>
              <a:rPr spc="-105" dirty="0"/>
              <a:t>intelligent</a:t>
            </a:r>
            <a:r>
              <a:rPr spc="-170" dirty="0"/>
              <a:t> </a:t>
            </a:r>
            <a:r>
              <a:rPr spc="-300" dirty="0"/>
              <a:t>machines?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09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800" spc="-140" dirty="0">
                <a:latin typeface="Arial"/>
                <a:cs typeface="Arial"/>
              </a:rPr>
              <a:t>Imagine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you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have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build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an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intelligent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machine,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where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do </a:t>
            </a:r>
            <a:r>
              <a:rPr sz="2800" spc="-135" dirty="0">
                <a:latin typeface="Arial"/>
                <a:cs typeface="Arial"/>
              </a:rPr>
              <a:t>you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start?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 descr="Related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143" y="2801609"/>
            <a:ext cx="2395439" cy="2991672"/>
          </a:xfrm>
          <a:prstGeom prst="rect">
            <a:avLst/>
          </a:prstGeom>
        </p:spPr>
      </p:pic>
      <p:pic>
        <p:nvPicPr>
          <p:cNvPr id="5" name="object 5" descr="Image result for brain region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9988" y="2787831"/>
            <a:ext cx="3952321" cy="30237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814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Learning</a:t>
            </a:r>
            <a:r>
              <a:rPr spc="-229" dirty="0"/>
              <a:t> </a:t>
            </a:r>
            <a:r>
              <a:rPr spc="-445" dirty="0"/>
              <a:t>as</a:t>
            </a:r>
            <a:r>
              <a:rPr spc="-229" dirty="0"/>
              <a:t> </a:t>
            </a:r>
            <a:r>
              <a:rPr spc="-85" dirty="0"/>
              <a:t>the</a:t>
            </a:r>
            <a:r>
              <a:rPr spc="-229" dirty="0"/>
              <a:t> </a:t>
            </a:r>
            <a:r>
              <a:rPr spc="-310" dirty="0"/>
              <a:t>basis</a:t>
            </a:r>
            <a:r>
              <a:rPr spc="-245" dirty="0"/>
              <a:t> </a:t>
            </a:r>
            <a:r>
              <a:rPr dirty="0"/>
              <a:t>of</a:t>
            </a:r>
            <a:r>
              <a:rPr spc="-254" dirty="0"/>
              <a:t> </a:t>
            </a:r>
            <a:r>
              <a:rPr spc="-130" dirty="0"/>
              <a:t>intelligence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</a:tabLst>
            </a:pPr>
            <a:r>
              <a:rPr spc="-245" dirty="0"/>
              <a:t>Some</a:t>
            </a:r>
            <a:r>
              <a:rPr spc="-114" dirty="0"/>
              <a:t> things</a:t>
            </a:r>
            <a:r>
              <a:rPr spc="-80" dirty="0"/>
              <a:t> </a:t>
            </a:r>
            <a:r>
              <a:rPr spc="-125" dirty="0"/>
              <a:t>we</a:t>
            </a:r>
            <a:r>
              <a:rPr spc="-114" dirty="0"/>
              <a:t> </a:t>
            </a:r>
            <a:r>
              <a:rPr spc="-210" dirty="0"/>
              <a:t>can</a:t>
            </a:r>
            <a:r>
              <a:rPr spc="-105" dirty="0"/>
              <a:t> </a:t>
            </a:r>
            <a:r>
              <a:rPr spc="-75" dirty="0"/>
              <a:t>all</a:t>
            </a:r>
            <a:r>
              <a:rPr spc="-125" dirty="0"/>
              <a:t> </a:t>
            </a:r>
            <a:r>
              <a:rPr spc="-110" dirty="0"/>
              <a:t>do</a:t>
            </a:r>
            <a:r>
              <a:rPr spc="-105" dirty="0"/>
              <a:t> </a:t>
            </a:r>
            <a:r>
              <a:rPr spc="-145" dirty="0"/>
              <a:t>(e.g.</a:t>
            </a:r>
            <a:r>
              <a:rPr spc="-100" dirty="0"/>
              <a:t> </a:t>
            </a:r>
            <a:r>
              <a:rPr spc="-10" dirty="0"/>
              <a:t>walking)</a:t>
            </a: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pc="-245" dirty="0"/>
              <a:t>Some</a:t>
            </a:r>
            <a:r>
              <a:rPr spc="-120" dirty="0"/>
              <a:t> </a:t>
            </a:r>
            <a:r>
              <a:rPr spc="-114" dirty="0"/>
              <a:t>things</a:t>
            </a:r>
            <a:r>
              <a:rPr spc="-85" dirty="0"/>
              <a:t> </a:t>
            </a:r>
            <a:r>
              <a:rPr spc="-125" dirty="0"/>
              <a:t>we</a:t>
            </a:r>
            <a:r>
              <a:rPr spc="-130" dirty="0"/>
              <a:t> </a:t>
            </a:r>
            <a:r>
              <a:rPr spc="-204" dirty="0"/>
              <a:t>can</a:t>
            </a:r>
            <a:r>
              <a:rPr spc="-110" dirty="0"/>
              <a:t> </a:t>
            </a:r>
            <a:r>
              <a:rPr spc="-90" dirty="0"/>
              <a:t>only</a:t>
            </a:r>
            <a:r>
              <a:rPr spc="-114" dirty="0"/>
              <a:t> </a:t>
            </a:r>
            <a:r>
              <a:rPr spc="-100" dirty="0"/>
              <a:t>learn</a:t>
            </a:r>
            <a:r>
              <a:rPr spc="-125" dirty="0"/>
              <a:t> </a:t>
            </a:r>
            <a:r>
              <a:rPr spc="-145" dirty="0"/>
              <a:t>(e.g.</a:t>
            </a:r>
            <a:r>
              <a:rPr spc="-100" dirty="0"/>
              <a:t> </a:t>
            </a:r>
            <a:r>
              <a:rPr spc="-90" dirty="0"/>
              <a:t>driving </a:t>
            </a:r>
            <a:r>
              <a:rPr spc="-240" dirty="0"/>
              <a:t>a</a:t>
            </a:r>
            <a:r>
              <a:rPr spc="-120" dirty="0"/>
              <a:t> </a:t>
            </a:r>
            <a:r>
              <a:rPr spc="-20" dirty="0"/>
              <a:t>car)</a:t>
            </a: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Char char="•"/>
              <a:tabLst>
                <a:tab pos="240665" algn="l"/>
              </a:tabLst>
            </a:pPr>
            <a:r>
              <a:rPr spc="-229" dirty="0"/>
              <a:t>We</a:t>
            </a:r>
            <a:r>
              <a:rPr spc="-125" dirty="0"/>
              <a:t> </a:t>
            </a:r>
            <a:r>
              <a:rPr spc="-204" dirty="0"/>
              <a:t>can</a:t>
            </a:r>
            <a:r>
              <a:rPr spc="-114" dirty="0"/>
              <a:t> </a:t>
            </a:r>
            <a:r>
              <a:rPr spc="-100" dirty="0"/>
              <a:t>learn</a:t>
            </a:r>
            <a:r>
              <a:rPr spc="-120" dirty="0"/>
              <a:t> </a:t>
            </a:r>
            <a:r>
              <a:rPr spc="-240" dirty="0"/>
              <a:t>a</a:t>
            </a:r>
            <a:r>
              <a:rPr spc="-130" dirty="0"/>
              <a:t> </a:t>
            </a:r>
            <a:r>
              <a:rPr spc="-170" dirty="0"/>
              <a:t>huge</a:t>
            </a:r>
            <a:r>
              <a:rPr spc="-110" dirty="0"/>
              <a:t> </a:t>
            </a:r>
            <a:r>
              <a:rPr spc="-80" dirty="0"/>
              <a:t>variety</a:t>
            </a:r>
            <a:r>
              <a:rPr spc="-12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105" dirty="0"/>
              <a:t>things,</a:t>
            </a:r>
            <a:r>
              <a:rPr spc="-110" dirty="0"/>
              <a:t> </a:t>
            </a:r>
            <a:r>
              <a:rPr spc="-105" dirty="0"/>
              <a:t>including</a:t>
            </a:r>
            <a:r>
              <a:rPr spc="-70" dirty="0"/>
              <a:t> </a:t>
            </a:r>
            <a:r>
              <a:rPr spc="-120" dirty="0"/>
              <a:t>very</a:t>
            </a:r>
            <a:r>
              <a:rPr spc="-125" dirty="0"/>
              <a:t> </a:t>
            </a:r>
            <a:r>
              <a:rPr spc="-20" dirty="0"/>
              <a:t>difficult</a:t>
            </a:r>
            <a:r>
              <a:rPr spc="-100" dirty="0"/>
              <a:t> </a:t>
            </a:r>
            <a:r>
              <a:rPr spc="-10" dirty="0"/>
              <a:t>things</a:t>
            </a:r>
          </a:p>
          <a:p>
            <a:pPr marL="240029" marR="5080" indent="-227965">
              <a:lnSpc>
                <a:spcPts val="3020"/>
              </a:lnSpc>
              <a:spcBef>
                <a:spcPts val="1040"/>
              </a:spcBef>
              <a:buChar char="•"/>
              <a:tabLst>
                <a:tab pos="241300" algn="l"/>
              </a:tabLst>
            </a:pPr>
            <a:r>
              <a:rPr spc="-130" dirty="0"/>
              <a:t>Therefore</a:t>
            </a:r>
            <a:r>
              <a:rPr spc="-120" dirty="0"/>
              <a:t> </a:t>
            </a:r>
            <a:r>
              <a:rPr spc="-60" dirty="0"/>
              <a:t>our</a:t>
            </a:r>
            <a:r>
              <a:rPr spc="-110" dirty="0"/>
              <a:t> </a:t>
            </a:r>
            <a:r>
              <a:rPr spc="-105" dirty="0"/>
              <a:t>learning</a:t>
            </a:r>
            <a:r>
              <a:rPr spc="-100" dirty="0"/>
              <a:t> </a:t>
            </a:r>
            <a:r>
              <a:rPr spc="-165" dirty="0"/>
              <a:t>mechanism(s)</a:t>
            </a:r>
            <a:r>
              <a:rPr spc="-80" dirty="0"/>
              <a:t> </a:t>
            </a:r>
            <a:r>
              <a:rPr spc="-145" dirty="0"/>
              <a:t>are</a:t>
            </a:r>
            <a:r>
              <a:rPr spc="-114" dirty="0"/>
              <a:t> </a:t>
            </a:r>
            <a:r>
              <a:rPr spc="-95" dirty="0"/>
              <a:t>likely</a:t>
            </a:r>
            <a:r>
              <a:rPr spc="-135" dirty="0"/>
              <a:t> </a:t>
            </a:r>
            <a:r>
              <a:rPr spc="-60" dirty="0"/>
              <a:t>powerful</a:t>
            </a:r>
            <a:r>
              <a:rPr spc="-100" dirty="0"/>
              <a:t> </a:t>
            </a:r>
            <a:r>
              <a:rPr spc="-145" dirty="0"/>
              <a:t>enough</a:t>
            </a:r>
            <a:r>
              <a:rPr spc="-114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spc="-25" dirty="0"/>
              <a:t>do 	</a:t>
            </a:r>
            <a:r>
              <a:rPr spc="-95" dirty="0"/>
              <a:t>everything</a:t>
            </a:r>
            <a:r>
              <a:rPr spc="-110" dirty="0"/>
              <a:t> </a:t>
            </a:r>
            <a:r>
              <a:rPr spc="-125" dirty="0"/>
              <a:t>we</a:t>
            </a:r>
            <a:r>
              <a:rPr spc="-120" dirty="0"/>
              <a:t> </a:t>
            </a:r>
            <a:r>
              <a:rPr spc="-170" dirty="0"/>
              <a:t>associate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14" dirty="0"/>
              <a:t> </a:t>
            </a:r>
            <a:r>
              <a:rPr spc="-10" dirty="0"/>
              <a:t>intelligence</a:t>
            </a: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Char char="•"/>
              <a:tabLst>
                <a:tab pos="697230" algn="l"/>
              </a:tabLst>
            </a:pPr>
            <a:r>
              <a:rPr sz="2400" spc="-85" dirty="0">
                <a:latin typeface="Arial"/>
                <a:cs typeface="Arial"/>
              </a:rPr>
              <a:t>But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75" dirty="0">
                <a:latin typeface="Arial"/>
                <a:cs typeface="Arial"/>
              </a:rPr>
              <a:t>it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may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still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be</a:t>
            </a:r>
            <a:r>
              <a:rPr sz="2400" spc="-100" dirty="0">
                <a:latin typeface="Arial"/>
                <a:cs typeface="Arial"/>
              </a:rPr>
              <a:t> very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convenient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“hard-</a:t>
            </a:r>
            <a:r>
              <a:rPr sz="2400" spc="-70" dirty="0">
                <a:latin typeface="Arial"/>
                <a:cs typeface="Arial"/>
              </a:rPr>
              <a:t>code”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few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really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important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234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What</a:t>
            </a:r>
            <a:r>
              <a:rPr spc="-200" dirty="0"/>
              <a:t> </a:t>
            </a:r>
            <a:r>
              <a:rPr spc="-195" dirty="0"/>
              <a:t>must</a:t>
            </a:r>
            <a:r>
              <a:rPr spc="-200" dirty="0"/>
              <a:t> </a:t>
            </a:r>
            <a:r>
              <a:rPr spc="-45" dirty="0"/>
              <a:t>that</a:t>
            </a:r>
            <a:r>
              <a:rPr spc="-195" dirty="0"/>
              <a:t> </a:t>
            </a:r>
            <a:r>
              <a:rPr spc="-240" dirty="0"/>
              <a:t>single</a:t>
            </a:r>
            <a:r>
              <a:rPr spc="-204" dirty="0"/>
              <a:t> </a:t>
            </a:r>
            <a:r>
              <a:rPr spc="-125" dirty="0"/>
              <a:t>algorithm</a:t>
            </a:r>
            <a:r>
              <a:rPr spc="-200" dirty="0"/>
              <a:t> </a:t>
            </a:r>
            <a:r>
              <a:rPr spc="-130" dirty="0"/>
              <a:t>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4340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800" spc="-45" dirty="0">
                <a:latin typeface="Arial"/>
                <a:cs typeface="Arial"/>
              </a:rPr>
              <a:t>Interpret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rich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sensory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inputs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838778"/>
            <a:ext cx="3730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spc="-229" dirty="0">
                <a:latin typeface="Arial"/>
                <a:cs typeface="Arial"/>
              </a:rPr>
              <a:t>Choose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complex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actions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" name="object 5" descr="Image result for the sens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705" y="1665604"/>
            <a:ext cx="2687358" cy="1920239"/>
          </a:xfrm>
          <a:prstGeom prst="rect">
            <a:avLst/>
          </a:prstGeom>
        </p:spPr>
      </p:pic>
      <p:pic>
        <p:nvPicPr>
          <p:cNvPr id="6" name="object 6" descr="Image result for arm neuroscienc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91400" y="4090987"/>
            <a:ext cx="2085975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814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Why</a:t>
            </a:r>
            <a:r>
              <a:rPr spc="-215" dirty="0"/>
              <a:t> </a:t>
            </a:r>
            <a:r>
              <a:rPr spc="-229" dirty="0"/>
              <a:t>deep</a:t>
            </a:r>
            <a:r>
              <a:rPr spc="-204" dirty="0"/>
              <a:t> </a:t>
            </a:r>
            <a:r>
              <a:rPr spc="-145" dirty="0"/>
              <a:t>reinforcement</a:t>
            </a:r>
            <a:r>
              <a:rPr spc="-204" dirty="0"/>
              <a:t> </a:t>
            </a:r>
            <a:r>
              <a:rPr spc="-160" dirty="0"/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00417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Char char="•"/>
              <a:tabLst>
                <a:tab pos="240665" algn="l"/>
              </a:tabLst>
            </a:pPr>
            <a:r>
              <a:rPr sz="2800" spc="-215" dirty="0">
                <a:latin typeface="Arial"/>
                <a:cs typeface="Arial"/>
              </a:rPr>
              <a:t>Deep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scalable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learning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from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large,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complex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datasets</a:t>
            </a:r>
            <a:endParaRPr sz="28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z="2800" spc="-125" dirty="0">
                <a:latin typeface="Arial"/>
                <a:cs typeface="Arial"/>
              </a:rPr>
              <a:t>Reinforcement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learning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=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optimization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4883" y="3493740"/>
            <a:ext cx="2623185" cy="7048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400" b="1" spc="-85" dirty="0">
                <a:solidFill>
                  <a:srgbClr val="00AFEF"/>
                </a:solidFill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35"/>
              </a:spcBef>
            </a:pPr>
            <a:r>
              <a:rPr sz="1800" spc="-135" dirty="0">
                <a:latin typeface="Arial"/>
                <a:cs typeface="Arial"/>
              </a:rPr>
              <a:t>use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b="1" spc="-100" dirty="0">
                <a:latin typeface="Arial"/>
                <a:cs typeface="Arial"/>
              </a:rPr>
              <a:t>data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extract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Image result for worl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4282643"/>
            <a:ext cx="1218869" cy="121886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876169" y="4654930"/>
            <a:ext cx="593725" cy="474345"/>
            <a:chOff x="2876169" y="4654930"/>
            <a:chExt cx="593725" cy="474345"/>
          </a:xfrm>
        </p:grpSpPr>
        <p:sp>
          <p:nvSpPr>
            <p:cNvPr id="7" name="object 7"/>
            <p:cNvSpPr/>
            <p:nvPr/>
          </p:nvSpPr>
          <p:spPr>
            <a:xfrm>
              <a:off x="2882519" y="4661280"/>
              <a:ext cx="581025" cy="461645"/>
            </a:xfrm>
            <a:custGeom>
              <a:avLst/>
              <a:gdLst/>
              <a:ahLst/>
              <a:cxnLst/>
              <a:rect l="l" t="t" r="r" b="b"/>
              <a:pathLst>
                <a:path w="581025" h="461645">
                  <a:moveTo>
                    <a:pt x="350012" y="0"/>
                  </a:moveTo>
                  <a:lnTo>
                    <a:pt x="350012" y="115443"/>
                  </a:lnTo>
                  <a:lnTo>
                    <a:pt x="0" y="115443"/>
                  </a:lnTo>
                  <a:lnTo>
                    <a:pt x="0" y="346202"/>
                  </a:lnTo>
                  <a:lnTo>
                    <a:pt x="350012" y="346202"/>
                  </a:lnTo>
                  <a:lnTo>
                    <a:pt x="350012" y="461645"/>
                  </a:lnTo>
                  <a:lnTo>
                    <a:pt x="580770" y="230759"/>
                  </a:lnTo>
                  <a:lnTo>
                    <a:pt x="35001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82519" y="4661280"/>
              <a:ext cx="581025" cy="461645"/>
            </a:xfrm>
            <a:custGeom>
              <a:avLst/>
              <a:gdLst/>
              <a:ahLst/>
              <a:cxnLst/>
              <a:rect l="l" t="t" r="r" b="b"/>
              <a:pathLst>
                <a:path w="581025" h="461645">
                  <a:moveTo>
                    <a:pt x="580770" y="230759"/>
                  </a:moveTo>
                  <a:lnTo>
                    <a:pt x="350012" y="0"/>
                  </a:lnTo>
                  <a:lnTo>
                    <a:pt x="350012" y="115443"/>
                  </a:lnTo>
                  <a:lnTo>
                    <a:pt x="0" y="115443"/>
                  </a:lnTo>
                  <a:lnTo>
                    <a:pt x="0" y="346202"/>
                  </a:lnTo>
                  <a:lnTo>
                    <a:pt x="350012" y="346202"/>
                  </a:lnTo>
                  <a:lnTo>
                    <a:pt x="350012" y="461645"/>
                  </a:lnTo>
                  <a:lnTo>
                    <a:pt x="580770" y="230759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 descr="http://neuralnetworksanddeeplearning.com/images/tikz41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1427" y="4434966"/>
            <a:ext cx="1655930" cy="9879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628003" y="3488114"/>
            <a:ext cx="3591560" cy="7105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300"/>
              </a:spcBef>
            </a:pPr>
            <a:r>
              <a:rPr sz="2400" b="1" spc="-80" dirty="0">
                <a:solidFill>
                  <a:srgbClr val="00AF50"/>
                </a:solidFill>
                <a:latin typeface="Arial"/>
                <a:cs typeface="Arial"/>
              </a:rPr>
              <a:t>Search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spc="-135" dirty="0">
                <a:latin typeface="Arial"/>
                <a:cs typeface="Arial"/>
              </a:rPr>
              <a:t>use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computation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extract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b="1" spc="-114" dirty="0">
                <a:latin typeface="Arial"/>
                <a:cs typeface="Arial"/>
              </a:rPr>
              <a:t>inferences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09438" y="4146381"/>
            <a:ext cx="992505" cy="376555"/>
            <a:chOff x="5409438" y="4146381"/>
            <a:chExt cx="992505" cy="37655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2613" y="4149556"/>
              <a:ext cx="985647" cy="37011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12613" y="4149556"/>
              <a:ext cx="986155" cy="370205"/>
            </a:xfrm>
            <a:custGeom>
              <a:avLst/>
              <a:gdLst/>
              <a:ahLst/>
              <a:cxnLst/>
              <a:rect l="l" t="t" r="r" b="b"/>
              <a:pathLst>
                <a:path w="986154" h="370204">
                  <a:moveTo>
                    <a:pt x="0" y="266741"/>
                  </a:moveTo>
                  <a:lnTo>
                    <a:pt x="33865" y="230386"/>
                  </a:lnTo>
                  <a:lnTo>
                    <a:pt x="69577" y="196573"/>
                  </a:lnTo>
                  <a:lnTo>
                    <a:pt x="106969" y="165331"/>
                  </a:lnTo>
                  <a:lnTo>
                    <a:pt x="145875" y="136691"/>
                  </a:lnTo>
                  <a:lnTo>
                    <a:pt x="186129" y="110682"/>
                  </a:lnTo>
                  <a:lnTo>
                    <a:pt x="227566" y="87335"/>
                  </a:lnTo>
                  <a:lnTo>
                    <a:pt x="270018" y="66680"/>
                  </a:lnTo>
                  <a:lnTo>
                    <a:pt x="313322" y="48747"/>
                  </a:lnTo>
                  <a:lnTo>
                    <a:pt x="357309" y="33567"/>
                  </a:lnTo>
                  <a:lnTo>
                    <a:pt x="401816" y="21168"/>
                  </a:lnTo>
                  <a:lnTo>
                    <a:pt x="446674" y="11582"/>
                  </a:lnTo>
                  <a:lnTo>
                    <a:pt x="491720" y="4838"/>
                  </a:lnTo>
                  <a:lnTo>
                    <a:pt x="536786" y="968"/>
                  </a:lnTo>
                  <a:lnTo>
                    <a:pt x="581706" y="0"/>
                  </a:lnTo>
                  <a:lnTo>
                    <a:pt x="626315" y="1964"/>
                  </a:lnTo>
                  <a:lnTo>
                    <a:pt x="670447" y="6892"/>
                  </a:lnTo>
                  <a:lnTo>
                    <a:pt x="713936" y="14813"/>
                  </a:lnTo>
                  <a:lnTo>
                    <a:pt x="756616" y="25758"/>
                  </a:lnTo>
                  <a:lnTo>
                    <a:pt x="798320" y="39756"/>
                  </a:lnTo>
                  <a:lnTo>
                    <a:pt x="838884" y="56837"/>
                  </a:lnTo>
                  <a:lnTo>
                    <a:pt x="878140" y="77032"/>
                  </a:lnTo>
                  <a:lnTo>
                    <a:pt x="915924" y="100371"/>
                  </a:lnTo>
                  <a:lnTo>
                    <a:pt x="980313" y="55794"/>
                  </a:lnTo>
                  <a:lnTo>
                    <a:pt x="985647" y="287696"/>
                  </a:lnTo>
                  <a:lnTo>
                    <a:pt x="697611" y="251247"/>
                  </a:lnTo>
                  <a:lnTo>
                    <a:pt x="758825" y="208829"/>
                  </a:lnTo>
                  <a:lnTo>
                    <a:pt x="715963" y="192588"/>
                  </a:lnTo>
                  <a:lnTo>
                    <a:pt x="671486" y="180981"/>
                  </a:lnTo>
                  <a:lnTo>
                    <a:pt x="625737" y="173916"/>
                  </a:lnTo>
                  <a:lnTo>
                    <a:pt x="579066" y="171303"/>
                  </a:lnTo>
                  <a:lnTo>
                    <a:pt x="531817" y="173051"/>
                  </a:lnTo>
                  <a:lnTo>
                    <a:pt x="484338" y="179071"/>
                  </a:lnTo>
                  <a:lnTo>
                    <a:pt x="436975" y="189271"/>
                  </a:lnTo>
                  <a:lnTo>
                    <a:pt x="390074" y="203561"/>
                  </a:lnTo>
                  <a:lnTo>
                    <a:pt x="343983" y="221850"/>
                  </a:lnTo>
                  <a:lnTo>
                    <a:pt x="299047" y="244048"/>
                  </a:lnTo>
                  <a:lnTo>
                    <a:pt x="255614" y="270065"/>
                  </a:lnTo>
                  <a:lnTo>
                    <a:pt x="214030" y="299809"/>
                  </a:lnTo>
                  <a:lnTo>
                    <a:pt x="174641" y="333191"/>
                  </a:lnTo>
                  <a:lnTo>
                    <a:pt x="137795" y="370119"/>
                  </a:lnTo>
                  <a:lnTo>
                    <a:pt x="0" y="266741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421629" y="5224779"/>
            <a:ext cx="1008380" cy="415290"/>
            <a:chOff x="5421629" y="5224779"/>
            <a:chExt cx="1008380" cy="41529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4804" y="5227954"/>
              <a:ext cx="1001522" cy="40888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24804" y="5227954"/>
              <a:ext cx="1002030" cy="408940"/>
            </a:xfrm>
            <a:custGeom>
              <a:avLst/>
              <a:gdLst/>
              <a:ahLst/>
              <a:cxnLst/>
              <a:rect l="l" t="t" r="r" b="b"/>
              <a:pathLst>
                <a:path w="1002029" h="408939">
                  <a:moveTo>
                    <a:pt x="1001522" y="276098"/>
                  </a:moveTo>
                  <a:lnTo>
                    <a:pt x="959374" y="302403"/>
                  </a:lnTo>
                  <a:lnTo>
                    <a:pt x="916103" y="325777"/>
                  </a:lnTo>
                  <a:lnTo>
                    <a:pt x="871875" y="346233"/>
                  </a:lnTo>
                  <a:lnTo>
                    <a:pt x="826860" y="363785"/>
                  </a:lnTo>
                  <a:lnTo>
                    <a:pt x="781226" y="378446"/>
                  </a:lnTo>
                  <a:lnTo>
                    <a:pt x="735141" y="390232"/>
                  </a:lnTo>
                  <a:lnTo>
                    <a:pt x="688773" y="399155"/>
                  </a:lnTo>
                  <a:lnTo>
                    <a:pt x="642290" y="405229"/>
                  </a:lnTo>
                  <a:lnTo>
                    <a:pt x="595862" y="408470"/>
                  </a:lnTo>
                  <a:lnTo>
                    <a:pt x="549656" y="408889"/>
                  </a:lnTo>
                  <a:lnTo>
                    <a:pt x="503840" y="406503"/>
                  </a:lnTo>
                  <a:lnTo>
                    <a:pt x="458584" y="401323"/>
                  </a:lnTo>
                  <a:lnTo>
                    <a:pt x="414054" y="393366"/>
                  </a:lnTo>
                  <a:lnTo>
                    <a:pt x="370420" y="382643"/>
                  </a:lnTo>
                  <a:lnTo>
                    <a:pt x="327850" y="369170"/>
                  </a:lnTo>
                  <a:lnTo>
                    <a:pt x="286512" y="352960"/>
                  </a:lnTo>
                  <a:lnTo>
                    <a:pt x="246575" y="334027"/>
                  </a:lnTo>
                  <a:lnTo>
                    <a:pt x="208207" y="312385"/>
                  </a:lnTo>
                  <a:lnTo>
                    <a:pt x="171575" y="288048"/>
                  </a:lnTo>
                  <a:lnTo>
                    <a:pt x="136849" y="261031"/>
                  </a:lnTo>
                  <a:lnTo>
                    <a:pt x="104197" y="231346"/>
                  </a:lnTo>
                  <a:lnTo>
                    <a:pt x="73787" y="199009"/>
                  </a:lnTo>
                  <a:lnTo>
                    <a:pt x="0" y="225298"/>
                  </a:lnTo>
                  <a:lnTo>
                    <a:pt x="54991" y="0"/>
                  </a:lnTo>
                  <a:lnTo>
                    <a:pt x="323723" y="109982"/>
                  </a:lnTo>
                  <a:lnTo>
                    <a:pt x="253619" y="135001"/>
                  </a:lnTo>
                  <a:lnTo>
                    <a:pt x="290798" y="161796"/>
                  </a:lnTo>
                  <a:lnTo>
                    <a:pt x="330740" y="184542"/>
                  </a:lnTo>
                  <a:lnTo>
                    <a:pt x="373089" y="203234"/>
                  </a:lnTo>
                  <a:lnTo>
                    <a:pt x="417484" y="217870"/>
                  </a:lnTo>
                  <a:lnTo>
                    <a:pt x="463568" y="228447"/>
                  </a:lnTo>
                  <a:lnTo>
                    <a:pt x="510983" y="234961"/>
                  </a:lnTo>
                  <a:lnTo>
                    <a:pt x="559371" y="237410"/>
                  </a:lnTo>
                  <a:lnTo>
                    <a:pt x="608373" y="235790"/>
                  </a:lnTo>
                  <a:lnTo>
                    <a:pt x="657631" y="230099"/>
                  </a:lnTo>
                  <a:lnTo>
                    <a:pt x="706786" y="220333"/>
                  </a:lnTo>
                  <a:lnTo>
                    <a:pt x="755482" y="206489"/>
                  </a:lnTo>
                  <a:lnTo>
                    <a:pt x="803358" y="188565"/>
                  </a:lnTo>
                  <a:lnTo>
                    <a:pt x="850058" y="166557"/>
                  </a:lnTo>
                  <a:lnTo>
                    <a:pt x="895223" y="140462"/>
                  </a:lnTo>
                  <a:lnTo>
                    <a:pt x="1001522" y="276098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563359" y="4453254"/>
            <a:ext cx="1670685" cy="994410"/>
            <a:chOff x="6563359" y="4453254"/>
            <a:chExt cx="1670685" cy="99441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6534" y="4456429"/>
              <a:ext cx="1663827" cy="9879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566534" y="4456429"/>
              <a:ext cx="1664335" cy="988060"/>
            </a:xfrm>
            <a:custGeom>
              <a:avLst/>
              <a:gdLst/>
              <a:ahLst/>
              <a:cxnLst/>
              <a:rect l="l" t="t" r="r" b="b"/>
              <a:pathLst>
                <a:path w="1664334" h="988060">
                  <a:moveTo>
                    <a:pt x="0" y="164592"/>
                  </a:moveTo>
                  <a:lnTo>
                    <a:pt x="5877" y="120826"/>
                  </a:lnTo>
                  <a:lnTo>
                    <a:pt x="22464" y="81505"/>
                  </a:lnTo>
                  <a:lnTo>
                    <a:pt x="48196" y="48196"/>
                  </a:lnTo>
                  <a:lnTo>
                    <a:pt x="81505" y="22464"/>
                  </a:lnTo>
                  <a:lnTo>
                    <a:pt x="120826" y="5877"/>
                  </a:lnTo>
                  <a:lnTo>
                    <a:pt x="164592" y="0"/>
                  </a:lnTo>
                  <a:lnTo>
                    <a:pt x="1499235" y="0"/>
                  </a:lnTo>
                  <a:lnTo>
                    <a:pt x="1543000" y="5877"/>
                  </a:lnTo>
                  <a:lnTo>
                    <a:pt x="1582321" y="22464"/>
                  </a:lnTo>
                  <a:lnTo>
                    <a:pt x="1615630" y="48196"/>
                  </a:lnTo>
                  <a:lnTo>
                    <a:pt x="1641362" y="81505"/>
                  </a:lnTo>
                  <a:lnTo>
                    <a:pt x="1657949" y="120826"/>
                  </a:lnTo>
                  <a:lnTo>
                    <a:pt x="1663827" y="164592"/>
                  </a:lnTo>
                  <a:lnTo>
                    <a:pt x="1663827" y="823341"/>
                  </a:lnTo>
                  <a:lnTo>
                    <a:pt x="1657949" y="867106"/>
                  </a:lnTo>
                  <a:lnTo>
                    <a:pt x="1641362" y="906427"/>
                  </a:lnTo>
                  <a:lnTo>
                    <a:pt x="1615630" y="939736"/>
                  </a:lnTo>
                  <a:lnTo>
                    <a:pt x="1582321" y="965468"/>
                  </a:lnTo>
                  <a:lnTo>
                    <a:pt x="1543000" y="982055"/>
                  </a:lnTo>
                  <a:lnTo>
                    <a:pt x="1499235" y="987933"/>
                  </a:lnTo>
                  <a:lnTo>
                    <a:pt x="164592" y="987933"/>
                  </a:lnTo>
                  <a:lnTo>
                    <a:pt x="120826" y="982055"/>
                  </a:lnTo>
                  <a:lnTo>
                    <a:pt x="81505" y="965468"/>
                  </a:lnTo>
                  <a:lnTo>
                    <a:pt x="48196" y="939736"/>
                  </a:lnTo>
                  <a:lnTo>
                    <a:pt x="22464" y="906427"/>
                  </a:lnTo>
                  <a:lnTo>
                    <a:pt x="5877" y="867106"/>
                  </a:lnTo>
                  <a:lnTo>
                    <a:pt x="0" y="823341"/>
                  </a:lnTo>
                  <a:lnTo>
                    <a:pt x="0" y="164592"/>
                  </a:lnTo>
                  <a:close/>
                </a:path>
              </a:pathLst>
            </a:custGeom>
            <a:ln w="634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802628" y="4786376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58592" y="5553557"/>
            <a:ext cx="3202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allows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45" dirty="0">
                <a:latin typeface="Arial"/>
                <a:cs typeface="Arial"/>
              </a:rPr>
              <a:t>us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b="1" spc="-135" dirty="0">
                <a:latin typeface="Arial"/>
                <a:cs typeface="Arial"/>
              </a:rPr>
              <a:t>understand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world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1873" y="5542279"/>
            <a:ext cx="4171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"/>
                <a:cs typeface="Arial"/>
              </a:rPr>
              <a:t>leverages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b="1" spc="-145" dirty="0">
                <a:latin typeface="Arial"/>
                <a:cs typeface="Arial"/>
              </a:rPr>
              <a:t>understanding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emergence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78667" y="1532719"/>
            <a:ext cx="3545204" cy="3644265"/>
            <a:chOff x="4278667" y="1532719"/>
            <a:chExt cx="3545204" cy="3644265"/>
          </a:xfrm>
        </p:grpSpPr>
        <p:pic>
          <p:nvPicPr>
            <p:cNvPr id="3" name="object 3" descr="Related imag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8667" y="1532719"/>
              <a:ext cx="2917785" cy="36440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16520" y="2748914"/>
              <a:ext cx="597535" cy="1387475"/>
            </a:xfrm>
            <a:custGeom>
              <a:avLst/>
              <a:gdLst/>
              <a:ahLst/>
              <a:cxnLst/>
              <a:rect l="l" t="t" r="r" b="b"/>
              <a:pathLst>
                <a:path w="597534" h="1387475">
                  <a:moveTo>
                    <a:pt x="298703" y="0"/>
                  </a:moveTo>
                  <a:lnTo>
                    <a:pt x="298703" y="346837"/>
                  </a:lnTo>
                  <a:lnTo>
                    <a:pt x="0" y="346837"/>
                  </a:lnTo>
                  <a:lnTo>
                    <a:pt x="0" y="1040384"/>
                  </a:lnTo>
                  <a:lnTo>
                    <a:pt x="298703" y="1040384"/>
                  </a:lnTo>
                  <a:lnTo>
                    <a:pt x="298703" y="1387221"/>
                  </a:lnTo>
                  <a:lnTo>
                    <a:pt x="597534" y="693674"/>
                  </a:lnTo>
                  <a:lnTo>
                    <a:pt x="29870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6520" y="2748914"/>
              <a:ext cx="597535" cy="1387475"/>
            </a:xfrm>
            <a:custGeom>
              <a:avLst/>
              <a:gdLst/>
              <a:ahLst/>
              <a:cxnLst/>
              <a:rect l="l" t="t" r="r" b="b"/>
              <a:pathLst>
                <a:path w="597534" h="1387475">
                  <a:moveTo>
                    <a:pt x="0" y="346837"/>
                  </a:moveTo>
                  <a:lnTo>
                    <a:pt x="298703" y="346837"/>
                  </a:lnTo>
                  <a:lnTo>
                    <a:pt x="298703" y="0"/>
                  </a:lnTo>
                  <a:lnTo>
                    <a:pt x="597534" y="693674"/>
                  </a:lnTo>
                  <a:lnTo>
                    <a:pt x="298703" y="1387221"/>
                  </a:lnTo>
                  <a:lnTo>
                    <a:pt x="298703" y="1040384"/>
                  </a:lnTo>
                  <a:lnTo>
                    <a:pt x="0" y="1040384"/>
                  </a:lnTo>
                  <a:lnTo>
                    <a:pt x="0" y="34683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7340" y="1273556"/>
            <a:ext cx="90741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0" dirty="0"/>
              <a:t>Instead </a:t>
            </a:r>
            <a:r>
              <a:rPr sz="2000" spc="-85" dirty="0"/>
              <a:t>program</a:t>
            </a:r>
            <a:endParaRPr sz="2000" dirty="0"/>
          </a:p>
        </p:txBody>
      </p:sp>
      <p:sp>
        <p:nvSpPr>
          <p:cNvPr id="7" name="object 7"/>
          <p:cNvSpPr txBox="1"/>
          <p:nvPr/>
        </p:nvSpPr>
        <p:spPr>
          <a:xfrm>
            <a:off x="1240332" y="1273556"/>
            <a:ext cx="272097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52400" marR="5080" indent="-140335">
              <a:lnSpc>
                <a:spcPts val="2160"/>
              </a:lnSpc>
              <a:spcBef>
                <a:spcPts val="375"/>
              </a:spcBef>
              <a:tabLst>
                <a:tab pos="396240" algn="l"/>
                <a:tab pos="559435" algn="l"/>
                <a:tab pos="1170305" algn="l"/>
                <a:tab pos="1558925" algn="l"/>
                <a:tab pos="1633855" algn="l"/>
                <a:tab pos="2173605" algn="l"/>
                <a:tab pos="2585085" algn="l"/>
              </a:tabLst>
            </a:pPr>
            <a:r>
              <a:rPr sz="2000" spc="-25" dirty="0">
                <a:latin typeface="Arial"/>
                <a:cs typeface="Arial"/>
              </a:rPr>
              <a:t>of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trying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to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produce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90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to</a:t>
            </a:r>
            <a:r>
              <a:rPr sz="2000" dirty="0">
                <a:latin typeface="Arial"/>
                <a:cs typeface="Arial"/>
              </a:rPr>
              <a:t>		</a:t>
            </a:r>
            <a:r>
              <a:rPr sz="2000" spc="-10" dirty="0">
                <a:latin typeface="Arial"/>
                <a:cs typeface="Arial"/>
              </a:rPr>
              <a:t>simulate</a:t>
            </a:r>
            <a:r>
              <a:rPr sz="2000" dirty="0">
                <a:latin typeface="Arial"/>
                <a:cs typeface="Arial"/>
              </a:rPr>
              <a:t>		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40" dirty="0">
                <a:latin typeface="Arial"/>
                <a:cs typeface="Arial"/>
              </a:rPr>
              <a:t>adult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1821891"/>
            <a:ext cx="3650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8040" algn="l"/>
                <a:tab pos="1473835" algn="l"/>
                <a:tab pos="2050414" algn="l"/>
                <a:tab pos="2909570" algn="l"/>
                <a:tab pos="3423920" algn="l"/>
              </a:tabLst>
            </a:pPr>
            <a:r>
              <a:rPr sz="2000" spc="-10" dirty="0">
                <a:latin typeface="Arial"/>
                <a:cs typeface="Arial"/>
              </a:rPr>
              <a:t>mind,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why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not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rather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try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2096770"/>
            <a:ext cx="365188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45" dirty="0">
                <a:latin typeface="Arial"/>
                <a:cs typeface="Arial"/>
              </a:rPr>
              <a:t>produce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one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which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simulates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child's?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this</a:t>
            </a:r>
            <a:r>
              <a:rPr sz="2000" spc="-60" dirty="0">
                <a:latin typeface="Arial"/>
                <a:cs typeface="Arial"/>
              </a:rPr>
              <a:t> were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subjected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340" y="2645410"/>
            <a:ext cx="36518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9584" algn="l"/>
                <a:tab pos="1006475" algn="l"/>
                <a:tab pos="2481580" algn="l"/>
                <a:tab pos="3426460" algn="l"/>
              </a:tabLst>
            </a:pPr>
            <a:r>
              <a:rPr sz="2000" spc="-25" dirty="0">
                <a:latin typeface="Arial"/>
                <a:cs typeface="Arial"/>
              </a:rPr>
              <a:t>to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an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appropriate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course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35" dirty="0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340" y="2919730"/>
            <a:ext cx="3651885" cy="1006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1183005" algn="l"/>
                <a:tab pos="1715135" algn="l"/>
                <a:tab pos="2490470" algn="l"/>
                <a:tab pos="3292475" algn="l"/>
              </a:tabLst>
            </a:pPr>
            <a:r>
              <a:rPr sz="2000" spc="-10" dirty="0">
                <a:latin typeface="Arial"/>
                <a:cs typeface="Arial"/>
              </a:rPr>
              <a:t>education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one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0" dirty="0">
                <a:latin typeface="Arial"/>
                <a:cs typeface="Arial"/>
              </a:rPr>
              <a:t>would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obtain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adult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brain.</a:t>
            </a:r>
            <a:endParaRPr sz="2000" dirty="0">
              <a:latin typeface="Arial"/>
              <a:cs typeface="Arial"/>
            </a:endParaRPr>
          </a:p>
          <a:p>
            <a:pPr marL="2242185">
              <a:lnSpc>
                <a:spcPct val="100000"/>
              </a:lnSpc>
              <a:spcBef>
                <a:spcPts val="725"/>
              </a:spcBef>
            </a:pP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Alan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Turing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37650" y="2168144"/>
            <a:ext cx="1841500" cy="983615"/>
            <a:chOff x="9137650" y="2168144"/>
            <a:chExt cx="1841500" cy="983615"/>
          </a:xfrm>
        </p:grpSpPr>
        <p:sp>
          <p:nvSpPr>
            <p:cNvPr id="13" name="object 13"/>
            <p:cNvSpPr/>
            <p:nvPr/>
          </p:nvSpPr>
          <p:spPr>
            <a:xfrm>
              <a:off x="9144000" y="2174494"/>
              <a:ext cx="1828800" cy="970915"/>
            </a:xfrm>
            <a:custGeom>
              <a:avLst/>
              <a:gdLst/>
              <a:ahLst/>
              <a:cxnLst/>
              <a:rect l="l" t="t" r="r" b="b"/>
              <a:pathLst>
                <a:path w="1828800" h="970914">
                  <a:moveTo>
                    <a:pt x="1667002" y="0"/>
                  </a:moveTo>
                  <a:lnTo>
                    <a:pt x="161798" y="0"/>
                  </a:lnTo>
                  <a:lnTo>
                    <a:pt x="118768" y="5784"/>
                  </a:lnTo>
                  <a:lnTo>
                    <a:pt x="80113" y="22107"/>
                  </a:lnTo>
                  <a:lnTo>
                    <a:pt x="47371" y="47418"/>
                  </a:lnTo>
                  <a:lnTo>
                    <a:pt x="22079" y="80169"/>
                  </a:lnTo>
                  <a:lnTo>
                    <a:pt x="5776" y="118812"/>
                  </a:lnTo>
                  <a:lnTo>
                    <a:pt x="0" y="161797"/>
                  </a:lnTo>
                  <a:lnTo>
                    <a:pt x="0" y="808989"/>
                  </a:lnTo>
                  <a:lnTo>
                    <a:pt x="5776" y="851975"/>
                  </a:lnTo>
                  <a:lnTo>
                    <a:pt x="22079" y="890618"/>
                  </a:lnTo>
                  <a:lnTo>
                    <a:pt x="47371" y="923369"/>
                  </a:lnTo>
                  <a:lnTo>
                    <a:pt x="80113" y="948680"/>
                  </a:lnTo>
                  <a:lnTo>
                    <a:pt x="118768" y="965003"/>
                  </a:lnTo>
                  <a:lnTo>
                    <a:pt x="161798" y="970788"/>
                  </a:lnTo>
                  <a:lnTo>
                    <a:pt x="1667002" y="970788"/>
                  </a:lnTo>
                  <a:lnTo>
                    <a:pt x="1710031" y="965003"/>
                  </a:lnTo>
                  <a:lnTo>
                    <a:pt x="1748686" y="948680"/>
                  </a:lnTo>
                  <a:lnTo>
                    <a:pt x="1781428" y="923369"/>
                  </a:lnTo>
                  <a:lnTo>
                    <a:pt x="1806720" y="890618"/>
                  </a:lnTo>
                  <a:lnTo>
                    <a:pt x="1823023" y="851975"/>
                  </a:lnTo>
                  <a:lnTo>
                    <a:pt x="1828800" y="808989"/>
                  </a:lnTo>
                  <a:lnTo>
                    <a:pt x="1828800" y="161797"/>
                  </a:lnTo>
                  <a:lnTo>
                    <a:pt x="1823023" y="118812"/>
                  </a:lnTo>
                  <a:lnTo>
                    <a:pt x="1806720" y="80169"/>
                  </a:lnTo>
                  <a:lnTo>
                    <a:pt x="1781428" y="47418"/>
                  </a:lnTo>
                  <a:lnTo>
                    <a:pt x="1748686" y="22107"/>
                  </a:lnTo>
                  <a:lnTo>
                    <a:pt x="1710031" y="5784"/>
                  </a:lnTo>
                  <a:lnTo>
                    <a:pt x="16670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44000" y="2174494"/>
              <a:ext cx="1828800" cy="970915"/>
            </a:xfrm>
            <a:custGeom>
              <a:avLst/>
              <a:gdLst/>
              <a:ahLst/>
              <a:cxnLst/>
              <a:rect l="l" t="t" r="r" b="b"/>
              <a:pathLst>
                <a:path w="1828800" h="970914">
                  <a:moveTo>
                    <a:pt x="0" y="161797"/>
                  </a:moveTo>
                  <a:lnTo>
                    <a:pt x="5776" y="118812"/>
                  </a:lnTo>
                  <a:lnTo>
                    <a:pt x="22079" y="80169"/>
                  </a:lnTo>
                  <a:lnTo>
                    <a:pt x="47371" y="47418"/>
                  </a:lnTo>
                  <a:lnTo>
                    <a:pt x="80113" y="22107"/>
                  </a:lnTo>
                  <a:lnTo>
                    <a:pt x="118768" y="5784"/>
                  </a:lnTo>
                  <a:lnTo>
                    <a:pt x="161798" y="0"/>
                  </a:lnTo>
                  <a:lnTo>
                    <a:pt x="1667002" y="0"/>
                  </a:lnTo>
                  <a:lnTo>
                    <a:pt x="1710031" y="5784"/>
                  </a:lnTo>
                  <a:lnTo>
                    <a:pt x="1748686" y="22107"/>
                  </a:lnTo>
                  <a:lnTo>
                    <a:pt x="1781428" y="47418"/>
                  </a:lnTo>
                  <a:lnTo>
                    <a:pt x="1806720" y="80169"/>
                  </a:lnTo>
                  <a:lnTo>
                    <a:pt x="1823023" y="118812"/>
                  </a:lnTo>
                  <a:lnTo>
                    <a:pt x="1828800" y="161797"/>
                  </a:lnTo>
                  <a:lnTo>
                    <a:pt x="1828800" y="808989"/>
                  </a:lnTo>
                  <a:lnTo>
                    <a:pt x="1823023" y="851975"/>
                  </a:lnTo>
                  <a:lnTo>
                    <a:pt x="1806720" y="890618"/>
                  </a:lnTo>
                  <a:lnTo>
                    <a:pt x="1781428" y="923369"/>
                  </a:lnTo>
                  <a:lnTo>
                    <a:pt x="1748686" y="948680"/>
                  </a:lnTo>
                  <a:lnTo>
                    <a:pt x="1710031" y="965003"/>
                  </a:lnTo>
                  <a:lnTo>
                    <a:pt x="1667002" y="970788"/>
                  </a:lnTo>
                  <a:lnTo>
                    <a:pt x="161798" y="970788"/>
                  </a:lnTo>
                  <a:lnTo>
                    <a:pt x="118768" y="965003"/>
                  </a:lnTo>
                  <a:lnTo>
                    <a:pt x="80113" y="948680"/>
                  </a:lnTo>
                  <a:lnTo>
                    <a:pt x="47371" y="923369"/>
                  </a:lnTo>
                  <a:lnTo>
                    <a:pt x="22079" y="890618"/>
                  </a:lnTo>
                  <a:lnTo>
                    <a:pt x="5776" y="851975"/>
                  </a:lnTo>
                  <a:lnTo>
                    <a:pt x="0" y="808989"/>
                  </a:lnTo>
                  <a:lnTo>
                    <a:pt x="0" y="16179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297416" y="2357704"/>
            <a:ext cx="15252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37650" y="3774694"/>
            <a:ext cx="1841500" cy="983615"/>
            <a:chOff x="9137650" y="3774694"/>
            <a:chExt cx="1841500" cy="983615"/>
          </a:xfrm>
        </p:grpSpPr>
        <p:sp>
          <p:nvSpPr>
            <p:cNvPr id="17" name="object 17"/>
            <p:cNvSpPr/>
            <p:nvPr/>
          </p:nvSpPr>
          <p:spPr>
            <a:xfrm>
              <a:off x="9144000" y="3781044"/>
              <a:ext cx="1828800" cy="970915"/>
            </a:xfrm>
            <a:custGeom>
              <a:avLst/>
              <a:gdLst/>
              <a:ahLst/>
              <a:cxnLst/>
              <a:rect l="l" t="t" r="r" b="b"/>
              <a:pathLst>
                <a:path w="1828800" h="970914">
                  <a:moveTo>
                    <a:pt x="1667002" y="0"/>
                  </a:moveTo>
                  <a:lnTo>
                    <a:pt x="161798" y="0"/>
                  </a:lnTo>
                  <a:lnTo>
                    <a:pt x="118768" y="5776"/>
                  </a:lnTo>
                  <a:lnTo>
                    <a:pt x="80113" y="22079"/>
                  </a:lnTo>
                  <a:lnTo>
                    <a:pt x="47371" y="47370"/>
                  </a:lnTo>
                  <a:lnTo>
                    <a:pt x="22079" y="80113"/>
                  </a:lnTo>
                  <a:lnTo>
                    <a:pt x="5776" y="118768"/>
                  </a:lnTo>
                  <a:lnTo>
                    <a:pt x="0" y="161797"/>
                  </a:lnTo>
                  <a:lnTo>
                    <a:pt x="0" y="808862"/>
                  </a:lnTo>
                  <a:lnTo>
                    <a:pt x="5776" y="851892"/>
                  </a:lnTo>
                  <a:lnTo>
                    <a:pt x="22079" y="890547"/>
                  </a:lnTo>
                  <a:lnTo>
                    <a:pt x="47371" y="923289"/>
                  </a:lnTo>
                  <a:lnTo>
                    <a:pt x="80113" y="948581"/>
                  </a:lnTo>
                  <a:lnTo>
                    <a:pt x="118768" y="964884"/>
                  </a:lnTo>
                  <a:lnTo>
                    <a:pt x="161798" y="970660"/>
                  </a:lnTo>
                  <a:lnTo>
                    <a:pt x="1667002" y="970660"/>
                  </a:lnTo>
                  <a:lnTo>
                    <a:pt x="1710031" y="964884"/>
                  </a:lnTo>
                  <a:lnTo>
                    <a:pt x="1748686" y="948581"/>
                  </a:lnTo>
                  <a:lnTo>
                    <a:pt x="1781428" y="923289"/>
                  </a:lnTo>
                  <a:lnTo>
                    <a:pt x="1806720" y="890547"/>
                  </a:lnTo>
                  <a:lnTo>
                    <a:pt x="1823023" y="851892"/>
                  </a:lnTo>
                  <a:lnTo>
                    <a:pt x="1828800" y="808862"/>
                  </a:lnTo>
                  <a:lnTo>
                    <a:pt x="1828800" y="161797"/>
                  </a:lnTo>
                  <a:lnTo>
                    <a:pt x="1823023" y="118768"/>
                  </a:lnTo>
                  <a:lnTo>
                    <a:pt x="1806720" y="80113"/>
                  </a:lnTo>
                  <a:lnTo>
                    <a:pt x="1781428" y="47370"/>
                  </a:lnTo>
                  <a:lnTo>
                    <a:pt x="1748686" y="22079"/>
                  </a:lnTo>
                  <a:lnTo>
                    <a:pt x="1710031" y="5776"/>
                  </a:lnTo>
                  <a:lnTo>
                    <a:pt x="166700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44000" y="3781044"/>
              <a:ext cx="1828800" cy="970915"/>
            </a:xfrm>
            <a:custGeom>
              <a:avLst/>
              <a:gdLst/>
              <a:ahLst/>
              <a:cxnLst/>
              <a:rect l="l" t="t" r="r" b="b"/>
              <a:pathLst>
                <a:path w="1828800" h="970914">
                  <a:moveTo>
                    <a:pt x="0" y="161797"/>
                  </a:moveTo>
                  <a:lnTo>
                    <a:pt x="5776" y="118768"/>
                  </a:lnTo>
                  <a:lnTo>
                    <a:pt x="22079" y="80113"/>
                  </a:lnTo>
                  <a:lnTo>
                    <a:pt x="47371" y="47370"/>
                  </a:lnTo>
                  <a:lnTo>
                    <a:pt x="80113" y="22079"/>
                  </a:lnTo>
                  <a:lnTo>
                    <a:pt x="118768" y="5776"/>
                  </a:lnTo>
                  <a:lnTo>
                    <a:pt x="161798" y="0"/>
                  </a:lnTo>
                  <a:lnTo>
                    <a:pt x="1667002" y="0"/>
                  </a:lnTo>
                  <a:lnTo>
                    <a:pt x="1710031" y="5776"/>
                  </a:lnTo>
                  <a:lnTo>
                    <a:pt x="1748686" y="22079"/>
                  </a:lnTo>
                  <a:lnTo>
                    <a:pt x="1781428" y="47370"/>
                  </a:lnTo>
                  <a:lnTo>
                    <a:pt x="1806720" y="80113"/>
                  </a:lnTo>
                  <a:lnTo>
                    <a:pt x="1823023" y="118768"/>
                  </a:lnTo>
                  <a:lnTo>
                    <a:pt x="1828800" y="161797"/>
                  </a:lnTo>
                  <a:lnTo>
                    <a:pt x="1828800" y="808862"/>
                  </a:lnTo>
                  <a:lnTo>
                    <a:pt x="1823023" y="851892"/>
                  </a:lnTo>
                  <a:lnTo>
                    <a:pt x="1806720" y="890547"/>
                  </a:lnTo>
                  <a:lnTo>
                    <a:pt x="1781428" y="923289"/>
                  </a:lnTo>
                  <a:lnTo>
                    <a:pt x="1748686" y="948581"/>
                  </a:lnTo>
                  <a:lnTo>
                    <a:pt x="1710031" y="964884"/>
                  </a:lnTo>
                  <a:lnTo>
                    <a:pt x="1667002" y="970660"/>
                  </a:lnTo>
                  <a:lnTo>
                    <a:pt x="161798" y="970660"/>
                  </a:lnTo>
                  <a:lnTo>
                    <a:pt x="118768" y="964884"/>
                  </a:lnTo>
                  <a:lnTo>
                    <a:pt x="80113" y="948581"/>
                  </a:lnTo>
                  <a:lnTo>
                    <a:pt x="47371" y="923289"/>
                  </a:lnTo>
                  <a:lnTo>
                    <a:pt x="22079" y="890547"/>
                  </a:lnTo>
                  <a:lnTo>
                    <a:pt x="5776" y="851892"/>
                  </a:lnTo>
                  <a:lnTo>
                    <a:pt x="0" y="808862"/>
                  </a:lnTo>
                  <a:lnTo>
                    <a:pt x="0" y="161797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448292" y="4102100"/>
            <a:ext cx="1222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01583" y="2652267"/>
            <a:ext cx="878205" cy="1591310"/>
            <a:chOff x="8101583" y="2652267"/>
            <a:chExt cx="878205" cy="1591310"/>
          </a:xfrm>
        </p:grpSpPr>
        <p:sp>
          <p:nvSpPr>
            <p:cNvPr id="21" name="object 21"/>
            <p:cNvSpPr/>
            <p:nvPr/>
          </p:nvSpPr>
          <p:spPr>
            <a:xfrm>
              <a:off x="8107933" y="2658617"/>
              <a:ext cx="865505" cy="1578610"/>
            </a:xfrm>
            <a:custGeom>
              <a:avLst/>
              <a:gdLst/>
              <a:ahLst/>
              <a:cxnLst/>
              <a:rect l="l" t="t" r="r" b="b"/>
              <a:pathLst>
                <a:path w="865504" h="1578610">
                  <a:moveTo>
                    <a:pt x="653034" y="0"/>
                  </a:moveTo>
                  <a:lnTo>
                    <a:pt x="653034" y="104140"/>
                  </a:lnTo>
                  <a:lnTo>
                    <a:pt x="601391" y="116937"/>
                  </a:lnTo>
                  <a:lnTo>
                    <a:pt x="551262" y="132299"/>
                  </a:lnTo>
                  <a:lnTo>
                    <a:pt x="502732" y="150132"/>
                  </a:lnTo>
                  <a:lnTo>
                    <a:pt x="455889" y="170337"/>
                  </a:lnTo>
                  <a:lnTo>
                    <a:pt x="410819" y="192820"/>
                  </a:lnTo>
                  <a:lnTo>
                    <a:pt x="367610" y="217482"/>
                  </a:lnTo>
                  <a:lnTo>
                    <a:pt x="326347" y="244228"/>
                  </a:lnTo>
                  <a:lnTo>
                    <a:pt x="287118" y="272962"/>
                  </a:lnTo>
                  <a:lnTo>
                    <a:pt x="250009" y="303587"/>
                  </a:lnTo>
                  <a:lnTo>
                    <a:pt x="215107" y="336007"/>
                  </a:lnTo>
                  <a:lnTo>
                    <a:pt x="182499" y="370125"/>
                  </a:lnTo>
                  <a:lnTo>
                    <a:pt x="152271" y="405845"/>
                  </a:lnTo>
                  <a:lnTo>
                    <a:pt x="124510" y="443071"/>
                  </a:lnTo>
                  <a:lnTo>
                    <a:pt x="99303" y="481705"/>
                  </a:lnTo>
                  <a:lnTo>
                    <a:pt x="76737" y="521653"/>
                  </a:lnTo>
                  <a:lnTo>
                    <a:pt x="56899" y="562817"/>
                  </a:lnTo>
                  <a:lnTo>
                    <a:pt x="39874" y="605100"/>
                  </a:lnTo>
                  <a:lnTo>
                    <a:pt x="25751" y="648408"/>
                  </a:lnTo>
                  <a:lnTo>
                    <a:pt x="14615" y="692642"/>
                  </a:lnTo>
                  <a:lnTo>
                    <a:pt x="6553" y="737707"/>
                  </a:lnTo>
                  <a:lnTo>
                    <a:pt x="1652" y="783507"/>
                  </a:lnTo>
                  <a:lnTo>
                    <a:pt x="0" y="829945"/>
                  </a:lnTo>
                  <a:lnTo>
                    <a:pt x="1469" y="873938"/>
                  </a:lnTo>
                  <a:lnTo>
                    <a:pt x="5822" y="917261"/>
                  </a:lnTo>
                  <a:lnTo>
                    <a:pt x="12979" y="959845"/>
                  </a:lnTo>
                  <a:lnTo>
                    <a:pt x="22857" y="1001618"/>
                  </a:lnTo>
                  <a:lnTo>
                    <a:pt x="35376" y="1042510"/>
                  </a:lnTo>
                  <a:lnTo>
                    <a:pt x="50455" y="1082453"/>
                  </a:lnTo>
                  <a:lnTo>
                    <a:pt x="68012" y="1121374"/>
                  </a:lnTo>
                  <a:lnTo>
                    <a:pt x="87966" y="1159204"/>
                  </a:lnTo>
                  <a:lnTo>
                    <a:pt x="110237" y="1195873"/>
                  </a:lnTo>
                  <a:lnTo>
                    <a:pt x="134743" y="1231311"/>
                  </a:lnTo>
                  <a:lnTo>
                    <a:pt x="161402" y="1265447"/>
                  </a:lnTo>
                  <a:lnTo>
                    <a:pt x="190134" y="1298211"/>
                  </a:lnTo>
                  <a:lnTo>
                    <a:pt x="220858" y="1329534"/>
                  </a:lnTo>
                  <a:lnTo>
                    <a:pt x="253491" y="1359344"/>
                  </a:lnTo>
                  <a:lnTo>
                    <a:pt x="287955" y="1387572"/>
                  </a:lnTo>
                  <a:lnTo>
                    <a:pt x="324166" y="1414147"/>
                  </a:lnTo>
                  <a:lnTo>
                    <a:pt x="362044" y="1439000"/>
                  </a:lnTo>
                  <a:lnTo>
                    <a:pt x="401507" y="1462060"/>
                  </a:lnTo>
                  <a:lnTo>
                    <a:pt x="442476" y="1483257"/>
                  </a:lnTo>
                  <a:lnTo>
                    <a:pt x="484867" y="1502521"/>
                  </a:lnTo>
                  <a:lnTo>
                    <a:pt x="528601" y="1519781"/>
                  </a:lnTo>
                  <a:lnTo>
                    <a:pt x="573596" y="1534967"/>
                  </a:lnTo>
                  <a:lnTo>
                    <a:pt x="619771" y="1548010"/>
                  </a:lnTo>
                  <a:lnTo>
                    <a:pt x="667045" y="1558839"/>
                  </a:lnTo>
                  <a:lnTo>
                    <a:pt x="715336" y="1567383"/>
                  </a:lnTo>
                  <a:lnTo>
                    <a:pt x="764564" y="1573573"/>
                  </a:lnTo>
                  <a:lnTo>
                    <a:pt x="814647" y="1577339"/>
                  </a:lnTo>
                  <a:lnTo>
                    <a:pt x="865505" y="1578610"/>
                  </a:lnTo>
                  <a:lnTo>
                    <a:pt x="865505" y="1364742"/>
                  </a:lnTo>
                  <a:lnTo>
                    <a:pt x="813791" y="1363063"/>
                  </a:lnTo>
                  <a:lnTo>
                    <a:pt x="762976" y="1358099"/>
                  </a:lnTo>
                  <a:lnTo>
                    <a:pt x="713246" y="1349959"/>
                  </a:lnTo>
                  <a:lnTo>
                    <a:pt x="664785" y="1338750"/>
                  </a:lnTo>
                  <a:lnTo>
                    <a:pt x="617778" y="1324581"/>
                  </a:lnTo>
                  <a:lnTo>
                    <a:pt x="572410" y="1307560"/>
                  </a:lnTo>
                  <a:lnTo>
                    <a:pt x="528866" y="1287796"/>
                  </a:lnTo>
                  <a:lnTo>
                    <a:pt x="487330" y="1265396"/>
                  </a:lnTo>
                  <a:lnTo>
                    <a:pt x="447989" y="1240469"/>
                  </a:lnTo>
                  <a:lnTo>
                    <a:pt x="411026" y="1213123"/>
                  </a:lnTo>
                  <a:lnTo>
                    <a:pt x="376626" y="1183466"/>
                  </a:lnTo>
                  <a:lnTo>
                    <a:pt x="344975" y="1151608"/>
                  </a:lnTo>
                  <a:lnTo>
                    <a:pt x="316258" y="1117655"/>
                  </a:lnTo>
                  <a:lnTo>
                    <a:pt x="290658" y="1081717"/>
                  </a:lnTo>
                  <a:lnTo>
                    <a:pt x="268362" y="1043901"/>
                  </a:lnTo>
                  <a:lnTo>
                    <a:pt x="249555" y="1004316"/>
                  </a:lnTo>
                  <a:lnTo>
                    <a:pt x="234170" y="962283"/>
                  </a:lnTo>
                  <a:lnTo>
                    <a:pt x="223150" y="920047"/>
                  </a:lnTo>
                  <a:lnTo>
                    <a:pt x="216392" y="877781"/>
                  </a:lnTo>
                  <a:lnTo>
                    <a:pt x="213792" y="835662"/>
                  </a:lnTo>
                  <a:lnTo>
                    <a:pt x="215247" y="793863"/>
                  </a:lnTo>
                  <a:lnTo>
                    <a:pt x="220651" y="752559"/>
                  </a:lnTo>
                  <a:lnTo>
                    <a:pt x="229903" y="711927"/>
                  </a:lnTo>
                  <a:lnTo>
                    <a:pt x="242898" y="672140"/>
                  </a:lnTo>
                  <a:lnTo>
                    <a:pt x="259532" y="633374"/>
                  </a:lnTo>
                  <a:lnTo>
                    <a:pt x="279701" y="595804"/>
                  </a:lnTo>
                  <a:lnTo>
                    <a:pt x="303303" y="559604"/>
                  </a:lnTo>
                  <a:lnTo>
                    <a:pt x="330232" y="524950"/>
                  </a:lnTo>
                  <a:lnTo>
                    <a:pt x="360386" y="492017"/>
                  </a:lnTo>
                  <a:lnTo>
                    <a:pt x="393661" y="460979"/>
                  </a:lnTo>
                  <a:lnTo>
                    <a:pt x="429952" y="432012"/>
                  </a:lnTo>
                  <a:lnTo>
                    <a:pt x="469157" y="405290"/>
                  </a:lnTo>
                  <a:lnTo>
                    <a:pt x="511171" y="380989"/>
                  </a:lnTo>
                  <a:lnTo>
                    <a:pt x="555891" y="359283"/>
                  </a:lnTo>
                  <a:lnTo>
                    <a:pt x="603213" y="340347"/>
                  </a:lnTo>
                  <a:lnTo>
                    <a:pt x="653034" y="324358"/>
                  </a:lnTo>
                  <a:lnTo>
                    <a:pt x="653034" y="427863"/>
                  </a:lnTo>
                  <a:lnTo>
                    <a:pt x="865505" y="188214"/>
                  </a:lnTo>
                  <a:lnTo>
                    <a:pt x="65303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7933" y="2658617"/>
              <a:ext cx="865505" cy="1578610"/>
            </a:xfrm>
            <a:custGeom>
              <a:avLst/>
              <a:gdLst/>
              <a:ahLst/>
              <a:cxnLst/>
              <a:rect l="l" t="t" r="r" b="b"/>
              <a:pathLst>
                <a:path w="865504" h="1578610">
                  <a:moveTo>
                    <a:pt x="865505" y="1578610"/>
                  </a:moveTo>
                  <a:lnTo>
                    <a:pt x="814647" y="1577339"/>
                  </a:lnTo>
                  <a:lnTo>
                    <a:pt x="764564" y="1573573"/>
                  </a:lnTo>
                  <a:lnTo>
                    <a:pt x="715336" y="1567383"/>
                  </a:lnTo>
                  <a:lnTo>
                    <a:pt x="667045" y="1558839"/>
                  </a:lnTo>
                  <a:lnTo>
                    <a:pt x="619771" y="1548010"/>
                  </a:lnTo>
                  <a:lnTo>
                    <a:pt x="573596" y="1534967"/>
                  </a:lnTo>
                  <a:lnTo>
                    <a:pt x="528601" y="1519781"/>
                  </a:lnTo>
                  <a:lnTo>
                    <a:pt x="484867" y="1502521"/>
                  </a:lnTo>
                  <a:lnTo>
                    <a:pt x="442476" y="1483257"/>
                  </a:lnTo>
                  <a:lnTo>
                    <a:pt x="401507" y="1462060"/>
                  </a:lnTo>
                  <a:lnTo>
                    <a:pt x="362044" y="1439000"/>
                  </a:lnTo>
                  <a:lnTo>
                    <a:pt x="324166" y="1414147"/>
                  </a:lnTo>
                  <a:lnTo>
                    <a:pt x="287955" y="1387572"/>
                  </a:lnTo>
                  <a:lnTo>
                    <a:pt x="253491" y="1359344"/>
                  </a:lnTo>
                  <a:lnTo>
                    <a:pt x="220858" y="1329534"/>
                  </a:lnTo>
                  <a:lnTo>
                    <a:pt x="190134" y="1298211"/>
                  </a:lnTo>
                  <a:lnTo>
                    <a:pt x="161402" y="1265447"/>
                  </a:lnTo>
                  <a:lnTo>
                    <a:pt x="134743" y="1231311"/>
                  </a:lnTo>
                  <a:lnTo>
                    <a:pt x="110237" y="1195873"/>
                  </a:lnTo>
                  <a:lnTo>
                    <a:pt x="87966" y="1159204"/>
                  </a:lnTo>
                  <a:lnTo>
                    <a:pt x="68012" y="1121374"/>
                  </a:lnTo>
                  <a:lnTo>
                    <a:pt x="50455" y="1082453"/>
                  </a:lnTo>
                  <a:lnTo>
                    <a:pt x="35376" y="1042510"/>
                  </a:lnTo>
                  <a:lnTo>
                    <a:pt x="22857" y="1001618"/>
                  </a:lnTo>
                  <a:lnTo>
                    <a:pt x="12979" y="959845"/>
                  </a:lnTo>
                  <a:lnTo>
                    <a:pt x="5822" y="917261"/>
                  </a:lnTo>
                  <a:lnTo>
                    <a:pt x="1469" y="873938"/>
                  </a:lnTo>
                  <a:lnTo>
                    <a:pt x="0" y="829945"/>
                  </a:lnTo>
                  <a:lnTo>
                    <a:pt x="1652" y="783507"/>
                  </a:lnTo>
                  <a:lnTo>
                    <a:pt x="6553" y="737707"/>
                  </a:lnTo>
                  <a:lnTo>
                    <a:pt x="14615" y="692642"/>
                  </a:lnTo>
                  <a:lnTo>
                    <a:pt x="25751" y="648408"/>
                  </a:lnTo>
                  <a:lnTo>
                    <a:pt x="39874" y="605100"/>
                  </a:lnTo>
                  <a:lnTo>
                    <a:pt x="56899" y="562817"/>
                  </a:lnTo>
                  <a:lnTo>
                    <a:pt x="76737" y="521653"/>
                  </a:lnTo>
                  <a:lnTo>
                    <a:pt x="99303" y="481705"/>
                  </a:lnTo>
                  <a:lnTo>
                    <a:pt x="124510" y="443071"/>
                  </a:lnTo>
                  <a:lnTo>
                    <a:pt x="152271" y="405845"/>
                  </a:lnTo>
                  <a:lnTo>
                    <a:pt x="182499" y="370125"/>
                  </a:lnTo>
                  <a:lnTo>
                    <a:pt x="215107" y="336007"/>
                  </a:lnTo>
                  <a:lnTo>
                    <a:pt x="250009" y="303587"/>
                  </a:lnTo>
                  <a:lnTo>
                    <a:pt x="287118" y="272962"/>
                  </a:lnTo>
                  <a:lnTo>
                    <a:pt x="326347" y="244228"/>
                  </a:lnTo>
                  <a:lnTo>
                    <a:pt x="367610" y="217482"/>
                  </a:lnTo>
                  <a:lnTo>
                    <a:pt x="410819" y="192820"/>
                  </a:lnTo>
                  <a:lnTo>
                    <a:pt x="455889" y="170337"/>
                  </a:lnTo>
                  <a:lnTo>
                    <a:pt x="502732" y="150132"/>
                  </a:lnTo>
                  <a:lnTo>
                    <a:pt x="551262" y="132299"/>
                  </a:lnTo>
                  <a:lnTo>
                    <a:pt x="601391" y="116937"/>
                  </a:lnTo>
                  <a:lnTo>
                    <a:pt x="653034" y="104140"/>
                  </a:lnTo>
                  <a:lnTo>
                    <a:pt x="653034" y="0"/>
                  </a:lnTo>
                  <a:lnTo>
                    <a:pt x="865505" y="188214"/>
                  </a:lnTo>
                  <a:lnTo>
                    <a:pt x="653034" y="427863"/>
                  </a:lnTo>
                  <a:lnTo>
                    <a:pt x="653034" y="324358"/>
                  </a:lnTo>
                  <a:lnTo>
                    <a:pt x="603213" y="340347"/>
                  </a:lnTo>
                  <a:lnTo>
                    <a:pt x="555891" y="359283"/>
                  </a:lnTo>
                  <a:lnTo>
                    <a:pt x="511171" y="380989"/>
                  </a:lnTo>
                  <a:lnTo>
                    <a:pt x="469157" y="405290"/>
                  </a:lnTo>
                  <a:lnTo>
                    <a:pt x="429952" y="432012"/>
                  </a:lnTo>
                  <a:lnTo>
                    <a:pt x="393661" y="460979"/>
                  </a:lnTo>
                  <a:lnTo>
                    <a:pt x="360386" y="492017"/>
                  </a:lnTo>
                  <a:lnTo>
                    <a:pt x="330232" y="524950"/>
                  </a:lnTo>
                  <a:lnTo>
                    <a:pt x="303303" y="559604"/>
                  </a:lnTo>
                  <a:lnTo>
                    <a:pt x="279701" y="595804"/>
                  </a:lnTo>
                  <a:lnTo>
                    <a:pt x="259532" y="633374"/>
                  </a:lnTo>
                  <a:lnTo>
                    <a:pt x="242898" y="672140"/>
                  </a:lnTo>
                  <a:lnTo>
                    <a:pt x="229903" y="711927"/>
                  </a:lnTo>
                  <a:lnTo>
                    <a:pt x="220651" y="752559"/>
                  </a:lnTo>
                  <a:lnTo>
                    <a:pt x="215247" y="793863"/>
                  </a:lnTo>
                  <a:lnTo>
                    <a:pt x="213792" y="835662"/>
                  </a:lnTo>
                  <a:lnTo>
                    <a:pt x="216392" y="877781"/>
                  </a:lnTo>
                  <a:lnTo>
                    <a:pt x="223150" y="920047"/>
                  </a:lnTo>
                  <a:lnTo>
                    <a:pt x="234170" y="962283"/>
                  </a:lnTo>
                  <a:lnTo>
                    <a:pt x="249555" y="1004316"/>
                  </a:lnTo>
                  <a:lnTo>
                    <a:pt x="268362" y="1043901"/>
                  </a:lnTo>
                  <a:lnTo>
                    <a:pt x="290658" y="1081717"/>
                  </a:lnTo>
                  <a:lnTo>
                    <a:pt x="316258" y="1117655"/>
                  </a:lnTo>
                  <a:lnTo>
                    <a:pt x="344975" y="1151608"/>
                  </a:lnTo>
                  <a:lnTo>
                    <a:pt x="376626" y="1183466"/>
                  </a:lnTo>
                  <a:lnTo>
                    <a:pt x="411026" y="1213123"/>
                  </a:lnTo>
                  <a:lnTo>
                    <a:pt x="447989" y="1240469"/>
                  </a:lnTo>
                  <a:lnTo>
                    <a:pt x="487330" y="1265396"/>
                  </a:lnTo>
                  <a:lnTo>
                    <a:pt x="528866" y="1287796"/>
                  </a:lnTo>
                  <a:lnTo>
                    <a:pt x="572410" y="1307560"/>
                  </a:lnTo>
                  <a:lnTo>
                    <a:pt x="617778" y="1324581"/>
                  </a:lnTo>
                  <a:lnTo>
                    <a:pt x="664785" y="1338750"/>
                  </a:lnTo>
                  <a:lnTo>
                    <a:pt x="713246" y="1349959"/>
                  </a:lnTo>
                  <a:lnTo>
                    <a:pt x="762976" y="1358099"/>
                  </a:lnTo>
                  <a:lnTo>
                    <a:pt x="813791" y="1363063"/>
                  </a:lnTo>
                  <a:lnTo>
                    <a:pt x="865505" y="1364742"/>
                  </a:lnTo>
                  <a:lnTo>
                    <a:pt x="865505" y="157861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1082655" y="2660142"/>
            <a:ext cx="901700" cy="1692910"/>
            <a:chOff x="11082655" y="2660142"/>
            <a:chExt cx="901700" cy="1692910"/>
          </a:xfrm>
        </p:grpSpPr>
        <p:sp>
          <p:nvSpPr>
            <p:cNvPr id="24" name="object 24"/>
            <p:cNvSpPr/>
            <p:nvPr/>
          </p:nvSpPr>
          <p:spPr>
            <a:xfrm>
              <a:off x="11089005" y="2666492"/>
              <a:ext cx="889000" cy="1680210"/>
            </a:xfrm>
            <a:custGeom>
              <a:avLst/>
              <a:gdLst/>
              <a:ahLst/>
              <a:cxnLst/>
              <a:rect l="l" t="t" r="r" b="b"/>
              <a:pathLst>
                <a:path w="889000" h="1680210">
                  <a:moveTo>
                    <a:pt x="0" y="0"/>
                  </a:moveTo>
                  <a:lnTo>
                    <a:pt x="0" y="227965"/>
                  </a:lnTo>
                  <a:lnTo>
                    <a:pt x="51723" y="229702"/>
                  </a:lnTo>
                  <a:lnTo>
                    <a:pt x="102569" y="234844"/>
                  </a:lnTo>
                  <a:lnTo>
                    <a:pt x="152356" y="243279"/>
                  </a:lnTo>
                  <a:lnTo>
                    <a:pt x="200904" y="254898"/>
                  </a:lnTo>
                  <a:lnTo>
                    <a:pt x="248031" y="269594"/>
                  </a:lnTo>
                  <a:lnTo>
                    <a:pt x="293556" y="287255"/>
                  </a:lnTo>
                  <a:lnTo>
                    <a:pt x="337299" y="307774"/>
                  </a:lnTo>
                  <a:lnTo>
                    <a:pt x="379079" y="331041"/>
                  </a:lnTo>
                  <a:lnTo>
                    <a:pt x="418713" y="356946"/>
                  </a:lnTo>
                  <a:lnTo>
                    <a:pt x="456023" y="385381"/>
                  </a:lnTo>
                  <a:lnTo>
                    <a:pt x="490825" y="416237"/>
                  </a:lnTo>
                  <a:lnTo>
                    <a:pt x="522940" y="449403"/>
                  </a:lnTo>
                  <a:lnTo>
                    <a:pt x="552186" y="484771"/>
                  </a:lnTo>
                  <a:lnTo>
                    <a:pt x="578383" y="522232"/>
                  </a:lnTo>
                  <a:lnTo>
                    <a:pt x="601348" y="561677"/>
                  </a:lnTo>
                  <a:lnTo>
                    <a:pt x="620902" y="602996"/>
                  </a:lnTo>
                  <a:lnTo>
                    <a:pt x="636681" y="645435"/>
                  </a:lnTo>
                  <a:lnTo>
                    <a:pt x="648442" y="688135"/>
                  </a:lnTo>
                  <a:lnTo>
                    <a:pt x="656273" y="730934"/>
                  </a:lnTo>
                  <a:lnTo>
                    <a:pt x="660263" y="773670"/>
                  </a:lnTo>
                  <a:lnTo>
                    <a:pt x="660500" y="816180"/>
                  </a:lnTo>
                  <a:lnTo>
                    <a:pt x="657071" y="858303"/>
                  </a:lnTo>
                  <a:lnTo>
                    <a:pt x="650065" y="899874"/>
                  </a:lnTo>
                  <a:lnTo>
                    <a:pt x="639571" y="940734"/>
                  </a:lnTo>
                  <a:lnTo>
                    <a:pt x="625674" y="980719"/>
                  </a:lnTo>
                  <a:lnTo>
                    <a:pt x="608465" y="1019666"/>
                  </a:lnTo>
                  <a:lnTo>
                    <a:pt x="588031" y="1057415"/>
                  </a:lnTo>
                  <a:lnTo>
                    <a:pt x="564460" y="1093802"/>
                  </a:lnTo>
                  <a:lnTo>
                    <a:pt x="537839" y="1128665"/>
                  </a:lnTo>
                  <a:lnTo>
                    <a:pt x="508258" y="1161843"/>
                  </a:lnTo>
                  <a:lnTo>
                    <a:pt x="475804" y="1193172"/>
                  </a:lnTo>
                  <a:lnTo>
                    <a:pt x="440565" y="1222490"/>
                  </a:lnTo>
                  <a:lnTo>
                    <a:pt x="402629" y="1249636"/>
                  </a:lnTo>
                  <a:lnTo>
                    <a:pt x="362085" y="1274446"/>
                  </a:lnTo>
                  <a:lnTo>
                    <a:pt x="319019" y="1296760"/>
                  </a:lnTo>
                  <a:lnTo>
                    <a:pt x="273521" y="1316414"/>
                  </a:lnTo>
                  <a:lnTo>
                    <a:pt x="225678" y="1333246"/>
                  </a:lnTo>
                  <a:lnTo>
                    <a:pt x="225678" y="1223899"/>
                  </a:lnTo>
                  <a:lnTo>
                    <a:pt x="0" y="1481455"/>
                  </a:lnTo>
                  <a:lnTo>
                    <a:pt x="225678" y="1679702"/>
                  </a:lnTo>
                  <a:lnTo>
                    <a:pt x="225678" y="1569212"/>
                  </a:lnTo>
                  <a:lnTo>
                    <a:pt x="275949" y="1555942"/>
                  </a:lnTo>
                  <a:lnTo>
                    <a:pt x="324802" y="1540210"/>
                  </a:lnTo>
                  <a:lnTo>
                    <a:pt x="372159" y="1522106"/>
                  </a:lnTo>
                  <a:lnTo>
                    <a:pt x="417947" y="1501717"/>
                  </a:lnTo>
                  <a:lnTo>
                    <a:pt x="462089" y="1479132"/>
                  </a:lnTo>
                  <a:lnTo>
                    <a:pt x="504508" y="1454439"/>
                  </a:lnTo>
                  <a:lnTo>
                    <a:pt x="545130" y="1427726"/>
                  </a:lnTo>
                  <a:lnTo>
                    <a:pt x="583878" y="1399081"/>
                  </a:lnTo>
                  <a:lnTo>
                    <a:pt x="620676" y="1368594"/>
                  </a:lnTo>
                  <a:lnTo>
                    <a:pt x="655449" y="1336351"/>
                  </a:lnTo>
                  <a:lnTo>
                    <a:pt x="688119" y="1302442"/>
                  </a:lnTo>
                  <a:lnTo>
                    <a:pt x="718613" y="1266955"/>
                  </a:lnTo>
                  <a:lnTo>
                    <a:pt x="746853" y="1229978"/>
                  </a:lnTo>
                  <a:lnTo>
                    <a:pt x="772764" y="1191599"/>
                  </a:lnTo>
                  <a:lnTo>
                    <a:pt x="796269" y="1151907"/>
                  </a:lnTo>
                  <a:lnTo>
                    <a:pt x="817294" y="1110989"/>
                  </a:lnTo>
                  <a:lnTo>
                    <a:pt x="835761" y="1068936"/>
                  </a:lnTo>
                  <a:lnTo>
                    <a:pt x="851596" y="1025833"/>
                  </a:lnTo>
                  <a:lnTo>
                    <a:pt x="864721" y="981771"/>
                  </a:lnTo>
                  <a:lnTo>
                    <a:pt x="875063" y="936837"/>
                  </a:lnTo>
                  <a:lnTo>
                    <a:pt x="882543" y="891119"/>
                  </a:lnTo>
                  <a:lnTo>
                    <a:pt x="887087" y="844706"/>
                  </a:lnTo>
                  <a:lnTo>
                    <a:pt x="888619" y="797687"/>
                  </a:lnTo>
                  <a:lnTo>
                    <a:pt x="887212" y="752420"/>
                  </a:lnTo>
                  <a:lnTo>
                    <a:pt x="883041" y="707816"/>
                  </a:lnTo>
                  <a:lnTo>
                    <a:pt x="876182" y="663942"/>
                  </a:lnTo>
                  <a:lnTo>
                    <a:pt x="866709" y="620865"/>
                  </a:lnTo>
                  <a:lnTo>
                    <a:pt x="854698" y="578653"/>
                  </a:lnTo>
                  <a:lnTo>
                    <a:pt x="840224" y="537373"/>
                  </a:lnTo>
                  <a:lnTo>
                    <a:pt x="823361" y="497092"/>
                  </a:lnTo>
                  <a:lnTo>
                    <a:pt x="804184" y="457877"/>
                  </a:lnTo>
                  <a:lnTo>
                    <a:pt x="782769" y="419797"/>
                  </a:lnTo>
                  <a:lnTo>
                    <a:pt x="759191" y="382918"/>
                  </a:lnTo>
                  <a:lnTo>
                    <a:pt x="733525" y="347307"/>
                  </a:lnTo>
                  <a:lnTo>
                    <a:pt x="705846" y="313032"/>
                  </a:lnTo>
                  <a:lnTo>
                    <a:pt x="676228" y="280161"/>
                  </a:lnTo>
                  <a:lnTo>
                    <a:pt x="644748" y="248760"/>
                  </a:lnTo>
                  <a:lnTo>
                    <a:pt x="611479" y="218897"/>
                  </a:lnTo>
                  <a:lnTo>
                    <a:pt x="576497" y="190639"/>
                  </a:lnTo>
                  <a:lnTo>
                    <a:pt x="539878" y="164054"/>
                  </a:lnTo>
                  <a:lnTo>
                    <a:pt x="501695" y="139209"/>
                  </a:lnTo>
                  <a:lnTo>
                    <a:pt x="462025" y="116170"/>
                  </a:lnTo>
                  <a:lnTo>
                    <a:pt x="420941" y="95007"/>
                  </a:lnTo>
                  <a:lnTo>
                    <a:pt x="378521" y="75785"/>
                  </a:lnTo>
                  <a:lnTo>
                    <a:pt x="334837" y="58573"/>
                  </a:lnTo>
                  <a:lnTo>
                    <a:pt x="289966" y="43437"/>
                  </a:lnTo>
                  <a:lnTo>
                    <a:pt x="243982" y="30445"/>
                  </a:lnTo>
                  <a:lnTo>
                    <a:pt x="196960" y="19664"/>
                  </a:lnTo>
                  <a:lnTo>
                    <a:pt x="148976" y="11162"/>
                  </a:lnTo>
                  <a:lnTo>
                    <a:pt x="100105" y="5005"/>
                  </a:lnTo>
                  <a:lnTo>
                    <a:pt x="50421" y="1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089005" y="2666492"/>
              <a:ext cx="889000" cy="1680210"/>
            </a:xfrm>
            <a:custGeom>
              <a:avLst/>
              <a:gdLst/>
              <a:ahLst/>
              <a:cxnLst/>
              <a:rect l="l" t="t" r="r" b="b"/>
              <a:pathLst>
                <a:path w="889000" h="1680210">
                  <a:moveTo>
                    <a:pt x="0" y="0"/>
                  </a:moveTo>
                  <a:lnTo>
                    <a:pt x="50421" y="1262"/>
                  </a:lnTo>
                  <a:lnTo>
                    <a:pt x="100105" y="5005"/>
                  </a:lnTo>
                  <a:lnTo>
                    <a:pt x="148976" y="11162"/>
                  </a:lnTo>
                  <a:lnTo>
                    <a:pt x="196960" y="19664"/>
                  </a:lnTo>
                  <a:lnTo>
                    <a:pt x="243982" y="30445"/>
                  </a:lnTo>
                  <a:lnTo>
                    <a:pt x="289966" y="43437"/>
                  </a:lnTo>
                  <a:lnTo>
                    <a:pt x="334837" y="58573"/>
                  </a:lnTo>
                  <a:lnTo>
                    <a:pt x="378521" y="75785"/>
                  </a:lnTo>
                  <a:lnTo>
                    <a:pt x="420941" y="95007"/>
                  </a:lnTo>
                  <a:lnTo>
                    <a:pt x="462025" y="116170"/>
                  </a:lnTo>
                  <a:lnTo>
                    <a:pt x="501695" y="139209"/>
                  </a:lnTo>
                  <a:lnTo>
                    <a:pt x="539878" y="164054"/>
                  </a:lnTo>
                  <a:lnTo>
                    <a:pt x="576497" y="190639"/>
                  </a:lnTo>
                  <a:lnTo>
                    <a:pt x="611479" y="218897"/>
                  </a:lnTo>
                  <a:lnTo>
                    <a:pt x="644748" y="248760"/>
                  </a:lnTo>
                  <a:lnTo>
                    <a:pt x="676228" y="280161"/>
                  </a:lnTo>
                  <a:lnTo>
                    <a:pt x="705846" y="313032"/>
                  </a:lnTo>
                  <a:lnTo>
                    <a:pt x="733525" y="347307"/>
                  </a:lnTo>
                  <a:lnTo>
                    <a:pt x="759191" y="382918"/>
                  </a:lnTo>
                  <a:lnTo>
                    <a:pt x="782769" y="419797"/>
                  </a:lnTo>
                  <a:lnTo>
                    <a:pt x="804184" y="457877"/>
                  </a:lnTo>
                  <a:lnTo>
                    <a:pt x="823361" y="497092"/>
                  </a:lnTo>
                  <a:lnTo>
                    <a:pt x="840224" y="537373"/>
                  </a:lnTo>
                  <a:lnTo>
                    <a:pt x="854698" y="578653"/>
                  </a:lnTo>
                  <a:lnTo>
                    <a:pt x="866709" y="620865"/>
                  </a:lnTo>
                  <a:lnTo>
                    <a:pt x="876182" y="663942"/>
                  </a:lnTo>
                  <a:lnTo>
                    <a:pt x="883041" y="707816"/>
                  </a:lnTo>
                  <a:lnTo>
                    <a:pt x="887212" y="752420"/>
                  </a:lnTo>
                  <a:lnTo>
                    <a:pt x="888619" y="797687"/>
                  </a:lnTo>
                  <a:lnTo>
                    <a:pt x="887087" y="844706"/>
                  </a:lnTo>
                  <a:lnTo>
                    <a:pt x="882543" y="891119"/>
                  </a:lnTo>
                  <a:lnTo>
                    <a:pt x="875063" y="936837"/>
                  </a:lnTo>
                  <a:lnTo>
                    <a:pt x="864721" y="981771"/>
                  </a:lnTo>
                  <a:lnTo>
                    <a:pt x="851596" y="1025833"/>
                  </a:lnTo>
                  <a:lnTo>
                    <a:pt x="835761" y="1068936"/>
                  </a:lnTo>
                  <a:lnTo>
                    <a:pt x="817294" y="1110989"/>
                  </a:lnTo>
                  <a:lnTo>
                    <a:pt x="796269" y="1151907"/>
                  </a:lnTo>
                  <a:lnTo>
                    <a:pt x="772764" y="1191599"/>
                  </a:lnTo>
                  <a:lnTo>
                    <a:pt x="746853" y="1229978"/>
                  </a:lnTo>
                  <a:lnTo>
                    <a:pt x="718613" y="1266955"/>
                  </a:lnTo>
                  <a:lnTo>
                    <a:pt x="688119" y="1302442"/>
                  </a:lnTo>
                  <a:lnTo>
                    <a:pt x="655449" y="1336351"/>
                  </a:lnTo>
                  <a:lnTo>
                    <a:pt x="620676" y="1368594"/>
                  </a:lnTo>
                  <a:lnTo>
                    <a:pt x="583878" y="1399081"/>
                  </a:lnTo>
                  <a:lnTo>
                    <a:pt x="545130" y="1427726"/>
                  </a:lnTo>
                  <a:lnTo>
                    <a:pt x="504508" y="1454439"/>
                  </a:lnTo>
                  <a:lnTo>
                    <a:pt x="462089" y="1479132"/>
                  </a:lnTo>
                  <a:lnTo>
                    <a:pt x="417947" y="1501717"/>
                  </a:lnTo>
                  <a:lnTo>
                    <a:pt x="372159" y="1522106"/>
                  </a:lnTo>
                  <a:lnTo>
                    <a:pt x="324802" y="1540210"/>
                  </a:lnTo>
                  <a:lnTo>
                    <a:pt x="275949" y="1555942"/>
                  </a:lnTo>
                  <a:lnTo>
                    <a:pt x="225678" y="1569212"/>
                  </a:lnTo>
                  <a:lnTo>
                    <a:pt x="225678" y="1679702"/>
                  </a:lnTo>
                  <a:lnTo>
                    <a:pt x="0" y="1481455"/>
                  </a:lnTo>
                  <a:lnTo>
                    <a:pt x="225678" y="1223899"/>
                  </a:lnTo>
                  <a:lnTo>
                    <a:pt x="225678" y="1333246"/>
                  </a:lnTo>
                  <a:lnTo>
                    <a:pt x="273521" y="1316414"/>
                  </a:lnTo>
                  <a:lnTo>
                    <a:pt x="319019" y="1296760"/>
                  </a:lnTo>
                  <a:lnTo>
                    <a:pt x="362085" y="1274446"/>
                  </a:lnTo>
                  <a:lnTo>
                    <a:pt x="402629" y="1249636"/>
                  </a:lnTo>
                  <a:lnTo>
                    <a:pt x="440565" y="1222490"/>
                  </a:lnTo>
                  <a:lnTo>
                    <a:pt x="475804" y="1193172"/>
                  </a:lnTo>
                  <a:lnTo>
                    <a:pt x="508258" y="1161843"/>
                  </a:lnTo>
                  <a:lnTo>
                    <a:pt x="537839" y="1128665"/>
                  </a:lnTo>
                  <a:lnTo>
                    <a:pt x="564460" y="1093802"/>
                  </a:lnTo>
                  <a:lnTo>
                    <a:pt x="588031" y="1057415"/>
                  </a:lnTo>
                  <a:lnTo>
                    <a:pt x="608465" y="1019666"/>
                  </a:lnTo>
                  <a:lnTo>
                    <a:pt x="625674" y="980719"/>
                  </a:lnTo>
                  <a:lnTo>
                    <a:pt x="639571" y="940734"/>
                  </a:lnTo>
                  <a:lnTo>
                    <a:pt x="650065" y="899874"/>
                  </a:lnTo>
                  <a:lnTo>
                    <a:pt x="657071" y="858303"/>
                  </a:lnTo>
                  <a:lnTo>
                    <a:pt x="660500" y="816180"/>
                  </a:lnTo>
                  <a:lnTo>
                    <a:pt x="660263" y="773670"/>
                  </a:lnTo>
                  <a:lnTo>
                    <a:pt x="656273" y="730934"/>
                  </a:lnTo>
                  <a:lnTo>
                    <a:pt x="648442" y="688135"/>
                  </a:lnTo>
                  <a:lnTo>
                    <a:pt x="636681" y="645435"/>
                  </a:lnTo>
                  <a:lnTo>
                    <a:pt x="620902" y="602996"/>
                  </a:lnTo>
                  <a:lnTo>
                    <a:pt x="601348" y="561677"/>
                  </a:lnTo>
                  <a:lnTo>
                    <a:pt x="578383" y="522232"/>
                  </a:lnTo>
                  <a:lnTo>
                    <a:pt x="552186" y="484771"/>
                  </a:lnTo>
                  <a:lnTo>
                    <a:pt x="522940" y="449403"/>
                  </a:lnTo>
                  <a:lnTo>
                    <a:pt x="490825" y="416237"/>
                  </a:lnTo>
                  <a:lnTo>
                    <a:pt x="456023" y="385381"/>
                  </a:lnTo>
                  <a:lnTo>
                    <a:pt x="418713" y="356946"/>
                  </a:lnTo>
                  <a:lnTo>
                    <a:pt x="379079" y="331041"/>
                  </a:lnTo>
                  <a:lnTo>
                    <a:pt x="337299" y="307774"/>
                  </a:lnTo>
                  <a:lnTo>
                    <a:pt x="293556" y="287255"/>
                  </a:lnTo>
                  <a:lnTo>
                    <a:pt x="248031" y="269594"/>
                  </a:lnTo>
                  <a:lnTo>
                    <a:pt x="200904" y="254898"/>
                  </a:lnTo>
                  <a:lnTo>
                    <a:pt x="152356" y="243279"/>
                  </a:lnTo>
                  <a:lnTo>
                    <a:pt x="102569" y="234844"/>
                  </a:lnTo>
                  <a:lnTo>
                    <a:pt x="51723" y="229702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76157" y="2884801"/>
            <a:ext cx="254000" cy="1219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70" dirty="0">
                <a:latin typeface="Arial"/>
                <a:cs typeface="Arial"/>
              </a:rPr>
              <a:t>observations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54054" y="3103728"/>
            <a:ext cx="254000" cy="6896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70" dirty="0">
                <a:latin typeface="Arial"/>
                <a:cs typeface="Arial"/>
              </a:rPr>
              <a:t>actions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8" name="object 28" descr="http://a2.files.biography.com/image/upload/c_fill,cs_srgb,dpr_1.0,g_face,h_300,q_80,w_300/MTE5NDg0MDU1MTUzMTE2Njg3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448" y="3652773"/>
            <a:ext cx="1662811" cy="166281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40FE957-B06E-F4D1-4375-C85228699B88}"/>
              </a:ext>
            </a:extLst>
          </p:cNvPr>
          <p:cNvSpPr txBox="1"/>
          <p:nvPr/>
        </p:nvSpPr>
        <p:spPr>
          <a:xfrm>
            <a:off x="3047515" y="3245790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709494"/>
            <a:ext cx="6500495" cy="130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spc="-240" dirty="0"/>
              <a:t>Part</a:t>
            </a:r>
            <a:r>
              <a:rPr spc="-200" dirty="0"/>
              <a:t> </a:t>
            </a:r>
            <a:r>
              <a:rPr spc="-25" dirty="0"/>
              <a:t>1:</a:t>
            </a:r>
          </a:p>
          <a:p>
            <a:pPr marL="12700">
              <a:lnSpc>
                <a:spcPts val="5015"/>
              </a:lnSpc>
            </a:pPr>
            <a:r>
              <a:rPr spc="-360" dirty="0"/>
              <a:t>The</a:t>
            </a:r>
            <a:r>
              <a:rPr spc="-190" dirty="0"/>
              <a:t> </a:t>
            </a:r>
            <a:r>
              <a:rPr spc="-204" dirty="0"/>
              <a:t>Markov</a:t>
            </a:r>
            <a:r>
              <a:rPr spc="-200" dirty="0"/>
              <a:t> </a:t>
            </a:r>
            <a:r>
              <a:rPr spc="-210" dirty="0"/>
              <a:t>decision</a:t>
            </a:r>
            <a:r>
              <a:rPr spc="-165" dirty="0"/>
              <a:t> </a:t>
            </a:r>
            <a:r>
              <a:rPr spc="-305" dirty="0"/>
              <a:t>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guanaTex Picture Display  \documentclass{article} \usepackage{amsmath} \pagestyle{empty} \begin{document}  \newcommand{\bs}{\mathbf{s}} \newcommand{\ba}{\mathbf{a}}  \[ \ba_t \]  \end{document}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7842" y="3691385"/>
            <a:ext cx="424820" cy="329434"/>
          </a:xfrm>
          <a:prstGeom prst="rect">
            <a:avLst/>
          </a:prstGeom>
        </p:spPr>
      </p:pic>
      <p:pic>
        <p:nvPicPr>
          <p:cNvPr id="3" name="object 3" descr="IguanaTex Picture Display  \documentclass{article} \usepackage{amsmath} \pagestyle{empty} \begin{document}  \newcommand{\bs}{\mathbf{s}} \newcommand{\ba}{\mathbf{a}}  \[ \pi_\theta(\ba_t|\bs_t) \]  \end{document}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9015" y="3107804"/>
            <a:ext cx="1278889" cy="352564"/>
          </a:xfrm>
          <a:prstGeom prst="rect">
            <a:avLst/>
          </a:prstGeom>
        </p:spPr>
      </p:pic>
      <p:pic>
        <p:nvPicPr>
          <p:cNvPr id="4" name="object 4" descr="A car driving on a highway  AI-generated content may be incorre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9789" y="1360932"/>
            <a:ext cx="3277997" cy="2185289"/>
          </a:xfrm>
          <a:prstGeom prst="rect">
            <a:avLst/>
          </a:prstGeom>
        </p:spPr>
      </p:pic>
      <p:pic>
        <p:nvPicPr>
          <p:cNvPr id="5" name="object 5" descr="A car driving on a highway  AI-generated content may be incorrect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9215" y="1356867"/>
            <a:ext cx="3284092" cy="218935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604511" y="1356867"/>
            <a:ext cx="535940" cy="2189480"/>
          </a:xfrm>
          <a:custGeom>
            <a:avLst/>
            <a:gdLst/>
            <a:ahLst/>
            <a:cxnLst/>
            <a:rect l="l" t="t" r="r" b="b"/>
            <a:pathLst>
              <a:path w="535939" h="2189479">
                <a:moveTo>
                  <a:pt x="0" y="2189353"/>
                </a:moveTo>
                <a:lnTo>
                  <a:pt x="0" y="0"/>
                </a:lnTo>
                <a:lnTo>
                  <a:pt x="535432" y="437769"/>
                </a:lnTo>
                <a:lnTo>
                  <a:pt x="535432" y="1751457"/>
                </a:lnTo>
                <a:lnTo>
                  <a:pt x="0" y="218935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91835" y="1795145"/>
            <a:ext cx="723900" cy="1313180"/>
          </a:xfrm>
          <a:custGeom>
            <a:avLst/>
            <a:gdLst/>
            <a:ahLst/>
            <a:cxnLst/>
            <a:rect l="l" t="t" r="r" b="b"/>
            <a:pathLst>
              <a:path w="723900" h="1313180">
                <a:moveTo>
                  <a:pt x="0" y="1312671"/>
                </a:moveTo>
                <a:lnTo>
                  <a:pt x="0" y="0"/>
                </a:lnTo>
                <a:lnTo>
                  <a:pt x="723900" y="262508"/>
                </a:lnTo>
                <a:lnTo>
                  <a:pt x="723900" y="1050163"/>
                </a:lnTo>
                <a:lnTo>
                  <a:pt x="0" y="131267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67628" y="2051430"/>
            <a:ext cx="946785" cy="800735"/>
          </a:xfrm>
          <a:custGeom>
            <a:avLst/>
            <a:gdLst/>
            <a:ahLst/>
            <a:cxnLst/>
            <a:rect l="l" t="t" r="r" b="b"/>
            <a:pathLst>
              <a:path w="946784" h="800735">
                <a:moveTo>
                  <a:pt x="0" y="800227"/>
                </a:moveTo>
                <a:lnTo>
                  <a:pt x="0" y="0"/>
                </a:lnTo>
                <a:lnTo>
                  <a:pt x="946785" y="160020"/>
                </a:lnTo>
                <a:lnTo>
                  <a:pt x="946785" y="640080"/>
                </a:lnTo>
                <a:lnTo>
                  <a:pt x="0" y="800227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66305" y="2218054"/>
            <a:ext cx="314325" cy="467359"/>
          </a:xfrm>
          <a:custGeom>
            <a:avLst/>
            <a:gdLst/>
            <a:ahLst/>
            <a:cxnLst/>
            <a:rect l="l" t="t" r="r" b="b"/>
            <a:pathLst>
              <a:path w="314325" h="467360">
                <a:moveTo>
                  <a:pt x="0" y="466979"/>
                </a:moveTo>
                <a:lnTo>
                  <a:pt x="0" y="0"/>
                </a:lnTo>
                <a:lnTo>
                  <a:pt x="314071" y="93345"/>
                </a:lnTo>
                <a:lnTo>
                  <a:pt x="314071" y="373507"/>
                </a:lnTo>
                <a:lnTo>
                  <a:pt x="0" y="46697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9759" y="1185291"/>
            <a:ext cx="1384935" cy="323850"/>
          </a:xfrm>
          <a:custGeom>
            <a:avLst/>
            <a:gdLst/>
            <a:ahLst/>
            <a:cxnLst/>
            <a:rect l="l" t="t" r="r" b="b"/>
            <a:pathLst>
              <a:path w="1384935" h="323850">
                <a:moveTo>
                  <a:pt x="0" y="206756"/>
                </a:moveTo>
                <a:lnTo>
                  <a:pt x="51180" y="323850"/>
                </a:lnTo>
                <a:lnTo>
                  <a:pt x="103806" y="231012"/>
                </a:lnTo>
                <a:lnTo>
                  <a:pt x="75056" y="231012"/>
                </a:lnTo>
                <a:lnTo>
                  <a:pt x="37211" y="226441"/>
                </a:lnTo>
                <a:lnTo>
                  <a:pt x="39297" y="208810"/>
                </a:lnTo>
                <a:lnTo>
                  <a:pt x="0" y="206756"/>
                </a:lnTo>
                <a:close/>
              </a:path>
              <a:path w="1384935" h="323850">
                <a:moveTo>
                  <a:pt x="39297" y="208810"/>
                </a:moveTo>
                <a:lnTo>
                  <a:pt x="37211" y="226441"/>
                </a:lnTo>
                <a:lnTo>
                  <a:pt x="75056" y="231012"/>
                </a:lnTo>
                <a:lnTo>
                  <a:pt x="77491" y="210807"/>
                </a:lnTo>
                <a:lnTo>
                  <a:pt x="39297" y="208810"/>
                </a:lnTo>
                <a:close/>
              </a:path>
              <a:path w="1384935" h="323850">
                <a:moveTo>
                  <a:pt x="77491" y="210807"/>
                </a:moveTo>
                <a:lnTo>
                  <a:pt x="75056" y="231012"/>
                </a:lnTo>
                <a:lnTo>
                  <a:pt x="103806" y="231012"/>
                </a:lnTo>
                <a:lnTo>
                  <a:pt x="114173" y="212725"/>
                </a:lnTo>
                <a:lnTo>
                  <a:pt x="77491" y="210807"/>
                </a:lnTo>
                <a:close/>
              </a:path>
              <a:path w="1384935" h="323850">
                <a:moveTo>
                  <a:pt x="669416" y="0"/>
                </a:moveTo>
                <a:lnTo>
                  <a:pt x="634618" y="0"/>
                </a:lnTo>
                <a:lnTo>
                  <a:pt x="566927" y="762"/>
                </a:lnTo>
                <a:lnTo>
                  <a:pt x="502792" y="2539"/>
                </a:lnTo>
                <a:lnTo>
                  <a:pt x="413512" y="7620"/>
                </a:lnTo>
                <a:lnTo>
                  <a:pt x="359028" y="12573"/>
                </a:lnTo>
                <a:lnTo>
                  <a:pt x="309117" y="19050"/>
                </a:lnTo>
                <a:lnTo>
                  <a:pt x="263778" y="27178"/>
                </a:lnTo>
                <a:lnTo>
                  <a:pt x="223519" y="36957"/>
                </a:lnTo>
                <a:lnTo>
                  <a:pt x="171830" y="54737"/>
                </a:lnTo>
                <a:lnTo>
                  <a:pt x="129793" y="76326"/>
                </a:lnTo>
                <a:lnTo>
                  <a:pt x="96519" y="101346"/>
                </a:lnTo>
                <a:lnTo>
                  <a:pt x="64388" y="139446"/>
                </a:lnTo>
                <a:lnTo>
                  <a:pt x="44830" y="181229"/>
                </a:lnTo>
                <a:lnTo>
                  <a:pt x="41410" y="192315"/>
                </a:lnTo>
                <a:lnTo>
                  <a:pt x="41340" y="192543"/>
                </a:lnTo>
                <a:lnTo>
                  <a:pt x="41229" y="192904"/>
                </a:lnTo>
                <a:lnTo>
                  <a:pt x="41148" y="193167"/>
                </a:lnTo>
                <a:lnTo>
                  <a:pt x="39297" y="208810"/>
                </a:lnTo>
                <a:lnTo>
                  <a:pt x="77491" y="210807"/>
                </a:lnTo>
                <a:lnTo>
                  <a:pt x="78453" y="202819"/>
                </a:lnTo>
                <a:lnTo>
                  <a:pt x="78104" y="202819"/>
                </a:lnTo>
                <a:lnTo>
                  <a:pt x="78866" y="199389"/>
                </a:lnTo>
                <a:lnTo>
                  <a:pt x="79155" y="199389"/>
                </a:lnTo>
                <a:lnTo>
                  <a:pt x="80951" y="193564"/>
                </a:lnTo>
                <a:lnTo>
                  <a:pt x="81074" y="193167"/>
                </a:lnTo>
                <a:lnTo>
                  <a:pt x="96995" y="159321"/>
                </a:lnTo>
                <a:lnTo>
                  <a:pt x="102362" y="151384"/>
                </a:lnTo>
                <a:lnTo>
                  <a:pt x="103784" y="149606"/>
                </a:lnTo>
                <a:lnTo>
                  <a:pt x="107338" y="145037"/>
                </a:lnTo>
                <a:lnTo>
                  <a:pt x="115188" y="136271"/>
                </a:lnTo>
                <a:lnTo>
                  <a:pt x="121896" y="129794"/>
                </a:lnTo>
                <a:lnTo>
                  <a:pt x="122235" y="129412"/>
                </a:lnTo>
                <a:lnTo>
                  <a:pt x="130052" y="122682"/>
                </a:lnTo>
                <a:lnTo>
                  <a:pt x="172988" y="96138"/>
                </a:lnTo>
                <a:lnTo>
                  <a:pt x="216563" y="78867"/>
                </a:lnTo>
                <a:lnTo>
                  <a:pt x="271014" y="64591"/>
                </a:lnTo>
                <a:lnTo>
                  <a:pt x="314588" y="56829"/>
                </a:lnTo>
                <a:lnTo>
                  <a:pt x="314141" y="56829"/>
                </a:lnTo>
                <a:lnTo>
                  <a:pt x="338202" y="53518"/>
                </a:lnTo>
                <a:lnTo>
                  <a:pt x="337776" y="53518"/>
                </a:lnTo>
                <a:lnTo>
                  <a:pt x="362967" y="50464"/>
                </a:lnTo>
                <a:lnTo>
                  <a:pt x="362515" y="50464"/>
                </a:lnTo>
                <a:lnTo>
                  <a:pt x="388047" y="47886"/>
                </a:lnTo>
                <a:lnTo>
                  <a:pt x="388941" y="47886"/>
                </a:lnTo>
                <a:lnTo>
                  <a:pt x="416182" y="45614"/>
                </a:lnTo>
                <a:lnTo>
                  <a:pt x="415866" y="45614"/>
                </a:lnTo>
                <a:lnTo>
                  <a:pt x="471807" y="42040"/>
                </a:lnTo>
                <a:lnTo>
                  <a:pt x="473677" y="42040"/>
                </a:lnTo>
                <a:lnTo>
                  <a:pt x="504064" y="40651"/>
                </a:lnTo>
                <a:lnTo>
                  <a:pt x="503705" y="40651"/>
                </a:lnTo>
                <a:lnTo>
                  <a:pt x="567563" y="38867"/>
                </a:lnTo>
                <a:lnTo>
                  <a:pt x="567173" y="38867"/>
                </a:lnTo>
                <a:lnTo>
                  <a:pt x="617791" y="38226"/>
                </a:lnTo>
                <a:lnTo>
                  <a:pt x="1383817" y="38226"/>
                </a:lnTo>
                <a:lnTo>
                  <a:pt x="1384406" y="27178"/>
                </a:lnTo>
                <a:lnTo>
                  <a:pt x="1384427" y="26797"/>
                </a:lnTo>
                <a:lnTo>
                  <a:pt x="972057" y="7112"/>
                </a:lnTo>
                <a:lnTo>
                  <a:pt x="816228" y="2159"/>
                </a:lnTo>
                <a:lnTo>
                  <a:pt x="747892" y="762"/>
                </a:lnTo>
                <a:lnTo>
                  <a:pt x="753829" y="762"/>
                </a:lnTo>
                <a:lnTo>
                  <a:pt x="669416" y="0"/>
                </a:lnTo>
                <a:close/>
              </a:path>
              <a:path w="1384935" h="323850">
                <a:moveTo>
                  <a:pt x="78866" y="199389"/>
                </a:moveTo>
                <a:lnTo>
                  <a:pt x="78104" y="202819"/>
                </a:lnTo>
                <a:lnTo>
                  <a:pt x="78673" y="200955"/>
                </a:lnTo>
                <a:lnTo>
                  <a:pt x="78866" y="199389"/>
                </a:lnTo>
                <a:close/>
              </a:path>
              <a:path w="1384935" h="323850">
                <a:moveTo>
                  <a:pt x="78678" y="200955"/>
                </a:moveTo>
                <a:lnTo>
                  <a:pt x="78104" y="202819"/>
                </a:lnTo>
                <a:lnTo>
                  <a:pt x="78453" y="202819"/>
                </a:lnTo>
                <a:lnTo>
                  <a:pt x="78678" y="200955"/>
                </a:lnTo>
                <a:close/>
              </a:path>
              <a:path w="1384935" h="323850">
                <a:moveTo>
                  <a:pt x="79155" y="199389"/>
                </a:moveTo>
                <a:lnTo>
                  <a:pt x="78866" y="199389"/>
                </a:lnTo>
                <a:lnTo>
                  <a:pt x="78678" y="200955"/>
                </a:lnTo>
                <a:lnTo>
                  <a:pt x="79155" y="199389"/>
                </a:lnTo>
                <a:close/>
              </a:path>
              <a:path w="1384935" h="323850">
                <a:moveTo>
                  <a:pt x="1383817" y="38226"/>
                </a:moveTo>
                <a:lnTo>
                  <a:pt x="704850" y="38226"/>
                </a:lnTo>
                <a:lnTo>
                  <a:pt x="750519" y="38867"/>
                </a:lnTo>
                <a:lnTo>
                  <a:pt x="748757" y="38867"/>
                </a:lnTo>
                <a:lnTo>
                  <a:pt x="891922" y="42418"/>
                </a:lnTo>
                <a:lnTo>
                  <a:pt x="1218763" y="56421"/>
                </a:lnTo>
                <a:lnTo>
                  <a:pt x="1218583" y="56421"/>
                </a:lnTo>
                <a:lnTo>
                  <a:pt x="1382394" y="64897"/>
                </a:lnTo>
                <a:lnTo>
                  <a:pt x="1382825" y="56829"/>
                </a:lnTo>
                <a:lnTo>
                  <a:pt x="1382936" y="54737"/>
                </a:lnTo>
                <a:lnTo>
                  <a:pt x="1383025" y="53078"/>
                </a:lnTo>
                <a:lnTo>
                  <a:pt x="1383065" y="52324"/>
                </a:lnTo>
                <a:lnTo>
                  <a:pt x="1383177" y="50230"/>
                </a:lnTo>
                <a:lnTo>
                  <a:pt x="1383302" y="47886"/>
                </a:lnTo>
                <a:lnTo>
                  <a:pt x="1383423" y="45614"/>
                </a:lnTo>
                <a:lnTo>
                  <a:pt x="1383526" y="43687"/>
                </a:lnTo>
                <a:lnTo>
                  <a:pt x="1383614" y="42040"/>
                </a:lnTo>
                <a:lnTo>
                  <a:pt x="1383715" y="40132"/>
                </a:lnTo>
                <a:lnTo>
                  <a:pt x="1383817" y="38226"/>
                </a:lnTo>
                <a:close/>
              </a:path>
              <a:path w="1384935" h="323850">
                <a:moveTo>
                  <a:pt x="317104" y="56421"/>
                </a:moveTo>
                <a:lnTo>
                  <a:pt x="314141" y="56829"/>
                </a:lnTo>
                <a:lnTo>
                  <a:pt x="314588" y="56829"/>
                </a:lnTo>
                <a:lnTo>
                  <a:pt x="317104" y="56421"/>
                </a:lnTo>
                <a:close/>
              </a:path>
              <a:path w="1384935" h="323850">
                <a:moveTo>
                  <a:pt x="341405" y="53078"/>
                </a:moveTo>
                <a:lnTo>
                  <a:pt x="337776" y="53518"/>
                </a:lnTo>
                <a:lnTo>
                  <a:pt x="338202" y="53518"/>
                </a:lnTo>
                <a:lnTo>
                  <a:pt x="341405" y="53078"/>
                </a:lnTo>
                <a:close/>
              </a:path>
              <a:path w="1384935" h="323850">
                <a:moveTo>
                  <a:pt x="364900" y="50230"/>
                </a:moveTo>
                <a:lnTo>
                  <a:pt x="362515" y="50464"/>
                </a:lnTo>
                <a:lnTo>
                  <a:pt x="362967" y="50464"/>
                </a:lnTo>
                <a:lnTo>
                  <a:pt x="364900" y="50230"/>
                </a:lnTo>
                <a:close/>
              </a:path>
              <a:path w="1384935" h="323850">
                <a:moveTo>
                  <a:pt x="388977" y="47886"/>
                </a:moveTo>
                <a:lnTo>
                  <a:pt x="388047" y="47886"/>
                </a:lnTo>
                <a:lnTo>
                  <a:pt x="381834" y="48513"/>
                </a:lnTo>
                <a:lnTo>
                  <a:pt x="381344" y="48513"/>
                </a:lnTo>
                <a:lnTo>
                  <a:pt x="388977" y="47886"/>
                </a:lnTo>
                <a:close/>
              </a:path>
              <a:path w="1384935" h="323850">
                <a:moveTo>
                  <a:pt x="473703" y="42040"/>
                </a:moveTo>
                <a:lnTo>
                  <a:pt x="471807" y="42040"/>
                </a:lnTo>
                <a:lnTo>
                  <a:pt x="465545" y="42418"/>
                </a:lnTo>
                <a:lnTo>
                  <a:pt x="465356" y="42418"/>
                </a:lnTo>
                <a:lnTo>
                  <a:pt x="473703" y="42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25894" y="1181735"/>
            <a:ext cx="970915" cy="1036319"/>
          </a:xfrm>
          <a:custGeom>
            <a:avLst/>
            <a:gdLst/>
            <a:ahLst/>
            <a:cxnLst/>
            <a:rect l="l" t="t" r="r" b="b"/>
            <a:pathLst>
              <a:path w="970915" h="1036319">
                <a:moveTo>
                  <a:pt x="894567" y="922019"/>
                </a:moveTo>
                <a:lnTo>
                  <a:pt x="856677" y="922019"/>
                </a:lnTo>
                <a:lnTo>
                  <a:pt x="913383" y="1036319"/>
                </a:lnTo>
                <a:lnTo>
                  <a:pt x="961369" y="941197"/>
                </a:lnTo>
                <a:lnTo>
                  <a:pt x="932687" y="941197"/>
                </a:lnTo>
                <a:lnTo>
                  <a:pt x="894587" y="941069"/>
                </a:lnTo>
                <a:lnTo>
                  <a:pt x="894567" y="922019"/>
                </a:lnTo>
                <a:close/>
              </a:path>
              <a:path w="970915" h="1036319">
                <a:moveTo>
                  <a:pt x="894567" y="922019"/>
                </a:moveTo>
                <a:lnTo>
                  <a:pt x="894587" y="941069"/>
                </a:lnTo>
                <a:lnTo>
                  <a:pt x="932687" y="941197"/>
                </a:lnTo>
                <a:lnTo>
                  <a:pt x="932736" y="922146"/>
                </a:lnTo>
                <a:lnTo>
                  <a:pt x="894567" y="922019"/>
                </a:lnTo>
                <a:close/>
              </a:path>
              <a:path w="970915" h="1036319">
                <a:moveTo>
                  <a:pt x="932736" y="922146"/>
                </a:moveTo>
                <a:lnTo>
                  <a:pt x="932687" y="941197"/>
                </a:lnTo>
                <a:lnTo>
                  <a:pt x="961369" y="941197"/>
                </a:lnTo>
                <a:lnTo>
                  <a:pt x="970914" y="922274"/>
                </a:lnTo>
                <a:lnTo>
                  <a:pt x="932736" y="922146"/>
                </a:lnTo>
                <a:close/>
              </a:path>
              <a:path w="970915" h="1036319">
                <a:moveTo>
                  <a:pt x="850475" y="204610"/>
                </a:moveTo>
                <a:lnTo>
                  <a:pt x="808741" y="204610"/>
                </a:lnTo>
                <a:lnTo>
                  <a:pt x="817755" y="224534"/>
                </a:lnTo>
                <a:lnTo>
                  <a:pt x="818174" y="225505"/>
                </a:lnTo>
                <a:lnTo>
                  <a:pt x="834577" y="269254"/>
                </a:lnTo>
                <a:lnTo>
                  <a:pt x="848868" y="318642"/>
                </a:lnTo>
                <a:lnTo>
                  <a:pt x="861299" y="374086"/>
                </a:lnTo>
                <a:lnTo>
                  <a:pt x="865819" y="399172"/>
                </a:lnTo>
                <a:lnTo>
                  <a:pt x="865953" y="399587"/>
                </a:lnTo>
                <a:lnTo>
                  <a:pt x="870379" y="427621"/>
                </a:lnTo>
                <a:lnTo>
                  <a:pt x="870536" y="428184"/>
                </a:lnTo>
                <a:lnTo>
                  <a:pt x="874471" y="457079"/>
                </a:lnTo>
                <a:lnTo>
                  <a:pt x="874565" y="457448"/>
                </a:lnTo>
                <a:lnTo>
                  <a:pt x="878048" y="487302"/>
                </a:lnTo>
                <a:lnTo>
                  <a:pt x="878104" y="487550"/>
                </a:lnTo>
                <a:lnTo>
                  <a:pt x="881346" y="518149"/>
                </a:lnTo>
                <a:lnTo>
                  <a:pt x="884232" y="552014"/>
                </a:lnTo>
                <a:lnTo>
                  <a:pt x="886459" y="581913"/>
                </a:lnTo>
                <a:lnTo>
                  <a:pt x="888239" y="612520"/>
                </a:lnTo>
                <a:lnTo>
                  <a:pt x="888350" y="614426"/>
                </a:lnTo>
                <a:lnTo>
                  <a:pt x="891344" y="680212"/>
                </a:lnTo>
                <a:lnTo>
                  <a:pt x="893418" y="749553"/>
                </a:lnTo>
                <a:lnTo>
                  <a:pt x="894455" y="820165"/>
                </a:lnTo>
                <a:lnTo>
                  <a:pt x="894567" y="922019"/>
                </a:lnTo>
                <a:lnTo>
                  <a:pt x="932736" y="922146"/>
                </a:lnTo>
                <a:lnTo>
                  <a:pt x="932562" y="820556"/>
                </a:lnTo>
                <a:lnTo>
                  <a:pt x="931561" y="750687"/>
                </a:lnTo>
                <a:lnTo>
                  <a:pt x="929571" y="682209"/>
                </a:lnTo>
                <a:lnTo>
                  <a:pt x="929512" y="680212"/>
                </a:lnTo>
                <a:lnTo>
                  <a:pt x="926602" y="615574"/>
                </a:lnTo>
                <a:lnTo>
                  <a:pt x="926550" y="614426"/>
                </a:lnTo>
                <a:lnTo>
                  <a:pt x="926464" y="612520"/>
                </a:lnTo>
                <a:lnTo>
                  <a:pt x="922020" y="546607"/>
                </a:lnTo>
                <a:lnTo>
                  <a:pt x="915924" y="483235"/>
                </a:lnTo>
                <a:lnTo>
                  <a:pt x="908176" y="422275"/>
                </a:lnTo>
                <a:lnTo>
                  <a:pt x="898144" y="364236"/>
                </a:lnTo>
                <a:lnTo>
                  <a:pt x="885825" y="309499"/>
                </a:lnTo>
                <a:lnTo>
                  <a:pt x="870965" y="258190"/>
                </a:lnTo>
                <a:lnTo>
                  <a:pt x="853185" y="210692"/>
                </a:lnTo>
                <a:lnTo>
                  <a:pt x="850475" y="204610"/>
                </a:lnTo>
                <a:close/>
              </a:path>
              <a:path w="970915" h="1036319">
                <a:moveTo>
                  <a:pt x="809182" y="205583"/>
                </a:moveTo>
                <a:lnTo>
                  <a:pt x="809360" y="206261"/>
                </a:lnTo>
                <a:lnTo>
                  <a:pt x="809757" y="206854"/>
                </a:lnTo>
                <a:lnTo>
                  <a:pt x="809488" y="206261"/>
                </a:lnTo>
                <a:lnTo>
                  <a:pt x="809101" y="205583"/>
                </a:lnTo>
                <a:close/>
              </a:path>
              <a:path w="970915" h="1036319">
                <a:moveTo>
                  <a:pt x="822225" y="150494"/>
                </a:moveTo>
                <a:lnTo>
                  <a:pt x="776604" y="150494"/>
                </a:lnTo>
                <a:lnTo>
                  <a:pt x="787600" y="166871"/>
                </a:lnTo>
                <a:lnTo>
                  <a:pt x="788128" y="167695"/>
                </a:lnTo>
                <a:lnTo>
                  <a:pt x="798864" y="185702"/>
                </a:lnTo>
                <a:lnTo>
                  <a:pt x="799161" y="186309"/>
                </a:lnTo>
                <a:lnTo>
                  <a:pt x="809101" y="205583"/>
                </a:lnTo>
                <a:lnTo>
                  <a:pt x="808741" y="204610"/>
                </a:lnTo>
                <a:lnTo>
                  <a:pt x="850475" y="204610"/>
                </a:lnTo>
                <a:lnTo>
                  <a:pt x="843279" y="188467"/>
                </a:lnTo>
                <a:lnTo>
                  <a:pt x="832230" y="167386"/>
                </a:lnTo>
                <a:lnTo>
                  <a:pt x="822225" y="150494"/>
                </a:lnTo>
                <a:close/>
              </a:path>
              <a:path w="970915" h="1036319">
                <a:moveTo>
                  <a:pt x="780883" y="96647"/>
                </a:moveTo>
                <a:lnTo>
                  <a:pt x="723519" y="96647"/>
                </a:lnTo>
                <a:lnTo>
                  <a:pt x="724365" y="97305"/>
                </a:lnTo>
                <a:lnTo>
                  <a:pt x="724614" y="97536"/>
                </a:lnTo>
                <a:lnTo>
                  <a:pt x="737997" y="108330"/>
                </a:lnTo>
                <a:lnTo>
                  <a:pt x="738539" y="108805"/>
                </a:lnTo>
                <a:lnTo>
                  <a:pt x="738943" y="109219"/>
                </a:lnTo>
                <a:lnTo>
                  <a:pt x="751585" y="121030"/>
                </a:lnTo>
                <a:lnTo>
                  <a:pt x="752004" y="121449"/>
                </a:lnTo>
                <a:lnTo>
                  <a:pt x="752508" y="122047"/>
                </a:lnTo>
                <a:lnTo>
                  <a:pt x="764648" y="135397"/>
                </a:lnTo>
                <a:lnTo>
                  <a:pt x="765210" y="136143"/>
                </a:lnTo>
                <a:lnTo>
                  <a:pt x="777404" y="151686"/>
                </a:lnTo>
                <a:lnTo>
                  <a:pt x="776604" y="150494"/>
                </a:lnTo>
                <a:lnTo>
                  <a:pt x="822225" y="150494"/>
                </a:lnTo>
                <a:lnTo>
                  <a:pt x="820420" y="147447"/>
                </a:lnTo>
                <a:lnTo>
                  <a:pt x="807720" y="128650"/>
                </a:lnTo>
                <a:lnTo>
                  <a:pt x="794003" y="111125"/>
                </a:lnTo>
                <a:lnTo>
                  <a:pt x="780883" y="96647"/>
                </a:lnTo>
                <a:close/>
              </a:path>
              <a:path w="970915" h="1036319">
                <a:moveTo>
                  <a:pt x="515874" y="0"/>
                </a:moveTo>
                <a:lnTo>
                  <a:pt x="487825" y="0"/>
                </a:lnTo>
                <a:lnTo>
                  <a:pt x="466598" y="762"/>
                </a:lnTo>
                <a:lnTo>
                  <a:pt x="415671" y="4444"/>
                </a:lnTo>
                <a:lnTo>
                  <a:pt x="363220" y="10667"/>
                </a:lnTo>
                <a:lnTo>
                  <a:pt x="282194" y="24129"/>
                </a:lnTo>
                <a:lnTo>
                  <a:pt x="226949" y="35178"/>
                </a:lnTo>
                <a:lnTo>
                  <a:pt x="170814" y="47625"/>
                </a:lnTo>
                <a:lnTo>
                  <a:pt x="114173" y="61087"/>
                </a:lnTo>
                <a:lnTo>
                  <a:pt x="0" y="89788"/>
                </a:lnTo>
                <a:lnTo>
                  <a:pt x="9271" y="126745"/>
                </a:lnTo>
                <a:lnTo>
                  <a:pt x="123189" y="98170"/>
                </a:lnTo>
                <a:lnTo>
                  <a:pt x="179171" y="84775"/>
                </a:lnTo>
                <a:lnTo>
                  <a:pt x="234588" y="72477"/>
                </a:lnTo>
                <a:lnTo>
                  <a:pt x="288953" y="61571"/>
                </a:lnTo>
                <a:lnTo>
                  <a:pt x="342301" y="52265"/>
                </a:lnTo>
                <a:lnTo>
                  <a:pt x="368301" y="48424"/>
                </a:lnTo>
                <a:lnTo>
                  <a:pt x="368017" y="48424"/>
                </a:lnTo>
                <a:lnTo>
                  <a:pt x="393797" y="45028"/>
                </a:lnTo>
                <a:lnTo>
                  <a:pt x="418967" y="42345"/>
                </a:lnTo>
                <a:lnTo>
                  <a:pt x="418296" y="42345"/>
                </a:lnTo>
                <a:lnTo>
                  <a:pt x="439988" y="40599"/>
                </a:lnTo>
                <a:lnTo>
                  <a:pt x="438336" y="40599"/>
                </a:lnTo>
                <a:lnTo>
                  <a:pt x="465511" y="38926"/>
                </a:lnTo>
                <a:lnTo>
                  <a:pt x="461907" y="38926"/>
                </a:lnTo>
                <a:lnTo>
                  <a:pt x="488209" y="38100"/>
                </a:lnTo>
                <a:lnTo>
                  <a:pt x="699361" y="38100"/>
                </a:lnTo>
                <a:lnTo>
                  <a:pt x="691896" y="34416"/>
                </a:lnTo>
                <a:lnTo>
                  <a:pt x="651382" y="19303"/>
                </a:lnTo>
                <a:lnTo>
                  <a:pt x="608456" y="8889"/>
                </a:lnTo>
                <a:lnTo>
                  <a:pt x="563245" y="2539"/>
                </a:lnTo>
                <a:lnTo>
                  <a:pt x="539750" y="762"/>
                </a:lnTo>
                <a:lnTo>
                  <a:pt x="515874" y="0"/>
                </a:lnTo>
                <a:close/>
              </a:path>
              <a:path w="970915" h="1036319">
                <a:moveTo>
                  <a:pt x="770119" y="86232"/>
                </a:moveTo>
                <a:lnTo>
                  <a:pt x="708405" y="86232"/>
                </a:lnTo>
                <a:lnTo>
                  <a:pt x="724330" y="97305"/>
                </a:lnTo>
                <a:lnTo>
                  <a:pt x="723519" y="96647"/>
                </a:lnTo>
                <a:lnTo>
                  <a:pt x="780883" y="96647"/>
                </a:lnTo>
                <a:lnTo>
                  <a:pt x="779272" y="94868"/>
                </a:lnTo>
                <a:lnTo>
                  <a:pt x="770119" y="86232"/>
                </a:lnTo>
                <a:close/>
              </a:path>
              <a:path w="970915" h="1036319">
                <a:moveTo>
                  <a:pt x="759914" y="77088"/>
                </a:moveTo>
                <a:lnTo>
                  <a:pt x="692403" y="77088"/>
                </a:lnTo>
                <a:lnTo>
                  <a:pt x="693268" y="77569"/>
                </a:lnTo>
                <a:lnTo>
                  <a:pt x="693497" y="77724"/>
                </a:lnTo>
                <a:lnTo>
                  <a:pt x="709728" y="87152"/>
                </a:lnTo>
                <a:lnTo>
                  <a:pt x="708405" y="86232"/>
                </a:lnTo>
                <a:lnTo>
                  <a:pt x="770119" y="86232"/>
                </a:lnTo>
                <a:lnTo>
                  <a:pt x="763524" y="80010"/>
                </a:lnTo>
                <a:lnTo>
                  <a:pt x="759914" y="77088"/>
                </a:lnTo>
                <a:close/>
              </a:path>
              <a:path w="970915" h="1036319">
                <a:moveTo>
                  <a:pt x="179465" y="84775"/>
                </a:moveTo>
                <a:lnTo>
                  <a:pt x="179188" y="84775"/>
                </a:lnTo>
                <a:lnTo>
                  <a:pt x="175069" y="85757"/>
                </a:lnTo>
                <a:lnTo>
                  <a:pt x="179465" y="84775"/>
                </a:lnTo>
                <a:close/>
              </a:path>
              <a:path w="970915" h="1036319">
                <a:moveTo>
                  <a:pt x="731021" y="55625"/>
                </a:moveTo>
                <a:lnTo>
                  <a:pt x="639699" y="55625"/>
                </a:lnTo>
                <a:lnTo>
                  <a:pt x="659640" y="62403"/>
                </a:lnTo>
                <a:lnTo>
                  <a:pt x="675639" y="68961"/>
                </a:lnTo>
                <a:lnTo>
                  <a:pt x="676223" y="69220"/>
                </a:lnTo>
                <a:lnTo>
                  <a:pt x="676678" y="69468"/>
                </a:lnTo>
                <a:lnTo>
                  <a:pt x="693230" y="77569"/>
                </a:lnTo>
                <a:lnTo>
                  <a:pt x="692403" y="77088"/>
                </a:lnTo>
                <a:lnTo>
                  <a:pt x="759914" y="77088"/>
                </a:lnTo>
                <a:lnTo>
                  <a:pt x="746886" y="66548"/>
                </a:lnTo>
                <a:lnTo>
                  <a:pt x="731021" y="55625"/>
                </a:lnTo>
                <a:close/>
              </a:path>
              <a:path w="970915" h="1036319">
                <a:moveTo>
                  <a:pt x="234767" y="72477"/>
                </a:moveTo>
                <a:lnTo>
                  <a:pt x="234560" y="72477"/>
                </a:lnTo>
                <a:lnTo>
                  <a:pt x="232529" y="72930"/>
                </a:lnTo>
                <a:lnTo>
                  <a:pt x="234767" y="72477"/>
                </a:lnTo>
                <a:close/>
              </a:path>
              <a:path w="970915" h="1036319">
                <a:moveTo>
                  <a:pt x="289060" y="61571"/>
                </a:moveTo>
                <a:lnTo>
                  <a:pt x="288920" y="61571"/>
                </a:lnTo>
                <a:lnTo>
                  <a:pt x="287639" y="61829"/>
                </a:lnTo>
                <a:lnTo>
                  <a:pt x="289060" y="61571"/>
                </a:lnTo>
                <a:close/>
              </a:path>
              <a:path w="970915" h="1036319">
                <a:moveTo>
                  <a:pt x="722564" y="50545"/>
                </a:moveTo>
                <a:lnTo>
                  <a:pt x="620776" y="50545"/>
                </a:lnTo>
                <a:lnTo>
                  <a:pt x="640841" y="56006"/>
                </a:lnTo>
                <a:lnTo>
                  <a:pt x="639699" y="55625"/>
                </a:lnTo>
                <a:lnTo>
                  <a:pt x="731021" y="55625"/>
                </a:lnTo>
                <a:lnTo>
                  <a:pt x="729360" y="54482"/>
                </a:lnTo>
                <a:lnTo>
                  <a:pt x="722564" y="50545"/>
                </a:lnTo>
                <a:close/>
              </a:path>
              <a:path w="970915" h="1036319">
                <a:moveTo>
                  <a:pt x="342655" y="52265"/>
                </a:moveTo>
                <a:lnTo>
                  <a:pt x="342254" y="52265"/>
                </a:lnTo>
                <a:lnTo>
                  <a:pt x="339824" y="52690"/>
                </a:lnTo>
                <a:lnTo>
                  <a:pt x="342655" y="52265"/>
                </a:lnTo>
                <a:close/>
              </a:path>
              <a:path w="970915" h="1036319">
                <a:moveTo>
                  <a:pt x="715452" y="46425"/>
                </a:moveTo>
                <a:lnTo>
                  <a:pt x="601865" y="46425"/>
                </a:lnTo>
                <a:lnTo>
                  <a:pt x="621782" y="50800"/>
                </a:lnTo>
                <a:lnTo>
                  <a:pt x="620776" y="50545"/>
                </a:lnTo>
                <a:lnTo>
                  <a:pt x="722564" y="50545"/>
                </a:lnTo>
                <a:lnTo>
                  <a:pt x="715452" y="46425"/>
                </a:lnTo>
                <a:close/>
              </a:path>
              <a:path w="970915" h="1036319">
                <a:moveTo>
                  <a:pt x="370435" y="48109"/>
                </a:moveTo>
                <a:lnTo>
                  <a:pt x="368017" y="48424"/>
                </a:lnTo>
                <a:lnTo>
                  <a:pt x="368301" y="48424"/>
                </a:lnTo>
                <a:lnTo>
                  <a:pt x="370435" y="48109"/>
                </a:lnTo>
                <a:close/>
              </a:path>
              <a:path w="970915" h="1036319">
                <a:moveTo>
                  <a:pt x="699361" y="38100"/>
                </a:moveTo>
                <a:lnTo>
                  <a:pt x="514857" y="38100"/>
                </a:lnTo>
                <a:lnTo>
                  <a:pt x="540057" y="38926"/>
                </a:lnTo>
                <a:lnTo>
                  <a:pt x="538097" y="38926"/>
                </a:lnTo>
                <a:lnTo>
                  <a:pt x="561176" y="40599"/>
                </a:lnTo>
                <a:lnTo>
                  <a:pt x="560389" y="40599"/>
                </a:lnTo>
                <a:lnTo>
                  <a:pt x="581156" y="43052"/>
                </a:lnTo>
                <a:lnTo>
                  <a:pt x="602946" y="46663"/>
                </a:lnTo>
                <a:lnTo>
                  <a:pt x="601865" y="46425"/>
                </a:lnTo>
                <a:lnTo>
                  <a:pt x="715452" y="46425"/>
                </a:lnTo>
                <a:lnTo>
                  <a:pt x="710946" y="43814"/>
                </a:lnTo>
                <a:lnTo>
                  <a:pt x="699361" y="38100"/>
                </a:lnTo>
                <a:close/>
              </a:path>
              <a:path w="970915" h="1036319">
                <a:moveTo>
                  <a:pt x="394342" y="45028"/>
                </a:moveTo>
                <a:lnTo>
                  <a:pt x="393868" y="45028"/>
                </a:lnTo>
                <a:lnTo>
                  <a:pt x="391190" y="45372"/>
                </a:lnTo>
                <a:lnTo>
                  <a:pt x="394342" y="45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58307" y="1262761"/>
            <a:ext cx="555625" cy="702310"/>
          </a:xfrm>
          <a:custGeom>
            <a:avLst/>
            <a:gdLst/>
            <a:ahLst/>
            <a:cxnLst/>
            <a:rect l="l" t="t" r="r" b="b"/>
            <a:pathLst>
              <a:path w="555625" h="702310">
                <a:moveTo>
                  <a:pt x="38158" y="588010"/>
                </a:moveTo>
                <a:lnTo>
                  <a:pt x="0" y="588010"/>
                </a:lnTo>
                <a:lnTo>
                  <a:pt x="57276" y="702183"/>
                </a:lnTo>
                <a:lnTo>
                  <a:pt x="104732" y="607060"/>
                </a:lnTo>
                <a:lnTo>
                  <a:pt x="38099" y="607060"/>
                </a:lnTo>
                <a:lnTo>
                  <a:pt x="38158" y="588010"/>
                </a:lnTo>
                <a:close/>
              </a:path>
              <a:path w="555625" h="702310">
                <a:moveTo>
                  <a:pt x="482345" y="0"/>
                </a:moveTo>
                <a:lnTo>
                  <a:pt x="420115" y="0"/>
                </a:lnTo>
                <a:lnTo>
                  <a:pt x="401573" y="253"/>
                </a:lnTo>
                <a:lnTo>
                  <a:pt x="351154" y="1904"/>
                </a:lnTo>
                <a:lnTo>
                  <a:pt x="307975" y="5461"/>
                </a:lnTo>
                <a:lnTo>
                  <a:pt x="270255" y="11429"/>
                </a:lnTo>
                <a:lnTo>
                  <a:pt x="227456" y="24256"/>
                </a:lnTo>
                <a:lnTo>
                  <a:pt x="190372" y="43687"/>
                </a:lnTo>
                <a:lnTo>
                  <a:pt x="157098" y="70103"/>
                </a:lnTo>
                <a:lnTo>
                  <a:pt x="124967" y="104012"/>
                </a:lnTo>
                <a:lnTo>
                  <a:pt x="101345" y="138302"/>
                </a:lnTo>
                <a:lnTo>
                  <a:pt x="82676" y="179069"/>
                </a:lnTo>
                <a:lnTo>
                  <a:pt x="68198" y="225551"/>
                </a:lnTo>
                <a:lnTo>
                  <a:pt x="57403" y="277113"/>
                </a:lnTo>
                <a:lnTo>
                  <a:pt x="47497" y="352551"/>
                </a:lnTo>
                <a:lnTo>
                  <a:pt x="44068" y="392684"/>
                </a:lnTo>
                <a:lnTo>
                  <a:pt x="41528" y="434339"/>
                </a:lnTo>
                <a:lnTo>
                  <a:pt x="39877" y="477265"/>
                </a:lnTo>
                <a:lnTo>
                  <a:pt x="38862" y="521080"/>
                </a:lnTo>
                <a:lnTo>
                  <a:pt x="38226" y="565658"/>
                </a:lnTo>
                <a:lnTo>
                  <a:pt x="38225" y="566038"/>
                </a:lnTo>
                <a:lnTo>
                  <a:pt x="38099" y="607060"/>
                </a:lnTo>
                <a:lnTo>
                  <a:pt x="76200" y="607060"/>
                </a:lnTo>
                <a:lnTo>
                  <a:pt x="76326" y="566038"/>
                </a:lnTo>
                <a:lnTo>
                  <a:pt x="76829" y="522168"/>
                </a:lnTo>
                <a:lnTo>
                  <a:pt x="77947" y="479451"/>
                </a:lnTo>
                <a:lnTo>
                  <a:pt x="79585" y="437251"/>
                </a:lnTo>
                <a:lnTo>
                  <a:pt x="81941" y="396938"/>
                </a:lnTo>
                <a:lnTo>
                  <a:pt x="85186" y="357880"/>
                </a:lnTo>
                <a:lnTo>
                  <a:pt x="85792" y="352551"/>
                </a:lnTo>
                <a:lnTo>
                  <a:pt x="89574" y="319282"/>
                </a:lnTo>
                <a:lnTo>
                  <a:pt x="89698" y="318192"/>
                </a:lnTo>
                <a:lnTo>
                  <a:pt x="94881" y="283844"/>
                </a:lnTo>
                <a:lnTo>
                  <a:pt x="94995" y="283083"/>
                </a:lnTo>
                <a:lnTo>
                  <a:pt x="105523" y="233844"/>
                </a:lnTo>
                <a:lnTo>
                  <a:pt x="119020" y="190808"/>
                </a:lnTo>
                <a:lnTo>
                  <a:pt x="123710" y="179069"/>
                </a:lnTo>
                <a:lnTo>
                  <a:pt x="129031" y="167386"/>
                </a:lnTo>
                <a:lnTo>
                  <a:pt x="130382" y="164846"/>
                </a:lnTo>
                <a:lnTo>
                  <a:pt x="133601" y="158661"/>
                </a:lnTo>
                <a:lnTo>
                  <a:pt x="140969" y="146050"/>
                </a:lnTo>
                <a:lnTo>
                  <a:pt x="147446" y="136905"/>
                </a:lnTo>
                <a:lnTo>
                  <a:pt x="153335" y="129531"/>
                </a:lnTo>
                <a:lnTo>
                  <a:pt x="169163" y="111887"/>
                </a:lnTo>
                <a:lnTo>
                  <a:pt x="183514" y="97536"/>
                </a:lnTo>
                <a:lnTo>
                  <a:pt x="183651" y="97536"/>
                </a:lnTo>
                <a:lnTo>
                  <a:pt x="196693" y="86233"/>
                </a:lnTo>
                <a:lnTo>
                  <a:pt x="196468" y="86233"/>
                </a:lnTo>
                <a:lnTo>
                  <a:pt x="211962" y="75056"/>
                </a:lnTo>
                <a:lnTo>
                  <a:pt x="212163" y="75056"/>
                </a:lnTo>
                <a:lnTo>
                  <a:pt x="225313" y="67310"/>
                </a:lnTo>
                <a:lnTo>
                  <a:pt x="225170" y="67310"/>
                </a:lnTo>
                <a:lnTo>
                  <a:pt x="225818" y="67012"/>
                </a:lnTo>
                <a:lnTo>
                  <a:pt x="226821" y="66421"/>
                </a:lnTo>
                <a:lnTo>
                  <a:pt x="227104" y="66421"/>
                </a:lnTo>
                <a:lnTo>
                  <a:pt x="241189" y="59943"/>
                </a:lnTo>
                <a:lnTo>
                  <a:pt x="240918" y="59943"/>
                </a:lnTo>
                <a:lnTo>
                  <a:pt x="242085" y="59531"/>
                </a:lnTo>
                <a:lnTo>
                  <a:pt x="242569" y="59309"/>
                </a:lnTo>
                <a:lnTo>
                  <a:pt x="242716" y="59309"/>
                </a:lnTo>
                <a:lnTo>
                  <a:pt x="258531" y="53721"/>
                </a:lnTo>
                <a:lnTo>
                  <a:pt x="258190" y="53721"/>
                </a:lnTo>
                <a:lnTo>
                  <a:pt x="259968" y="53212"/>
                </a:lnTo>
                <a:lnTo>
                  <a:pt x="260235" y="53212"/>
                </a:lnTo>
                <a:lnTo>
                  <a:pt x="279145" y="48513"/>
                </a:lnTo>
                <a:lnTo>
                  <a:pt x="279444" y="48513"/>
                </a:lnTo>
                <a:lnTo>
                  <a:pt x="288648" y="46736"/>
                </a:lnTo>
                <a:lnTo>
                  <a:pt x="311514" y="43361"/>
                </a:lnTo>
                <a:lnTo>
                  <a:pt x="324465" y="42005"/>
                </a:lnTo>
                <a:lnTo>
                  <a:pt x="325454" y="42005"/>
                </a:lnTo>
                <a:lnTo>
                  <a:pt x="338595" y="40924"/>
                </a:lnTo>
                <a:lnTo>
                  <a:pt x="338325" y="40924"/>
                </a:lnTo>
                <a:lnTo>
                  <a:pt x="351856" y="39986"/>
                </a:lnTo>
                <a:lnTo>
                  <a:pt x="353505" y="39986"/>
                </a:lnTo>
                <a:lnTo>
                  <a:pt x="368431" y="39261"/>
                </a:lnTo>
                <a:lnTo>
                  <a:pt x="367822" y="39261"/>
                </a:lnTo>
                <a:lnTo>
                  <a:pt x="384809" y="38738"/>
                </a:lnTo>
                <a:lnTo>
                  <a:pt x="384631" y="38738"/>
                </a:lnTo>
                <a:lnTo>
                  <a:pt x="420496" y="38100"/>
                </a:lnTo>
                <a:lnTo>
                  <a:pt x="554620" y="38100"/>
                </a:lnTo>
                <a:lnTo>
                  <a:pt x="554688" y="33019"/>
                </a:lnTo>
                <a:lnTo>
                  <a:pt x="554805" y="24256"/>
                </a:lnTo>
                <a:lnTo>
                  <a:pt x="554901" y="17017"/>
                </a:lnTo>
                <a:lnTo>
                  <a:pt x="555006" y="9143"/>
                </a:lnTo>
                <a:lnTo>
                  <a:pt x="555116" y="888"/>
                </a:lnTo>
                <a:lnTo>
                  <a:pt x="538183" y="635"/>
                </a:lnTo>
                <a:lnTo>
                  <a:pt x="541559" y="635"/>
                </a:lnTo>
                <a:lnTo>
                  <a:pt x="482345" y="0"/>
                </a:lnTo>
                <a:close/>
              </a:path>
              <a:path w="555625" h="702310">
                <a:moveTo>
                  <a:pt x="114236" y="588010"/>
                </a:moveTo>
                <a:lnTo>
                  <a:pt x="76258" y="588010"/>
                </a:lnTo>
                <a:lnTo>
                  <a:pt x="76200" y="607060"/>
                </a:lnTo>
                <a:lnTo>
                  <a:pt x="104732" y="607060"/>
                </a:lnTo>
                <a:lnTo>
                  <a:pt x="114236" y="588010"/>
                </a:lnTo>
                <a:close/>
              </a:path>
              <a:path w="555625" h="702310">
                <a:moveTo>
                  <a:pt x="183651" y="97536"/>
                </a:moveTo>
                <a:lnTo>
                  <a:pt x="183514" y="97536"/>
                </a:lnTo>
                <a:lnTo>
                  <a:pt x="182625" y="98425"/>
                </a:lnTo>
                <a:lnTo>
                  <a:pt x="183651" y="97536"/>
                </a:lnTo>
                <a:close/>
              </a:path>
              <a:path w="555625" h="702310">
                <a:moveTo>
                  <a:pt x="197808" y="85266"/>
                </a:moveTo>
                <a:lnTo>
                  <a:pt x="196468" y="86233"/>
                </a:lnTo>
                <a:lnTo>
                  <a:pt x="196693" y="86233"/>
                </a:lnTo>
                <a:lnTo>
                  <a:pt x="197808" y="85266"/>
                </a:lnTo>
                <a:close/>
              </a:path>
              <a:path w="555625" h="702310">
                <a:moveTo>
                  <a:pt x="212163" y="75056"/>
                </a:moveTo>
                <a:lnTo>
                  <a:pt x="211962" y="75056"/>
                </a:lnTo>
                <a:lnTo>
                  <a:pt x="211069" y="75701"/>
                </a:lnTo>
                <a:lnTo>
                  <a:pt x="212163" y="75056"/>
                </a:lnTo>
                <a:close/>
              </a:path>
              <a:path w="555625" h="702310">
                <a:moveTo>
                  <a:pt x="225818" y="67012"/>
                </a:moveTo>
                <a:lnTo>
                  <a:pt x="225170" y="67310"/>
                </a:lnTo>
                <a:lnTo>
                  <a:pt x="225313" y="67310"/>
                </a:lnTo>
                <a:lnTo>
                  <a:pt x="225818" y="67012"/>
                </a:lnTo>
                <a:close/>
              </a:path>
              <a:path w="555625" h="702310">
                <a:moveTo>
                  <a:pt x="227104" y="66421"/>
                </a:moveTo>
                <a:lnTo>
                  <a:pt x="226821" y="66421"/>
                </a:lnTo>
                <a:lnTo>
                  <a:pt x="225818" y="67012"/>
                </a:lnTo>
                <a:lnTo>
                  <a:pt x="227104" y="66421"/>
                </a:lnTo>
                <a:close/>
              </a:path>
              <a:path w="555625" h="702310">
                <a:moveTo>
                  <a:pt x="242085" y="59531"/>
                </a:moveTo>
                <a:lnTo>
                  <a:pt x="240918" y="59943"/>
                </a:lnTo>
                <a:lnTo>
                  <a:pt x="241189" y="59943"/>
                </a:lnTo>
                <a:lnTo>
                  <a:pt x="242085" y="59531"/>
                </a:lnTo>
                <a:close/>
              </a:path>
              <a:path w="555625" h="702310">
                <a:moveTo>
                  <a:pt x="242716" y="59309"/>
                </a:moveTo>
                <a:lnTo>
                  <a:pt x="242569" y="59309"/>
                </a:lnTo>
                <a:lnTo>
                  <a:pt x="242085" y="59531"/>
                </a:lnTo>
                <a:lnTo>
                  <a:pt x="242716" y="59309"/>
                </a:lnTo>
                <a:close/>
              </a:path>
              <a:path w="555625" h="702310">
                <a:moveTo>
                  <a:pt x="259968" y="53212"/>
                </a:moveTo>
                <a:lnTo>
                  <a:pt x="258190" y="53721"/>
                </a:lnTo>
                <a:lnTo>
                  <a:pt x="259337" y="53436"/>
                </a:lnTo>
                <a:lnTo>
                  <a:pt x="259968" y="53212"/>
                </a:lnTo>
                <a:close/>
              </a:path>
              <a:path w="555625" h="702310">
                <a:moveTo>
                  <a:pt x="259337" y="53436"/>
                </a:moveTo>
                <a:lnTo>
                  <a:pt x="258190" y="53721"/>
                </a:lnTo>
                <a:lnTo>
                  <a:pt x="258531" y="53721"/>
                </a:lnTo>
                <a:lnTo>
                  <a:pt x="259337" y="53436"/>
                </a:lnTo>
                <a:close/>
              </a:path>
              <a:path w="555625" h="702310">
                <a:moveTo>
                  <a:pt x="260235" y="53212"/>
                </a:moveTo>
                <a:lnTo>
                  <a:pt x="259968" y="53212"/>
                </a:lnTo>
                <a:lnTo>
                  <a:pt x="259337" y="53436"/>
                </a:lnTo>
                <a:lnTo>
                  <a:pt x="260235" y="53212"/>
                </a:lnTo>
                <a:close/>
              </a:path>
              <a:path w="555625" h="702310">
                <a:moveTo>
                  <a:pt x="279444" y="48513"/>
                </a:moveTo>
                <a:lnTo>
                  <a:pt x="279145" y="48513"/>
                </a:lnTo>
                <a:lnTo>
                  <a:pt x="278108" y="48773"/>
                </a:lnTo>
                <a:lnTo>
                  <a:pt x="279444" y="48513"/>
                </a:lnTo>
                <a:close/>
              </a:path>
              <a:path w="555625" h="702310">
                <a:moveTo>
                  <a:pt x="325381" y="42005"/>
                </a:moveTo>
                <a:lnTo>
                  <a:pt x="324465" y="42005"/>
                </a:lnTo>
                <a:lnTo>
                  <a:pt x="320861" y="42382"/>
                </a:lnTo>
                <a:lnTo>
                  <a:pt x="325381" y="42005"/>
                </a:lnTo>
                <a:close/>
              </a:path>
              <a:path w="555625" h="702310">
                <a:moveTo>
                  <a:pt x="353446" y="39986"/>
                </a:moveTo>
                <a:lnTo>
                  <a:pt x="351856" y="39986"/>
                </a:lnTo>
                <a:lnTo>
                  <a:pt x="347814" y="40262"/>
                </a:lnTo>
                <a:lnTo>
                  <a:pt x="353446" y="39986"/>
                </a:lnTo>
                <a:close/>
              </a:path>
              <a:path w="555625" h="702310">
                <a:moveTo>
                  <a:pt x="554620" y="38100"/>
                </a:moveTo>
                <a:lnTo>
                  <a:pt x="482091" y="38100"/>
                </a:lnTo>
                <a:lnTo>
                  <a:pt x="541190" y="38738"/>
                </a:lnTo>
                <a:lnTo>
                  <a:pt x="537852" y="38738"/>
                </a:lnTo>
                <a:lnTo>
                  <a:pt x="554608" y="38988"/>
                </a:lnTo>
                <a:lnTo>
                  <a:pt x="55462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 descr="IguanaTex Picture Display  \documentclass{article} \usepackage{amsmath} \pagestyle{empty} \begin{document}  \newcommand{\bs}{\mathbf{s}} \newcommand{\ba}{\mathbf{a}}  \[ \theta \]  \end{document}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71744" y="1172487"/>
            <a:ext cx="105779" cy="18120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530975" y="1342263"/>
            <a:ext cx="428625" cy="819150"/>
          </a:xfrm>
          <a:custGeom>
            <a:avLst/>
            <a:gdLst/>
            <a:ahLst/>
            <a:cxnLst/>
            <a:rect l="l" t="t" r="r" b="b"/>
            <a:pathLst>
              <a:path w="428625" h="819150">
                <a:moveTo>
                  <a:pt x="352387" y="704596"/>
                </a:moveTo>
                <a:lnTo>
                  <a:pt x="314388" y="704596"/>
                </a:lnTo>
                <a:lnTo>
                  <a:pt x="371348" y="818896"/>
                </a:lnTo>
                <a:lnTo>
                  <a:pt x="419078" y="723646"/>
                </a:lnTo>
                <a:lnTo>
                  <a:pt x="352425" y="723646"/>
                </a:lnTo>
                <a:lnTo>
                  <a:pt x="352387" y="704596"/>
                </a:lnTo>
                <a:close/>
              </a:path>
              <a:path w="428625" h="819150">
                <a:moveTo>
                  <a:pt x="299073" y="78739"/>
                </a:moveTo>
                <a:lnTo>
                  <a:pt x="249935" y="78739"/>
                </a:lnTo>
                <a:lnTo>
                  <a:pt x="251102" y="80012"/>
                </a:lnTo>
                <a:lnTo>
                  <a:pt x="251284" y="80263"/>
                </a:lnTo>
                <a:lnTo>
                  <a:pt x="260798" y="91009"/>
                </a:lnTo>
                <a:lnTo>
                  <a:pt x="265996" y="97872"/>
                </a:lnTo>
                <a:lnTo>
                  <a:pt x="266242" y="98350"/>
                </a:lnTo>
                <a:lnTo>
                  <a:pt x="271098" y="105188"/>
                </a:lnTo>
                <a:lnTo>
                  <a:pt x="271553" y="105772"/>
                </a:lnTo>
                <a:lnTo>
                  <a:pt x="276623" y="113436"/>
                </a:lnTo>
                <a:lnTo>
                  <a:pt x="281985" y="122018"/>
                </a:lnTo>
                <a:lnTo>
                  <a:pt x="282257" y="122591"/>
                </a:lnTo>
                <a:lnTo>
                  <a:pt x="288041" y="132486"/>
                </a:lnTo>
                <a:lnTo>
                  <a:pt x="292758" y="140896"/>
                </a:lnTo>
                <a:lnTo>
                  <a:pt x="298196" y="151511"/>
                </a:lnTo>
                <a:lnTo>
                  <a:pt x="303752" y="164211"/>
                </a:lnTo>
                <a:lnTo>
                  <a:pt x="307863" y="175174"/>
                </a:lnTo>
                <a:lnTo>
                  <a:pt x="308297" y="176126"/>
                </a:lnTo>
                <a:lnTo>
                  <a:pt x="312348" y="188618"/>
                </a:lnTo>
                <a:lnTo>
                  <a:pt x="312598" y="189215"/>
                </a:lnTo>
                <a:lnTo>
                  <a:pt x="316977" y="204413"/>
                </a:lnTo>
                <a:lnTo>
                  <a:pt x="320434" y="218241"/>
                </a:lnTo>
                <a:lnTo>
                  <a:pt x="325081" y="239237"/>
                </a:lnTo>
                <a:lnTo>
                  <a:pt x="327003" y="248920"/>
                </a:lnTo>
                <a:lnTo>
                  <a:pt x="327122" y="249517"/>
                </a:lnTo>
                <a:lnTo>
                  <a:pt x="329954" y="265624"/>
                </a:lnTo>
                <a:lnTo>
                  <a:pt x="332526" y="282194"/>
                </a:lnTo>
                <a:lnTo>
                  <a:pt x="333314" y="287390"/>
                </a:lnTo>
                <a:lnTo>
                  <a:pt x="333299" y="287792"/>
                </a:lnTo>
                <a:lnTo>
                  <a:pt x="335864" y="306711"/>
                </a:lnTo>
                <a:lnTo>
                  <a:pt x="340371" y="347343"/>
                </a:lnTo>
                <a:lnTo>
                  <a:pt x="345538" y="412498"/>
                </a:lnTo>
                <a:lnTo>
                  <a:pt x="345637" y="413859"/>
                </a:lnTo>
                <a:lnTo>
                  <a:pt x="347881" y="457073"/>
                </a:lnTo>
                <a:lnTo>
                  <a:pt x="347966" y="458724"/>
                </a:lnTo>
                <a:lnTo>
                  <a:pt x="348012" y="459598"/>
                </a:lnTo>
                <a:lnTo>
                  <a:pt x="349711" y="505713"/>
                </a:lnTo>
                <a:lnTo>
                  <a:pt x="351005" y="555625"/>
                </a:lnTo>
                <a:lnTo>
                  <a:pt x="351908" y="606933"/>
                </a:lnTo>
                <a:lnTo>
                  <a:pt x="352298" y="659129"/>
                </a:lnTo>
                <a:lnTo>
                  <a:pt x="352425" y="723646"/>
                </a:lnTo>
                <a:lnTo>
                  <a:pt x="390525" y="723646"/>
                </a:lnTo>
                <a:lnTo>
                  <a:pt x="390398" y="659129"/>
                </a:lnTo>
                <a:lnTo>
                  <a:pt x="390020" y="607440"/>
                </a:lnTo>
                <a:lnTo>
                  <a:pt x="389143" y="556513"/>
                </a:lnTo>
                <a:lnTo>
                  <a:pt x="387904" y="507555"/>
                </a:lnTo>
                <a:lnTo>
                  <a:pt x="386172" y="459598"/>
                </a:lnTo>
                <a:lnTo>
                  <a:pt x="386079" y="457073"/>
                </a:lnTo>
                <a:lnTo>
                  <a:pt x="383731" y="413859"/>
                </a:lnTo>
                <a:lnTo>
                  <a:pt x="383657" y="412498"/>
                </a:lnTo>
                <a:lnTo>
                  <a:pt x="383540" y="410337"/>
                </a:lnTo>
                <a:lnTo>
                  <a:pt x="380365" y="365378"/>
                </a:lnTo>
                <a:lnTo>
                  <a:pt x="376174" y="322579"/>
                </a:lnTo>
                <a:lnTo>
                  <a:pt x="371190" y="283789"/>
                </a:lnTo>
                <a:lnTo>
                  <a:pt x="364871" y="244475"/>
                </a:lnTo>
                <a:lnTo>
                  <a:pt x="353441" y="193166"/>
                </a:lnTo>
                <a:lnTo>
                  <a:pt x="338708" y="148844"/>
                </a:lnTo>
                <a:lnTo>
                  <a:pt x="320675" y="112902"/>
                </a:lnTo>
                <a:lnTo>
                  <a:pt x="302895" y="84074"/>
                </a:lnTo>
                <a:lnTo>
                  <a:pt x="299073" y="78739"/>
                </a:lnTo>
                <a:close/>
              </a:path>
              <a:path w="428625" h="819150">
                <a:moveTo>
                  <a:pt x="428625" y="704596"/>
                </a:moveTo>
                <a:lnTo>
                  <a:pt x="390487" y="704596"/>
                </a:lnTo>
                <a:lnTo>
                  <a:pt x="390525" y="723646"/>
                </a:lnTo>
                <a:lnTo>
                  <a:pt x="419078" y="723646"/>
                </a:lnTo>
                <a:lnTo>
                  <a:pt x="428625" y="704596"/>
                </a:lnTo>
                <a:close/>
              </a:path>
              <a:path w="428625" h="819150">
                <a:moveTo>
                  <a:pt x="240129" y="69877"/>
                </a:moveTo>
                <a:lnTo>
                  <a:pt x="251061" y="80012"/>
                </a:lnTo>
                <a:lnTo>
                  <a:pt x="249935" y="78739"/>
                </a:lnTo>
                <a:lnTo>
                  <a:pt x="299073" y="78739"/>
                </a:lnTo>
                <a:lnTo>
                  <a:pt x="296799" y="75564"/>
                </a:lnTo>
                <a:lnTo>
                  <a:pt x="292893" y="70358"/>
                </a:lnTo>
                <a:lnTo>
                  <a:pt x="240792" y="70358"/>
                </a:lnTo>
                <a:lnTo>
                  <a:pt x="240129" y="69877"/>
                </a:lnTo>
                <a:close/>
              </a:path>
              <a:path w="428625" h="819150">
                <a:moveTo>
                  <a:pt x="291846" y="68961"/>
                </a:moveTo>
                <a:lnTo>
                  <a:pt x="239141" y="68961"/>
                </a:lnTo>
                <a:lnTo>
                  <a:pt x="240792" y="70358"/>
                </a:lnTo>
                <a:lnTo>
                  <a:pt x="292893" y="70358"/>
                </a:lnTo>
                <a:lnTo>
                  <a:pt x="291846" y="68961"/>
                </a:lnTo>
                <a:close/>
              </a:path>
              <a:path w="428625" h="819150">
                <a:moveTo>
                  <a:pt x="228312" y="61304"/>
                </a:moveTo>
                <a:lnTo>
                  <a:pt x="240129" y="69877"/>
                </a:lnTo>
                <a:lnTo>
                  <a:pt x="239141" y="68961"/>
                </a:lnTo>
                <a:lnTo>
                  <a:pt x="291846" y="68961"/>
                </a:lnTo>
                <a:lnTo>
                  <a:pt x="290702" y="67437"/>
                </a:lnTo>
                <a:lnTo>
                  <a:pt x="286129" y="62229"/>
                </a:lnTo>
                <a:lnTo>
                  <a:pt x="229997" y="62229"/>
                </a:lnTo>
                <a:lnTo>
                  <a:pt x="228312" y="61304"/>
                </a:lnTo>
                <a:close/>
              </a:path>
              <a:path w="428625" h="819150">
                <a:moveTo>
                  <a:pt x="285014" y="60960"/>
                </a:moveTo>
                <a:lnTo>
                  <a:pt x="227838" y="60960"/>
                </a:lnTo>
                <a:lnTo>
                  <a:pt x="229997" y="62229"/>
                </a:lnTo>
                <a:lnTo>
                  <a:pt x="286129" y="62229"/>
                </a:lnTo>
                <a:lnTo>
                  <a:pt x="285014" y="60960"/>
                </a:lnTo>
                <a:close/>
              </a:path>
              <a:path w="428625" h="819150">
                <a:moveTo>
                  <a:pt x="216988" y="55081"/>
                </a:moveTo>
                <a:lnTo>
                  <a:pt x="228312" y="61304"/>
                </a:lnTo>
                <a:lnTo>
                  <a:pt x="227838" y="60960"/>
                </a:lnTo>
                <a:lnTo>
                  <a:pt x="285014" y="60960"/>
                </a:lnTo>
                <a:lnTo>
                  <a:pt x="280218" y="55499"/>
                </a:lnTo>
                <a:lnTo>
                  <a:pt x="218058" y="55499"/>
                </a:lnTo>
                <a:lnTo>
                  <a:pt x="216988" y="55081"/>
                </a:lnTo>
                <a:close/>
              </a:path>
              <a:path w="428625" h="819150">
                <a:moveTo>
                  <a:pt x="215900" y="54483"/>
                </a:moveTo>
                <a:lnTo>
                  <a:pt x="216988" y="55081"/>
                </a:lnTo>
                <a:lnTo>
                  <a:pt x="218058" y="55499"/>
                </a:lnTo>
                <a:lnTo>
                  <a:pt x="215900" y="54483"/>
                </a:lnTo>
                <a:close/>
              </a:path>
              <a:path w="428625" h="819150">
                <a:moveTo>
                  <a:pt x="279326" y="54483"/>
                </a:moveTo>
                <a:lnTo>
                  <a:pt x="215900" y="54483"/>
                </a:lnTo>
                <a:lnTo>
                  <a:pt x="218058" y="55499"/>
                </a:lnTo>
                <a:lnTo>
                  <a:pt x="280218" y="55499"/>
                </a:lnTo>
                <a:lnTo>
                  <a:pt x="279326" y="54483"/>
                </a:lnTo>
                <a:close/>
              </a:path>
              <a:path w="428625" h="819150">
                <a:moveTo>
                  <a:pt x="203425" y="49788"/>
                </a:moveTo>
                <a:lnTo>
                  <a:pt x="216988" y="55081"/>
                </a:lnTo>
                <a:lnTo>
                  <a:pt x="215900" y="54483"/>
                </a:lnTo>
                <a:lnTo>
                  <a:pt x="279326" y="54483"/>
                </a:lnTo>
                <a:lnTo>
                  <a:pt x="277875" y="52832"/>
                </a:lnTo>
                <a:lnTo>
                  <a:pt x="274827" y="50037"/>
                </a:lnTo>
                <a:lnTo>
                  <a:pt x="204343" y="50037"/>
                </a:lnTo>
                <a:lnTo>
                  <a:pt x="203425" y="49788"/>
                </a:lnTo>
                <a:close/>
              </a:path>
              <a:path w="428625" h="819150">
                <a:moveTo>
                  <a:pt x="202438" y="49402"/>
                </a:moveTo>
                <a:lnTo>
                  <a:pt x="203425" y="49788"/>
                </a:lnTo>
                <a:lnTo>
                  <a:pt x="204343" y="50037"/>
                </a:lnTo>
                <a:lnTo>
                  <a:pt x="202438" y="49402"/>
                </a:lnTo>
                <a:close/>
              </a:path>
              <a:path w="428625" h="819150">
                <a:moveTo>
                  <a:pt x="274135" y="49402"/>
                </a:moveTo>
                <a:lnTo>
                  <a:pt x="202438" y="49402"/>
                </a:lnTo>
                <a:lnTo>
                  <a:pt x="204343" y="50037"/>
                </a:lnTo>
                <a:lnTo>
                  <a:pt x="274827" y="50037"/>
                </a:lnTo>
                <a:lnTo>
                  <a:pt x="274135" y="49402"/>
                </a:lnTo>
                <a:close/>
              </a:path>
              <a:path w="428625" h="819150">
                <a:moveTo>
                  <a:pt x="187946" y="45577"/>
                </a:moveTo>
                <a:lnTo>
                  <a:pt x="203425" y="49788"/>
                </a:lnTo>
                <a:lnTo>
                  <a:pt x="202438" y="49402"/>
                </a:lnTo>
                <a:lnTo>
                  <a:pt x="274135" y="49402"/>
                </a:lnTo>
                <a:lnTo>
                  <a:pt x="270117" y="45720"/>
                </a:lnTo>
                <a:lnTo>
                  <a:pt x="188722" y="45720"/>
                </a:lnTo>
                <a:lnTo>
                  <a:pt x="187946" y="45577"/>
                </a:lnTo>
                <a:close/>
              </a:path>
              <a:path w="428625" h="819150">
                <a:moveTo>
                  <a:pt x="187071" y="45338"/>
                </a:moveTo>
                <a:lnTo>
                  <a:pt x="187946" y="45577"/>
                </a:lnTo>
                <a:lnTo>
                  <a:pt x="188722" y="45720"/>
                </a:lnTo>
                <a:lnTo>
                  <a:pt x="187071" y="45338"/>
                </a:lnTo>
                <a:close/>
              </a:path>
              <a:path w="428625" h="819150">
                <a:moveTo>
                  <a:pt x="269701" y="45338"/>
                </a:moveTo>
                <a:lnTo>
                  <a:pt x="187071" y="45338"/>
                </a:lnTo>
                <a:lnTo>
                  <a:pt x="188722" y="45720"/>
                </a:lnTo>
                <a:lnTo>
                  <a:pt x="270117" y="45720"/>
                </a:lnTo>
                <a:lnTo>
                  <a:pt x="269701" y="45338"/>
                </a:lnTo>
                <a:close/>
              </a:path>
              <a:path w="428625" h="819150">
                <a:moveTo>
                  <a:pt x="158914" y="40854"/>
                </a:moveTo>
                <a:lnTo>
                  <a:pt x="170470" y="42290"/>
                </a:lnTo>
                <a:lnTo>
                  <a:pt x="170107" y="42290"/>
                </a:lnTo>
                <a:lnTo>
                  <a:pt x="187946" y="45577"/>
                </a:lnTo>
                <a:lnTo>
                  <a:pt x="187071" y="45338"/>
                </a:lnTo>
                <a:lnTo>
                  <a:pt x="269701" y="45338"/>
                </a:lnTo>
                <a:lnTo>
                  <a:pt x="265041" y="41067"/>
                </a:lnTo>
                <a:lnTo>
                  <a:pt x="160975" y="41067"/>
                </a:lnTo>
                <a:lnTo>
                  <a:pt x="158914" y="40854"/>
                </a:lnTo>
                <a:close/>
              </a:path>
              <a:path w="428625" h="819150">
                <a:moveTo>
                  <a:pt x="263743" y="39956"/>
                </a:moveTo>
                <a:lnTo>
                  <a:pt x="150235" y="39956"/>
                </a:lnTo>
                <a:lnTo>
                  <a:pt x="160975" y="41067"/>
                </a:lnTo>
                <a:lnTo>
                  <a:pt x="265041" y="41067"/>
                </a:lnTo>
                <a:lnTo>
                  <a:pt x="264159" y="40259"/>
                </a:lnTo>
                <a:lnTo>
                  <a:pt x="263743" y="39956"/>
                </a:lnTo>
                <a:close/>
              </a:path>
              <a:path w="428625" h="819150">
                <a:moveTo>
                  <a:pt x="260838" y="37846"/>
                </a:moveTo>
                <a:lnTo>
                  <a:pt x="100202" y="37846"/>
                </a:lnTo>
                <a:lnTo>
                  <a:pt x="114588" y="38109"/>
                </a:lnTo>
                <a:lnTo>
                  <a:pt x="114045" y="38109"/>
                </a:lnTo>
                <a:lnTo>
                  <a:pt x="139860" y="39154"/>
                </a:lnTo>
                <a:lnTo>
                  <a:pt x="138930" y="39154"/>
                </a:lnTo>
                <a:lnTo>
                  <a:pt x="153452" y="40259"/>
                </a:lnTo>
                <a:lnTo>
                  <a:pt x="153162" y="40259"/>
                </a:lnTo>
                <a:lnTo>
                  <a:pt x="150235" y="39956"/>
                </a:lnTo>
                <a:lnTo>
                  <a:pt x="263743" y="39956"/>
                </a:lnTo>
                <a:lnTo>
                  <a:pt x="260838" y="37846"/>
                </a:lnTo>
                <a:close/>
              </a:path>
              <a:path w="428625" h="819150">
                <a:moveTo>
                  <a:pt x="114934" y="0"/>
                </a:moveTo>
                <a:lnTo>
                  <a:pt x="37083" y="0"/>
                </a:lnTo>
                <a:lnTo>
                  <a:pt x="0" y="762"/>
                </a:lnTo>
                <a:lnTo>
                  <a:pt x="741" y="37846"/>
                </a:lnTo>
                <a:lnTo>
                  <a:pt x="761" y="38862"/>
                </a:lnTo>
                <a:lnTo>
                  <a:pt x="37236" y="38109"/>
                </a:lnTo>
                <a:lnTo>
                  <a:pt x="37052" y="38109"/>
                </a:lnTo>
                <a:lnTo>
                  <a:pt x="54736" y="37846"/>
                </a:lnTo>
                <a:lnTo>
                  <a:pt x="260838" y="37846"/>
                </a:lnTo>
                <a:lnTo>
                  <a:pt x="249300" y="29463"/>
                </a:lnTo>
                <a:lnTo>
                  <a:pt x="196469" y="8382"/>
                </a:lnTo>
                <a:lnTo>
                  <a:pt x="153161" y="2032"/>
                </a:lnTo>
                <a:lnTo>
                  <a:pt x="128270" y="508"/>
                </a:lnTo>
                <a:lnTo>
                  <a:pt x="114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 descr="IguanaTex Picture Display  \documentclass{article} \usepackage{amsmath} \pagestyle{empty} \begin{document}  \newcommand{\bs}{\mathbf{s}} \newcommand{\ba}{\mathbf{a}}  \[ \bs_t \]  \end{document}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50247" y="3716531"/>
            <a:ext cx="366206" cy="32943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67308" y="4163314"/>
            <a:ext cx="4869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(we’ll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come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back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partially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observed</a:t>
            </a:r>
            <a:r>
              <a:rPr sz="1800" spc="-75" dirty="0">
                <a:latin typeface="Arial"/>
                <a:cs typeface="Arial"/>
              </a:rPr>
              <a:t> settings </a:t>
            </a:r>
            <a:r>
              <a:rPr sz="1800" spc="-10" dirty="0">
                <a:latin typeface="Arial"/>
                <a:cs typeface="Arial"/>
              </a:rPr>
              <a:t>later)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7" name="object 17" descr="IguanaTex Picture Display  \documentclass{article} \usepackage{amsmath} \pagestyle{empty} \begin{document}  \newcommand{\bs}{\mathbf{s}} \newcommand{\ba}{\mathbf{a}}  \[ \arg\max_\theta \sum_{i=1}^N \sum_{t=1}^H \log \pi_\theta(\ba^{(i)}_t | \bs^{(i)}_t) \]  \end{document}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93590" y="4596206"/>
            <a:ext cx="4418835" cy="98658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25016" y="4839080"/>
            <a:ext cx="9051925" cy="159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601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Arial"/>
                <a:cs typeface="Arial"/>
              </a:rPr>
              <a:t>Imitation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learning: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spc="-80" dirty="0">
                <a:latin typeface="Arial"/>
                <a:cs typeface="Arial"/>
              </a:rPr>
              <a:t>what</a:t>
            </a:r>
            <a:r>
              <a:rPr sz="3600" spc="-180" dirty="0">
                <a:latin typeface="Arial"/>
                <a:cs typeface="Arial"/>
              </a:rPr>
              <a:t> </a:t>
            </a:r>
            <a:r>
              <a:rPr sz="3600" spc="50" dirty="0">
                <a:latin typeface="Arial"/>
                <a:cs typeface="Arial"/>
              </a:rPr>
              <a:t>if</a:t>
            </a:r>
            <a:r>
              <a:rPr sz="3600" spc="-180" dirty="0">
                <a:latin typeface="Arial"/>
                <a:cs typeface="Arial"/>
              </a:rPr>
              <a:t> </a:t>
            </a:r>
            <a:r>
              <a:rPr sz="3600" spc="-170" dirty="0">
                <a:latin typeface="Arial"/>
                <a:cs typeface="Arial"/>
              </a:rPr>
              <a:t>we</a:t>
            </a:r>
            <a:r>
              <a:rPr sz="3600" spc="-17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don’t</a:t>
            </a:r>
            <a:r>
              <a:rPr sz="3600" spc="-180" dirty="0">
                <a:latin typeface="Arial"/>
                <a:cs typeface="Arial"/>
              </a:rPr>
              <a:t> </a:t>
            </a:r>
            <a:r>
              <a:rPr sz="3600" spc="-225" dirty="0">
                <a:latin typeface="Arial"/>
                <a:cs typeface="Arial"/>
              </a:rPr>
              <a:t>have</a:t>
            </a:r>
            <a:r>
              <a:rPr sz="3600" spc="-204" dirty="0">
                <a:latin typeface="Arial"/>
                <a:cs typeface="Arial"/>
              </a:rPr>
              <a:t> </a:t>
            </a:r>
            <a:r>
              <a:rPr sz="3600" spc="-180" dirty="0">
                <a:latin typeface="Arial"/>
                <a:cs typeface="Arial"/>
              </a:rPr>
              <a:t>good</a:t>
            </a:r>
            <a:r>
              <a:rPr sz="3600" spc="-175" dirty="0">
                <a:latin typeface="Arial"/>
                <a:cs typeface="Arial"/>
              </a:rPr>
              <a:t> </a:t>
            </a:r>
            <a:r>
              <a:rPr sz="3600" spc="-105" dirty="0">
                <a:latin typeface="Arial"/>
                <a:cs typeface="Arial"/>
              </a:rPr>
              <a:t>demonstration</a:t>
            </a:r>
            <a:r>
              <a:rPr sz="3600" spc="-215" dirty="0">
                <a:latin typeface="Arial"/>
                <a:cs typeface="Arial"/>
              </a:rPr>
              <a:t> </a:t>
            </a:r>
            <a:r>
              <a:rPr sz="3600" spc="-80" dirty="0">
                <a:latin typeface="Arial"/>
                <a:cs typeface="Arial"/>
              </a:rPr>
              <a:t>data?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guanaTex Picture Display  \documentclass{article} \usepackage{amsmath} \pagestyle{empty} \begin{document}  \newcommand{\bs}{\mathbf{s}} \newcommand{\ba}{\mathbf{a}}  \[ \ba_t \]  \end{document}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4789" y="2401954"/>
            <a:ext cx="424820" cy="329434"/>
          </a:xfrm>
          <a:prstGeom prst="rect">
            <a:avLst/>
          </a:prstGeom>
        </p:spPr>
      </p:pic>
      <p:pic>
        <p:nvPicPr>
          <p:cNvPr id="3" name="object 3" descr="IguanaTex Picture Display  \documentclass{article} \usepackage{amsmath} \pagestyle{empty} \begin{document}  \newcommand{\bs}{\mathbf{s}} \newcommand{\ba}{\mathbf{a}}  \[ \pi_\theta(\ba_t|\bs_t) \]  \end{document}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1634" y="1985302"/>
            <a:ext cx="1067676" cy="294347"/>
          </a:xfrm>
          <a:prstGeom prst="rect">
            <a:avLst/>
          </a:prstGeom>
        </p:spPr>
      </p:pic>
      <p:pic>
        <p:nvPicPr>
          <p:cNvPr id="4" name="object 4" descr="A car driving on a highway  AI-generated content may be incorre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7219" y="739140"/>
            <a:ext cx="2225167" cy="1483487"/>
          </a:xfrm>
          <a:prstGeom prst="rect">
            <a:avLst/>
          </a:prstGeom>
        </p:spPr>
      </p:pic>
      <p:pic>
        <p:nvPicPr>
          <p:cNvPr id="5" name="object 5" descr="A car driving on a highway  AI-generated content may be incorrect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04820" y="739140"/>
            <a:ext cx="2229231" cy="148615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925440" y="739140"/>
            <a:ext cx="332740" cy="1486535"/>
          </a:xfrm>
          <a:custGeom>
            <a:avLst/>
            <a:gdLst/>
            <a:ahLst/>
            <a:cxnLst/>
            <a:rect l="l" t="t" r="r" b="b"/>
            <a:pathLst>
              <a:path w="332739" h="1486535">
                <a:moveTo>
                  <a:pt x="0" y="1486154"/>
                </a:moveTo>
                <a:lnTo>
                  <a:pt x="0" y="0"/>
                </a:lnTo>
                <a:lnTo>
                  <a:pt x="332486" y="297307"/>
                </a:lnTo>
                <a:lnTo>
                  <a:pt x="332486" y="1188974"/>
                </a:lnTo>
                <a:lnTo>
                  <a:pt x="0" y="1486154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52160" y="1036700"/>
            <a:ext cx="449580" cy="891540"/>
          </a:xfrm>
          <a:custGeom>
            <a:avLst/>
            <a:gdLst/>
            <a:ahLst/>
            <a:cxnLst/>
            <a:rect l="l" t="t" r="r" b="b"/>
            <a:pathLst>
              <a:path w="449579" h="891539">
                <a:moveTo>
                  <a:pt x="0" y="891032"/>
                </a:moveTo>
                <a:lnTo>
                  <a:pt x="0" y="0"/>
                </a:lnTo>
                <a:lnTo>
                  <a:pt x="449452" y="178181"/>
                </a:lnTo>
                <a:lnTo>
                  <a:pt x="449452" y="712851"/>
                </a:lnTo>
                <a:lnTo>
                  <a:pt x="0" y="89103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5847" y="1210691"/>
            <a:ext cx="588010" cy="543560"/>
          </a:xfrm>
          <a:custGeom>
            <a:avLst/>
            <a:gdLst/>
            <a:ahLst/>
            <a:cxnLst/>
            <a:rect l="l" t="t" r="r" b="b"/>
            <a:pathLst>
              <a:path w="588010" h="543560">
                <a:moveTo>
                  <a:pt x="0" y="543179"/>
                </a:moveTo>
                <a:lnTo>
                  <a:pt x="0" y="0"/>
                </a:lnTo>
                <a:lnTo>
                  <a:pt x="587882" y="108585"/>
                </a:lnTo>
                <a:lnTo>
                  <a:pt x="587882" y="434467"/>
                </a:lnTo>
                <a:lnTo>
                  <a:pt x="0" y="54317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77965" y="1323721"/>
            <a:ext cx="195580" cy="317500"/>
          </a:xfrm>
          <a:custGeom>
            <a:avLst/>
            <a:gdLst/>
            <a:ahLst/>
            <a:cxnLst/>
            <a:rect l="l" t="t" r="r" b="b"/>
            <a:pathLst>
              <a:path w="195579" h="317500">
                <a:moveTo>
                  <a:pt x="0" y="316991"/>
                </a:moveTo>
                <a:lnTo>
                  <a:pt x="0" y="0"/>
                </a:lnTo>
                <a:lnTo>
                  <a:pt x="195071" y="63500"/>
                </a:lnTo>
                <a:lnTo>
                  <a:pt x="195071" y="253618"/>
                </a:lnTo>
                <a:lnTo>
                  <a:pt x="0" y="316991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IguanaTex Picture Display  \documentclass{article} \usepackage{amsmath} \pagestyle{empty} \begin{document}  \newcommand{\bs}{\mathbf{s}} \newcommand{\ba}{\mathbf{a}}  \[ \bs_t \]  \end{document}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40949" y="2458469"/>
            <a:ext cx="366206" cy="3294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8139" y="3189071"/>
            <a:ext cx="3514471" cy="181000"/>
          </a:xfrm>
          <a:prstGeom prst="rect">
            <a:avLst/>
          </a:prstGeom>
        </p:spPr>
      </p:pic>
      <p:pic>
        <p:nvPicPr>
          <p:cNvPr id="12" name="object 12" descr="IguanaTex Picture Display  \documentclass{article} \usepackage{amsmath} \pagestyle{empty} \begin{document}  \newcommand{\bs}{\mathbf{s}} \newcommand{\ba}{\mathbf{a}} \newcommand{\bo}{\mathbf{o}}  $r(\bs_t,\ba_t)$: reward function  \end{document}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8139" y="3706164"/>
            <a:ext cx="2786126" cy="2569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8139" y="4205198"/>
            <a:ext cx="4735322" cy="178079"/>
          </a:xfrm>
          <a:prstGeom prst="rect">
            <a:avLst/>
          </a:prstGeom>
        </p:spPr>
      </p:pic>
      <p:pic>
        <p:nvPicPr>
          <p:cNvPr id="14" name="object 14" descr="Image result for car driving fast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31770" y="5107051"/>
            <a:ext cx="2257298" cy="1128674"/>
          </a:xfrm>
          <a:prstGeom prst="rect">
            <a:avLst/>
          </a:prstGeom>
        </p:spPr>
      </p:pic>
      <p:pic>
        <p:nvPicPr>
          <p:cNvPr id="15" name="object 15" descr="Image result for car accident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67219" y="5107051"/>
            <a:ext cx="1722247" cy="11286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99940" y="5493524"/>
            <a:ext cx="1299718" cy="22663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801227" y="5519737"/>
            <a:ext cx="1194155" cy="177863"/>
          </a:xfrm>
          <a:prstGeom prst="rect">
            <a:avLst/>
          </a:prstGeom>
        </p:spPr>
      </p:pic>
      <p:pic>
        <p:nvPicPr>
          <p:cNvPr id="18" name="object 18" descr="IguanaTex Picture Display  \documentclass{article} \usepackage{amsmath} \pagestyle{empty} \begin{document}  \newcommand{\bs}{\mathbf{s}} \newcommand{\ba}{\mathbf{a}} \newcommand{\ob}{\mathbf{o}}  $\bs_t$, $\ba_t$, $r(\bs_t,\ba_t)$, and $p(\bs_{t+1}|\bs_t,\ba_t)$ define  \end{document}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87008" y="3243376"/>
            <a:ext cx="4373496" cy="2571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2053" y="3658831"/>
            <a:ext cx="2660523" cy="2236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47509" cy="167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Basic</a:t>
            </a:r>
            <a:r>
              <a:rPr spc="-215" dirty="0"/>
              <a:t> </a:t>
            </a:r>
            <a:r>
              <a:rPr spc="-70" dirty="0"/>
              <a:t>definition:</a:t>
            </a:r>
            <a:r>
              <a:rPr spc="-215" dirty="0"/>
              <a:t> </a:t>
            </a:r>
            <a:r>
              <a:rPr spc="-204" dirty="0"/>
              <a:t>Markov</a:t>
            </a:r>
            <a:r>
              <a:rPr spc="-229" dirty="0"/>
              <a:t> </a:t>
            </a:r>
            <a:r>
              <a:rPr spc="-160" dirty="0"/>
              <a:t>chain</a:t>
            </a:r>
          </a:p>
          <a:p>
            <a:pPr marL="73660" marR="184785">
              <a:lnSpc>
                <a:spcPct val="128600"/>
              </a:lnSpc>
              <a:spcBef>
                <a:spcPts val="900"/>
              </a:spcBef>
            </a:pPr>
            <a:r>
              <a:rPr sz="2200" spc="-170" dirty="0"/>
              <a:t>The</a:t>
            </a:r>
            <a:r>
              <a:rPr sz="2200" spc="-90" dirty="0"/>
              <a:t> most </a:t>
            </a:r>
            <a:r>
              <a:rPr sz="2200" spc="-130" dirty="0"/>
              <a:t>basic</a:t>
            </a:r>
            <a:r>
              <a:rPr sz="2200" spc="-85" dirty="0"/>
              <a:t> </a:t>
            </a:r>
            <a:r>
              <a:rPr sz="2200" spc="-70" dirty="0"/>
              <a:t>probabilistic</a:t>
            </a:r>
            <a:r>
              <a:rPr sz="2200" spc="-130" dirty="0"/>
              <a:t> </a:t>
            </a:r>
            <a:r>
              <a:rPr sz="2200" spc="-80" dirty="0"/>
              <a:t>model</a:t>
            </a:r>
            <a:r>
              <a:rPr sz="2200" spc="-75" dirty="0"/>
              <a:t> </a:t>
            </a:r>
            <a:r>
              <a:rPr sz="2200" dirty="0"/>
              <a:t>of</a:t>
            </a:r>
            <a:r>
              <a:rPr sz="2200" spc="-80" dirty="0"/>
              <a:t> </a:t>
            </a:r>
            <a:r>
              <a:rPr sz="2200" spc="-190" dirty="0"/>
              <a:t>a</a:t>
            </a:r>
            <a:r>
              <a:rPr sz="2200" spc="-90" dirty="0"/>
              <a:t> </a:t>
            </a:r>
            <a:r>
              <a:rPr sz="2200" spc="-110" dirty="0"/>
              <a:t>dynamical</a:t>
            </a:r>
            <a:r>
              <a:rPr sz="2200" spc="-85" dirty="0"/>
              <a:t> system </a:t>
            </a:r>
            <a:r>
              <a:rPr sz="2200" spc="-135" dirty="0"/>
              <a:t>No</a:t>
            </a:r>
            <a:r>
              <a:rPr sz="2200" spc="-90" dirty="0"/>
              <a:t> </a:t>
            </a:r>
            <a:r>
              <a:rPr sz="2200" spc="-95" dirty="0"/>
              <a:t>actions</a:t>
            </a:r>
            <a:r>
              <a:rPr sz="2200" spc="-100" dirty="0"/>
              <a:t> </a:t>
            </a:r>
            <a:r>
              <a:rPr sz="2200" spc="-65" dirty="0"/>
              <a:t>yet,</a:t>
            </a:r>
            <a:r>
              <a:rPr sz="2200" spc="-80" dirty="0"/>
              <a:t> </a:t>
            </a:r>
            <a:r>
              <a:rPr sz="2200" spc="-70" dirty="0"/>
              <a:t>only</a:t>
            </a:r>
            <a:r>
              <a:rPr sz="2200" spc="-95" dirty="0"/>
              <a:t> </a:t>
            </a:r>
            <a:r>
              <a:rPr sz="2200" spc="-10" dirty="0"/>
              <a:t>states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3289300" y="2677032"/>
            <a:ext cx="5200015" cy="565785"/>
            <a:chOff x="3289300" y="2677032"/>
            <a:chExt cx="5200015" cy="565785"/>
          </a:xfrm>
        </p:grpSpPr>
        <p:sp>
          <p:nvSpPr>
            <p:cNvPr id="4" name="object 4"/>
            <p:cNvSpPr/>
            <p:nvPr/>
          </p:nvSpPr>
          <p:spPr>
            <a:xfrm>
              <a:off x="3295650" y="2683382"/>
              <a:ext cx="5187315" cy="457200"/>
            </a:xfrm>
            <a:custGeom>
              <a:avLst/>
              <a:gdLst/>
              <a:ahLst/>
              <a:cxnLst/>
              <a:rect l="l" t="t" r="r" b="b"/>
              <a:pathLst>
                <a:path w="5187315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  <a:path w="5187315" h="457200">
                  <a:moveTo>
                    <a:pt x="2364866" y="228600"/>
                  </a:moveTo>
                  <a:lnTo>
                    <a:pt x="2369511" y="182533"/>
                  </a:lnTo>
                  <a:lnTo>
                    <a:pt x="2382833" y="139624"/>
                  </a:lnTo>
                  <a:lnTo>
                    <a:pt x="2403912" y="100793"/>
                  </a:lnTo>
                  <a:lnTo>
                    <a:pt x="2431827" y="66960"/>
                  </a:lnTo>
                  <a:lnTo>
                    <a:pt x="2465660" y="39045"/>
                  </a:lnTo>
                  <a:lnTo>
                    <a:pt x="2504491" y="17966"/>
                  </a:lnTo>
                  <a:lnTo>
                    <a:pt x="2547400" y="4644"/>
                  </a:lnTo>
                  <a:lnTo>
                    <a:pt x="2593466" y="0"/>
                  </a:lnTo>
                  <a:lnTo>
                    <a:pt x="2639533" y="4644"/>
                  </a:lnTo>
                  <a:lnTo>
                    <a:pt x="2682442" y="17966"/>
                  </a:lnTo>
                  <a:lnTo>
                    <a:pt x="2721273" y="39045"/>
                  </a:lnTo>
                  <a:lnTo>
                    <a:pt x="2755106" y="66960"/>
                  </a:lnTo>
                  <a:lnTo>
                    <a:pt x="2783021" y="100793"/>
                  </a:lnTo>
                  <a:lnTo>
                    <a:pt x="2804100" y="139624"/>
                  </a:lnTo>
                  <a:lnTo>
                    <a:pt x="2817422" y="182533"/>
                  </a:lnTo>
                  <a:lnTo>
                    <a:pt x="2822066" y="228600"/>
                  </a:lnTo>
                  <a:lnTo>
                    <a:pt x="2817422" y="274666"/>
                  </a:lnTo>
                  <a:lnTo>
                    <a:pt x="2804100" y="317575"/>
                  </a:lnTo>
                  <a:lnTo>
                    <a:pt x="2783021" y="356406"/>
                  </a:lnTo>
                  <a:lnTo>
                    <a:pt x="2755106" y="390239"/>
                  </a:lnTo>
                  <a:lnTo>
                    <a:pt x="2721273" y="418154"/>
                  </a:lnTo>
                  <a:lnTo>
                    <a:pt x="2682442" y="439233"/>
                  </a:lnTo>
                  <a:lnTo>
                    <a:pt x="2639533" y="452555"/>
                  </a:lnTo>
                  <a:lnTo>
                    <a:pt x="2593466" y="457200"/>
                  </a:lnTo>
                  <a:lnTo>
                    <a:pt x="2547400" y="452555"/>
                  </a:lnTo>
                  <a:lnTo>
                    <a:pt x="2504491" y="439233"/>
                  </a:lnTo>
                  <a:lnTo>
                    <a:pt x="2465660" y="418154"/>
                  </a:lnTo>
                  <a:lnTo>
                    <a:pt x="2431827" y="390239"/>
                  </a:lnTo>
                  <a:lnTo>
                    <a:pt x="2403912" y="356406"/>
                  </a:lnTo>
                  <a:lnTo>
                    <a:pt x="2382833" y="317575"/>
                  </a:lnTo>
                  <a:lnTo>
                    <a:pt x="2369511" y="274666"/>
                  </a:lnTo>
                  <a:lnTo>
                    <a:pt x="2364866" y="228600"/>
                  </a:lnTo>
                  <a:close/>
                </a:path>
                <a:path w="5187315" h="457200">
                  <a:moveTo>
                    <a:pt x="4729733" y="228600"/>
                  </a:moveTo>
                  <a:lnTo>
                    <a:pt x="4734378" y="182533"/>
                  </a:lnTo>
                  <a:lnTo>
                    <a:pt x="4747700" y="139624"/>
                  </a:lnTo>
                  <a:lnTo>
                    <a:pt x="4768779" y="100793"/>
                  </a:lnTo>
                  <a:lnTo>
                    <a:pt x="4796694" y="66960"/>
                  </a:lnTo>
                  <a:lnTo>
                    <a:pt x="4830527" y="39045"/>
                  </a:lnTo>
                  <a:lnTo>
                    <a:pt x="4869358" y="17966"/>
                  </a:lnTo>
                  <a:lnTo>
                    <a:pt x="4912267" y="4644"/>
                  </a:lnTo>
                  <a:lnTo>
                    <a:pt x="4958333" y="0"/>
                  </a:lnTo>
                  <a:lnTo>
                    <a:pt x="5004400" y="4644"/>
                  </a:lnTo>
                  <a:lnTo>
                    <a:pt x="5047309" y="17966"/>
                  </a:lnTo>
                  <a:lnTo>
                    <a:pt x="5086140" y="39045"/>
                  </a:lnTo>
                  <a:lnTo>
                    <a:pt x="5119973" y="66960"/>
                  </a:lnTo>
                  <a:lnTo>
                    <a:pt x="5147888" y="100793"/>
                  </a:lnTo>
                  <a:lnTo>
                    <a:pt x="5168967" y="139624"/>
                  </a:lnTo>
                  <a:lnTo>
                    <a:pt x="5182289" y="182533"/>
                  </a:lnTo>
                  <a:lnTo>
                    <a:pt x="5186933" y="228600"/>
                  </a:lnTo>
                  <a:lnTo>
                    <a:pt x="5182289" y="274666"/>
                  </a:lnTo>
                  <a:lnTo>
                    <a:pt x="5168967" y="317575"/>
                  </a:lnTo>
                  <a:lnTo>
                    <a:pt x="5147888" y="356406"/>
                  </a:lnTo>
                  <a:lnTo>
                    <a:pt x="5119973" y="390239"/>
                  </a:lnTo>
                  <a:lnTo>
                    <a:pt x="5086140" y="418154"/>
                  </a:lnTo>
                  <a:lnTo>
                    <a:pt x="5047309" y="439233"/>
                  </a:lnTo>
                  <a:lnTo>
                    <a:pt x="5004400" y="452555"/>
                  </a:lnTo>
                  <a:lnTo>
                    <a:pt x="4958333" y="457200"/>
                  </a:lnTo>
                  <a:lnTo>
                    <a:pt x="4912267" y="452555"/>
                  </a:lnTo>
                  <a:lnTo>
                    <a:pt x="4869358" y="439233"/>
                  </a:lnTo>
                  <a:lnTo>
                    <a:pt x="4830527" y="418154"/>
                  </a:lnTo>
                  <a:lnTo>
                    <a:pt x="4796694" y="390239"/>
                  </a:lnTo>
                  <a:lnTo>
                    <a:pt x="4768779" y="356406"/>
                  </a:lnTo>
                  <a:lnTo>
                    <a:pt x="4747700" y="317575"/>
                  </a:lnTo>
                  <a:lnTo>
                    <a:pt x="4734378" y="274666"/>
                  </a:lnTo>
                  <a:lnTo>
                    <a:pt x="4729733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52850" y="2873882"/>
              <a:ext cx="4272915" cy="76200"/>
            </a:xfrm>
            <a:custGeom>
              <a:avLst/>
              <a:gdLst/>
              <a:ahLst/>
              <a:cxnLst/>
              <a:rect l="l" t="t" r="r" b="b"/>
              <a:pathLst>
                <a:path w="4272915" h="76200">
                  <a:moveTo>
                    <a:pt x="1907667" y="38100"/>
                  </a:moveTo>
                  <a:lnTo>
                    <a:pt x="1901317" y="34925"/>
                  </a:lnTo>
                  <a:lnTo>
                    <a:pt x="1831467" y="0"/>
                  </a:lnTo>
                  <a:lnTo>
                    <a:pt x="1831467" y="34925"/>
                  </a:lnTo>
                  <a:lnTo>
                    <a:pt x="0" y="34925"/>
                  </a:lnTo>
                  <a:lnTo>
                    <a:pt x="0" y="41275"/>
                  </a:lnTo>
                  <a:lnTo>
                    <a:pt x="1831467" y="41275"/>
                  </a:lnTo>
                  <a:lnTo>
                    <a:pt x="1831467" y="76200"/>
                  </a:lnTo>
                  <a:lnTo>
                    <a:pt x="1901317" y="41275"/>
                  </a:lnTo>
                  <a:lnTo>
                    <a:pt x="1907667" y="38100"/>
                  </a:lnTo>
                  <a:close/>
                </a:path>
                <a:path w="4272915" h="76200">
                  <a:moveTo>
                    <a:pt x="4272534" y="38100"/>
                  </a:moveTo>
                  <a:lnTo>
                    <a:pt x="4266184" y="34925"/>
                  </a:lnTo>
                  <a:lnTo>
                    <a:pt x="4196334" y="0"/>
                  </a:lnTo>
                  <a:lnTo>
                    <a:pt x="4196334" y="34925"/>
                  </a:lnTo>
                  <a:lnTo>
                    <a:pt x="2364867" y="34925"/>
                  </a:lnTo>
                  <a:lnTo>
                    <a:pt x="2364867" y="41275"/>
                  </a:lnTo>
                  <a:lnTo>
                    <a:pt x="4196334" y="41275"/>
                  </a:lnTo>
                  <a:lnTo>
                    <a:pt x="4196334" y="76200"/>
                  </a:lnTo>
                  <a:lnTo>
                    <a:pt x="4266184" y="41275"/>
                  </a:lnTo>
                  <a:lnTo>
                    <a:pt x="427253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248" y="2837535"/>
              <a:ext cx="187216" cy="1521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8902" y="2837535"/>
              <a:ext cx="191540" cy="1521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5224" y="2837535"/>
              <a:ext cx="192780" cy="1552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6555" y="2990049"/>
              <a:ext cx="1040599" cy="2527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1548" y="2990049"/>
              <a:ext cx="1040472" cy="25276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63811" y="2658579"/>
            <a:ext cx="1858645" cy="226860"/>
          </a:xfrm>
          <a:prstGeom prst="rect">
            <a:avLst/>
          </a:prstGeom>
        </p:spPr>
      </p:pic>
      <p:pic>
        <p:nvPicPr>
          <p:cNvPr id="12" name="object 12" descr="IguanaTex Picture Display  \documentclass{article} \usepackage{amsmath} \pagestyle{empty} \begin{document}  \newcommand{\bs}{\mathbf{s}} \newcommand{\ba}{\mathbf{a}}  \[ \bs_{t+1} \perp \bs_{t-1} | \bs_t \]  \end{document}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4011" y="2957880"/>
            <a:ext cx="1504694" cy="2572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0688" y="3101301"/>
            <a:ext cx="1356398" cy="252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0688" y="3721062"/>
            <a:ext cx="1668818" cy="2267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0688" y="4270590"/>
            <a:ext cx="2575725" cy="2297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0688" y="4864443"/>
            <a:ext cx="1824266" cy="229654"/>
          </a:xfrm>
          <a:prstGeom prst="rect">
            <a:avLst/>
          </a:prstGeom>
        </p:spPr>
      </p:pic>
      <p:pic>
        <p:nvPicPr>
          <p:cNvPr id="17" name="object 17" descr="IguanaTex Picture Display  \documentclass{article} \usepackage{amsmath} \pagestyle{empty} \begin{document}  \newcommand{\xb}{\mathbf{x}} \newcommand{\ub}{\mathbf{u}} \newcommand{\bs}{\mathbf{s}} \newcommand{\ba}{\mathbf{a}}  states $\bs \in \mathcal{S}$ (discrete or continuous)  \end{document}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41521" y="3668318"/>
            <a:ext cx="3991355" cy="257124"/>
          </a:xfrm>
          <a:prstGeom prst="rect">
            <a:avLst/>
          </a:prstGeom>
        </p:spPr>
      </p:pic>
      <p:pic>
        <p:nvPicPr>
          <p:cNvPr id="18" name="object 18" descr="IguanaTex Picture Display  \documentclass{article} \usepackage{amsmath} \pagestyle{empty} \begin{document}  \newcommand{\xb}{\mathbf{x}} \newcommand{\ub}{\mathbf{u}} \newcommand{\bs}{\mathbf{s}} \newcommand{\ba}{\mathbf{a}}  \[ p(\bs_{t+1} | \bs_t) \]  \end{document}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54728" y="4252772"/>
            <a:ext cx="1046619" cy="256997"/>
          </a:xfrm>
          <a:prstGeom prst="rect">
            <a:avLst/>
          </a:prstGeom>
        </p:spPr>
      </p:pic>
      <p:pic>
        <p:nvPicPr>
          <p:cNvPr id="19" name="object 19" descr="IguanaTex Picture Display  \documentclass{article} \usepackage{amsmath} \pagestyle{empty} \begin{document}  \newcommand{\xb}{\mathbf{x}} \newcommand{\ub}{\mathbf{u}} \newcommand{\bs}{\mathbf{s}} \newcommand{\ba}{\mathbf{a}}  \[ p(\bs_{t+1}) = \sum_{\bs_{t+1}} p(\bs_{t+1} | \bs_t) p(\bs_t) \]  \end{document}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41521" y="4803737"/>
            <a:ext cx="3130169" cy="58157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247763" y="4470527"/>
            <a:ext cx="1135380" cy="318770"/>
          </a:xfrm>
          <a:custGeom>
            <a:avLst/>
            <a:gdLst/>
            <a:ahLst/>
            <a:cxnLst/>
            <a:rect l="l" t="t" r="r" b="b"/>
            <a:pathLst>
              <a:path w="1135379" h="318770">
                <a:moveTo>
                  <a:pt x="48894" y="200787"/>
                </a:moveTo>
                <a:lnTo>
                  <a:pt x="0" y="318770"/>
                </a:lnTo>
                <a:lnTo>
                  <a:pt x="123825" y="287020"/>
                </a:lnTo>
                <a:lnTo>
                  <a:pt x="109699" y="270764"/>
                </a:lnTo>
                <a:lnTo>
                  <a:pt x="84327" y="270764"/>
                </a:lnTo>
                <a:lnTo>
                  <a:pt x="59435" y="241935"/>
                </a:lnTo>
                <a:lnTo>
                  <a:pt x="73881" y="229542"/>
                </a:lnTo>
                <a:lnTo>
                  <a:pt x="48894" y="200787"/>
                </a:lnTo>
                <a:close/>
              </a:path>
              <a:path w="1135379" h="318770">
                <a:moveTo>
                  <a:pt x="718922" y="38271"/>
                </a:moveTo>
                <a:lnTo>
                  <a:pt x="542154" y="38271"/>
                </a:lnTo>
                <a:lnTo>
                  <a:pt x="559886" y="39157"/>
                </a:lnTo>
                <a:lnTo>
                  <a:pt x="576757" y="40835"/>
                </a:lnTo>
                <a:lnTo>
                  <a:pt x="627211" y="49773"/>
                </a:lnTo>
                <a:lnTo>
                  <a:pt x="681153" y="65149"/>
                </a:lnTo>
                <a:lnTo>
                  <a:pt x="716025" y="78010"/>
                </a:lnTo>
                <a:lnTo>
                  <a:pt x="716937" y="78319"/>
                </a:lnTo>
                <a:lnTo>
                  <a:pt x="718929" y="79086"/>
                </a:lnTo>
                <a:lnTo>
                  <a:pt x="734568" y="85471"/>
                </a:lnTo>
                <a:lnTo>
                  <a:pt x="772018" y="102230"/>
                </a:lnTo>
                <a:lnTo>
                  <a:pt x="771773" y="102230"/>
                </a:lnTo>
                <a:lnTo>
                  <a:pt x="809034" y="120694"/>
                </a:lnTo>
                <a:lnTo>
                  <a:pt x="845201" y="140234"/>
                </a:lnTo>
                <a:lnTo>
                  <a:pt x="884672" y="162865"/>
                </a:lnTo>
                <a:lnTo>
                  <a:pt x="920468" y="184508"/>
                </a:lnTo>
                <a:lnTo>
                  <a:pt x="957961" y="208097"/>
                </a:lnTo>
                <a:lnTo>
                  <a:pt x="997965" y="234061"/>
                </a:lnTo>
                <a:lnTo>
                  <a:pt x="1036446" y="259715"/>
                </a:lnTo>
                <a:lnTo>
                  <a:pt x="1113662" y="312166"/>
                </a:lnTo>
                <a:lnTo>
                  <a:pt x="1134998" y="280543"/>
                </a:lnTo>
                <a:lnTo>
                  <a:pt x="1019047" y="202311"/>
                </a:lnTo>
                <a:lnTo>
                  <a:pt x="980312" y="177165"/>
                </a:lnTo>
                <a:lnTo>
                  <a:pt x="941704" y="152781"/>
                </a:lnTo>
                <a:lnTo>
                  <a:pt x="903096" y="129412"/>
                </a:lnTo>
                <a:lnTo>
                  <a:pt x="864615" y="107442"/>
                </a:lnTo>
                <a:lnTo>
                  <a:pt x="854959" y="102230"/>
                </a:lnTo>
                <a:lnTo>
                  <a:pt x="772018" y="102230"/>
                </a:lnTo>
                <a:lnTo>
                  <a:pt x="771053" y="101908"/>
                </a:lnTo>
                <a:lnTo>
                  <a:pt x="854363" y="101908"/>
                </a:lnTo>
                <a:lnTo>
                  <a:pt x="826261" y="86741"/>
                </a:lnTo>
                <a:lnTo>
                  <a:pt x="787907" y="67691"/>
                </a:lnTo>
                <a:lnTo>
                  <a:pt x="749934" y="50673"/>
                </a:lnTo>
                <a:lnTo>
                  <a:pt x="731376" y="43053"/>
                </a:lnTo>
                <a:lnTo>
                  <a:pt x="718922" y="38271"/>
                </a:lnTo>
                <a:close/>
              </a:path>
              <a:path w="1135379" h="318770">
                <a:moveTo>
                  <a:pt x="73881" y="229542"/>
                </a:moveTo>
                <a:lnTo>
                  <a:pt x="59435" y="241935"/>
                </a:lnTo>
                <a:lnTo>
                  <a:pt x="84327" y="270764"/>
                </a:lnTo>
                <a:lnTo>
                  <a:pt x="98882" y="258315"/>
                </a:lnTo>
                <a:lnTo>
                  <a:pt x="73881" y="229542"/>
                </a:lnTo>
                <a:close/>
              </a:path>
              <a:path w="1135379" h="318770">
                <a:moveTo>
                  <a:pt x="98882" y="258315"/>
                </a:moveTo>
                <a:lnTo>
                  <a:pt x="84327" y="270764"/>
                </a:lnTo>
                <a:lnTo>
                  <a:pt x="109699" y="270764"/>
                </a:lnTo>
                <a:lnTo>
                  <a:pt x="98882" y="258315"/>
                </a:lnTo>
                <a:close/>
              </a:path>
              <a:path w="1135379" h="318770">
                <a:moveTo>
                  <a:pt x="524255" y="0"/>
                </a:moveTo>
                <a:lnTo>
                  <a:pt x="503210" y="1016"/>
                </a:lnTo>
                <a:lnTo>
                  <a:pt x="504434" y="1016"/>
                </a:lnTo>
                <a:lnTo>
                  <a:pt x="487552" y="2540"/>
                </a:lnTo>
                <a:lnTo>
                  <a:pt x="433577" y="12318"/>
                </a:lnTo>
                <a:lnTo>
                  <a:pt x="380423" y="28956"/>
                </a:lnTo>
                <a:lnTo>
                  <a:pt x="328929" y="51054"/>
                </a:lnTo>
                <a:lnTo>
                  <a:pt x="278116" y="78319"/>
                </a:lnTo>
                <a:lnTo>
                  <a:pt x="245109" y="98806"/>
                </a:lnTo>
                <a:lnTo>
                  <a:pt x="211962" y="121031"/>
                </a:lnTo>
                <a:lnTo>
                  <a:pt x="179323" y="144653"/>
                </a:lnTo>
                <a:lnTo>
                  <a:pt x="146938" y="169418"/>
                </a:lnTo>
                <a:lnTo>
                  <a:pt x="114680" y="195325"/>
                </a:lnTo>
                <a:lnTo>
                  <a:pt x="82676" y="221996"/>
                </a:lnTo>
                <a:lnTo>
                  <a:pt x="73881" y="229542"/>
                </a:lnTo>
                <a:lnTo>
                  <a:pt x="98882" y="258315"/>
                </a:lnTo>
                <a:lnTo>
                  <a:pt x="105471" y="252640"/>
                </a:lnTo>
                <a:lnTo>
                  <a:pt x="137349" y="225990"/>
                </a:lnTo>
                <a:lnTo>
                  <a:pt x="169130" y="200414"/>
                </a:lnTo>
                <a:lnTo>
                  <a:pt x="202938" y="174653"/>
                </a:lnTo>
                <a:lnTo>
                  <a:pt x="264614" y="131570"/>
                </a:lnTo>
                <a:lnTo>
                  <a:pt x="330081" y="93213"/>
                </a:lnTo>
                <a:lnTo>
                  <a:pt x="376581" y="71390"/>
                </a:lnTo>
                <a:lnTo>
                  <a:pt x="394358" y="64453"/>
                </a:lnTo>
                <a:lnTo>
                  <a:pt x="409877" y="58928"/>
                </a:lnTo>
                <a:lnTo>
                  <a:pt x="410649" y="58674"/>
                </a:lnTo>
                <a:lnTo>
                  <a:pt x="426103" y="53910"/>
                </a:lnTo>
                <a:lnTo>
                  <a:pt x="426708" y="53677"/>
                </a:lnTo>
                <a:lnTo>
                  <a:pt x="442131" y="49450"/>
                </a:lnTo>
                <a:lnTo>
                  <a:pt x="459415" y="45580"/>
                </a:lnTo>
                <a:lnTo>
                  <a:pt x="473105" y="43053"/>
                </a:lnTo>
                <a:lnTo>
                  <a:pt x="472330" y="43053"/>
                </a:lnTo>
                <a:lnTo>
                  <a:pt x="491036" y="40485"/>
                </a:lnTo>
                <a:lnTo>
                  <a:pt x="491503" y="40485"/>
                </a:lnTo>
                <a:lnTo>
                  <a:pt x="492820" y="40191"/>
                </a:lnTo>
                <a:lnTo>
                  <a:pt x="493651" y="40191"/>
                </a:lnTo>
                <a:lnTo>
                  <a:pt x="508000" y="38939"/>
                </a:lnTo>
                <a:lnTo>
                  <a:pt x="506222" y="38939"/>
                </a:lnTo>
                <a:lnTo>
                  <a:pt x="521585" y="38271"/>
                </a:lnTo>
                <a:lnTo>
                  <a:pt x="718922" y="38271"/>
                </a:lnTo>
                <a:lnTo>
                  <a:pt x="712166" y="35687"/>
                </a:lnTo>
                <a:lnTo>
                  <a:pt x="673988" y="22860"/>
                </a:lnTo>
                <a:lnTo>
                  <a:pt x="636269" y="12700"/>
                </a:lnTo>
                <a:lnTo>
                  <a:pt x="598677" y="5334"/>
                </a:lnTo>
                <a:lnTo>
                  <a:pt x="542797" y="127"/>
                </a:lnTo>
                <a:lnTo>
                  <a:pt x="524255" y="0"/>
                </a:lnTo>
                <a:close/>
              </a:path>
              <a:path w="1135379" h="318770">
                <a:moveTo>
                  <a:pt x="808430" y="120498"/>
                </a:moveTo>
                <a:lnTo>
                  <a:pt x="811529" y="122042"/>
                </a:lnTo>
                <a:lnTo>
                  <a:pt x="809002" y="120694"/>
                </a:lnTo>
                <a:lnTo>
                  <a:pt x="808430" y="120498"/>
                </a:lnTo>
                <a:close/>
              </a:path>
              <a:path w="1135379" h="318770">
                <a:moveTo>
                  <a:pt x="769561" y="101128"/>
                </a:moveTo>
                <a:lnTo>
                  <a:pt x="771053" y="101908"/>
                </a:lnTo>
                <a:lnTo>
                  <a:pt x="772018" y="102230"/>
                </a:lnTo>
                <a:lnTo>
                  <a:pt x="769561" y="101128"/>
                </a:lnTo>
                <a:close/>
              </a:path>
              <a:path w="1135379" h="318770">
                <a:moveTo>
                  <a:pt x="681183" y="65149"/>
                </a:moveTo>
                <a:lnTo>
                  <a:pt x="680969" y="65149"/>
                </a:lnTo>
                <a:lnTo>
                  <a:pt x="683947" y="66121"/>
                </a:lnTo>
                <a:lnTo>
                  <a:pt x="681183" y="65149"/>
                </a:lnTo>
                <a:close/>
              </a:path>
              <a:path w="1135379" h="318770">
                <a:moveTo>
                  <a:pt x="394358" y="64453"/>
                </a:moveTo>
                <a:lnTo>
                  <a:pt x="393808" y="64596"/>
                </a:lnTo>
                <a:lnTo>
                  <a:pt x="392404" y="65149"/>
                </a:lnTo>
                <a:lnTo>
                  <a:pt x="394358" y="64453"/>
                </a:lnTo>
                <a:close/>
              </a:path>
              <a:path w="1135379" h="318770">
                <a:moveTo>
                  <a:pt x="663174" y="59356"/>
                </a:moveTo>
                <a:lnTo>
                  <a:pt x="662920" y="59356"/>
                </a:lnTo>
                <a:lnTo>
                  <a:pt x="666139" y="60295"/>
                </a:lnTo>
                <a:lnTo>
                  <a:pt x="663174" y="59356"/>
                </a:lnTo>
                <a:close/>
              </a:path>
              <a:path w="1135379" h="318770">
                <a:moveTo>
                  <a:pt x="645559" y="54292"/>
                </a:moveTo>
                <a:lnTo>
                  <a:pt x="645287" y="54292"/>
                </a:lnTo>
                <a:lnTo>
                  <a:pt x="647487" y="54842"/>
                </a:lnTo>
                <a:lnTo>
                  <a:pt x="645559" y="54292"/>
                </a:lnTo>
                <a:close/>
              </a:path>
              <a:path w="1135379" h="318770">
                <a:moveTo>
                  <a:pt x="427921" y="53350"/>
                </a:moveTo>
                <a:lnTo>
                  <a:pt x="426708" y="53677"/>
                </a:lnTo>
                <a:lnTo>
                  <a:pt x="426104" y="53910"/>
                </a:lnTo>
                <a:lnTo>
                  <a:pt x="427921" y="53350"/>
                </a:lnTo>
                <a:close/>
              </a:path>
              <a:path w="1135379" h="318770">
                <a:moveTo>
                  <a:pt x="493711" y="40191"/>
                </a:moveTo>
                <a:lnTo>
                  <a:pt x="492820" y="40191"/>
                </a:lnTo>
                <a:lnTo>
                  <a:pt x="491503" y="40485"/>
                </a:lnTo>
                <a:lnTo>
                  <a:pt x="490764" y="40485"/>
                </a:lnTo>
                <a:lnTo>
                  <a:pt x="493711" y="40191"/>
                </a:lnTo>
                <a:close/>
              </a:path>
              <a:path w="1135379" h="318770">
                <a:moveTo>
                  <a:pt x="493711" y="40191"/>
                </a:moveTo>
                <a:lnTo>
                  <a:pt x="490764" y="40485"/>
                </a:lnTo>
                <a:lnTo>
                  <a:pt x="491503" y="40485"/>
                </a:lnTo>
                <a:lnTo>
                  <a:pt x="493711" y="40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77504" y="4399533"/>
            <a:ext cx="8375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current state </a:t>
            </a:r>
            <a:r>
              <a:rPr sz="1800" spc="-75" dirty="0">
                <a:latin typeface="Arial"/>
                <a:cs typeface="Arial"/>
              </a:rPr>
              <a:t>marginal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2" name="object 22" descr="IguanaTex Picture Display  \documentclass{article} \usepackage{amsmath} \pagestyle{empty} \begin{document}  \newcommand{\bs}{\mathbf{s}} \newcommand{\ba}{\mathbf{a}}  \[ \mu_t = \left[ \begin{array}{c} p(\bs_t = 1) \\ p(\bs_t = 2) \\ ... \end{array} \right] \]  \end{document}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34453" y="4345559"/>
            <a:ext cx="2073143" cy="915542"/>
          </a:xfrm>
          <a:prstGeom prst="rect">
            <a:avLst/>
          </a:prstGeom>
        </p:spPr>
      </p:pic>
      <p:pic>
        <p:nvPicPr>
          <p:cNvPr id="23" name="object 23" descr="IguanaTex Picture Display  \documentclass{article} \usepackage{amsmath} \pagestyle{empty} \begin{document}  \newcommand{\bs}{\mathbf{s}} \newcommand{\ba}{\mathbf{a}}  let $\mathcal{T}_{i,j} = p(\bs_{t+1} = i | \bs_t = j)$  \end{document}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7016" y="5747664"/>
            <a:ext cx="2990329" cy="267449"/>
          </a:xfrm>
          <a:prstGeom prst="rect">
            <a:avLst/>
          </a:prstGeom>
        </p:spPr>
      </p:pic>
      <p:pic>
        <p:nvPicPr>
          <p:cNvPr id="24" name="object 24" descr="IguanaTex Picture Display  \documentclass{article} \usepackage{amsmath} \pagestyle{empty} \begin{document}  \newcommand{\xb}{\mathbf{x}} \newcommand{\ub}{\mathbf{u}} \newcommand{\bs}{\mathbf{s}} \newcommand{\ba}{\mathbf{a}}  \[ \mu_{t+1} = \mathcal{T} \mu_t \]  \end{document}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36034" y="5752503"/>
            <a:ext cx="1255318" cy="24458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884923" y="5933071"/>
            <a:ext cx="4666615" cy="36957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130" dirty="0">
                <a:latin typeface="Arial"/>
                <a:cs typeface="Arial"/>
              </a:rPr>
              <a:t>This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linear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algebra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be </a:t>
            </a:r>
            <a:r>
              <a:rPr sz="1800" spc="-25" dirty="0">
                <a:latin typeface="Arial"/>
                <a:cs typeface="Arial"/>
              </a:rPr>
              <a:t>important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later!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6" name="object 26" descr="AAMarkov.jpg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15702" y="339470"/>
            <a:ext cx="1413509" cy="1837563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0451083" y="2226691"/>
            <a:ext cx="11328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70" dirty="0">
                <a:latin typeface="Arial"/>
                <a:cs typeface="Arial"/>
              </a:rPr>
              <a:t>Andrey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Markov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34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70" dirty="0"/>
              <a:t>Basic</a:t>
            </a:r>
            <a:r>
              <a:rPr spc="-204" dirty="0"/>
              <a:t> </a:t>
            </a:r>
            <a:r>
              <a:rPr spc="-70" dirty="0"/>
              <a:t>definition:</a:t>
            </a:r>
            <a:r>
              <a:rPr spc="-200" dirty="0"/>
              <a:t> </a:t>
            </a:r>
            <a:r>
              <a:rPr spc="-204" dirty="0"/>
              <a:t>Markov</a:t>
            </a:r>
            <a:r>
              <a:rPr spc="-220" dirty="0"/>
              <a:t> </a:t>
            </a:r>
            <a:r>
              <a:rPr spc="-210" dirty="0"/>
              <a:t>decision</a:t>
            </a:r>
            <a:r>
              <a:rPr spc="-195" dirty="0"/>
              <a:t> </a:t>
            </a:r>
            <a:r>
              <a:rPr spc="-305" dirty="0"/>
              <a:t>process</a:t>
            </a:r>
          </a:p>
        </p:txBody>
      </p:sp>
      <p:pic>
        <p:nvPicPr>
          <p:cNvPr id="3" name="object 3" descr="Richard Ernest Bellman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6041" y="1608200"/>
            <a:ext cx="1764283" cy="22053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03281" y="3834841"/>
            <a:ext cx="11995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5" dirty="0">
                <a:latin typeface="Arial"/>
                <a:cs typeface="Arial"/>
              </a:rPr>
              <a:t>Richard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Bellman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3820" y="1601850"/>
            <a:ext cx="5200015" cy="1272540"/>
            <a:chOff x="3893820" y="1601850"/>
            <a:chExt cx="5200015" cy="1272540"/>
          </a:xfrm>
        </p:grpSpPr>
        <p:sp>
          <p:nvSpPr>
            <p:cNvPr id="6" name="object 6"/>
            <p:cNvSpPr/>
            <p:nvPr/>
          </p:nvSpPr>
          <p:spPr>
            <a:xfrm>
              <a:off x="3900170" y="1608200"/>
              <a:ext cx="5187315" cy="1219200"/>
            </a:xfrm>
            <a:custGeom>
              <a:avLst/>
              <a:gdLst/>
              <a:ahLst/>
              <a:cxnLst/>
              <a:rect l="l" t="t" r="r" b="b"/>
              <a:pathLst>
                <a:path w="5187315" h="1219200">
                  <a:moveTo>
                    <a:pt x="0" y="990600"/>
                  </a:moveTo>
                  <a:lnTo>
                    <a:pt x="4644" y="944533"/>
                  </a:lnTo>
                  <a:lnTo>
                    <a:pt x="17966" y="901624"/>
                  </a:lnTo>
                  <a:lnTo>
                    <a:pt x="39045" y="862793"/>
                  </a:lnTo>
                  <a:lnTo>
                    <a:pt x="66960" y="828960"/>
                  </a:lnTo>
                  <a:lnTo>
                    <a:pt x="100793" y="801045"/>
                  </a:lnTo>
                  <a:lnTo>
                    <a:pt x="139624" y="779966"/>
                  </a:lnTo>
                  <a:lnTo>
                    <a:pt x="182533" y="766644"/>
                  </a:lnTo>
                  <a:lnTo>
                    <a:pt x="228600" y="762000"/>
                  </a:lnTo>
                  <a:lnTo>
                    <a:pt x="274666" y="766644"/>
                  </a:lnTo>
                  <a:lnTo>
                    <a:pt x="317575" y="779966"/>
                  </a:lnTo>
                  <a:lnTo>
                    <a:pt x="356406" y="801045"/>
                  </a:lnTo>
                  <a:lnTo>
                    <a:pt x="390239" y="828960"/>
                  </a:lnTo>
                  <a:lnTo>
                    <a:pt x="418154" y="862793"/>
                  </a:lnTo>
                  <a:lnTo>
                    <a:pt x="439233" y="901624"/>
                  </a:lnTo>
                  <a:lnTo>
                    <a:pt x="452555" y="944533"/>
                  </a:lnTo>
                  <a:lnTo>
                    <a:pt x="457200" y="990600"/>
                  </a:lnTo>
                  <a:lnTo>
                    <a:pt x="452555" y="1036666"/>
                  </a:lnTo>
                  <a:lnTo>
                    <a:pt x="439233" y="1079575"/>
                  </a:lnTo>
                  <a:lnTo>
                    <a:pt x="418154" y="1118406"/>
                  </a:lnTo>
                  <a:lnTo>
                    <a:pt x="390239" y="1152239"/>
                  </a:lnTo>
                  <a:lnTo>
                    <a:pt x="356406" y="1180154"/>
                  </a:lnTo>
                  <a:lnTo>
                    <a:pt x="317575" y="1201233"/>
                  </a:lnTo>
                  <a:lnTo>
                    <a:pt x="274666" y="1214555"/>
                  </a:lnTo>
                  <a:lnTo>
                    <a:pt x="228600" y="1219200"/>
                  </a:lnTo>
                  <a:lnTo>
                    <a:pt x="182533" y="1214555"/>
                  </a:lnTo>
                  <a:lnTo>
                    <a:pt x="139624" y="1201233"/>
                  </a:lnTo>
                  <a:lnTo>
                    <a:pt x="100793" y="1180154"/>
                  </a:lnTo>
                  <a:lnTo>
                    <a:pt x="66960" y="1152239"/>
                  </a:lnTo>
                  <a:lnTo>
                    <a:pt x="39045" y="1118406"/>
                  </a:lnTo>
                  <a:lnTo>
                    <a:pt x="17966" y="1079575"/>
                  </a:lnTo>
                  <a:lnTo>
                    <a:pt x="4644" y="1036666"/>
                  </a:lnTo>
                  <a:lnTo>
                    <a:pt x="0" y="990600"/>
                  </a:lnTo>
                  <a:close/>
                </a:path>
                <a:path w="5187315" h="1219200">
                  <a:moveTo>
                    <a:pt x="499999" y="228600"/>
                  </a:moveTo>
                  <a:lnTo>
                    <a:pt x="504643" y="182533"/>
                  </a:lnTo>
                  <a:lnTo>
                    <a:pt x="517965" y="139624"/>
                  </a:lnTo>
                  <a:lnTo>
                    <a:pt x="539044" y="100793"/>
                  </a:lnTo>
                  <a:lnTo>
                    <a:pt x="566959" y="66960"/>
                  </a:lnTo>
                  <a:lnTo>
                    <a:pt x="600792" y="39045"/>
                  </a:lnTo>
                  <a:lnTo>
                    <a:pt x="639623" y="17966"/>
                  </a:lnTo>
                  <a:lnTo>
                    <a:pt x="682532" y="4644"/>
                  </a:lnTo>
                  <a:lnTo>
                    <a:pt x="728599" y="0"/>
                  </a:lnTo>
                  <a:lnTo>
                    <a:pt x="774665" y="4644"/>
                  </a:lnTo>
                  <a:lnTo>
                    <a:pt x="817574" y="17966"/>
                  </a:lnTo>
                  <a:lnTo>
                    <a:pt x="856405" y="39045"/>
                  </a:lnTo>
                  <a:lnTo>
                    <a:pt x="890238" y="66960"/>
                  </a:lnTo>
                  <a:lnTo>
                    <a:pt x="918153" y="100793"/>
                  </a:lnTo>
                  <a:lnTo>
                    <a:pt x="939232" y="139624"/>
                  </a:lnTo>
                  <a:lnTo>
                    <a:pt x="952554" y="182533"/>
                  </a:lnTo>
                  <a:lnTo>
                    <a:pt x="957199" y="228600"/>
                  </a:lnTo>
                  <a:lnTo>
                    <a:pt x="952554" y="274666"/>
                  </a:lnTo>
                  <a:lnTo>
                    <a:pt x="939232" y="317575"/>
                  </a:lnTo>
                  <a:lnTo>
                    <a:pt x="918153" y="356406"/>
                  </a:lnTo>
                  <a:lnTo>
                    <a:pt x="890238" y="390239"/>
                  </a:lnTo>
                  <a:lnTo>
                    <a:pt x="856405" y="418154"/>
                  </a:lnTo>
                  <a:lnTo>
                    <a:pt x="817574" y="439233"/>
                  </a:lnTo>
                  <a:lnTo>
                    <a:pt x="774665" y="452555"/>
                  </a:lnTo>
                  <a:lnTo>
                    <a:pt x="728599" y="457200"/>
                  </a:lnTo>
                  <a:lnTo>
                    <a:pt x="682532" y="452555"/>
                  </a:lnTo>
                  <a:lnTo>
                    <a:pt x="639623" y="439233"/>
                  </a:lnTo>
                  <a:lnTo>
                    <a:pt x="600792" y="418154"/>
                  </a:lnTo>
                  <a:lnTo>
                    <a:pt x="566959" y="390239"/>
                  </a:lnTo>
                  <a:lnTo>
                    <a:pt x="539044" y="356406"/>
                  </a:lnTo>
                  <a:lnTo>
                    <a:pt x="517965" y="317575"/>
                  </a:lnTo>
                  <a:lnTo>
                    <a:pt x="504643" y="274666"/>
                  </a:lnTo>
                  <a:lnTo>
                    <a:pt x="499999" y="228600"/>
                  </a:lnTo>
                  <a:close/>
                </a:path>
                <a:path w="5187315" h="1219200">
                  <a:moveTo>
                    <a:pt x="2364866" y="990600"/>
                  </a:moveTo>
                  <a:lnTo>
                    <a:pt x="2369511" y="944533"/>
                  </a:lnTo>
                  <a:lnTo>
                    <a:pt x="2382833" y="901624"/>
                  </a:lnTo>
                  <a:lnTo>
                    <a:pt x="2403912" y="862793"/>
                  </a:lnTo>
                  <a:lnTo>
                    <a:pt x="2431827" y="828960"/>
                  </a:lnTo>
                  <a:lnTo>
                    <a:pt x="2465660" y="801045"/>
                  </a:lnTo>
                  <a:lnTo>
                    <a:pt x="2504491" y="779966"/>
                  </a:lnTo>
                  <a:lnTo>
                    <a:pt x="2547400" y="766644"/>
                  </a:lnTo>
                  <a:lnTo>
                    <a:pt x="2593466" y="762000"/>
                  </a:lnTo>
                  <a:lnTo>
                    <a:pt x="2639533" y="766644"/>
                  </a:lnTo>
                  <a:lnTo>
                    <a:pt x="2682442" y="779966"/>
                  </a:lnTo>
                  <a:lnTo>
                    <a:pt x="2721273" y="801045"/>
                  </a:lnTo>
                  <a:lnTo>
                    <a:pt x="2755106" y="828960"/>
                  </a:lnTo>
                  <a:lnTo>
                    <a:pt x="2783021" y="862793"/>
                  </a:lnTo>
                  <a:lnTo>
                    <a:pt x="2804100" y="901624"/>
                  </a:lnTo>
                  <a:lnTo>
                    <a:pt x="2817422" y="944533"/>
                  </a:lnTo>
                  <a:lnTo>
                    <a:pt x="2822066" y="990600"/>
                  </a:lnTo>
                  <a:lnTo>
                    <a:pt x="2817422" y="1036666"/>
                  </a:lnTo>
                  <a:lnTo>
                    <a:pt x="2804100" y="1079575"/>
                  </a:lnTo>
                  <a:lnTo>
                    <a:pt x="2783021" y="1118406"/>
                  </a:lnTo>
                  <a:lnTo>
                    <a:pt x="2755106" y="1152239"/>
                  </a:lnTo>
                  <a:lnTo>
                    <a:pt x="2721273" y="1180154"/>
                  </a:lnTo>
                  <a:lnTo>
                    <a:pt x="2682442" y="1201233"/>
                  </a:lnTo>
                  <a:lnTo>
                    <a:pt x="2639533" y="1214555"/>
                  </a:lnTo>
                  <a:lnTo>
                    <a:pt x="2593466" y="1219200"/>
                  </a:lnTo>
                  <a:lnTo>
                    <a:pt x="2547400" y="1214555"/>
                  </a:lnTo>
                  <a:lnTo>
                    <a:pt x="2504491" y="1201233"/>
                  </a:lnTo>
                  <a:lnTo>
                    <a:pt x="2465660" y="1180154"/>
                  </a:lnTo>
                  <a:lnTo>
                    <a:pt x="2431827" y="1152239"/>
                  </a:lnTo>
                  <a:lnTo>
                    <a:pt x="2403912" y="1118406"/>
                  </a:lnTo>
                  <a:lnTo>
                    <a:pt x="2382833" y="1079575"/>
                  </a:lnTo>
                  <a:lnTo>
                    <a:pt x="2369511" y="1036666"/>
                  </a:lnTo>
                  <a:lnTo>
                    <a:pt x="2364866" y="990600"/>
                  </a:lnTo>
                  <a:close/>
                </a:path>
                <a:path w="5187315" h="1219200">
                  <a:moveTo>
                    <a:pt x="2864865" y="228600"/>
                  </a:moveTo>
                  <a:lnTo>
                    <a:pt x="2869510" y="182533"/>
                  </a:lnTo>
                  <a:lnTo>
                    <a:pt x="2882832" y="139624"/>
                  </a:lnTo>
                  <a:lnTo>
                    <a:pt x="2903911" y="100793"/>
                  </a:lnTo>
                  <a:lnTo>
                    <a:pt x="2931826" y="66960"/>
                  </a:lnTo>
                  <a:lnTo>
                    <a:pt x="2965659" y="39045"/>
                  </a:lnTo>
                  <a:lnTo>
                    <a:pt x="3004490" y="17966"/>
                  </a:lnTo>
                  <a:lnTo>
                    <a:pt x="3047399" y="4644"/>
                  </a:lnTo>
                  <a:lnTo>
                    <a:pt x="3093465" y="0"/>
                  </a:lnTo>
                  <a:lnTo>
                    <a:pt x="3139532" y="4644"/>
                  </a:lnTo>
                  <a:lnTo>
                    <a:pt x="3182441" y="17966"/>
                  </a:lnTo>
                  <a:lnTo>
                    <a:pt x="3221272" y="39045"/>
                  </a:lnTo>
                  <a:lnTo>
                    <a:pt x="3255105" y="66960"/>
                  </a:lnTo>
                  <a:lnTo>
                    <a:pt x="3283020" y="100793"/>
                  </a:lnTo>
                  <a:lnTo>
                    <a:pt x="3304099" y="139624"/>
                  </a:lnTo>
                  <a:lnTo>
                    <a:pt x="3317421" y="182533"/>
                  </a:lnTo>
                  <a:lnTo>
                    <a:pt x="3322065" y="228600"/>
                  </a:lnTo>
                  <a:lnTo>
                    <a:pt x="3317421" y="274666"/>
                  </a:lnTo>
                  <a:lnTo>
                    <a:pt x="3304099" y="317575"/>
                  </a:lnTo>
                  <a:lnTo>
                    <a:pt x="3283020" y="356406"/>
                  </a:lnTo>
                  <a:lnTo>
                    <a:pt x="3255105" y="390239"/>
                  </a:lnTo>
                  <a:lnTo>
                    <a:pt x="3221272" y="418154"/>
                  </a:lnTo>
                  <a:lnTo>
                    <a:pt x="3182441" y="439233"/>
                  </a:lnTo>
                  <a:lnTo>
                    <a:pt x="3139532" y="452555"/>
                  </a:lnTo>
                  <a:lnTo>
                    <a:pt x="3093465" y="457200"/>
                  </a:lnTo>
                  <a:lnTo>
                    <a:pt x="3047399" y="452555"/>
                  </a:lnTo>
                  <a:lnTo>
                    <a:pt x="3004490" y="439233"/>
                  </a:lnTo>
                  <a:lnTo>
                    <a:pt x="2965659" y="418154"/>
                  </a:lnTo>
                  <a:lnTo>
                    <a:pt x="2931826" y="390239"/>
                  </a:lnTo>
                  <a:lnTo>
                    <a:pt x="2903911" y="356406"/>
                  </a:lnTo>
                  <a:lnTo>
                    <a:pt x="2882832" y="317575"/>
                  </a:lnTo>
                  <a:lnTo>
                    <a:pt x="2869510" y="274666"/>
                  </a:lnTo>
                  <a:lnTo>
                    <a:pt x="2864865" y="228600"/>
                  </a:lnTo>
                  <a:close/>
                </a:path>
                <a:path w="5187315" h="1219200">
                  <a:moveTo>
                    <a:pt x="4729733" y="990600"/>
                  </a:moveTo>
                  <a:lnTo>
                    <a:pt x="4734378" y="944533"/>
                  </a:lnTo>
                  <a:lnTo>
                    <a:pt x="4747700" y="901624"/>
                  </a:lnTo>
                  <a:lnTo>
                    <a:pt x="4768779" y="862793"/>
                  </a:lnTo>
                  <a:lnTo>
                    <a:pt x="4796694" y="828960"/>
                  </a:lnTo>
                  <a:lnTo>
                    <a:pt x="4830527" y="801045"/>
                  </a:lnTo>
                  <a:lnTo>
                    <a:pt x="4869358" y="779966"/>
                  </a:lnTo>
                  <a:lnTo>
                    <a:pt x="4912267" y="766644"/>
                  </a:lnTo>
                  <a:lnTo>
                    <a:pt x="4958333" y="762000"/>
                  </a:lnTo>
                  <a:lnTo>
                    <a:pt x="5004437" y="766644"/>
                  </a:lnTo>
                  <a:lnTo>
                    <a:pt x="5047362" y="779966"/>
                  </a:lnTo>
                  <a:lnTo>
                    <a:pt x="5086195" y="801045"/>
                  </a:lnTo>
                  <a:lnTo>
                    <a:pt x="5120020" y="828960"/>
                  </a:lnTo>
                  <a:lnTo>
                    <a:pt x="5147922" y="862793"/>
                  </a:lnTo>
                  <a:lnTo>
                    <a:pt x="5168985" y="901624"/>
                  </a:lnTo>
                  <a:lnTo>
                    <a:pt x="5182294" y="944533"/>
                  </a:lnTo>
                  <a:lnTo>
                    <a:pt x="5186933" y="990600"/>
                  </a:lnTo>
                  <a:lnTo>
                    <a:pt x="5182294" y="1036666"/>
                  </a:lnTo>
                  <a:lnTo>
                    <a:pt x="5168985" y="1079575"/>
                  </a:lnTo>
                  <a:lnTo>
                    <a:pt x="5147922" y="1118406"/>
                  </a:lnTo>
                  <a:lnTo>
                    <a:pt x="5120020" y="1152239"/>
                  </a:lnTo>
                  <a:lnTo>
                    <a:pt x="5086195" y="1180154"/>
                  </a:lnTo>
                  <a:lnTo>
                    <a:pt x="5047362" y="1201233"/>
                  </a:lnTo>
                  <a:lnTo>
                    <a:pt x="5004437" y="1214555"/>
                  </a:lnTo>
                  <a:lnTo>
                    <a:pt x="4958333" y="1219200"/>
                  </a:lnTo>
                  <a:lnTo>
                    <a:pt x="4912267" y="1214555"/>
                  </a:lnTo>
                  <a:lnTo>
                    <a:pt x="4869358" y="1201233"/>
                  </a:lnTo>
                  <a:lnTo>
                    <a:pt x="4830527" y="1180154"/>
                  </a:lnTo>
                  <a:lnTo>
                    <a:pt x="4796694" y="1152239"/>
                  </a:lnTo>
                  <a:lnTo>
                    <a:pt x="4768779" y="1118406"/>
                  </a:lnTo>
                  <a:lnTo>
                    <a:pt x="4747700" y="1079575"/>
                  </a:lnTo>
                  <a:lnTo>
                    <a:pt x="4734378" y="1036666"/>
                  </a:lnTo>
                  <a:lnTo>
                    <a:pt x="4729733" y="990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57370" y="1995550"/>
              <a:ext cx="4272915" cy="641350"/>
            </a:xfrm>
            <a:custGeom>
              <a:avLst/>
              <a:gdLst/>
              <a:ahLst/>
              <a:cxnLst/>
              <a:rect l="l" t="t" r="r" b="b"/>
              <a:pathLst>
                <a:path w="4272915" h="641350">
                  <a:moveTo>
                    <a:pt x="1907667" y="603250"/>
                  </a:moveTo>
                  <a:lnTo>
                    <a:pt x="1889277" y="582295"/>
                  </a:lnTo>
                  <a:lnTo>
                    <a:pt x="1851533" y="539242"/>
                  </a:lnTo>
                  <a:lnTo>
                    <a:pt x="1839341" y="569099"/>
                  </a:lnTo>
                  <a:lnTo>
                    <a:pt x="1831467" y="565150"/>
                  </a:lnTo>
                  <a:lnTo>
                    <a:pt x="1831467" y="568858"/>
                  </a:lnTo>
                  <a:lnTo>
                    <a:pt x="434213" y="0"/>
                  </a:lnTo>
                  <a:lnTo>
                    <a:pt x="431800" y="5842"/>
                  </a:lnTo>
                  <a:lnTo>
                    <a:pt x="1831467" y="575691"/>
                  </a:lnTo>
                  <a:lnTo>
                    <a:pt x="1831467" y="588391"/>
                  </a:lnTo>
                  <a:lnTo>
                    <a:pt x="1826691" y="600075"/>
                  </a:lnTo>
                  <a:lnTo>
                    <a:pt x="0" y="600075"/>
                  </a:lnTo>
                  <a:lnTo>
                    <a:pt x="0" y="606425"/>
                  </a:lnTo>
                  <a:lnTo>
                    <a:pt x="1824101" y="606425"/>
                  </a:lnTo>
                  <a:lnTo>
                    <a:pt x="1822704" y="609854"/>
                  </a:lnTo>
                  <a:lnTo>
                    <a:pt x="1831467" y="609180"/>
                  </a:lnTo>
                  <a:lnTo>
                    <a:pt x="1831467" y="641350"/>
                  </a:lnTo>
                  <a:lnTo>
                    <a:pt x="1901317" y="606425"/>
                  </a:lnTo>
                  <a:lnTo>
                    <a:pt x="1907667" y="603250"/>
                  </a:lnTo>
                  <a:close/>
                </a:path>
                <a:path w="4272915" h="641350">
                  <a:moveTo>
                    <a:pt x="4272534" y="603250"/>
                  </a:moveTo>
                  <a:lnTo>
                    <a:pt x="4254144" y="582295"/>
                  </a:lnTo>
                  <a:lnTo>
                    <a:pt x="4216400" y="539242"/>
                  </a:lnTo>
                  <a:lnTo>
                    <a:pt x="4204246" y="569112"/>
                  </a:lnTo>
                  <a:lnTo>
                    <a:pt x="4196334" y="565150"/>
                  </a:lnTo>
                  <a:lnTo>
                    <a:pt x="4196334" y="568871"/>
                  </a:lnTo>
                  <a:lnTo>
                    <a:pt x="2799080" y="0"/>
                  </a:lnTo>
                  <a:lnTo>
                    <a:pt x="2796667" y="5842"/>
                  </a:lnTo>
                  <a:lnTo>
                    <a:pt x="4196334" y="575691"/>
                  </a:lnTo>
                  <a:lnTo>
                    <a:pt x="4196334" y="588619"/>
                  </a:lnTo>
                  <a:lnTo>
                    <a:pt x="4191673" y="600075"/>
                  </a:lnTo>
                  <a:lnTo>
                    <a:pt x="2364867" y="600075"/>
                  </a:lnTo>
                  <a:lnTo>
                    <a:pt x="2364867" y="606425"/>
                  </a:lnTo>
                  <a:lnTo>
                    <a:pt x="4189082" y="606425"/>
                  </a:lnTo>
                  <a:lnTo>
                    <a:pt x="4187698" y="609854"/>
                  </a:lnTo>
                  <a:lnTo>
                    <a:pt x="4196334" y="609193"/>
                  </a:lnTo>
                  <a:lnTo>
                    <a:pt x="4196334" y="641350"/>
                  </a:lnTo>
                  <a:lnTo>
                    <a:pt x="4266184" y="606425"/>
                  </a:lnTo>
                  <a:lnTo>
                    <a:pt x="4272534" y="603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3892" y="2524353"/>
              <a:ext cx="187092" cy="1521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3549" y="2524353"/>
              <a:ext cx="191540" cy="1521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9871" y="2524353"/>
              <a:ext cx="192780" cy="1552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9844" y="1771497"/>
              <a:ext cx="223405" cy="15217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9389" y="1779498"/>
              <a:ext cx="217690" cy="1522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127" y="2621622"/>
              <a:ext cx="1385062" cy="2527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8226" y="2621622"/>
              <a:ext cx="1384935" cy="252768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4575" y="1584032"/>
            <a:ext cx="1903526" cy="252768"/>
          </a:xfrm>
          <a:prstGeom prst="rect">
            <a:avLst/>
          </a:prstGeom>
        </p:spPr>
      </p:pic>
      <p:pic>
        <p:nvPicPr>
          <p:cNvPr id="16" name="object 16" descr="IguanaTex Picture Display  \documentclass{article} \usepackage{amsmath} \pagestyle{empty} \begin{document}  \newcommand{\xb}{\mathbf{x}} \newcommand{\ub}{\mathbf{u}} \newcommand{\bs}{\mathbf{s}} \newcommand{\ba}{\mathbf{a}}  states $\bs \in \mathcal{S}$  \end{document}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8982" y="2133930"/>
            <a:ext cx="1304543" cy="193344"/>
          </a:xfrm>
          <a:prstGeom prst="rect">
            <a:avLst/>
          </a:prstGeom>
        </p:spPr>
      </p:pic>
      <p:pic>
        <p:nvPicPr>
          <p:cNvPr id="17" name="object 17" descr="IguanaTex Picture Display  \documentclass{article} \usepackage{amsmath} \pagestyle{empty} \begin{document}  \newcommand{\xb}{\mathbf{x}} \newcommand{\ub}{\mathbf{u}} \newcommand{\bs}{\mathbf{s}} \newcommand{\ba}{\mathbf{a}}  actions $\ba \in \mathcal{A}$  \end{document}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203" y="2541473"/>
            <a:ext cx="1505833" cy="200837"/>
          </a:xfrm>
          <a:prstGeom prst="rect">
            <a:avLst/>
          </a:prstGeom>
        </p:spPr>
      </p:pic>
      <p:pic>
        <p:nvPicPr>
          <p:cNvPr id="18" name="object 18" descr="IguanaTex Picture Display  \documentclass{article} \usepackage{amsmath} \pagestyle{empty} \begin{document}  \newcommand{\xb}{\mathbf{x}} \newcommand{\ub}{\mathbf{u}} \newcommand{\bs}{\mathbf{s}} \newcommand{\ba}{\mathbf{a}}  transition operator $\mathcal{T}$  \end{document}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4625" y="2956623"/>
            <a:ext cx="2388362" cy="235775"/>
          </a:xfrm>
          <a:prstGeom prst="rect">
            <a:avLst/>
          </a:prstGeom>
        </p:spPr>
      </p:pic>
      <p:pic>
        <p:nvPicPr>
          <p:cNvPr id="19" name="object 19" descr="IguanaTex Picture Display  \documentclass{article} \usepackage{amsmath} \usepackage{amsfonts} \pagestyle{empty} \begin{document}  \newcommand{\xb}{\mathbf{x}} \newcommand{\ub}{\mathbf{u}} \newcommand{\bs}{\mathbf{s}} \newcommand{\ba}{\mathbf{a}}  reward function $r: \mathcal{S} \times \mathcal{A} \rightarrow \mathbb{R}$  \end{document}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9202" y="3356178"/>
            <a:ext cx="3414136" cy="20071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43762" y="3949700"/>
            <a:ext cx="564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5" dirty="0">
                <a:latin typeface="Arial"/>
                <a:cs typeface="Arial"/>
              </a:rPr>
              <a:t>Can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we </a:t>
            </a:r>
            <a:r>
              <a:rPr sz="1800" dirty="0">
                <a:latin typeface="Arial"/>
                <a:cs typeface="Arial"/>
              </a:rPr>
              <a:t>turn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Markov</a:t>
            </a:r>
            <a:r>
              <a:rPr sz="1800" spc="-80" dirty="0">
                <a:latin typeface="Arial"/>
                <a:cs typeface="Arial"/>
              </a:rPr>
              <a:t> decision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process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into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Markov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chain?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67040" y="4617973"/>
            <a:ext cx="662940" cy="1426210"/>
            <a:chOff x="8067040" y="4617973"/>
            <a:chExt cx="662940" cy="1426210"/>
          </a:xfrm>
        </p:grpSpPr>
        <p:sp>
          <p:nvSpPr>
            <p:cNvPr id="22" name="object 22"/>
            <p:cNvSpPr/>
            <p:nvPr/>
          </p:nvSpPr>
          <p:spPr>
            <a:xfrm>
              <a:off x="8073390" y="4624323"/>
              <a:ext cx="650240" cy="1413510"/>
            </a:xfrm>
            <a:custGeom>
              <a:avLst/>
              <a:gdLst/>
              <a:ahLst/>
              <a:cxnLst/>
              <a:rect l="l" t="t" r="r" b="b"/>
              <a:pathLst>
                <a:path w="650240" h="1413510">
                  <a:moveTo>
                    <a:pt x="0" y="108331"/>
                  </a:moveTo>
                  <a:lnTo>
                    <a:pt x="8514" y="66168"/>
                  </a:lnTo>
                  <a:lnTo>
                    <a:pt x="31734" y="31734"/>
                  </a:lnTo>
                  <a:lnTo>
                    <a:pt x="66168" y="8514"/>
                  </a:lnTo>
                  <a:lnTo>
                    <a:pt x="108330" y="0"/>
                  </a:lnTo>
                  <a:lnTo>
                    <a:pt x="541654" y="0"/>
                  </a:lnTo>
                  <a:lnTo>
                    <a:pt x="583817" y="8514"/>
                  </a:lnTo>
                  <a:lnTo>
                    <a:pt x="618251" y="31734"/>
                  </a:lnTo>
                  <a:lnTo>
                    <a:pt x="641471" y="66168"/>
                  </a:lnTo>
                  <a:lnTo>
                    <a:pt x="649985" y="108331"/>
                  </a:lnTo>
                  <a:lnTo>
                    <a:pt x="649985" y="1304823"/>
                  </a:lnTo>
                  <a:lnTo>
                    <a:pt x="641471" y="1346983"/>
                  </a:lnTo>
                  <a:lnTo>
                    <a:pt x="618251" y="1381413"/>
                  </a:lnTo>
                  <a:lnTo>
                    <a:pt x="583817" y="1404628"/>
                  </a:lnTo>
                  <a:lnTo>
                    <a:pt x="541654" y="1413141"/>
                  </a:lnTo>
                  <a:lnTo>
                    <a:pt x="108330" y="1413141"/>
                  </a:lnTo>
                  <a:lnTo>
                    <a:pt x="66168" y="1404628"/>
                  </a:lnTo>
                  <a:lnTo>
                    <a:pt x="31734" y="1381413"/>
                  </a:lnTo>
                  <a:lnTo>
                    <a:pt x="8514" y="1346983"/>
                  </a:lnTo>
                  <a:lnTo>
                    <a:pt x="0" y="1304823"/>
                  </a:lnTo>
                  <a:lnTo>
                    <a:pt x="0" y="1083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50987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1"/>
                  </a:lnTo>
                  <a:lnTo>
                    <a:pt x="139624" y="17954"/>
                  </a:lnTo>
                  <a:lnTo>
                    <a:pt x="100793" y="39021"/>
                  </a:lnTo>
                  <a:lnTo>
                    <a:pt x="66960" y="66924"/>
                  </a:lnTo>
                  <a:lnTo>
                    <a:pt x="39045" y="100744"/>
                  </a:lnTo>
                  <a:lnTo>
                    <a:pt x="17966" y="139565"/>
                  </a:lnTo>
                  <a:lnTo>
                    <a:pt x="4644" y="182468"/>
                  </a:lnTo>
                  <a:lnTo>
                    <a:pt x="0" y="228536"/>
                  </a:lnTo>
                  <a:lnTo>
                    <a:pt x="4644" y="274606"/>
                  </a:lnTo>
                  <a:lnTo>
                    <a:pt x="17966" y="317517"/>
                  </a:lnTo>
                  <a:lnTo>
                    <a:pt x="39045" y="356348"/>
                  </a:lnTo>
                  <a:lnTo>
                    <a:pt x="66960" y="390180"/>
                  </a:lnTo>
                  <a:lnTo>
                    <a:pt x="100793" y="418094"/>
                  </a:lnTo>
                  <a:lnTo>
                    <a:pt x="139624" y="439171"/>
                  </a:lnTo>
                  <a:lnTo>
                    <a:pt x="182533" y="452492"/>
                  </a:lnTo>
                  <a:lnTo>
                    <a:pt x="228600" y="457136"/>
                  </a:lnTo>
                  <a:lnTo>
                    <a:pt x="274703" y="452492"/>
                  </a:lnTo>
                  <a:lnTo>
                    <a:pt x="317628" y="439171"/>
                  </a:lnTo>
                  <a:lnTo>
                    <a:pt x="356461" y="418094"/>
                  </a:lnTo>
                  <a:lnTo>
                    <a:pt x="390286" y="390180"/>
                  </a:lnTo>
                  <a:lnTo>
                    <a:pt x="418188" y="356348"/>
                  </a:lnTo>
                  <a:lnTo>
                    <a:pt x="439251" y="317517"/>
                  </a:lnTo>
                  <a:lnTo>
                    <a:pt x="452560" y="274606"/>
                  </a:lnTo>
                  <a:lnTo>
                    <a:pt x="457200" y="228536"/>
                  </a:lnTo>
                  <a:lnTo>
                    <a:pt x="452560" y="182468"/>
                  </a:lnTo>
                  <a:lnTo>
                    <a:pt x="439251" y="139565"/>
                  </a:lnTo>
                  <a:lnTo>
                    <a:pt x="418188" y="100744"/>
                  </a:lnTo>
                  <a:lnTo>
                    <a:pt x="390286" y="66924"/>
                  </a:lnTo>
                  <a:lnTo>
                    <a:pt x="356461" y="39021"/>
                  </a:lnTo>
                  <a:lnTo>
                    <a:pt x="317628" y="17954"/>
                  </a:lnTo>
                  <a:lnTo>
                    <a:pt x="274703" y="4641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50987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36"/>
                  </a:moveTo>
                  <a:lnTo>
                    <a:pt x="4644" y="182468"/>
                  </a:lnTo>
                  <a:lnTo>
                    <a:pt x="17966" y="139565"/>
                  </a:lnTo>
                  <a:lnTo>
                    <a:pt x="39045" y="100744"/>
                  </a:lnTo>
                  <a:lnTo>
                    <a:pt x="66960" y="66924"/>
                  </a:lnTo>
                  <a:lnTo>
                    <a:pt x="100793" y="39021"/>
                  </a:lnTo>
                  <a:lnTo>
                    <a:pt x="139624" y="17954"/>
                  </a:lnTo>
                  <a:lnTo>
                    <a:pt x="182533" y="4641"/>
                  </a:lnTo>
                  <a:lnTo>
                    <a:pt x="228600" y="0"/>
                  </a:lnTo>
                  <a:lnTo>
                    <a:pt x="274703" y="4641"/>
                  </a:lnTo>
                  <a:lnTo>
                    <a:pt x="317628" y="17954"/>
                  </a:lnTo>
                  <a:lnTo>
                    <a:pt x="356461" y="39021"/>
                  </a:lnTo>
                  <a:lnTo>
                    <a:pt x="390286" y="66924"/>
                  </a:lnTo>
                  <a:lnTo>
                    <a:pt x="418188" y="100744"/>
                  </a:lnTo>
                  <a:lnTo>
                    <a:pt x="439251" y="139565"/>
                  </a:lnTo>
                  <a:lnTo>
                    <a:pt x="452560" y="182468"/>
                  </a:lnTo>
                  <a:lnTo>
                    <a:pt x="457200" y="228536"/>
                  </a:lnTo>
                  <a:lnTo>
                    <a:pt x="452560" y="274606"/>
                  </a:lnTo>
                  <a:lnTo>
                    <a:pt x="439251" y="317517"/>
                  </a:lnTo>
                  <a:lnTo>
                    <a:pt x="418188" y="356348"/>
                  </a:lnTo>
                  <a:lnTo>
                    <a:pt x="390286" y="390180"/>
                  </a:lnTo>
                  <a:lnTo>
                    <a:pt x="356461" y="418094"/>
                  </a:lnTo>
                  <a:lnTo>
                    <a:pt x="317628" y="439171"/>
                  </a:lnTo>
                  <a:lnTo>
                    <a:pt x="274703" y="452492"/>
                  </a:lnTo>
                  <a:lnTo>
                    <a:pt x="228600" y="457136"/>
                  </a:lnTo>
                  <a:lnTo>
                    <a:pt x="182533" y="452492"/>
                  </a:lnTo>
                  <a:lnTo>
                    <a:pt x="139624" y="439171"/>
                  </a:lnTo>
                  <a:lnTo>
                    <a:pt x="100793" y="418094"/>
                  </a:lnTo>
                  <a:lnTo>
                    <a:pt x="66960" y="390180"/>
                  </a:lnTo>
                  <a:lnTo>
                    <a:pt x="39045" y="356348"/>
                  </a:lnTo>
                  <a:lnTo>
                    <a:pt x="17966" y="317517"/>
                  </a:lnTo>
                  <a:lnTo>
                    <a:pt x="4644" y="274606"/>
                  </a:lnTo>
                  <a:lnTo>
                    <a:pt x="0" y="2285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0830" y="5653900"/>
              <a:ext cx="192904" cy="1550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50987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50987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703" y="4644"/>
                  </a:lnTo>
                  <a:lnTo>
                    <a:pt x="317628" y="17966"/>
                  </a:lnTo>
                  <a:lnTo>
                    <a:pt x="356461" y="39045"/>
                  </a:lnTo>
                  <a:lnTo>
                    <a:pt x="390286" y="66960"/>
                  </a:lnTo>
                  <a:lnTo>
                    <a:pt x="418188" y="100793"/>
                  </a:lnTo>
                  <a:lnTo>
                    <a:pt x="439251" y="139624"/>
                  </a:lnTo>
                  <a:lnTo>
                    <a:pt x="452560" y="182533"/>
                  </a:lnTo>
                  <a:lnTo>
                    <a:pt x="457200" y="228600"/>
                  </a:lnTo>
                  <a:lnTo>
                    <a:pt x="452560" y="274666"/>
                  </a:lnTo>
                  <a:lnTo>
                    <a:pt x="439251" y="317575"/>
                  </a:lnTo>
                  <a:lnTo>
                    <a:pt x="418188" y="356406"/>
                  </a:lnTo>
                  <a:lnTo>
                    <a:pt x="390286" y="390239"/>
                  </a:lnTo>
                  <a:lnTo>
                    <a:pt x="356461" y="418154"/>
                  </a:lnTo>
                  <a:lnTo>
                    <a:pt x="317628" y="439233"/>
                  </a:lnTo>
                  <a:lnTo>
                    <a:pt x="274703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65922" y="4898110"/>
              <a:ext cx="224929" cy="155092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5643371" y="4617973"/>
            <a:ext cx="662940" cy="1426210"/>
            <a:chOff x="5643371" y="4617973"/>
            <a:chExt cx="662940" cy="1426210"/>
          </a:xfrm>
        </p:grpSpPr>
        <p:sp>
          <p:nvSpPr>
            <p:cNvPr id="30" name="object 30"/>
            <p:cNvSpPr/>
            <p:nvPr/>
          </p:nvSpPr>
          <p:spPr>
            <a:xfrm>
              <a:off x="5649721" y="4624323"/>
              <a:ext cx="650240" cy="1413510"/>
            </a:xfrm>
            <a:custGeom>
              <a:avLst/>
              <a:gdLst/>
              <a:ahLst/>
              <a:cxnLst/>
              <a:rect l="l" t="t" r="r" b="b"/>
              <a:pathLst>
                <a:path w="650239" h="1413510">
                  <a:moveTo>
                    <a:pt x="0" y="108331"/>
                  </a:moveTo>
                  <a:lnTo>
                    <a:pt x="8514" y="66168"/>
                  </a:lnTo>
                  <a:lnTo>
                    <a:pt x="31734" y="31734"/>
                  </a:lnTo>
                  <a:lnTo>
                    <a:pt x="66168" y="8514"/>
                  </a:lnTo>
                  <a:lnTo>
                    <a:pt x="108330" y="0"/>
                  </a:lnTo>
                  <a:lnTo>
                    <a:pt x="541654" y="0"/>
                  </a:lnTo>
                  <a:lnTo>
                    <a:pt x="583817" y="8514"/>
                  </a:lnTo>
                  <a:lnTo>
                    <a:pt x="618251" y="31734"/>
                  </a:lnTo>
                  <a:lnTo>
                    <a:pt x="641471" y="66168"/>
                  </a:lnTo>
                  <a:lnTo>
                    <a:pt x="649986" y="108331"/>
                  </a:lnTo>
                  <a:lnTo>
                    <a:pt x="649986" y="1304823"/>
                  </a:lnTo>
                  <a:lnTo>
                    <a:pt x="641471" y="1346983"/>
                  </a:lnTo>
                  <a:lnTo>
                    <a:pt x="618251" y="1381413"/>
                  </a:lnTo>
                  <a:lnTo>
                    <a:pt x="583817" y="1404628"/>
                  </a:lnTo>
                  <a:lnTo>
                    <a:pt x="541654" y="1413141"/>
                  </a:lnTo>
                  <a:lnTo>
                    <a:pt x="108330" y="1413141"/>
                  </a:lnTo>
                  <a:lnTo>
                    <a:pt x="66168" y="1404628"/>
                  </a:lnTo>
                  <a:lnTo>
                    <a:pt x="31734" y="1381413"/>
                  </a:lnTo>
                  <a:lnTo>
                    <a:pt x="8514" y="1346983"/>
                  </a:lnTo>
                  <a:lnTo>
                    <a:pt x="0" y="1304823"/>
                  </a:lnTo>
                  <a:lnTo>
                    <a:pt x="0" y="1083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86119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1"/>
                  </a:lnTo>
                  <a:lnTo>
                    <a:pt x="139624" y="17954"/>
                  </a:lnTo>
                  <a:lnTo>
                    <a:pt x="100793" y="39021"/>
                  </a:lnTo>
                  <a:lnTo>
                    <a:pt x="66960" y="66924"/>
                  </a:lnTo>
                  <a:lnTo>
                    <a:pt x="39045" y="100744"/>
                  </a:lnTo>
                  <a:lnTo>
                    <a:pt x="17966" y="139565"/>
                  </a:lnTo>
                  <a:lnTo>
                    <a:pt x="4644" y="182468"/>
                  </a:lnTo>
                  <a:lnTo>
                    <a:pt x="0" y="228536"/>
                  </a:lnTo>
                  <a:lnTo>
                    <a:pt x="4644" y="274606"/>
                  </a:lnTo>
                  <a:lnTo>
                    <a:pt x="17966" y="317517"/>
                  </a:lnTo>
                  <a:lnTo>
                    <a:pt x="39045" y="356348"/>
                  </a:lnTo>
                  <a:lnTo>
                    <a:pt x="66960" y="390180"/>
                  </a:lnTo>
                  <a:lnTo>
                    <a:pt x="100793" y="418094"/>
                  </a:lnTo>
                  <a:lnTo>
                    <a:pt x="139624" y="439171"/>
                  </a:lnTo>
                  <a:lnTo>
                    <a:pt x="182533" y="452492"/>
                  </a:lnTo>
                  <a:lnTo>
                    <a:pt x="228600" y="457136"/>
                  </a:lnTo>
                  <a:lnTo>
                    <a:pt x="274666" y="452492"/>
                  </a:lnTo>
                  <a:lnTo>
                    <a:pt x="317575" y="439171"/>
                  </a:lnTo>
                  <a:lnTo>
                    <a:pt x="356406" y="418094"/>
                  </a:lnTo>
                  <a:lnTo>
                    <a:pt x="390239" y="390180"/>
                  </a:lnTo>
                  <a:lnTo>
                    <a:pt x="418154" y="356348"/>
                  </a:lnTo>
                  <a:lnTo>
                    <a:pt x="439233" y="317517"/>
                  </a:lnTo>
                  <a:lnTo>
                    <a:pt x="452555" y="274606"/>
                  </a:lnTo>
                  <a:lnTo>
                    <a:pt x="457200" y="228536"/>
                  </a:lnTo>
                  <a:lnTo>
                    <a:pt x="452555" y="182468"/>
                  </a:lnTo>
                  <a:lnTo>
                    <a:pt x="439233" y="139565"/>
                  </a:lnTo>
                  <a:lnTo>
                    <a:pt x="418154" y="100744"/>
                  </a:lnTo>
                  <a:lnTo>
                    <a:pt x="390239" y="66924"/>
                  </a:lnTo>
                  <a:lnTo>
                    <a:pt x="356406" y="39021"/>
                  </a:lnTo>
                  <a:lnTo>
                    <a:pt x="317575" y="17954"/>
                  </a:lnTo>
                  <a:lnTo>
                    <a:pt x="274666" y="4641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86119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36"/>
                  </a:moveTo>
                  <a:lnTo>
                    <a:pt x="4644" y="182468"/>
                  </a:lnTo>
                  <a:lnTo>
                    <a:pt x="17966" y="139565"/>
                  </a:lnTo>
                  <a:lnTo>
                    <a:pt x="39045" y="100744"/>
                  </a:lnTo>
                  <a:lnTo>
                    <a:pt x="66960" y="66924"/>
                  </a:lnTo>
                  <a:lnTo>
                    <a:pt x="100793" y="39021"/>
                  </a:lnTo>
                  <a:lnTo>
                    <a:pt x="139624" y="17954"/>
                  </a:lnTo>
                  <a:lnTo>
                    <a:pt x="182533" y="4641"/>
                  </a:lnTo>
                  <a:lnTo>
                    <a:pt x="228600" y="0"/>
                  </a:lnTo>
                  <a:lnTo>
                    <a:pt x="274666" y="4641"/>
                  </a:lnTo>
                  <a:lnTo>
                    <a:pt x="317575" y="17954"/>
                  </a:lnTo>
                  <a:lnTo>
                    <a:pt x="356406" y="39021"/>
                  </a:lnTo>
                  <a:lnTo>
                    <a:pt x="390239" y="66924"/>
                  </a:lnTo>
                  <a:lnTo>
                    <a:pt x="418154" y="100744"/>
                  </a:lnTo>
                  <a:lnTo>
                    <a:pt x="439233" y="139565"/>
                  </a:lnTo>
                  <a:lnTo>
                    <a:pt x="452555" y="182468"/>
                  </a:lnTo>
                  <a:lnTo>
                    <a:pt x="457200" y="228536"/>
                  </a:lnTo>
                  <a:lnTo>
                    <a:pt x="452555" y="274606"/>
                  </a:lnTo>
                  <a:lnTo>
                    <a:pt x="439233" y="317517"/>
                  </a:lnTo>
                  <a:lnTo>
                    <a:pt x="418154" y="356348"/>
                  </a:lnTo>
                  <a:lnTo>
                    <a:pt x="390239" y="390180"/>
                  </a:lnTo>
                  <a:lnTo>
                    <a:pt x="356406" y="418094"/>
                  </a:lnTo>
                  <a:lnTo>
                    <a:pt x="317575" y="439171"/>
                  </a:lnTo>
                  <a:lnTo>
                    <a:pt x="274666" y="452492"/>
                  </a:lnTo>
                  <a:lnTo>
                    <a:pt x="228600" y="457136"/>
                  </a:lnTo>
                  <a:lnTo>
                    <a:pt x="182533" y="452492"/>
                  </a:lnTo>
                  <a:lnTo>
                    <a:pt x="139624" y="439171"/>
                  </a:lnTo>
                  <a:lnTo>
                    <a:pt x="100793" y="418094"/>
                  </a:lnTo>
                  <a:lnTo>
                    <a:pt x="66960" y="390180"/>
                  </a:lnTo>
                  <a:lnTo>
                    <a:pt x="39045" y="356348"/>
                  </a:lnTo>
                  <a:lnTo>
                    <a:pt x="17966" y="317517"/>
                  </a:lnTo>
                  <a:lnTo>
                    <a:pt x="4644" y="274606"/>
                  </a:lnTo>
                  <a:lnTo>
                    <a:pt x="0" y="2285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52591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52591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4508" y="5653912"/>
              <a:ext cx="191664" cy="15196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7272" y="4898110"/>
              <a:ext cx="223659" cy="152044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3326638" y="4617973"/>
            <a:ext cx="662940" cy="1426210"/>
            <a:chOff x="3326638" y="4617973"/>
            <a:chExt cx="662940" cy="1426210"/>
          </a:xfrm>
        </p:grpSpPr>
        <p:sp>
          <p:nvSpPr>
            <p:cNvPr id="38" name="object 38"/>
            <p:cNvSpPr/>
            <p:nvPr/>
          </p:nvSpPr>
          <p:spPr>
            <a:xfrm>
              <a:off x="3332988" y="4624323"/>
              <a:ext cx="650240" cy="1413510"/>
            </a:xfrm>
            <a:custGeom>
              <a:avLst/>
              <a:gdLst/>
              <a:ahLst/>
              <a:cxnLst/>
              <a:rect l="l" t="t" r="r" b="b"/>
              <a:pathLst>
                <a:path w="650239" h="1413510">
                  <a:moveTo>
                    <a:pt x="0" y="108331"/>
                  </a:moveTo>
                  <a:lnTo>
                    <a:pt x="8495" y="66168"/>
                  </a:lnTo>
                  <a:lnTo>
                    <a:pt x="31670" y="31734"/>
                  </a:lnTo>
                  <a:lnTo>
                    <a:pt x="66061" y="8514"/>
                  </a:lnTo>
                  <a:lnTo>
                    <a:pt x="108203" y="0"/>
                  </a:lnTo>
                  <a:lnTo>
                    <a:pt x="541527" y="0"/>
                  </a:lnTo>
                  <a:lnTo>
                    <a:pt x="583690" y="8514"/>
                  </a:lnTo>
                  <a:lnTo>
                    <a:pt x="618124" y="31734"/>
                  </a:lnTo>
                  <a:lnTo>
                    <a:pt x="641344" y="66168"/>
                  </a:lnTo>
                  <a:lnTo>
                    <a:pt x="649859" y="108331"/>
                  </a:lnTo>
                  <a:lnTo>
                    <a:pt x="649859" y="1304823"/>
                  </a:lnTo>
                  <a:lnTo>
                    <a:pt x="641344" y="1346983"/>
                  </a:lnTo>
                  <a:lnTo>
                    <a:pt x="618124" y="1381413"/>
                  </a:lnTo>
                  <a:lnTo>
                    <a:pt x="583690" y="1404628"/>
                  </a:lnTo>
                  <a:lnTo>
                    <a:pt x="541527" y="1413141"/>
                  </a:lnTo>
                  <a:lnTo>
                    <a:pt x="108203" y="1413141"/>
                  </a:lnTo>
                  <a:lnTo>
                    <a:pt x="66061" y="1404628"/>
                  </a:lnTo>
                  <a:lnTo>
                    <a:pt x="31670" y="1381413"/>
                  </a:lnTo>
                  <a:lnTo>
                    <a:pt x="8495" y="1346983"/>
                  </a:lnTo>
                  <a:lnTo>
                    <a:pt x="0" y="1304823"/>
                  </a:lnTo>
                  <a:lnTo>
                    <a:pt x="0" y="1083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21253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1"/>
                  </a:lnTo>
                  <a:lnTo>
                    <a:pt x="139624" y="17954"/>
                  </a:lnTo>
                  <a:lnTo>
                    <a:pt x="100793" y="39021"/>
                  </a:lnTo>
                  <a:lnTo>
                    <a:pt x="66960" y="66924"/>
                  </a:lnTo>
                  <a:lnTo>
                    <a:pt x="39045" y="100744"/>
                  </a:lnTo>
                  <a:lnTo>
                    <a:pt x="17966" y="139565"/>
                  </a:lnTo>
                  <a:lnTo>
                    <a:pt x="4644" y="182468"/>
                  </a:lnTo>
                  <a:lnTo>
                    <a:pt x="0" y="228536"/>
                  </a:lnTo>
                  <a:lnTo>
                    <a:pt x="4644" y="274606"/>
                  </a:lnTo>
                  <a:lnTo>
                    <a:pt x="17966" y="317517"/>
                  </a:lnTo>
                  <a:lnTo>
                    <a:pt x="39045" y="356348"/>
                  </a:lnTo>
                  <a:lnTo>
                    <a:pt x="66960" y="390180"/>
                  </a:lnTo>
                  <a:lnTo>
                    <a:pt x="100793" y="418094"/>
                  </a:lnTo>
                  <a:lnTo>
                    <a:pt x="139624" y="439171"/>
                  </a:lnTo>
                  <a:lnTo>
                    <a:pt x="182533" y="452492"/>
                  </a:lnTo>
                  <a:lnTo>
                    <a:pt x="228600" y="457136"/>
                  </a:lnTo>
                  <a:lnTo>
                    <a:pt x="274666" y="452492"/>
                  </a:lnTo>
                  <a:lnTo>
                    <a:pt x="317575" y="439171"/>
                  </a:lnTo>
                  <a:lnTo>
                    <a:pt x="356406" y="418094"/>
                  </a:lnTo>
                  <a:lnTo>
                    <a:pt x="390239" y="390180"/>
                  </a:lnTo>
                  <a:lnTo>
                    <a:pt x="418154" y="356348"/>
                  </a:lnTo>
                  <a:lnTo>
                    <a:pt x="439233" y="317517"/>
                  </a:lnTo>
                  <a:lnTo>
                    <a:pt x="452555" y="274606"/>
                  </a:lnTo>
                  <a:lnTo>
                    <a:pt x="457200" y="228536"/>
                  </a:lnTo>
                  <a:lnTo>
                    <a:pt x="452555" y="182468"/>
                  </a:lnTo>
                  <a:lnTo>
                    <a:pt x="439233" y="139565"/>
                  </a:lnTo>
                  <a:lnTo>
                    <a:pt x="418154" y="100744"/>
                  </a:lnTo>
                  <a:lnTo>
                    <a:pt x="390239" y="66924"/>
                  </a:lnTo>
                  <a:lnTo>
                    <a:pt x="356406" y="39021"/>
                  </a:lnTo>
                  <a:lnTo>
                    <a:pt x="317575" y="17954"/>
                  </a:lnTo>
                  <a:lnTo>
                    <a:pt x="274666" y="4641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21253" y="54996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36"/>
                  </a:moveTo>
                  <a:lnTo>
                    <a:pt x="4644" y="182468"/>
                  </a:lnTo>
                  <a:lnTo>
                    <a:pt x="17966" y="139565"/>
                  </a:lnTo>
                  <a:lnTo>
                    <a:pt x="39045" y="100744"/>
                  </a:lnTo>
                  <a:lnTo>
                    <a:pt x="66960" y="66924"/>
                  </a:lnTo>
                  <a:lnTo>
                    <a:pt x="100793" y="39021"/>
                  </a:lnTo>
                  <a:lnTo>
                    <a:pt x="139624" y="17954"/>
                  </a:lnTo>
                  <a:lnTo>
                    <a:pt x="182533" y="4641"/>
                  </a:lnTo>
                  <a:lnTo>
                    <a:pt x="228600" y="0"/>
                  </a:lnTo>
                  <a:lnTo>
                    <a:pt x="274666" y="4641"/>
                  </a:lnTo>
                  <a:lnTo>
                    <a:pt x="317575" y="17954"/>
                  </a:lnTo>
                  <a:lnTo>
                    <a:pt x="356406" y="39021"/>
                  </a:lnTo>
                  <a:lnTo>
                    <a:pt x="390239" y="66924"/>
                  </a:lnTo>
                  <a:lnTo>
                    <a:pt x="418154" y="100744"/>
                  </a:lnTo>
                  <a:lnTo>
                    <a:pt x="439233" y="139565"/>
                  </a:lnTo>
                  <a:lnTo>
                    <a:pt x="452555" y="182468"/>
                  </a:lnTo>
                  <a:lnTo>
                    <a:pt x="457200" y="228536"/>
                  </a:lnTo>
                  <a:lnTo>
                    <a:pt x="452555" y="274606"/>
                  </a:lnTo>
                  <a:lnTo>
                    <a:pt x="439233" y="317517"/>
                  </a:lnTo>
                  <a:lnTo>
                    <a:pt x="418154" y="356348"/>
                  </a:lnTo>
                  <a:lnTo>
                    <a:pt x="390239" y="390180"/>
                  </a:lnTo>
                  <a:lnTo>
                    <a:pt x="356406" y="418094"/>
                  </a:lnTo>
                  <a:lnTo>
                    <a:pt x="317575" y="439171"/>
                  </a:lnTo>
                  <a:lnTo>
                    <a:pt x="274666" y="452492"/>
                  </a:lnTo>
                  <a:lnTo>
                    <a:pt x="228600" y="457136"/>
                  </a:lnTo>
                  <a:lnTo>
                    <a:pt x="182533" y="452492"/>
                  </a:lnTo>
                  <a:lnTo>
                    <a:pt x="139624" y="439171"/>
                  </a:lnTo>
                  <a:lnTo>
                    <a:pt x="100793" y="418094"/>
                  </a:lnTo>
                  <a:lnTo>
                    <a:pt x="66960" y="390180"/>
                  </a:lnTo>
                  <a:lnTo>
                    <a:pt x="39045" y="356348"/>
                  </a:lnTo>
                  <a:lnTo>
                    <a:pt x="17966" y="317517"/>
                  </a:lnTo>
                  <a:lnTo>
                    <a:pt x="4644" y="274606"/>
                  </a:lnTo>
                  <a:lnTo>
                    <a:pt x="0" y="2285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21253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21253" y="473468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4851" y="5653912"/>
              <a:ext cx="187216" cy="15196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285" y="4886172"/>
              <a:ext cx="217690" cy="151917"/>
            </a:xfrm>
            <a:prstGeom prst="rect">
              <a:avLst/>
            </a:prstGeom>
          </p:spPr>
        </p:pic>
      </p:grpSp>
      <p:sp>
        <p:nvSpPr>
          <p:cNvPr id="45" name="object 45"/>
          <p:cNvSpPr/>
          <p:nvPr/>
        </p:nvSpPr>
        <p:spPr>
          <a:xfrm>
            <a:off x="4120515" y="5274436"/>
            <a:ext cx="1400810" cy="76200"/>
          </a:xfrm>
          <a:custGeom>
            <a:avLst/>
            <a:gdLst/>
            <a:ahLst/>
            <a:cxnLst/>
            <a:rect l="l" t="t" r="r" b="b"/>
            <a:pathLst>
              <a:path w="1400810" h="76200">
                <a:moveTo>
                  <a:pt x="1324356" y="0"/>
                </a:moveTo>
                <a:lnTo>
                  <a:pt x="1324356" y="76200"/>
                </a:lnTo>
                <a:lnTo>
                  <a:pt x="1394206" y="41275"/>
                </a:lnTo>
                <a:lnTo>
                  <a:pt x="1337056" y="41275"/>
                </a:lnTo>
                <a:lnTo>
                  <a:pt x="1337056" y="34925"/>
                </a:lnTo>
                <a:lnTo>
                  <a:pt x="1394206" y="34925"/>
                </a:lnTo>
                <a:lnTo>
                  <a:pt x="1324356" y="0"/>
                </a:lnTo>
                <a:close/>
              </a:path>
              <a:path w="1400810" h="76200">
                <a:moveTo>
                  <a:pt x="1324356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1324356" y="41275"/>
                </a:lnTo>
                <a:lnTo>
                  <a:pt x="1324356" y="34925"/>
                </a:lnTo>
                <a:close/>
              </a:path>
              <a:path w="1400810" h="76200">
                <a:moveTo>
                  <a:pt x="1394206" y="34925"/>
                </a:moveTo>
                <a:lnTo>
                  <a:pt x="1337056" y="34925"/>
                </a:lnTo>
                <a:lnTo>
                  <a:pt x="1337056" y="41275"/>
                </a:lnTo>
                <a:lnTo>
                  <a:pt x="1394206" y="41275"/>
                </a:lnTo>
                <a:lnTo>
                  <a:pt x="1400556" y="38100"/>
                </a:lnTo>
                <a:lnTo>
                  <a:pt x="1394206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50710" y="5274436"/>
            <a:ext cx="1400810" cy="76200"/>
          </a:xfrm>
          <a:custGeom>
            <a:avLst/>
            <a:gdLst/>
            <a:ahLst/>
            <a:cxnLst/>
            <a:rect l="l" t="t" r="r" b="b"/>
            <a:pathLst>
              <a:path w="1400809" h="76200">
                <a:moveTo>
                  <a:pt x="1324356" y="0"/>
                </a:moveTo>
                <a:lnTo>
                  <a:pt x="1324356" y="76200"/>
                </a:lnTo>
                <a:lnTo>
                  <a:pt x="1394206" y="41275"/>
                </a:lnTo>
                <a:lnTo>
                  <a:pt x="1337056" y="41275"/>
                </a:lnTo>
                <a:lnTo>
                  <a:pt x="1337056" y="34925"/>
                </a:lnTo>
                <a:lnTo>
                  <a:pt x="1394206" y="34925"/>
                </a:lnTo>
                <a:lnTo>
                  <a:pt x="1324356" y="0"/>
                </a:lnTo>
                <a:close/>
              </a:path>
              <a:path w="1400809" h="76200">
                <a:moveTo>
                  <a:pt x="1324356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1324356" y="41275"/>
                </a:lnTo>
                <a:lnTo>
                  <a:pt x="1324356" y="34925"/>
                </a:lnTo>
                <a:close/>
              </a:path>
              <a:path w="1400809" h="76200">
                <a:moveTo>
                  <a:pt x="1394206" y="34925"/>
                </a:moveTo>
                <a:lnTo>
                  <a:pt x="1337056" y="34925"/>
                </a:lnTo>
                <a:lnTo>
                  <a:pt x="1337056" y="41275"/>
                </a:lnTo>
                <a:lnTo>
                  <a:pt x="1394206" y="41275"/>
                </a:lnTo>
                <a:lnTo>
                  <a:pt x="1400556" y="38100"/>
                </a:lnTo>
                <a:lnTo>
                  <a:pt x="1394206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 descr="IguanaTex Picture Display  \documentclass{article} \usepackage{amsmath} \pagestyle{empty} \begin{document}  \newcommand{\xb}{\mathbf{x}} \newcommand{\ub}{\mathbf{u}} \newcommand{\bs}{\mathbf{s}} \newcommand{\ba}{\mathbf{a}}  \begin{align*} p((\bs_{t+1},\ba_{t+1}) | (\bs_t, \ba_t)) =  p(\bs_{t+1}|\bs_t,\ba_t)\pi_\theta(\ba_{t+1}|\bs_{t+1}) \end{align*}  \end{document}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08858" y="6219355"/>
            <a:ext cx="5594984" cy="2567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709494"/>
            <a:ext cx="4947920" cy="130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spc="-240" dirty="0"/>
              <a:t>Part</a:t>
            </a:r>
            <a:r>
              <a:rPr spc="-200" dirty="0"/>
              <a:t> </a:t>
            </a:r>
            <a:r>
              <a:rPr spc="-25" dirty="0"/>
              <a:t>2:</a:t>
            </a:r>
          </a:p>
          <a:p>
            <a:pPr marL="12700">
              <a:lnSpc>
                <a:spcPts val="5015"/>
              </a:lnSpc>
            </a:pPr>
            <a:r>
              <a:rPr spc="-190" dirty="0"/>
              <a:t>Defining</a:t>
            </a:r>
            <a:r>
              <a:rPr spc="-210" dirty="0"/>
              <a:t> </a:t>
            </a:r>
            <a:r>
              <a:rPr spc="-70" dirty="0"/>
              <a:t>the</a:t>
            </a:r>
            <a:r>
              <a:rPr spc="-204" dirty="0"/>
              <a:t> </a:t>
            </a:r>
            <a:r>
              <a:rPr spc="-135" dirty="0"/>
              <a:t>objective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868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0" dirty="0"/>
              <a:t>The</a:t>
            </a:r>
            <a:r>
              <a:rPr spc="-225" dirty="0"/>
              <a:t> </a:t>
            </a:r>
            <a:r>
              <a:rPr spc="-165" dirty="0"/>
              <a:t>objective</a:t>
            </a:r>
            <a:r>
              <a:rPr spc="-195" dirty="0"/>
              <a:t> </a:t>
            </a:r>
            <a:r>
              <a:rPr dirty="0"/>
              <a:t>of</a:t>
            </a:r>
            <a:r>
              <a:rPr spc="-220" dirty="0"/>
              <a:t> </a:t>
            </a:r>
            <a:r>
              <a:rPr spc="-760" dirty="0"/>
              <a:t>RL</a:t>
            </a:r>
          </a:p>
        </p:txBody>
      </p:sp>
      <p:pic>
        <p:nvPicPr>
          <p:cNvPr id="3" name="object 3" descr="IguanaTex Picture Display  \documentclass{article} \usepackage{amsmath} \pagestyle{empty} \begin{document}  \newcommand{\xb}{\mathbf{x}} \newcommand{\ub}{\mathbf{u}} \newcommand{\bs}{\mathbf{s}} \newcommand{\ba}{\mathbf{a}}  \[ p_\theta(\bs_1,\ba_1,\dots,\bs_H,\ba_H) \]  \end{document}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5833" y="5712624"/>
            <a:ext cx="2337816" cy="256794"/>
          </a:xfrm>
          <a:prstGeom prst="rect">
            <a:avLst/>
          </a:prstGeom>
        </p:spPr>
      </p:pic>
      <p:pic>
        <p:nvPicPr>
          <p:cNvPr id="4" name="object 4" descr="IguanaTex Picture Display  \documentclass{article} \usepackage{amsmath} \pagestyle{empty} \begin{document}  \newcommand{\xb}{\mathbf{x}} \newcommand{\ub}{\mathbf{u}} \newcommand{\bs}{\mathbf{s}} \newcommand{\ba}{\mathbf{a}}  \[ =p(\bs_1) \prod_{t=1}^H \pi_\theta(\ba_t|\bs_t) p(\bs_{t+1}|\bs_t,\ba_t) \]  \end{document}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3981" y="5471769"/>
            <a:ext cx="3562856" cy="7384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9415" y="6301270"/>
            <a:ext cx="560501" cy="25246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91079" y="6066866"/>
            <a:ext cx="2282825" cy="127000"/>
          </a:xfrm>
          <a:custGeom>
            <a:avLst/>
            <a:gdLst/>
            <a:ahLst/>
            <a:cxnLst/>
            <a:rect l="l" t="t" r="r" b="b"/>
            <a:pathLst>
              <a:path w="2282825" h="127000">
                <a:moveTo>
                  <a:pt x="2282444" y="0"/>
                </a:moveTo>
                <a:lnTo>
                  <a:pt x="2281618" y="24694"/>
                </a:lnTo>
                <a:lnTo>
                  <a:pt x="2279364" y="44857"/>
                </a:lnTo>
                <a:lnTo>
                  <a:pt x="2276014" y="58451"/>
                </a:lnTo>
                <a:lnTo>
                  <a:pt x="2271903" y="63436"/>
                </a:lnTo>
                <a:lnTo>
                  <a:pt x="1151762" y="63436"/>
                </a:lnTo>
                <a:lnTo>
                  <a:pt x="1147651" y="68421"/>
                </a:lnTo>
                <a:lnTo>
                  <a:pt x="1144301" y="82015"/>
                </a:lnTo>
                <a:lnTo>
                  <a:pt x="1142047" y="102178"/>
                </a:lnTo>
                <a:lnTo>
                  <a:pt x="1141221" y="126872"/>
                </a:lnTo>
                <a:lnTo>
                  <a:pt x="1140396" y="102178"/>
                </a:lnTo>
                <a:lnTo>
                  <a:pt x="1138142" y="82015"/>
                </a:lnTo>
                <a:lnTo>
                  <a:pt x="1134792" y="68421"/>
                </a:lnTo>
                <a:lnTo>
                  <a:pt x="1130681" y="63436"/>
                </a:lnTo>
                <a:lnTo>
                  <a:pt x="10540" y="63436"/>
                </a:lnTo>
                <a:lnTo>
                  <a:pt x="6429" y="58450"/>
                </a:lnTo>
                <a:lnTo>
                  <a:pt x="3079" y="44853"/>
                </a:lnTo>
                <a:lnTo>
                  <a:pt x="825" y="24688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 descr="IguanaTex Picture Display  \documentclass{article} \usepackage{amsmath} \pagestyle{empty} \begin{document}  \newcommand{\bs}{\mathbf{s}} \newcommand{\ba}{\mathbf{a}} \newcommand{\bo}{\mathbf{o}}  $r(\bs_t,\ba_t)$: reward function  \end{document}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0505" y="1622221"/>
            <a:ext cx="2785998" cy="2573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18303" y="1661769"/>
            <a:ext cx="4734941" cy="178206"/>
          </a:xfrm>
          <a:prstGeom prst="rect">
            <a:avLst/>
          </a:prstGeom>
        </p:spPr>
      </p:pic>
      <p:pic>
        <p:nvPicPr>
          <p:cNvPr id="9" name="object 9" descr="Image result for car driving fast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0886" y="2218664"/>
            <a:ext cx="2257298" cy="1128674"/>
          </a:xfrm>
          <a:prstGeom prst="rect">
            <a:avLst/>
          </a:prstGeom>
        </p:spPr>
      </p:pic>
      <p:pic>
        <p:nvPicPr>
          <p:cNvPr id="10" name="object 10" descr="Image result for car accident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6334" y="2218664"/>
            <a:ext cx="1722247" cy="1128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68928" y="2604858"/>
            <a:ext cx="1299718" cy="2268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70215" y="2631033"/>
            <a:ext cx="1194282" cy="17820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3588" y="3617201"/>
            <a:ext cx="5198110" cy="36957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spc="-80" dirty="0">
                <a:latin typeface="Arial"/>
                <a:cs typeface="Arial"/>
              </a:rPr>
              <a:t>by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time</a:t>
            </a:r>
            <a:r>
              <a:rPr sz="1800" spc="-65" dirty="0">
                <a:latin typeface="Arial"/>
                <a:cs typeface="Arial"/>
              </a:rPr>
              <a:t> you’re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about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someone,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it’s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late!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7528" y="3614661"/>
            <a:ext cx="3834765" cy="36957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80" dirty="0">
                <a:latin typeface="Arial"/>
                <a:cs typeface="Arial"/>
              </a:rPr>
              <a:t>need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65" dirty="0">
                <a:latin typeface="Arial"/>
                <a:cs typeface="Arial"/>
              </a:rPr>
              <a:t> optimize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b="1" spc="-140" dirty="0">
                <a:latin typeface="Arial"/>
                <a:cs typeface="Arial"/>
              </a:rPr>
              <a:t>long-</a:t>
            </a:r>
            <a:r>
              <a:rPr sz="1800" b="1" spc="-85" dirty="0">
                <a:latin typeface="Arial"/>
                <a:cs typeface="Arial"/>
              </a:rPr>
              <a:t>term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reward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5" name="object 15" descr="IguanaTex Picture Display  \documentclass{article} \usepackage{amsmath} \usepackage{amsfonts} \pagestyle{empty} \begin{document}  \newcommand{\xb}{\mathbf{x}} \newcommand{\ub}{\mathbf{u}} \newcommand{\bs}{\mathbf{s}} \newcommand{\ba}{\mathbf{a}}  \[ \theta^\star = \arg\max_\theta \mathbb{E}_{\tau \sim p_\theta(\tau)}\left[ \sum_t r(\bs_t, \ba_t) \right] \]  \end{document}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15690" y="4309783"/>
            <a:ext cx="3957828" cy="7631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Expectations</a:t>
            </a:r>
            <a:r>
              <a:rPr spc="-190" dirty="0"/>
              <a:t> </a:t>
            </a:r>
            <a:r>
              <a:rPr spc="-245" dirty="0"/>
              <a:t>and</a:t>
            </a:r>
            <a:r>
              <a:rPr spc="-195" dirty="0"/>
              <a:t> </a:t>
            </a:r>
            <a:r>
              <a:rPr spc="-220" dirty="0"/>
              <a:t>stochastic</a:t>
            </a:r>
            <a:r>
              <a:rPr spc="-185" dirty="0"/>
              <a:t> </a:t>
            </a:r>
            <a:r>
              <a:rPr spc="-340" dirty="0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891" y="1703641"/>
            <a:ext cx="3683762" cy="3579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7745" y="1449577"/>
            <a:ext cx="4605401" cy="7330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12035" y="2200783"/>
            <a:ext cx="189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infinite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horizon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case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9796" y="2213864"/>
            <a:ext cx="1721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finite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horizon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case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656" y="2792349"/>
            <a:ext cx="107607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75" dirty="0">
                <a:latin typeface="Arial"/>
                <a:cs typeface="Arial"/>
              </a:rPr>
              <a:t>In</a:t>
            </a:r>
            <a:r>
              <a:rPr sz="4400" spc="-210" dirty="0">
                <a:latin typeface="Arial"/>
                <a:cs typeface="Arial"/>
              </a:rPr>
              <a:t> </a:t>
            </a:r>
            <a:r>
              <a:rPr sz="4400" spc="-535" dirty="0">
                <a:latin typeface="Arial"/>
                <a:cs typeface="Arial"/>
              </a:rPr>
              <a:t>RL,</a:t>
            </a:r>
            <a:r>
              <a:rPr sz="4400" spc="-225" dirty="0">
                <a:latin typeface="Arial"/>
                <a:cs typeface="Arial"/>
              </a:rPr>
              <a:t> </a:t>
            </a:r>
            <a:r>
              <a:rPr sz="4400" spc="-245" dirty="0">
                <a:latin typeface="Arial"/>
                <a:cs typeface="Arial"/>
              </a:rPr>
              <a:t>we</a:t>
            </a:r>
            <a:r>
              <a:rPr sz="4400" spc="-210" dirty="0">
                <a:latin typeface="Arial"/>
                <a:cs typeface="Arial"/>
              </a:rPr>
              <a:t> </a:t>
            </a:r>
            <a:r>
              <a:rPr sz="4400" spc="-195" dirty="0">
                <a:latin typeface="Arial"/>
                <a:cs typeface="Arial"/>
              </a:rPr>
              <a:t>almost</a:t>
            </a:r>
            <a:r>
              <a:rPr sz="4400" spc="-204" dirty="0">
                <a:latin typeface="Arial"/>
                <a:cs typeface="Arial"/>
              </a:rPr>
              <a:t> </a:t>
            </a:r>
            <a:r>
              <a:rPr sz="4400" spc="-315" dirty="0">
                <a:latin typeface="Arial"/>
                <a:cs typeface="Arial"/>
              </a:rPr>
              <a:t>always</a:t>
            </a:r>
            <a:r>
              <a:rPr sz="4400" spc="-204" dirty="0">
                <a:latin typeface="Arial"/>
                <a:cs typeface="Arial"/>
              </a:rPr>
              <a:t> </a:t>
            </a:r>
            <a:r>
              <a:rPr sz="4400" spc="-275" dirty="0">
                <a:latin typeface="Arial"/>
                <a:cs typeface="Arial"/>
              </a:rPr>
              <a:t>care</a:t>
            </a:r>
            <a:r>
              <a:rPr sz="4400" spc="-210" dirty="0">
                <a:latin typeface="Arial"/>
                <a:cs typeface="Arial"/>
              </a:rPr>
              <a:t> </a:t>
            </a:r>
            <a:r>
              <a:rPr sz="4400" spc="-140" dirty="0">
                <a:latin typeface="Arial"/>
                <a:cs typeface="Arial"/>
              </a:rPr>
              <a:t>about</a:t>
            </a:r>
            <a:r>
              <a:rPr sz="4400" spc="-204" dirty="0">
                <a:latin typeface="Arial"/>
                <a:cs typeface="Arial"/>
              </a:rPr>
              <a:t> </a:t>
            </a:r>
            <a:r>
              <a:rPr sz="4400" i="1" spc="-180" dirty="0">
                <a:latin typeface="Arial"/>
                <a:cs typeface="Arial"/>
              </a:rPr>
              <a:t>expectations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8" name="object 8" descr="Image result for driving near a cliff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719" y="4001046"/>
            <a:ext cx="4428363" cy="249097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08938" y="5036921"/>
            <a:ext cx="7918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40" dirty="0">
                <a:solidFill>
                  <a:srgbClr val="92D050"/>
                </a:solidFill>
                <a:latin typeface="Arial"/>
                <a:cs typeface="Arial"/>
              </a:rPr>
              <a:t>+1</a:t>
            </a:r>
            <a:endParaRPr sz="6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279" y="5312155"/>
            <a:ext cx="645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85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6000" spc="-35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709494"/>
            <a:ext cx="6263005" cy="1301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5"/>
              </a:spcBef>
            </a:pPr>
            <a:r>
              <a:rPr spc="-240" dirty="0"/>
              <a:t>Part</a:t>
            </a:r>
            <a:r>
              <a:rPr spc="-200" dirty="0"/>
              <a:t> </a:t>
            </a:r>
            <a:r>
              <a:rPr spc="-25" dirty="0"/>
              <a:t>3:</a:t>
            </a:r>
          </a:p>
          <a:p>
            <a:pPr marL="12700">
              <a:lnSpc>
                <a:spcPts val="5015"/>
              </a:lnSpc>
            </a:pPr>
            <a:r>
              <a:rPr spc="-235" dirty="0"/>
              <a:t>Anatomy</a:t>
            </a:r>
            <a:r>
              <a:rPr spc="-229" dirty="0"/>
              <a:t> </a:t>
            </a:r>
            <a:r>
              <a:rPr dirty="0"/>
              <a:t>of</a:t>
            </a:r>
            <a:r>
              <a:rPr spc="-245" dirty="0"/>
              <a:t> </a:t>
            </a:r>
            <a:r>
              <a:rPr spc="-270" dirty="0"/>
              <a:t>an</a:t>
            </a:r>
            <a:r>
              <a:rPr spc="-215" dirty="0"/>
              <a:t> </a:t>
            </a:r>
            <a:r>
              <a:rPr spc="-735" dirty="0"/>
              <a:t>RL</a:t>
            </a:r>
            <a:r>
              <a:rPr spc="-229" dirty="0"/>
              <a:t> </a:t>
            </a:r>
            <a:r>
              <a:rPr spc="-100" dirty="0"/>
              <a:t>algorithm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0" dirty="0"/>
              <a:t>The</a:t>
            </a:r>
            <a:r>
              <a:rPr spc="-220" dirty="0"/>
              <a:t> </a:t>
            </a:r>
            <a:r>
              <a:rPr spc="-229" dirty="0"/>
              <a:t>anatomy</a:t>
            </a:r>
            <a:r>
              <a:rPr spc="-215" dirty="0"/>
              <a:t> </a:t>
            </a:r>
            <a:r>
              <a:rPr dirty="0"/>
              <a:t>of</a:t>
            </a:r>
            <a:r>
              <a:rPr spc="-200" dirty="0"/>
              <a:t> </a:t>
            </a:r>
            <a:r>
              <a:rPr spc="-395" dirty="0"/>
              <a:t>a</a:t>
            </a:r>
            <a:r>
              <a:rPr spc="-215" dirty="0"/>
              <a:t> </a:t>
            </a:r>
            <a:r>
              <a:rPr spc="-145" dirty="0"/>
              <a:t>reinforcement</a:t>
            </a:r>
            <a:r>
              <a:rPr spc="-235" dirty="0"/>
              <a:t> </a:t>
            </a:r>
            <a:r>
              <a:rPr spc="-185" dirty="0"/>
              <a:t>learning</a:t>
            </a:r>
            <a:r>
              <a:rPr spc="-215" dirty="0"/>
              <a:t> </a:t>
            </a:r>
            <a:r>
              <a:rPr spc="-5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7708" y="3322828"/>
            <a:ext cx="2146300" cy="1155700"/>
            <a:chOff x="2497708" y="3322828"/>
            <a:chExt cx="2146300" cy="1155700"/>
          </a:xfrm>
        </p:grpSpPr>
        <p:sp>
          <p:nvSpPr>
            <p:cNvPr id="4" name="object 4"/>
            <p:cNvSpPr/>
            <p:nvPr/>
          </p:nvSpPr>
          <p:spPr>
            <a:xfrm>
              <a:off x="2504058" y="3329178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1943100" y="0"/>
                  </a:moveTo>
                  <a:lnTo>
                    <a:pt x="190500" y="0"/>
                  </a:lnTo>
                  <a:lnTo>
                    <a:pt x="146837" y="5027"/>
                  </a:lnTo>
                  <a:lnTo>
                    <a:pt x="106746" y="19349"/>
                  </a:lnTo>
                  <a:lnTo>
                    <a:pt x="71374" y="41827"/>
                  </a:lnTo>
                  <a:lnTo>
                    <a:pt x="41867" y="71321"/>
                  </a:lnTo>
                  <a:lnTo>
                    <a:pt x="19372" y="106691"/>
                  </a:lnTo>
                  <a:lnTo>
                    <a:pt x="5034" y="14679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4" y="996162"/>
                  </a:lnTo>
                  <a:lnTo>
                    <a:pt x="19372" y="1036253"/>
                  </a:lnTo>
                  <a:lnTo>
                    <a:pt x="41867" y="1071625"/>
                  </a:lnTo>
                  <a:lnTo>
                    <a:pt x="71374" y="1101132"/>
                  </a:lnTo>
                  <a:lnTo>
                    <a:pt x="106746" y="1123627"/>
                  </a:lnTo>
                  <a:lnTo>
                    <a:pt x="146837" y="1137965"/>
                  </a:lnTo>
                  <a:lnTo>
                    <a:pt x="190500" y="1143000"/>
                  </a:lnTo>
                  <a:lnTo>
                    <a:pt x="1943100" y="1143000"/>
                  </a:lnTo>
                  <a:lnTo>
                    <a:pt x="1986802" y="1137965"/>
                  </a:lnTo>
                  <a:lnTo>
                    <a:pt x="2026908" y="1123627"/>
                  </a:lnTo>
                  <a:lnTo>
                    <a:pt x="2062278" y="1101132"/>
                  </a:lnTo>
                  <a:lnTo>
                    <a:pt x="2091772" y="1071625"/>
                  </a:lnTo>
                  <a:lnTo>
                    <a:pt x="2114250" y="1036253"/>
                  </a:lnTo>
                  <a:lnTo>
                    <a:pt x="2128572" y="996162"/>
                  </a:lnTo>
                  <a:lnTo>
                    <a:pt x="2133600" y="952500"/>
                  </a:lnTo>
                  <a:lnTo>
                    <a:pt x="2133600" y="190500"/>
                  </a:lnTo>
                  <a:lnTo>
                    <a:pt x="2128572" y="146797"/>
                  </a:lnTo>
                  <a:lnTo>
                    <a:pt x="2114250" y="106691"/>
                  </a:lnTo>
                  <a:lnTo>
                    <a:pt x="2091772" y="71321"/>
                  </a:lnTo>
                  <a:lnTo>
                    <a:pt x="2062278" y="41827"/>
                  </a:lnTo>
                  <a:lnTo>
                    <a:pt x="2026908" y="19349"/>
                  </a:lnTo>
                  <a:lnTo>
                    <a:pt x="1986802" y="5027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04058" y="3329178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0" y="190500"/>
                  </a:moveTo>
                  <a:lnTo>
                    <a:pt x="5034" y="146797"/>
                  </a:lnTo>
                  <a:lnTo>
                    <a:pt x="19372" y="106691"/>
                  </a:lnTo>
                  <a:lnTo>
                    <a:pt x="41867" y="71321"/>
                  </a:lnTo>
                  <a:lnTo>
                    <a:pt x="71374" y="41827"/>
                  </a:lnTo>
                  <a:lnTo>
                    <a:pt x="106746" y="19349"/>
                  </a:lnTo>
                  <a:lnTo>
                    <a:pt x="146837" y="5027"/>
                  </a:lnTo>
                  <a:lnTo>
                    <a:pt x="190500" y="0"/>
                  </a:lnTo>
                  <a:lnTo>
                    <a:pt x="1943100" y="0"/>
                  </a:lnTo>
                  <a:lnTo>
                    <a:pt x="1986802" y="5027"/>
                  </a:lnTo>
                  <a:lnTo>
                    <a:pt x="2026908" y="19349"/>
                  </a:lnTo>
                  <a:lnTo>
                    <a:pt x="2062278" y="41827"/>
                  </a:lnTo>
                  <a:lnTo>
                    <a:pt x="2091772" y="71321"/>
                  </a:lnTo>
                  <a:lnTo>
                    <a:pt x="2114250" y="106691"/>
                  </a:lnTo>
                  <a:lnTo>
                    <a:pt x="2128572" y="146797"/>
                  </a:lnTo>
                  <a:lnTo>
                    <a:pt x="2133600" y="190500"/>
                  </a:lnTo>
                  <a:lnTo>
                    <a:pt x="2133600" y="952500"/>
                  </a:lnTo>
                  <a:lnTo>
                    <a:pt x="2128572" y="996162"/>
                  </a:lnTo>
                  <a:lnTo>
                    <a:pt x="2114250" y="1036253"/>
                  </a:lnTo>
                  <a:lnTo>
                    <a:pt x="2091772" y="1071625"/>
                  </a:lnTo>
                  <a:lnTo>
                    <a:pt x="2062278" y="1101132"/>
                  </a:lnTo>
                  <a:lnTo>
                    <a:pt x="2026908" y="1123627"/>
                  </a:lnTo>
                  <a:lnTo>
                    <a:pt x="1986802" y="1137965"/>
                  </a:lnTo>
                  <a:lnTo>
                    <a:pt x="1943100" y="1143000"/>
                  </a:lnTo>
                  <a:lnTo>
                    <a:pt x="190500" y="1143000"/>
                  </a:lnTo>
                  <a:lnTo>
                    <a:pt x="146837" y="1137965"/>
                  </a:lnTo>
                  <a:lnTo>
                    <a:pt x="106746" y="1123627"/>
                  </a:lnTo>
                  <a:lnTo>
                    <a:pt x="71374" y="1101132"/>
                  </a:lnTo>
                  <a:lnTo>
                    <a:pt x="41867" y="1071625"/>
                  </a:lnTo>
                  <a:lnTo>
                    <a:pt x="19372" y="1036253"/>
                  </a:lnTo>
                  <a:lnTo>
                    <a:pt x="5034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81985" y="3599179"/>
            <a:ext cx="1778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samples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(i.e.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policy)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60109" y="1875027"/>
            <a:ext cx="2146300" cy="1079500"/>
            <a:chOff x="6460109" y="1875027"/>
            <a:chExt cx="2146300" cy="1079500"/>
          </a:xfrm>
        </p:grpSpPr>
        <p:sp>
          <p:nvSpPr>
            <p:cNvPr id="8" name="object 8"/>
            <p:cNvSpPr/>
            <p:nvPr/>
          </p:nvSpPr>
          <p:spPr>
            <a:xfrm>
              <a:off x="6466459" y="1881377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799" y="0"/>
                  </a:moveTo>
                  <a:lnTo>
                    <a:pt x="177799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799" y="1066800"/>
                  </a:lnTo>
                  <a:lnTo>
                    <a:pt x="1955799" y="1066800"/>
                  </a:lnTo>
                  <a:lnTo>
                    <a:pt x="2003057" y="1060447"/>
                  </a:lnTo>
                  <a:lnTo>
                    <a:pt x="2045527" y="1042519"/>
                  </a:lnTo>
                  <a:lnTo>
                    <a:pt x="2081514" y="1014714"/>
                  </a:lnTo>
                  <a:lnTo>
                    <a:pt x="2109319" y="978727"/>
                  </a:lnTo>
                  <a:lnTo>
                    <a:pt x="2127247" y="936257"/>
                  </a:lnTo>
                  <a:lnTo>
                    <a:pt x="2133599" y="889000"/>
                  </a:lnTo>
                  <a:lnTo>
                    <a:pt x="2133599" y="177800"/>
                  </a:lnTo>
                  <a:lnTo>
                    <a:pt x="2127247" y="130542"/>
                  </a:lnTo>
                  <a:lnTo>
                    <a:pt x="2109319" y="88072"/>
                  </a:lnTo>
                  <a:lnTo>
                    <a:pt x="2081514" y="52085"/>
                  </a:lnTo>
                  <a:lnTo>
                    <a:pt x="2045527" y="24280"/>
                  </a:lnTo>
                  <a:lnTo>
                    <a:pt x="2003057" y="6352"/>
                  </a:lnTo>
                  <a:lnTo>
                    <a:pt x="195579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459" y="1881377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799" y="0"/>
                  </a:lnTo>
                  <a:lnTo>
                    <a:pt x="1955799" y="0"/>
                  </a:lnTo>
                  <a:lnTo>
                    <a:pt x="2003057" y="6352"/>
                  </a:lnTo>
                  <a:lnTo>
                    <a:pt x="2045527" y="24280"/>
                  </a:lnTo>
                  <a:lnTo>
                    <a:pt x="2081514" y="52085"/>
                  </a:lnTo>
                  <a:lnTo>
                    <a:pt x="2109319" y="88072"/>
                  </a:lnTo>
                  <a:lnTo>
                    <a:pt x="2127247" y="130542"/>
                  </a:lnTo>
                  <a:lnTo>
                    <a:pt x="2133599" y="177800"/>
                  </a:lnTo>
                  <a:lnTo>
                    <a:pt x="2133599" y="889000"/>
                  </a:lnTo>
                  <a:lnTo>
                    <a:pt x="2127247" y="936257"/>
                  </a:lnTo>
                  <a:lnTo>
                    <a:pt x="2109319" y="978727"/>
                  </a:lnTo>
                  <a:lnTo>
                    <a:pt x="2081514" y="1014714"/>
                  </a:lnTo>
                  <a:lnTo>
                    <a:pt x="2045527" y="1042519"/>
                  </a:lnTo>
                  <a:lnTo>
                    <a:pt x="2003057" y="1060447"/>
                  </a:lnTo>
                  <a:lnTo>
                    <a:pt x="1955799" y="1066800"/>
                  </a:lnTo>
                  <a:lnTo>
                    <a:pt x="177799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16700" y="2113026"/>
            <a:ext cx="1833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814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fit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model/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estimate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return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60109" y="4846828"/>
            <a:ext cx="2146300" cy="1079500"/>
            <a:chOff x="6460109" y="4846828"/>
            <a:chExt cx="2146300" cy="1079500"/>
          </a:xfrm>
        </p:grpSpPr>
        <p:sp>
          <p:nvSpPr>
            <p:cNvPr id="12" name="object 12"/>
            <p:cNvSpPr/>
            <p:nvPr/>
          </p:nvSpPr>
          <p:spPr>
            <a:xfrm>
              <a:off x="6466459" y="4853178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799" y="0"/>
                  </a:moveTo>
                  <a:lnTo>
                    <a:pt x="177799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8974"/>
                  </a:lnTo>
                  <a:lnTo>
                    <a:pt x="6352" y="936240"/>
                  </a:lnTo>
                  <a:lnTo>
                    <a:pt x="24280" y="978713"/>
                  </a:lnTo>
                  <a:lnTo>
                    <a:pt x="52085" y="1014698"/>
                  </a:lnTo>
                  <a:lnTo>
                    <a:pt x="88072" y="1042499"/>
                  </a:lnTo>
                  <a:lnTo>
                    <a:pt x="130542" y="1060423"/>
                  </a:lnTo>
                  <a:lnTo>
                    <a:pt x="177799" y="1066774"/>
                  </a:lnTo>
                  <a:lnTo>
                    <a:pt x="1955799" y="1066774"/>
                  </a:lnTo>
                  <a:lnTo>
                    <a:pt x="2003057" y="1060423"/>
                  </a:lnTo>
                  <a:lnTo>
                    <a:pt x="2045527" y="1042499"/>
                  </a:lnTo>
                  <a:lnTo>
                    <a:pt x="2081514" y="1014698"/>
                  </a:lnTo>
                  <a:lnTo>
                    <a:pt x="2109319" y="978713"/>
                  </a:lnTo>
                  <a:lnTo>
                    <a:pt x="2127247" y="936240"/>
                  </a:lnTo>
                  <a:lnTo>
                    <a:pt x="2133599" y="888974"/>
                  </a:lnTo>
                  <a:lnTo>
                    <a:pt x="2133599" y="177800"/>
                  </a:lnTo>
                  <a:lnTo>
                    <a:pt x="2127247" y="130542"/>
                  </a:lnTo>
                  <a:lnTo>
                    <a:pt x="2109319" y="88072"/>
                  </a:lnTo>
                  <a:lnTo>
                    <a:pt x="2081514" y="52085"/>
                  </a:lnTo>
                  <a:lnTo>
                    <a:pt x="2045527" y="24280"/>
                  </a:lnTo>
                  <a:lnTo>
                    <a:pt x="2003057" y="6352"/>
                  </a:lnTo>
                  <a:lnTo>
                    <a:pt x="195579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66459" y="4853178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799" y="0"/>
                  </a:lnTo>
                  <a:lnTo>
                    <a:pt x="1955799" y="0"/>
                  </a:lnTo>
                  <a:lnTo>
                    <a:pt x="2003057" y="6352"/>
                  </a:lnTo>
                  <a:lnTo>
                    <a:pt x="2045527" y="24280"/>
                  </a:lnTo>
                  <a:lnTo>
                    <a:pt x="2081514" y="52085"/>
                  </a:lnTo>
                  <a:lnTo>
                    <a:pt x="2109319" y="88072"/>
                  </a:lnTo>
                  <a:lnTo>
                    <a:pt x="2127247" y="130542"/>
                  </a:lnTo>
                  <a:lnTo>
                    <a:pt x="2133599" y="177800"/>
                  </a:lnTo>
                  <a:lnTo>
                    <a:pt x="2133599" y="888974"/>
                  </a:lnTo>
                  <a:lnTo>
                    <a:pt x="2127247" y="936240"/>
                  </a:lnTo>
                  <a:lnTo>
                    <a:pt x="2109319" y="978713"/>
                  </a:lnTo>
                  <a:lnTo>
                    <a:pt x="2081514" y="1014698"/>
                  </a:lnTo>
                  <a:lnTo>
                    <a:pt x="2045527" y="1042499"/>
                  </a:lnTo>
                  <a:lnTo>
                    <a:pt x="2003057" y="1060423"/>
                  </a:lnTo>
                  <a:lnTo>
                    <a:pt x="1955799" y="1066774"/>
                  </a:lnTo>
                  <a:lnTo>
                    <a:pt x="177799" y="1066774"/>
                  </a:lnTo>
                  <a:lnTo>
                    <a:pt x="130542" y="1060423"/>
                  </a:lnTo>
                  <a:lnTo>
                    <a:pt x="88072" y="1042499"/>
                  </a:lnTo>
                  <a:lnTo>
                    <a:pt x="52085" y="1014698"/>
                  </a:lnTo>
                  <a:lnTo>
                    <a:pt x="24280" y="978713"/>
                  </a:lnTo>
                  <a:lnTo>
                    <a:pt x="6352" y="936240"/>
                  </a:lnTo>
                  <a:lnTo>
                    <a:pt x="0" y="888974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57847" y="5222494"/>
            <a:ext cx="175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45509" y="2179827"/>
            <a:ext cx="2374900" cy="1003300"/>
            <a:chOff x="3945509" y="2179827"/>
            <a:chExt cx="2374900" cy="1003300"/>
          </a:xfrm>
        </p:grpSpPr>
        <p:sp>
          <p:nvSpPr>
            <p:cNvPr id="16" name="object 16"/>
            <p:cNvSpPr/>
            <p:nvPr/>
          </p:nvSpPr>
          <p:spPr>
            <a:xfrm>
              <a:off x="3951859" y="2186177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14550" y="0"/>
                  </a:moveTo>
                  <a:lnTo>
                    <a:pt x="2114550" y="123825"/>
                  </a:lnTo>
                  <a:lnTo>
                    <a:pt x="433450" y="123825"/>
                  </a:lnTo>
                  <a:lnTo>
                    <a:pt x="386220" y="126368"/>
                  </a:lnTo>
                  <a:lnTo>
                    <a:pt x="340463" y="133821"/>
                  </a:lnTo>
                  <a:lnTo>
                    <a:pt x="296444" y="145920"/>
                  </a:lnTo>
                  <a:lnTo>
                    <a:pt x="254427" y="162401"/>
                  </a:lnTo>
                  <a:lnTo>
                    <a:pt x="214677" y="182997"/>
                  </a:lnTo>
                  <a:lnTo>
                    <a:pt x="177457" y="207445"/>
                  </a:lnTo>
                  <a:lnTo>
                    <a:pt x="143033" y="235481"/>
                  </a:lnTo>
                  <a:lnTo>
                    <a:pt x="111669" y="266839"/>
                  </a:lnTo>
                  <a:lnTo>
                    <a:pt x="83628" y="301255"/>
                  </a:lnTo>
                  <a:lnTo>
                    <a:pt x="59177" y="338464"/>
                  </a:lnTo>
                  <a:lnTo>
                    <a:pt x="38578" y="378202"/>
                  </a:lnTo>
                  <a:lnTo>
                    <a:pt x="22096" y="420204"/>
                  </a:lnTo>
                  <a:lnTo>
                    <a:pt x="9997" y="464205"/>
                  </a:lnTo>
                  <a:lnTo>
                    <a:pt x="2543" y="509942"/>
                  </a:lnTo>
                  <a:lnTo>
                    <a:pt x="0" y="557149"/>
                  </a:lnTo>
                  <a:lnTo>
                    <a:pt x="0" y="990600"/>
                  </a:lnTo>
                  <a:lnTo>
                    <a:pt x="247650" y="990600"/>
                  </a:lnTo>
                  <a:lnTo>
                    <a:pt x="247650" y="557149"/>
                  </a:lnTo>
                  <a:lnTo>
                    <a:pt x="254286" y="507808"/>
                  </a:lnTo>
                  <a:lnTo>
                    <a:pt x="273017" y="463460"/>
                  </a:lnTo>
                  <a:lnTo>
                    <a:pt x="302069" y="425878"/>
                  </a:lnTo>
                  <a:lnTo>
                    <a:pt x="339673" y="396837"/>
                  </a:lnTo>
                  <a:lnTo>
                    <a:pt x="384057" y="378111"/>
                  </a:lnTo>
                  <a:lnTo>
                    <a:pt x="433450" y="371475"/>
                  </a:lnTo>
                  <a:lnTo>
                    <a:pt x="2114550" y="371475"/>
                  </a:lnTo>
                  <a:lnTo>
                    <a:pt x="2114550" y="495300"/>
                  </a:lnTo>
                  <a:lnTo>
                    <a:pt x="2362200" y="247650"/>
                  </a:lnTo>
                  <a:lnTo>
                    <a:pt x="21145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1859" y="2186177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0" y="990600"/>
                  </a:moveTo>
                  <a:lnTo>
                    <a:pt x="0" y="557149"/>
                  </a:lnTo>
                  <a:lnTo>
                    <a:pt x="2543" y="509942"/>
                  </a:lnTo>
                  <a:lnTo>
                    <a:pt x="9997" y="464205"/>
                  </a:lnTo>
                  <a:lnTo>
                    <a:pt x="22096" y="420204"/>
                  </a:lnTo>
                  <a:lnTo>
                    <a:pt x="38578" y="378202"/>
                  </a:lnTo>
                  <a:lnTo>
                    <a:pt x="59177" y="338464"/>
                  </a:lnTo>
                  <a:lnTo>
                    <a:pt x="83628" y="301255"/>
                  </a:lnTo>
                  <a:lnTo>
                    <a:pt x="111669" y="266839"/>
                  </a:lnTo>
                  <a:lnTo>
                    <a:pt x="143033" y="235481"/>
                  </a:lnTo>
                  <a:lnTo>
                    <a:pt x="177457" y="207445"/>
                  </a:lnTo>
                  <a:lnTo>
                    <a:pt x="214677" y="182997"/>
                  </a:lnTo>
                  <a:lnTo>
                    <a:pt x="254427" y="162401"/>
                  </a:lnTo>
                  <a:lnTo>
                    <a:pt x="296444" y="145920"/>
                  </a:lnTo>
                  <a:lnTo>
                    <a:pt x="340463" y="133821"/>
                  </a:lnTo>
                  <a:lnTo>
                    <a:pt x="386220" y="126368"/>
                  </a:lnTo>
                  <a:lnTo>
                    <a:pt x="433450" y="123825"/>
                  </a:lnTo>
                  <a:lnTo>
                    <a:pt x="2114550" y="123825"/>
                  </a:lnTo>
                  <a:lnTo>
                    <a:pt x="2114550" y="0"/>
                  </a:lnTo>
                  <a:lnTo>
                    <a:pt x="2362200" y="247650"/>
                  </a:lnTo>
                  <a:lnTo>
                    <a:pt x="2114550" y="495300"/>
                  </a:lnTo>
                  <a:lnTo>
                    <a:pt x="2114550" y="371475"/>
                  </a:lnTo>
                  <a:lnTo>
                    <a:pt x="433450" y="371475"/>
                  </a:lnTo>
                  <a:lnTo>
                    <a:pt x="384057" y="378111"/>
                  </a:lnTo>
                  <a:lnTo>
                    <a:pt x="339673" y="396837"/>
                  </a:lnTo>
                  <a:lnTo>
                    <a:pt x="302069" y="425878"/>
                  </a:lnTo>
                  <a:lnTo>
                    <a:pt x="273017" y="463460"/>
                  </a:lnTo>
                  <a:lnTo>
                    <a:pt x="254286" y="507808"/>
                  </a:lnTo>
                  <a:lnTo>
                    <a:pt x="247650" y="557149"/>
                  </a:lnTo>
                  <a:lnTo>
                    <a:pt x="247650" y="990600"/>
                  </a:lnTo>
                  <a:lnTo>
                    <a:pt x="0" y="990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793109" y="4618228"/>
            <a:ext cx="2527300" cy="927100"/>
            <a:chOff x="3793109" y="4618228"/>
            <a:chExt cx="2527300" cy="927100"/>
          </a:xfrm>
        </p:grpSpPr>
        <p:sp>
          <p:nvSpPr>
            <p:cNvPr id="19" name="object 19"/>
            <p:cNvSpPr/>
            <p:nvPr/>
          </p:nvSpPr>
          <p:spPr>
            <a:xfrm>
              <a:off x="3799459" y="4624578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8600" y="0"/>
                  </a:moveTo>
                  <a:lnTo>
                    <a:pt x="0" y="228600"/>
                  </a:lnTo>
                  <a:lnTo>
                    <a:pt x="114300" y="228600"/>
                  </a:lnTo>
                  <a:lnTo>
                    <a:pt x="114300" y="514350"/>
                  </a:lnTo>
                  <a:lnTo>
                    <a:pt x="116992" y="560987"/>
                  </a:lnTo>
                  <a:lnTo>
                    <a:pt x="124870" y="606049"/>
                  </a:lnTo>
                  <a:lnTo>
                    <a:pt x="137631" y="649235"/>
                  </a:lnTo>
                  <a:lnTo>
                    <a:pt x="154977" y="690243"/>
                  </a:lnTo>
                  <a:lnTo>
                    <a:pt x="176604" y="728772"/>
                  </a:lnTo>
                  <a:lnTo>
                    <a:pt x="202214" y="764523"/>
                  </a:lnTo>
                  <a:lnTo>
                    <a:pt x="231505" y="797194"/>
                  </a:lnTo>
                  <a:lnTo>
                    <a:pt x="264176" y="826485"/>
                  </a:lnTo>
                  <a:lnTo>
                    <a:pt x="299927" y="852095"/>
                  </a:lnTo>
                  <a:lnTo>
                    <a:pt x="338456" y="873722"/>
                  </a:lnTo>
                  <a:lnTo>
                    <a:pt x="379464" y="891068"/>
                  </a:lnTo>
                  <a:lnTo>
                    <a:pt x="422650" y="903829"/>
                  </a:lnTo>
                  <a:lnTo>
                    <a:pt x="467712" y="911707"/>
                  </a:lnTo>
                  <a:lnTo>
                    <a:pt x="514350" y="914400"/>
                  </a:lnTo>
                  <a:lnTo>
                    <a:pt x="2514600" y="914400"/>
                  </a:lnTo>
                  <a:lnTo>
                    <a:pt x="2514600" y="685800"/>
                  </a:lnTo>
                  <a:lnTo>
                    <a:pt x="514350" y="685800"/>
                  </a:lnTo>
                  <a:lnTo>
                    <a:pt x="468797" y="679670"/>
                  </a:lnTo>
                  <a:lnTo>
                    <a:pt x="427848" y="662375"/>
                  </a:lnTo>
                  <a:lnTo>
                    <a:pt x="393144" y="635555"/>
                  </a:lnTo>
                  <a:lnTo>
                    <a:pt x="366324" y="600851"/>
                  </a:lnTo>
                  <a:lnTo>
                    <a:pt x="349029" y="559902"/>
                  </a:lnTo>
                  <a:lnTo>
                    <a:pt x="342900" y="514350"/>
                  </a:lnTo>
                  <a:lnTo>
                    <a:pt x="342900" y="228600"/>
                  </a:lnTo>
                  <a:lnTo>
                    <a:pt x="4572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99459" y="4624578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514600" y="914400"/>
                  </a:moveTo>
                  <a:lnTo>
                    <a:pt x="514350" y="914400"/>
                  </a:lnTo>
                  <a:lnTo>
                    <a:pt x="467712" y="911707"/>
                  </a:lnTo>
                  <a:lnTo>
                    <a:pt x="422650" y="903829"/>
                  </a:lnTo>
                  <a:lnTo>
                    <a:pt x="379464" y="891068"/>
                  </a:lnTo>
                  <a:lnTo>
                    <a:pt x="338456" y="873722"/>
                  </a:lnTo>
                  <a:lnTo>
                    <a:pt x="299927" y="852095"/>
                  </a:lnTo>
                  <a:lnTo>
                    <a:pt x="264176" y="826485"/>
                  </a:lnTo>
                  <a:lnTo>
                    <a:pt x="231505" y="797194"/>
                  </a:lnTo>
                  <a:lnTo>
                    <a:pt x="202214" y="764523"/>
                  </a:lnTo>
                  <a:lnTo>
                    <a:pt x="176604" y="728772"/>
                  </a:lnTo>
                  <a:lnTo>
                    <a:pt x="154977" y="690243"/>
                  </a:lnTo>
                  <a:lnTo>
                    <a:pt x="137631" y="649235"/>
                  </a:lnTo>
                  <a:lnTo>
                    <a:pt x="124870" y="606049"/>
                  </a:lnTo>
                  <a:lnTo>
                    <a:pt x="116992" y="560987"/>
                  </a:lnTo>
                  <a:lnTo>
                    <a:pt x="114300" y="514350"/>
                  </a:lnTo>
                  <a:lnTo>
                    <a:pt x="114300" y="228600"/>
                  </a:lnTo>
                  <a:lnTo>
                    <a:pt x="0" y="228600"/>
                  </a:lnTo>
                  <a:lnTo>
                    <a:pt x="228600" y="0"/>
                  </a:lnTo>
                  <a:lnTo>
                    <a:pt x="457200" y="228600"/>
                  </a:lnTo>
                  <a:lnTo>
                    <a:pt x="342900" y="228600"/>
                  </a:lnTo>
                  <a:lnTo>
                    <a:pt x="342900" y="514350"/>
                  </a:lnTo>
                  <a:lnTo>
                    <a:pt x="349029" y="559902"/>
                  </a:lnTo>
                  <a:lnTo>
                    <a:pt x="366324" y="600851"/>
                  </a:lnTo>
                  <a:lnTo>
                    <a:pt x="393144" y="635555"/>
                  </a:lnTo>
                  <a:lnTo>
                    <a:pt x="427848" y="662375"/>
                  </a:lnTo>
                  <a:lnTo>
                    <a:pt x="468797" y="679670"/>
                  </a:lnTo>
                  <a:lnTo>
                    <a:pt x="514350" y="685800"/>
                  </a:lnTo>
                  <a:lnTo>
                    <a:pt x="2514600" y="685800"/>
                  </a:lnTo>
                  <a:lnTo>
                    <a:pt x="2514600" y="914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342251" y="3094227"/>
            <a:ext cx="469900" cy="1612900"/>
            <a:chOff x="7342251" y="3094227"/>
            <a:chExt cx="469900" cy="1612900"/>
          </a:xfrm>
        </p:grpSpPr>
        <p:sp>
          <p:nvSpPr>
            <p:cNvPr id="22" name="object 22"/>
            <p:cNvSpPr/>
            <p:nvPr/>
          </p:nvSpPr>
          <p:spPr>
            <a:xfrm>
              <a:off x="7348601" y="3100577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342900" y="0"/>
                  </a:moveTo>
                  <a:lnTo>
                    <a:pt x="114300" y="0"/>
                  </a:lnTo>
                  <a:lnTo>
                    <a:pt x="114300" y="1371600"/>
                  </a:lnTo>
                  <a:lnTo>
                    <a:pt x="0" y="1371600"/>
                  </a:lnTo>
                  <a:lnTo>
                    <a:pt x="228600" y="1600200"/>
                  </a:lnTo>
                  <a:lnTo>
                    <a:pt x="457200" y="1371600"/>
                  </a:lnTo>
                  <a:lnTo>
                    <a:pt x="342900" y="1371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48601" y="3100577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0" y="1371600"/>
                  </a:moveTo>
                  <a:lnTo>
                    <a:pt x="114300" y="137160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371600"/>
                  </a:lnTo>
                  <a:lnTo>
                    <a:pt x="457200" y="1371600"/>
                  </a:lnTo>
                  <a:lnTo>
                    <a:pt x="228600" y="160020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Value</a:t>
            </a:r>
            <a:r>
              <a:rPr spc="-190" dirty="0"/>
              <a:t> </a:t>
            </a:r>
            <a:r>
              <a:rPr spc="-100" dirty="0"/>
              <a:t>function</a:t>
            </a:r>
            <a:r>
              <a:rPr spc="-204" dirty="0"/>
              <a:t> </a:t>
            </a:r>
            <a:r>
              <a:rPr spc="-305" dirty="0"/>
              <a:t>based</a:t>
            </a:r>
            <a:r>
              <a:rPr spc="-200" dirty="0"/>
              <a:t> </a:t>
            </a:r>
            <a:r>
              <a:rPr spc="-130" dirty="0"/>
              <a:t>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7120" y="3261486"/>
            <a:ext cx="2146300" cy="1155700"/>
            <a:chOff x="2357120" y="3261486"/>
            <a:chExt cx="2146300" cy="1155700"/>
          </a:xfrm>
        </p:grpSpPr>
        <p:sp>
          <p:nvSpPr>
            <p:cNvPr id="4" name="object 4"/>
            <p:cNvSpPr/>
            <p:nvPr/>
          </p:nvSpPr>
          <p:spPr>
            <a:xfrm>
              <a:off x="2363470" y="3267836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1943100" y="0"/>
                  </a:moveTo>
                  <a:lnTo>
                    <a:pt x="190500" y="0"/>
                  </a:ln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27" y="996162"/>
                  </a:lnTo>
                  <a:lnTo>
                    <a:pt x="19349" y="1036253"/>
                  </a:lnTo>
                  <a:lnTo>
                    <a:pt x="41827" y="1071625"/>
                  </a:lnTo>
                  <a:lnTo>
                    <a:pt x="71321" y="1101132"/>
                  </a:lnTo>
                  <a:lnTo>
                    <a:pt x="106691" y="1123627"/>
                  </a:lnTo>
                  <a:lnTo>
                    <a:pt x="146797" y="1137965"/>
                  </a:lnTo>
                  <a:lnTo>
                    <a:pt x="190500" y="1143000"/>
                  </a:lnTo>
                  <a:lnTo>
                    <a:pt x="1943100" y="1143000"/>
                  </a:lnTo>
                  <a:lnTo>
                    <a:pt x="1986762" y="1137965"/>
                  </a:lnTo>
                  <a:lnTo>
                    <a:pt x="2026853" y="1123627"/>
                  </a:lnTo>
                  <a:lnTo>
                    <a:pt x="2062225" y="1101132"/>
                  </a:lnTo>
                  <a:lnTo>
                    <a:pt x="2091732" y="1071625"/>
                  </a:lnTo>
                  <a:lnTo>
                    <a:pt x="2114227" y="1036253"/>
                  </a:lnTo>
                  <a:lnTo>
                    <a:pt x="2128565" y="996162"/>
                  </a:lnTo>
                  <a:lnTo>
                    <a:pt x="2133600" y="952500"/>
                  </a:lnTo>
                  <a:lnTo>
                    <a:pt x="2133600" y="190500"/>
                  </a:lnTo>
                  <a:lnTo>
                    <a:pt x="2128565" y="146797"/>
                  </a:lnTo>
                  <a:lnTo>
                    <a:pt x="2114227" y="106691"/>
                  </a:lnTo>
                  <a:lnTo>
                    <a:pt x="2091732" y="71321"/>
                  </a:lnTo>
                  <a:lnTo>
                    <a:pt x="2062225" y="41827"/>
                  </a:lnTo>
                  <a:lnTo>
                    <a:pt x="2026853" y="19349"/>
                  </a:lnTo>
                  <a:lnTo>
                    <a:pt x="1986762" y="5027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3470" y="3267836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1943100" y="0"/>
                  </a:lnTo>
                  <a:lnTo>
                    <a:pt x="1986762" y="5027"/>
                  </a:lnTo>
                  <a:lnTo>
                    <a:pt x="2026853" y="19349"/>
                  </a:lnTo>
                  <a:lnTo>
                    <a:pt x="2062225" y="41827"/>
                  </a:lnTo>
                  <a:lnTo>
                    <a:pt x="2091732" y="71321"/>
                  </a:lnTo>
                  <a:lnTo>
                    <a:pt x="2114227" y="106691"/>
                  </a:lnTo>
                  <a:lnTo>
                    <a:pt x="2128565" y="146797"/>
                  </a:lnTo>
                  <a:lnTo>
                    <a:pt x="2133600" y="190500"/>
                  </a:lnTo>
                  <a:lnTo>
                    <a:pt x="2133600" y="952500"/>
                  </a:lnTo>
                  <a:lnTo>
                    <a:pt x="2128565" y="996162"/>
                  </a:lnTo>
                  <a:lnTo>
                    <a:pt x="2114227" y="1036253"/>
                  </a:lnTo>
                  <a:lnTo>
                    <a:pt x="2091732" y="1071625"/>
                  </a:lnTo>
                  <a:lnTo>
                    <a:pt x="2062225" y="1101132"/>
                  </a:lnTo>
                  <a:lnTo>
                    <a:pt x="2026853" y="1123627"/>
                  </a:lnTo>
                  <a:lnTo>
                    <a:pt x="1986762" y="1137965"/>
                  </a:lnTo>
                  <a:lnTo>
                    <a:pt x="1943100" y="1143000"/>
                  </a:lnTo>
                  <a:lnTo>
                    <a:pt x="190500" y="1143000"/>
                  </a:lnTo>
                  <a:lnTo>
                    <a:pt x="146797" y="1137965"/>
                  </a:lnTo>
                  <a:lnTo>
                    <a:pt x="106691" y="1123627"/>
                  </a:lnTo>
                  <a:lnTo>
                    <a:pt x="71321" y="1101132"/>
                  </a:lnTo>
                  <a:lnTo>
                    <a:pt x="41827" y="1071625"/>
                  </a:lnTo>
                  <a:lnTo>
                    <a:pt x="19349" y="1036253"/>
                  </a:lnTo>
                  <a:lnTo>
                    <a:pt x="5027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41523" y="3537966"/>
            <a:ext cx="1778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samples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(i.e.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policy)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19520" y="1813686"/>
            <a:ext cx="2146300" cy="1079500"/>
            <a:chOff x="6319520" y="1813686"/>
            <a:chExt cx="2146300" cy="1079500"/>
          </a:xfrm>
        </p:grpSpPr>
        <p:sp>
          <p:nvSpPr>
            <p:cNvPr id="8" name="object 8"/>
            <p:cNvSpPr/>
            <p:nvPr/>
          </p:nvSpPr>
          <p:spPr>
            <a:xfrm>
              <a:off x="6325870" y="18200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800" y="0"/>
                  </a:moveTo>
                  <a:lnTo>
                    <a:pt x="177800" y="0"/>
                  </a:lnTo>
                  <a:lnTo>
                    <a:pt x="130542" y="6344"/>
                  </a:lnTo>
                  <a:lnTo>
                    <a:pt x="88072" y="24252"/>
                  </a:lnTo>
                  <a:lnTo>
                    <a:pt x="52085" y="52038"/>
                  </a:lnTo>
                  <a:lnTo>
                    <a:pt x="24280" y="88015"/>
                  </a:lnTo>
                  <a:lnTo>
                    <a:pt x="6352" y="130498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1955800" y="1066800"/>
                  </a:lnTo>
                  <a:lnTo>
                    <a:pt x="2003057" y="1060447"/>
                  </a:lnTo>
                  <a:lnTo>
                    <a:pt x="2045527" y="1042519"/>
                  </a:lnTo>
                  <a:lnTo>
                    <a:pt x="2081514" y="1014714"/>
                  </a:lnTo>
                  <a:lnTo>
                    <a:pt x="2109319" y="978727"/>
                  </a:lnTo>
                  <a:lnTo>
                    <a:pt x="2127247" y="936257"/>
                  </a:lnTo>
                  <a:lnTo>
                    <a:pt x="2133600" y="889000"/>
                  </a:lnTo>
                  <a:lnTo>
                    <a:pt x="2133600" y="177800"/>
                  </a:lnTo>
                  <a:lnTo>
                    <a:pt x="2127247" y="130498"/>
                  </a:lnTo>
                  <a:lnTo>
                    <a:pt x="2109319" y="88015"/>
                  </a:lnTo>
                  <a:lnTo>
                    <a:pt x="2081514" y="52038"/>
                  </a:lnTo>
                  <a:lnTo>
                    <a:pt x="2045527" y="24252"/>
                  </a:lnTo>
                  <a:lnTo>
                    <a:pt x="2003057" y="6344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5870" y="18200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498"/>
                  </a:lnTo>
                  <a:lnTo>
                    <a:pt x="24280" y="88015"/>
                  </a:lnTo>
                  <a:lnTo>
                    <a:pt x="52085" y="52038"/>
                  </a:lnTo>
                  <a:lnTo>
                    <a:pt x="88072" y="24252"/>
                  </a:lnTo>
                  <a:lnTo>
                    <a:pt x="130542" y="6344"/>
                  </a:lnTo>
                  <a:lnTo>
                    <a:pt x="177800" y="0"/>
                  </a:lnTo>
                  <a:lnTo>
                    <a:pt x="1955800" y="0"/>
                  </a:lnTo>
                  <a:lnTo>
                    <a:pt x="2003057" y="6344"/>
                  </a:lnTo>
                  <a:lnTo>
                    <a:pt x="2045527" y="24252"/>
                  </a:lnTo>
                  <a:lnTo>
                    <a:pt x="2081514" y="52038"/>
                  </a:lnTo>
                  <a:lnTo>
                    <a:pt x="2109319" y="88015"/>
                  </a:lnTo>
                  <a:lnTo>
                    <a:pt x="2127247" y="130498"/>
                  </a:lnTo>
                  <a:lnTo>
                    <a:pt x="2133600" y="177800"/>
                  </a:lnTo>
                  <a:lnTo>
                    <a:pt x="2133600" y="889000"/>
                  </a:lnTo>
                  <a:lnTo>
                    <a:pt x="2127247" y="936257"/>
                  </a:lnTo>
                  <a:lnTo>
                    <a:pt x="2109319" y="978727"/>
                  </a:lnTo>
                  <a:lnTo>
                    <a:pt x="2081514" y="1014714"/>
                  </a:lnTo>
                  <a:lnTo>
                    <a:pt x="2045527" y="1042519"/>
                  </a:lnTo>
                  <a:lnTo>
                    <a:pt x="2003057" y="1060447"/>
                  </a:lnTo>
                  <a:lnTo>
                    <a:pt x="1955800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75857" y="2051684"/>
            <a:ext cx="1833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814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fit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model/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estimate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return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9520" y="4785486"/>
            <a:ext cx="2146300" cy="1079500"/>
            <a:chOff x="6319520" y="4785486"/>
            <a:chExt cx="2146300" cy="1079500"/>
          </a:xfrm>
        </p:grpSpPr>
        <p:sp>
          <p:nvSpPr>
            <p:cNvPr id="12" name="object 12"/>
            <p:cNvSpPr/>
            <p:nvPr/>
          </p:nvSpPr>
          <p:spPr>
            <a:xfrm>
              <a:off x="6325870" y="47918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800" y="0"/>
                  </a:moveTo>
                  <a:lnTo>
                    <a:pt x="177800" y="0"/>
                  </a:lnTo>
                  <a:lnTo>
                    <a:pt x="130542" y="6344"/>
                  </a:lnTo>
                  <a:lnTo>
                    <a:pt x="88072" y="24252"/>
                  </a:lnTo>
                  <a:lnTo>
                    <a:pt x="52085" y="52038"/>
                  </a:lnTo>
                  <a:lnTo>
                    <a:pt x="24280" y="88015"/>
                  </a:lnTo>
                  <a:lnTo>
                    <a:pt x="6352" y="130498"/>
                  </a:lnTo>
                  <a:lnTo>
                    <a:pt x="0" y="177800"/>
                  </a:lnTo>
                  <a:lnTo>
                    <a:pt x="0" y="888936"/>
                  </a:lnTo>
                  <a:lnTo>
                    <a:pt x="6352" y="936208"/>
                  </a:lnTo>
                  <a:lnTo>
                    <a:pt x="24280" y="978684"/>
                  </a:lnTo>
                  <a:lnTo>
                    <a:pt x="52085" y="1014671"/>
                  </a:lnTo>
                  <a:lnTo>
                    <a:pt x="88072" y="1042473"/>
                  </a:lnTo>
                  <a:lnTo>
                    <a:pt x="130542" y="1060397"/>
                  </a:lnTo>
                  <a:lnTo>
                    <a:pt x="177800" y="1066749"/>
                  </a:lnTo>
                  <a:lnTo>
                    <a:pt x="1955800" y="1066749"/>
                  </a:lnTo>
                  <a:lnTo>
                    <a:pt x="2003057" y="1060397"/>
                  </a:lnTo>
                  <a:lnTo>
                    <a:pt x="2045527" y="1042473"/>
                  </a:lnTo>
                  <a:lnTo>
                    <a:pt x="2081514" y="1014671"/>
                  </a:lnTo>
                  <a:lnTo>
                    <a:pt x="2109319" y="978684"/>
                  </a:lnTo>
                  <a:lnTo>
                    <a:pt x="2127247" y="936208"/>
                  </a:lnTo>
                  <a:lnTo>
                    <a:pt x="2133600" y="888936"/>
                  </a:lnTo>
                  <a:lnTo>
                    <a:pt x="2133600" y="177800"/>
                  </a:lnTo>
                  <a:lnTo>
                    <a:pt x="2127247" y="130498"/>
                  </a:lnTo>
                  <a:lnTo>
                    <a:pt x="2109319" y="88015"/>
                  </a:lnTo>
                  <a:lnTo>
                    <a:pt x="2081514" y="52038"/>
                  </a:lnTo>
                  <a:lnTo>
                    <a:pt x="2045527" y="24252"/>
                  </a:lnTo>
                  <a:lnTo>
                    <a:pt x="2003057" y="6344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5870" y="47918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498"/>
                  </a:lnTo>
                  <a:lnTo>
                    <a:pt x="24280" y="88015"/>
                  </a:lnTo>
                  <a:lnTo>
                    <a:pt x="52085" y="52038"/>
                  </a:lnTo>
                  <a:lnTo>
                    <a:pt x="88072" y="24252"/>
                  </a:lnTo>
                  <a:lnTo>
                    <a:pt x="130542" y="6344"/>
                  </a:lnTo>
                  <a:lnTo>
                    <a:pt x="177800" y="0"/>
                  </a:lnTo>
                  <a:lnTo>
                    <a:pt x="1955800" y="0"/>
                  </a:lnTo>
                  <a:lnTo>
                    <a:pt x="2003057" y="6344"/>
                  </a:lnTo>
                  <a:lnTo>
                    <a:pt x="2045527" y="24252"/>
                  </a:lnTo>
                  <a:lnTo>
                    <a:pt x="2081514" y="52038"/>
                  </a:lnTo>
                  <a:lnTo>
                    <a:pt x="2109319" y="88015"/>
                  </a:lnTo>
                  <a:lnTo>
                    <a:pt x="2127247" y="130498"/>
                  </a:lnTo>
                  <a:lnTo>
                    <a:pt x="2133600" y="177800"/>
                  </a:lnTo>
                  <a:lnTo>
                    <a:pt x="2133600" y="888936"/>
                  </a:lnTo>
                  <a:lnTo>
                    <a:pt x="2127247" y="936208"/>
                  </a:lnTo>
                  <a:lnTo>
                    <a:pt x="2109319" y="978684"/>
                  </a:lnTo>
                  <a:lnTo>
                    <a:pt x="2081514" y="1014671"/>
                  </a:lnTo>
                  <a:lnTo>
                    <a:pt x="2045527" y="1042473"/>
                  </a:lnTo>
                  <a:lnTo>
                    <a:pt x="2003057" y="1060397"/>
                  </a:lnTo>
                  <a:lnTo>
                    <a:pt x="1955800" y="1066749"/>
                  </a:lnTo>
                  <a:lnTo>
                    <a:pt x="177800" y="1066749"/>
                  </a:lnTo>
                  <a:lnTo>
                    <a:pt x="130542" y="1060397"/>
                  </a:lnTo>
                  <a:lnTo>
                    <a:pt x="88072" y="1042473"/>
                  </a:lnTo>
                  <a:lnTo>
                    <a:pt x="52085" y="1014671"/>
                  </a:lnTo>
                  <a:lnTo>
                    <a:pt x="24280" y="978684"/>
                  </a:lnTo>
                  <a:lnTo>
                    <a:pt x="6352" y="936208"/>
                  </a:lnTo>
                  <a:lnTo>
                    <a:pt x="0" y="888936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17005" y="5161279"/>
            <a:ext cx="175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4920" y="2118486"/>
            <a:ext cx="2374900" cy="1003300"/>
            <a:chOff x="3804920" y="2118486"/>
            <a:chExt cx="2374900" cy="1003300"/>
          </a:xfrm>
        </p:grpSpPr>
        <p:sp>
          <p:nvSpPr>
            <p:cNvPr id="16" name="object 16"/>
            <p:cNvSpPr/>
            <p:nvPr/>
          </p:nvSpPr>
          <p:spPr>
            <a:xfrm>
              <a:off x="3811270" y="212483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14550" y="0"/>
                  </a:moveTo>
                  <a:lnTo>
                    <a:pt x="2114550" y="123825"/>
                  </a:lnTo>
                  <a:lnTo>
                    <a:pt x="433324" y="123825"/>
                  </a:lnTo>
                  <a:lnTo>
                    <a:pt x="386117" y="126366"/>
                  </a:lnTo>
                  <a:lnTo>
                    <a:pt x="340380" y="133815"/>
                  </a:lnTo>
                  <a:lnTo>
                    <a:pt x="296379" y="145908"/>
                  </a:lnTo>
                  <a:lnTo>
                    <a:pt x="254377" y="162381"/>
                  </a:lnTo>
                  <a:lnTo>
                    <a:pt x="214639" y="182969"/>
                  </a:lnTo>
                  <a:lnTo>
                    <a:pt x="177430" y="207409"/>
                  </a:lnTo>
                  <a:lnTo>
                    <a:pt x="143014" y="235437"/>
                  </a:lnTo>
                  <a:lnTo>
                    <a:pt x="111656" y="266788"/>
                  </a:lnTo>
                  <a:lnTo>
                    <a:pt x="83620" y="301200"/>
                  </a:lnTo>
                  <a:lnTo>
                    <a:pt x="59172" y="338407"/>
                  </a:lnTo>
                  <a:lnTo>
                    <a:pt x="38576" y="378147"/>
                  </a:lnTo>
                  <a:lnTo>
                    <a:pt x="22095" y="420155"/>
                  </a:lnTo>
                  <a:lnTo>
                    <a:pt x="9996" y="464167"/>
                  </a:lnTo>
                  <a:lnTo>
                    <a:pt x="2543" y="509920"/>
                  </a:lnTo>
                  <a:lnTo>
                    <a:pt x="0" y="557149"/>
                  </a:lnTo>
                  <a:lnTo>
                    <a:pt x="0" y="990600"/>
                  </a:lnTo>
                  <a:lnTo>
                    <a:pt x="247650" y="990600"/>
                  </a:lnTo>
                  <a:lnTo>
                    <a:pt x="247650" y="557149"/>
                  </a:lnTo>
                  <a:lnTo>
                    <a:pt x="254286" y="507764"/>
                  </a:lnTo>
                  <a:lnTo>
                    <a:pt x="273012" y="463404"/>
                  </a:lnTo>
                  <a:lnTo>
                    <a:pt x="302053" y="425831"/>
                  </a:lnTo>
                  <a:lnTo>
                    <a:pt x="339635" y="396809"/>
                  </a:lnTo>
                  <a:lnTo>
                    <a:pt x="383983" y="378102"/>
                  </a:lnTo>
                  <a:lnTo>
                    <a:pt x="433324" y="371475"/>
                  </a:lnTo>
                  <a:lnTo>
                    <a:pt x="2114550" y="371475"/>
                  </a:lnTo>
                  <a:lnTo>
                    <a:pt x="2114550" y="495300"/>
                  </a:lnTo>
                  <a:lnTo>
                    <a:pt x="2362200" y="247650"/>
                  </a:lnTo>
                  <a:lnTo>
                    <a:pt x="21145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1270" y="212483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0" y="990600"/>
                  </a:moveTo>
                  <a:lnTo>
                    <a:pt x="0" y="557149"/>
                  </a:lnTo>
                  <a:lnTo>
                    <a:pt x="2543" y="509920"/>
                  </a:lnTo>
                  <a:lnTo>
                    <a:pt x="9996" y="464167"/>
                  </a:lnTo>
                  <a:lnTo>
                    <a:pt x="22095" y="420155"/>
                  </a:lnTo>
                  <a:lnTo>
                    <a:pt x="38576" y="378147"/>
                  </a:lnTo>
                  <a:lnTo>
                    <a:pt x="59172" y="338407"/>
                  </a:lnTo>
                  <a:lnTo>
                    <a:pt x="83620" y="301200"/>
                  </a:lnTo>
                  <a:lnTo>
                    <a:pt x="111656" y="266788"/>
                  </a:lnTo>
                  <a:lnTo>
                    <a:pt x="143014" y="235437"/>
                  </a:lnTo>
                  <a:lnTo>
                    <a:pt x="177430" y="207409"/>
                  </a:lnTo>
                  <a:lnTo>
                    <a:pt x="214639" y="182969"/>
                  </a:lnTo>
                  <a:lnTo>
                    <a:pt x="254377" y="162381"/>
                  </a:lnTo>
                  <a:lnTo>
                    <a:pt x="296379" y="145908"/>
                  </a:lnTo>
                  <a:lnTo>
                    <a:pt x="340380" y="133815"/>
                  </a:lnTo>
                  <a:lnTo>
                    <a:pt x="386117" y="126366"/>
                  </a:lnTo>
                  <a:lnTo>
                    <a:pt x="433324" y="123825"/>
                  </a:lnTo>
                  <a:lnTo>
                    <a:pt x="2114550" y="123825"/>
                  </a:lnTo>
                  <a:lnTo>
                    <a:pt x="2114550" y="0"/>
                  </a:lnTo>
                  <a:lnTo>
                    <a:pt x="2362200" y="247650"/>
                  </a:lnTo>
                  <a:lnTo>
                    <a:pt x="2114550" y="495300"/>
                  </a:lnTo>
                  <a:lnTo>
                    <a:pt x="2114550" y="371475"/>
                  </a:lnTo>
                  <a:lnTo>
                    <a:pt x="433324" y="371475"/>
                  </a:lnTo>
                  <a:lnTo>
                    <a:pt x="383983" y="378102"/>
                  </a:lnTo>
                  <a:lnTo>
                    <a:pt x="339635" y="396809"/>
                  </a:lnTo>
                  <a:lnTo>
                    <a:pt x="302053" y="425831"/>
                  </a:lnTo>
                  <a:lnTo>
                    <a:pt x="273012" y="463404"/>
                  </a:lnTo>
                  <a:lnTo>
                    <a:pt x="254286" y="507764"/>
                  </a:lnTo>
                  <a:lnTo>
                    <a:pt x="247650" y="557149"/>
                  </a:lnTo>
                  <a:lnTo>
                    <a:pt x="247650" y="990600"/>
                  </a:lnTo>
                  <a:lnTo>
                    <a:pt x="0" y="990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652520" y="4556886"/>
            <a:ext cx="2527300" cy="927100"/>
            <a:chOff x="3652520" y="4556886"/>
            <a:chExt cx="2527300" cy="927100"/>
          </a:xfrm>
        </p:grpSpPr>
        <p:sp>
          <p:nvSpPr>
            <p:cNvPr id="19" name="object 19"/>
            <p:cNvSpPr/>
            <p:nvPr/>
          </p:nvSpPr>
          <p:spPr>
            <a:xfrm>
              <a:off x="3658870" y="4563236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8600" y="0"/>
                  </a:moveTo>
                  <a:lnTo>
                    <a:pt x="0" y="228600"/>
                  </a:lnTo>
                  <a:lnTo>
                    <a:pt x="114300" y="228600"/>
                  </a:lnTo>
                  <a:lnTo>
                    <a:pt x="114300" y="514350"/>
                  </a:lnTo>
                  <a:lnTo>
                    <a:pt x="116990" y="560987"/>
                  </a:lnTo>
                  <a:lnTo>
                    <a:pt x="124863" y="606049"/>
                  </a:lnTo>
                  <a:lnTo>
                    <a:pt x="137618" y="649235"/>
                  </a:lnTo>
                  <a:lnTo>
                    <a:pt x="154954" y="690243"/>
                  </a:lnTo>
                  <a:lnTo>
                    <a:pt x="176573" y="728772"/>
                  </a:lnTo>
                  <a:lnTo>
                    <a:pt x="202174" y="764523"/>
                  </a:lnTo>
                  <a:lnTo>
                    <a:pt x="231457" y="797194"/>
                  </a:lnTo>
                  <a:lnTo>
                    <a:pt x="264122" y="826485"/>
                  </a:lnTo>
                  <a:lnTo>
                    <a:pt x="299870" y="852095"/>
                  </a:lnTo>
                  <a:lnTo>
                    <a:pt x="338401" y="873722"/>
                  </a:lnTo>
                  <a:lnTo>
                    <a:pt x="379414" y="891068"/>
                  </a:lnTo>
                  <a:lnTo>
                    <a:pt x="422610" y="903829"/>
                  </a:lnTo>
                  <a:lnTo>
                    <a:pt x="467688" y="911707"/>
                  </a:lnTo>
                  <a:lnTo>
                    <a:pt x="514350" y="914400"/>
                  </a:lnTo>
                  <a:lnTo>
                    <a:pt x="2514600" y="914400"/>
                  </a:lnTo>
                  <a:lnTo>
                    <a:pt x="2514600" y="685800"/>
                  </a:lnTo>
                  <a:lnTo>
                    <a:pt x="514350" y="685800"/>
                  </a:lnTo>
                  <a:lnTo>
                    <a:pt x="468753" y="679670"/>
                  </a:lnTo>
                  <a:lnTo>
                    <a:pt x="427792" y="662375"/>
                  </a:lnTo>
                  <a:lnTo>
                    <a:pt x="393096" y="635555"/>
                  </a:lnTo>
                  <a:lnTo>
                    <a:pt x="366296" y="600851"/>
                  </a:lnTo>
                  <a:lnTo>
                    <a:pt x="349020" y="559902"/>
                  </a:lnTo>
                  <a:lnTo>
                    <a:pt x="342900" y="514350"/>
                  </a:lnTo>
                  <a:lnTo>
                    <a:pt x="342900" y="228600"/>
                  </a:lnTo>
                  <a:lnTo>
                    <a:pt x="4572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8870" y="4563236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514600" y="914400"/>
                  </a:moveTo>
                  <a:lnTo>
                    <a:pt x="514350" y="914400"/>
                  </a:lnTo>
                  <a:lnTo>
                    <a:pt x="467688" y="911707"/>
                  </a:lnTo>
                  <a:lnTo>
                    <a:pt x="422610" y="903829"/>
                  </a:lnTo>
                  <a:lnTo>
                    <a:pt x="379414" y="891068"/>
                  </a:lnTo>
                  <a:lnTo>
                    <a:pt x="338401" y="873722"/>
                  </a:lnTo>
                  <a:lnTo>
                    <a:pt x="299870" y="852095"/>
                  </a:lnTo>
                  <a:lnTo>
                    <a:pt x="264122" y="826485"/>
                  </a:lnTo>
                  <a:lnTo>
                    <a:pt x="231457" y="797194"/>
                  </a:lnTo>
                  <a:lnTo>
                    <a:pt x="202174" y="764523"/>
                  </a:lnTo>
                  <a:lnTo>
                    <a:pt x="176573" y="728772"/>
                  </a:lnTo>
                  <a:lnTo>
                    <a:pt x="154954" y="690243"/>
                  </a:lnTo>
                  <a:lnTo>
                    <a:pt x="137618" y="649235"/>
                  </a:lnTo>
                  <a:lnTo>
                    <a:pt x="124863" y="606049"/>
                  </a:lnTo>
                  <a:lnTo>
                    <a:pt x="116990" y="560987"/>
                  </a:lnTo>
                  <a:lnTo>
                    <a:pt x="114300" y="514350"/>
                  </a:lnTo>
                  <a:lnTo>
                    <a:pt x="114300" y="228600"/>
                  </a:lnTo>
                  <a:lnTo>
                    <a:pt x="0" y="228600"/>
                  </a:lnTo>
                  <a:lnTo>
                    <a:pt x="228600" y="0"/>
                  </a:lnTo>
                  <a:lnTo>
                    <a:pt x="457200" y="228600"/>
                  </a:lnTo>
                  <a:lnTo>
                    <a:pt x="342900" y="228600"/>
                  </a:lnTo>
                  <a:lnTo>
                    <a:pt x="342900" y="514350"/>
                  </a:lnTo>
                  <a:lnTo>
                    <a:pt x="349020" y="559902"/>
                  </a:lnTo>
                  <a:lnTo>
                    <a:pt x="366296" y="600851"/>
                  </a:lnTo>
                  <a:lnTo>
                    <a:pt x="393096" y="635555"/>
                  </a:lnTo>
                  <a:lnTo>
                    <a:pt x="427792" y="662375"/>
                  </a:lnTo>
                  <a:lnTo>
                    <a:pt x="468753" y="679670"/>
                  </a:lnTo>
                  <a:lnTo>
                    <a:pt x="514350" y="685800"/>
                  </a:lnTo>
                  <a:lnTo>
                    <a:pt x="2514600" y="685800"/>
                  </a:lnTo>
                  <a:lnTo>
                    <a:pt x="2514600" y="914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201661" y="3032886"/>
            <a:ext cx="469900" cy="1612900"/>
            <a:chOff x="7201661" y="3032886"/>
            <a:chExt cx="469900" cy="1612900"/>
          </a:xfrm>
        </p:grpSpPr>
        <p:sp>
          <p:nvSpPr>
            <p:cNvPr id="22" name="object 22"/>
            <p:cNvSpPr/>
            <p:nvPr/>
          </p:nvSpPr>
          <p:spPr>
            <a:xfrm>
              <a:off x="7208011" y="3039236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342900" y="0"/>
                  </a:moveTo>
                  <a:lnTo>
                    <a:pt x="114300" y="0"/>
                  </a:lnTo>
                  <a:lnTo>
                    <a:pt x="114300" y="1371600"/>
                  </a:lnTo>
                  <a:lnTo>
                    <a:pt x="0" y="1371600"/>
                  </a:lnTo>
                  <a:lnTo>
                    <a:pt x="228600" y="1600200"/>
                  </a:lnTo>
                  <a:lnTo>
                    <a:pt x="457200" y="1371600"/>
                  </a:lnTo>
                  <a:lnTo>
                    <a:pt x="342900" y="1371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8011" y="3039236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0" y="1371600"/>
                  </a:moveTo>
                  <a:lnTo>
                    <a:pt x="114300" y="137160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371600"/>
                  </a:lnTo>
                  <a:lnTo>
                    <a:pt x="457200" y="1371600"/>
                  </a:lnTo>
                  <a:lnTo>
                    <a:pt x="228600" y="160020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378" y="2310725"/>
            <a:ext cx="2174748" cy="27942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9185" y="5121024"/>
            <a:ext cx="3140582" cy="267893"/>
          </a:xfrm>
          <a:prstGeom prst="rect">
            <a:avLst/>
          </a:prstGeom>
        </p:spPr>
      </p:pic>
      <p:grpSp>
        <p:nvGrpSpPr>
          <p:cNvPr id="26" name="object 26">
            <a:extLst>
              <a:ext uri="{FF2B5EF4-FFF2-40B4-BE49-F238E27FC236}">
                <a16:creationId xmlns:a16="http://schemas.microsoft.com/office/drawing/2014/main" id="{F2088118-860D-6FF0-AD47-477671A77583}"/>
              </a:ext>
            </a:extLst>
          </p:cNvPr>
          <p:cNvGrpSpPr/>
          <p:nvPr/>
        </p:nvGrpSpPr>
        <p:grpSpPr>
          <a:xfrm>
            <a:off x="8431805" y="2796376"/>
            <a:ext cx="2411095" cy="1219200"/>
            <a:chOff x="7686675" y="3291459"/>
            <a:chExt cx="2411095" cy="1219200"/>
          </a:xfrm>
        </p:grpSpPr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2B61E7A7-7E89-4C5E-1325-79FBFB4C13B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1270" y="3595852"/>
              <a:ext cx="170041" cy="153568"/>
            </a:xfrm>
            <a:prstGeom prst="rect">
              <a:avLst/>
            </a:prstGeom>
          </p:spPr>
        </p:pic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B1629786-2370-884D-39D6-80F14C89AB8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6675" y="4078198"/>
              <a:ext cx="200545" cy="153568"/>
            </a:xfrm>
            <a:prstGeom prst="rect">
              <a:avLst/>
            </a:prstGeom>
          </p:spPr>
        </p:pic>
        <p:pic>
          <p:nvPicPr>
            <p:cNvPr id="29" name="object 29" descr="http://neuralnetworksanddeeplearning.com/images/tikz41.png">
              <a:extLst>
                <a:ext uri="{FF2B5EF4-FFF2-40B4-BE49-F238E27FC236}">
                  <a16:creationId xmlns:a16="http://schemas.microsoft.com/office/drawing/2014/main" id="{D01C3F57-8D0D-040D-6E5B-A7BC97BDCF1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4055" y="3291459"/>
              <a:ext cx="2283586" cy="12192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3FB8D49-5E03-4917-683C-B6A31753E5E1}"/>
              </a:ext>
            </a:extLst>
          </p:cNvPr>
          <p:cNvSpPr txBox="1"/>
          <p:nvPr/>
        </p:nvSpPr>
        <p:spPr>
          <a:xfrm>
            <a:off x="10864126" y="318673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</a:t>
            </a:r>
          </a:p>
        </p:txBody>
      </p:sp>
      <p:grpSp>
        <p:nvGrpSpPr>
          <p:cNvPr id="31" name="object 26">
            <a:extLst>
              <a:ext uri="{FF2B5EF4-FFF2-40B4-BE49-F238E27FC236}">
                <a16:creationId xmlns:a16="http://schemas.microsoft.com/office/drawing/2014/main" id="{0C8AC772-7150-66BA-867E-5664FDD5F9DF}"/>
              </a:ext>
            </a:extLst>
          </p:cNvPr>
          <p:cNvGrpSpPr/>
          <p:nvPr/>
        </p:nvGrpSpPr>
        <p:grpSpPr>
          <a:xfrm>
            <a:off x="8763000" y="5510540"/>
            <a:ext cx="2411095" cy="1219200"/>
            <a:chOff x="7686675" y="3291459"/>
            <a:chExt cx="2411095" cy="1219200"/>
          </a:xfrm>
        </p:grpSpPr>
        <p:pic>
          <p:nvPicPr>
            <p:cNvPr id="32" name="object 27">
              <a:extLst>
                <a:ext uri="{FF2B5EF4-FFF2-40B4-BE49-F238E27FC236}">
                  <a16:creationId xmlns:a16="http://schemas.microsoft.com/office/drawing/2014/main" id="{820214ED-FD14-917B-1E60-75ECA6B52F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1270" y="3595852"/>
              <a:ext cx="170041" cy="153568"/>
            </a:xfrm>
            <a:prstGeom prst="rect">
              <a:avLst/>
            </a:prstGeom>
          </p:spPr>
        </p:pic>
        <p:pic>
          <p:nvPicPr>
            <p:cNvPr id="33" name="object 28">
              <a:extLst>
                <a:ext uri="{FF2B5EF4-FFF2-40B4-BE49-F238E27FC236}">
                  <a16:creationId xmlns:a16="http://schemas.microsoft.com/office/drawing/2014/main" id="{9E5939D2-D867-EAF7-2860-9FD7A2F9E31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6675" y="4078198"/>
              <a:ext cx="200545" cy="153568"/>
            </a:xfrm>
            <a:prstGeom prst="rect">
              <a:avLst/>
            </a:prstGeom>
          </p:spPr>
        </p:pic>
        <p:pic>
          <p:nvPicPr>
            <p:cNvPr id="34" name="object 29" descr="http://neuralnetworksanddeeplearning.com/images/tikz41.png">
              <a:extLst>
                <a:ext uri="{FF2B5EF4-FFF2-40B4-BE49-F238E27FC236}">
                  <a16:creationId xmlns:a16="http://schemas.microsoft.com/office/drawing/2014/main" id="{B92B76DE-C9D0-6576-75D5-988B97AE2B1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4055" y="3291459"/>
              <a:ext cx="2283586" cy="1219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Actor-</a:t>
            </a:r>
            <a:r>
              <a:rPr spc="-80" dirty="0"/>
              <a:t>critic:</a:t>
            </a:r>
            <a:r>
              <a:rPr spc="-185" dirty="0"/>
              <a:t> </a:t>
            </a:r>
            <a:r>
              <a:rPr spc="-245" dirty="0"/>
              <a:t>value</a:t>
            </a:r>
            <a:r>
              <a:rPr spc="-180" dirty="0"/>
              <a:t> </a:t>
            </a:r>
            <a:r>
              <a:rPr spc="-145" dirty="0"/>
              <a:t>functions</a:t>
            </a:r>
            <a:r>
              <a:rPr spc="-180" dirty="0"/>
              <a:t> </a:t>
            </a:r>
            <a:r>
              <a:rPr spc="-390" dirty="0"/>
              <a:t>+</a:t>
            </a:r>
            <a:r>
              <a:rPr spc="-180" dirty="0"/>
              <a:t> </a:t>
            </a:r>
            <a:r>
              <a:rPr spc="-175" dirty="0"/>
              <a:t>policy</a:t>
            </a:r>
            <a:r>
              <a:rPr spc="-180" dirty="0"/>
              <a:t> </a:t>
            </a:r>
            <a:r>
              <a:rPr spc="-150" dirty="0"/>
              <a:t>gradients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57120" y="3261486"/>
            <a:ext cx="2146300" cy="1155700"/>
            <a:chOff x="2357120" y="3261486"/>
            <a:chExt cx="2146300" cy="1155700"/>
          </a:xfrm>
        </p:grpSpPr>
        <p:sp>
          <p:nvSpPr>
            <p:cNvPr id="4" name="object 4"/>
            <p:cNvSpPr/>
            <p:nvPr/>
          </p:nvSpPr>
          <p:spPr>
            <a:xfrm>
              <a:off x="2363470" y="3267836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1943100" y="0"/>
                  </a:moveTo>
                  <a:lnTo>
                    <a:pt x="190500" y="0"/>
                  </a:ln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27" y="996162"/>
                  </a:lnTo>
                  <a:lnTo>
                    <a:pt x="19349" y="1036253"/>
                  </a:lnTo>
                  <a:lnTo>
                    <a:pt x="41827" y="1071625"/>
                  </a:lnTo>
                  <a:lnTo>
                    <a:pt x="71321" y="1101132"/>
                  </a:lnTo>
                  <a:lnTo>
                    <a:pt x="106691" y="1123627"/>
                  </a:lnTo>
                  <a:lnTo>
                    <a:pt x="146797" y="1137965"/>
                  </a:lnTo>
                  <a:lnTo>
                    <a:pt x="190500" y="1143000"/>
                  </a:lnTo>
                  <a:lnTo>
                    <a:pt x="1943100" y="1143000"/>
                  </a:lnTo>
                  <a:lnTo>
                    <a:pt x="1986762" y="1137965"/>
                  </a:lnTo>
                  <a:lnTo>
                    <a:pt x="2026853" y="1123627"/>
                  </a:lnTo>
                  <a:lnTo>
                    <a:pt x="2062225" y="1101132"/>
                  </a:lnTo>
                  <a:lnTo>
                    <a:pt x="2091732" y="1071625"/>
                  </a:lnTo>
                  <a:lnTo>
                    <a:pt x="2114227" y="1036253"/>
                  </a:lnTo>
                  <a:lnTo>
                    <a:pt x="2128565" y="996162"/>
                  </a:lnTo>
                  <a:lnTo>
                    <a:pt x="2133600" y="952500"/>
                  </a:lnTo>
                  <a:lnTo>
                    <a:pt x="2133600" y="190500"/>
                  </a:lnTo>
                  <a:lnTo>
                    <a:pt x="2128565" y="146797"/>
                  </a:lnTo>
                  <a:lnTo>
                    <a:pt x="2114227" y="106691"/>
                  </a:lnTo>
                  <a:lnTo>
                    <a:pt x="2091732" y="71321"/>
                  </a:lnTo>
                  <a:lnTo>
                    <a:pt x="2062225" y="41827"/>
                  </a:lnTo>
                  <a:lnTo>
                    <a:pt x="2026853" y="19349"/>
                  </a:lnTo>
                  <a:lnTo>
                    <a:pt x="1986762" y="5027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3470" y="3267836"/>
              <a:ext cx="2133600" cy="1143000"/>
            </a:xfrm>
            <a:custGeom>
              <a:avLst/>
              <a:gdLst/>
              <a:ahLst/>
              <a:cxnLst/>
              <a:rect l="l" t="t" r="r" b="b"/>
              <a:pathLst>
                <a:path w="2133600" h="1143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1943100" y="0"/>
                  </a:lnTo>
                  <a:lnTo>
                    <a:pt x="1986762" y="5027"/>
                  </a:lnTo>
                  <a:lnTo>
                    <a:pt x="2026853" y="19349"/>
                  </a:lnTo>
                  <a:lnTo>
                    <a:pt x="2062225" y="41827"/>
                  </a:lnTo>
                  <a:lnTo>
                    <a:pt x="2091732" y="71321"/>
                  </a:lnTo>
                  <a:lnTo>
                    <a:pt x="2114227" y="106691"/>
                  </a:lnTo>
                  <a:lnTo>
                    <a:pt x="2128565" y="146797"/>
                  </a:lnTo>
                  <a:lnTo>
                    <a:pt x="2133600" y="190500"/>
                  </a:lnTo>
                  <a:lnTo>
                    <a:pt x="2133600" y="952500"/>
                  </a:lnTo>
                  <a:lnTo>
                    <a:pt x="2128565" y="996162"/>
                  </a:lnTo>
                  <a:lnTo>
                    <a:pt x="2114227" y="1036253"/>
                  </a:lnTo>
                  <a:lnTo>
                    <a:pt x="2091732" y="1071625"/>
                  </a:lnTo>
                  <a:lnTo>
                    <a:pt x="2062225" y="1101132"/>
                  </a:lnTo>
                  <a:lnTo>
                    <a:pt x="2026853" y="1123627"/>
                  </a:lnTo>
                  <a:lnTo>
                    <a:pt x="1986762" y="1137965"/>
                  </a:lnTo>
                  <a:lnTo>
                    <a:pt x="1943100" y="1143000"/>
                  </a:lnTo>
                  <a:lnTo>
                    <a:pt x="190500" y="1143000"/>
                  </a:lnTo>
                  <a:lnTo>
                    <a:pt x="146797" y="1137965"/>
                  </a:lnTo>
                  <a:lnTo>
                    <a:pt x="106691" y="1123627"/>
                  </a:lnTo>
                  <a:lnTo>
                    <a:pt x="71321" y="1101132"/>
                  </a:lnTo>
                  <a:lnTo>
                    <a:pt x="41827" y="1071625"/>
                  </a:lnTo>
                  <a:lnTo>
                    <a:pt x="19349" y="1036253"/>
                  </a:lnTo>
                  <a:lnTo>
                    <a:pt x="5027" y="996162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41523" y="3537966"/>
            <a:ext cx="1778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samples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(i.e.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run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policy)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19520" y="1813686"/>
            <a:ext cx="2146300" cy="1079500"/>
            <a:chOff x="6319520" y="1813686"/>
            <a:chExt cx="2146300" cy="1079500"/>
          </a:xfrm>
        </p:grpSpPr>
        <p:sp>
          <p:nvSpPr>
            <p:cNvPr id="8" name="object 8"/>
            <p:cNvSpPr/>
            <p:nvPr/>
          </p:nvSpPr>
          <p:spPr>
            <a:xfrm>
              <a:off x="6325870" y="18200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800" y="0"/>
                  </a:moveTo>
                  <a:lnTo>
                    <a:pt x="177800" y="0"/>
                  </a:lnTo>
                  <a:lnTo>
                    <a:pt x="130542" y="6344"/>
                  </a:lnTo>
                  <a:lnTo>
                    <a:pt x="88072" y="24252"/>
                  </a:lnTo>
                  <a:lnTo>
                    <a:pt x="52085" y="52038"/>
                  </a:lnTo>
                  <a:lnTo>
                    <a:pt x="24280" y="88015"/>
                  </a:lnTo>
                  <a:lnTo>
                    <a:pt x="6352" y="130498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1955800" y="1066800"/>
                  </a:lnTo>
                  <a:lnTo>
                    <a:pt x="2003057" y="1060447"/>
                  </a:lnTo>
                  <a:lnTo>
                    <a:pt x="2045527" y="1042519"/>
                  </a:lnTo>
                  <a:lnTo>
                    <a:pt x="2081514" y="1014714"/>
                  </a:lnTo>
                  <a:lnTo>
                    <a:pt x="2109319" y="978727"/>
                  </a:lnTo>
                  <a:lnTo>
                    <a:pt x="2127247" y="936257"/>
                  </a:lnTo>
                  <a:lnTo>
                    <a:pt x="2133600" y="889000"/>
                  </a:lnTo>
                  <a:lnTo>
                    <a:pt x="2133600" y="177800"/>
                  </a:lnTo>
                  <a:lnTo>
                    <a:pt x="2127247" y="130498"/>
                  </a:lnTo>
                  <a:lnTo>
                    <a:pt x="2109319" y="88015"/>
                  </a:lnTo>
                  <a:lnTo>
                    <a:pt x="2081514" y="52038"/>
                  </a:lnTo>
                  <a:lnTo>
                    <a:pt x="2045527" y="24252"/>
                  </a:lnTo>
                  <a:lnTo>
                    <a:pt x="2003057" y="6344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5870" y="18200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498"/>
                  </a:lnTo>
                  <a:lnTo>
                    <a:pt x="24280" y="88015"/>
                  </a:lnTo>
                  <a:lnTo>
                    <a:pt x="52085" y="52038"/>
                  </a:lnTo>
                  <a:lnTo>
                    <a:pt x="88072" y="24252"/>
                  </a:lnTo>
                  <a:lnTo>
                    <a:pt x="130542" y="6344"/>
                  </a:lnTo>
                  <a:lnTo>
                    <a:pt x="177800" y="0"/>
                  </a:lnTo>
                  <a:lnTo>
                    <a:pt x="1955800" y="0"/>
                  </a:lnTo>
                  <a:lnTo>
                    <a:pt x="2003057" y="6344"/>
                  </a:lnTo>
                  <a:lnTo>
                    <a:pt x="2045527" y="24252"/>
                  </a:lnTo>
                  <a:lnTo>
                    <a:pt x="2081514" y="52038"/>
                  </a:lnTo>
                  <a:lnTo>
                    <a:pt x="2109319" y="88015"/>
                  </a:lnTo>
                  <a:lnTo>
                    <a:pt x="2127247" y="130498"/>
                  </a:lnTo>
                  <a:lnTo>
                    <a:pt x="2133600" y="177800"/>
                  </a:lnTo>
                  <a:lnTo>
                    <a:pt x="2133600" y="889000"/>
                  </a:lnTo>
                  <a:lnTo>
                    <a:pt x="2127247" y="936257"/>
                  </a:lnTo>
                  <a:lnTo>
                    <a:pt x="2109319" y="978727"/>
                  </a:lnTo>
                  <a:lnTo>
                    <a:pt x="2081514" y="1014714"/>
                  </a:lnTo>
                  <a:lnTo>
                    <a:pt x="2045527" y="1042519"/>
                  </a:lnTo>
                  <a:lnTo>
                    <a:pt x="2003057" y="1060447"/>
                  </a:lnTo>
                  <a:lnTo>
                    <a:pt x="1955800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75857" y="2051684"/>
            <a:ext cx="1833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814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fit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model/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estimate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return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9520" y="4785486"/>
            <a:ext cx="2146300" cy="1079500"/>
            <a:chOff x="6319520" y="4785486"/>
            <a:chExt cx="2146300" cy="1079500"/>
          </a:xfrm>
        </p:grpSpPr>
        <p:sp>
          <p:nvSpPr>
            <p:cNvPr id="12" name="object 12"/>
            <p:cNvSpPr/>
            <p:nvPr/>
          </p:nvSpPr>
          <p:spPr>
            <a:xfrm>
              <a:off x="6325870" y="47918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1955800" y="0"/>
                  </a:moveTo>
                  <a:lnTo>
                    <a:pt x="177800" y="0"/>
                  </a:lnTo>
                  <a:lnTo>
                    <a:pt x="130542" y="6344"/>
                  </a:lnTo>
                  <a:lnTo>
                    <a:pt x="88072" y="24252"/>
                  </a:lnTo>
                  <a:lnTo>
                    <a:pt x="52085" y="52038"/>
                  </a:lnTo>
                  <a:lnTo>
                    <a:pt x="24280" y="88015"/>
                  </a:lnTo>
                  <a:lnTo>
                    <a:pt x="6352" y="130498"/>
                  </a:lnTo>
                  <a:lnTo>
                    <a:pt x="0" y="177800"/>
                  </a:lnTo>
                  <a:lnTo>
                    <a:pt x="0" y="888936"/>
                  </a:lnTo>
                  <a:lnTo>
                    <a:pt x="6352" y="936208"/>
                  </a:lnTo>
                  <a:lnTo>
                    <a:pt x="24280" y="978684"/>
                  </a:lnTo>
                  <a:lnTo>
                    <a:pt x="52085" y="1014671"/>
                  </a:lnTo>
                  <a:lnTo>
                    <a:pt x="88072" y="1042473"/>
                  </a:lnTo>
                  <a:lnTo>
                    <a:pt x="130542" y="1060397"/>
                  </a:lnTo>
                  <a:lnTo>
                    <a:pt x="177800" y="1066749"/>
                  </a:lnTo>
                  <a:lnTo>
                    <a:pt x="1955800" y="1066749"/>
                  </a:lnTo>
                  <a:lnTo>
                    <a:pt x="2003057" y="1060397"/>
                  </a:lnTo>
                  <a:lnTo>
                    <a:pt x="2045527" y="1042473"/>
                  </a:lnTo>
                  <a:lnTo>
                    <a:pt x="2081514" y="1014671"/>
                  </a:lnTo>
                  <a:lnTo>
                    <a:pt x="2109319" y="978684"/>
                  </a:lnTo>
                  <a:lnTo>
                    <a:pt x="2127247" y="936208"/>
                  </a:lnTo>
                  <a:lnTo>
                    <a:pt x="2133600" y="888936"/>
                  </a:lnTo>
                  <a:lnTo>
                    <a:pt x="2133600" y="177800"/>
                  </a:lnTo>
                  <a:lnTo>
                    <a:pt x="2127247" y="130498"/>
                  </a:lnTo>
                  <a:lnTo>
                    <a:pt x="2109319" y="88015"/>
                  </a:lnTo>
                  <a:lnTo>
                    <a:pt x="2081514" y="52038"/>
                  </a:lnTo>
                  <a:lnTo>
                    <a:pt x="2045527" y="24252"/>
                  </a:lnTo>
                  <a:lnTo>
                    <a:pt x="2003057" y="6344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5870" y="4791836"/>
              <a:ext cx="2133600" cy="1066800"/>
            </a:xfrm>
            <a:custGeom>
              <a:avLst/>
              <a:gdLst/>
              <a:ahLst/>
              <a:cxnLst/>
              <a:rect l="l" t="t" r="r" b="b"/>
              <a:pathLst>
                <a:path w="2133600" h="1066800">
                  <a:moveTo>
                    <a:pt x="0" y="177800"/>
                  </a:moveTo>
                  <a:lnTo>
                    <a:pt x="6352" y="130498"/>
                  </a:lnTo>
                  <a:lnTo>
                    <a:pt x="24280" y="88015"/>
                  </a:lnTo>
                  <a:lnTo>
                    <a:pt x="52085" y="52038"/>
                  </a:lnTo>
                  <a:lnTo>
                    <a:pt x="88072" y="24252"/>
                  </a:lnTo>
                  <a:lnTo>
                    <a:pt x="130542" y="6344"/>
                  </a:lnTo>
                  <a:lnTo>
                    <a:pt x="177800" y="0"/>
                  </a:lnTo>
                  <a:lnTo>
                    <a:pt x="1955800" y="0"/>
                  </a:lnTo>
                  <a:lnTo>
                    <a:pt x="2003057" y="6344"/>
                  </a:lnTo>
                  <a:lnTo>
                    <a:pt x="2045527" y="24252"/>
                  </a:lnTo>
                  <a:lnTo>
                    <a:pt x="2081514" y="52038"/>
                  </a:lnTo>
                  <a:lnTo>
                    <a:pt x="2109319" y="88015"/>
                  </a:lnTo>
                  <a:lnTo>
                    <a:pt x="2127247" y="130498"/>
                  </a:lnTo>
                  <a:lnTo>
                    <a:pt x="2133600" y="177800"/>
                  </a:lnTo>
                  <a:lnTo>
                    <a:pt x="2133600" y="888936"/>
                  </a:lnTo>
                  <a:lnTo>
                    <a:pt x="2127247" y="936208"/>
                  </a:lnTo>
                  <a:lnTo>
                    <a:pt x="2109319" y="978684"/>
                  </a:lnTo>
                  <a:lnTo>
                    <a:pt x="2081514" y="1014671"/>
                  </a:lnTo>
                  <a:lnTo>
                    <a:pt x="2045527" y="1042473"/>
                  </a:lnTo>
                  <a:lnTo>
                    <a:pt x="2003057" y="1060397"/>
                  </a:lnTo>
                  <a:lnTo>
                    <a:pt x="1955800" y="1066749"/>
                  </a:lnTo>
                  <a:lnTo>
                    <a:pt x="177800" y="1066749"/>
                  </a:lnTo>
                  <a:lnTo>
                    <a:pt x="130542" y="1060397"/>
                  </a:lnTo>
                  <a:lnTo>
                    <a:pt x="88072" y="1042473"/>
                  </a:lnTo>
                  <a:lnTo>
                    <a:pt x="52085" y="1014671"/>
                  </a:lnTo>
                  <a:lnTo>
                    <a:pt x="24280" y="978684"/>
                  </a:lnTo>
                  <a:lnTo>
                    <a:pt x="6352" y="936208"/>
                  </a:lnTo>
                  <a:lnTo>
                    <a:pt x="0" y="888936"/>
                  </a:lnTo>
                  <a:lnTo>
                    <a:pt x="0" y="177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17005" y="5161279"/>
            <a:ext cx="175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04920" y="2118486"/>
            <a:ext cx="2374900" cy="1003300"/>
            <a:chOff x="3804920" y="2118486"/>
            <a:chExt cx="2374900" cy="1003300"/>
          </a:xfrm>
        </p:grpSpPr>
        <p:sp>
          <p:nvSpPr>
            <p:cNvPr id="16" name="object 16"/>
            <p:cNvSpPr/>
            <p:nvPr/>
          </p:nvSpPr>
          <p:spPr>
            <a:xfrm>
              <a:off x="3811270" y="212483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14550" y="0"/>
                  </a:moveTo>
                  <a:lnTo>
                    <a:pt x="2114550" y="123825"/>
                  </a:lnTo>
                  <a:lnTo>
                    <a:pt x="433324" y="123825"/>
                  </a:lnTo>
                  <a:lnTo>
                    <a:pt x="386117" y="126366"/>
                  </a:lnTo>
                  <a:lnTo>
                    <a:pt x="340380" y="133815"/>
                  </a:lnTo>
                  <a:lnTo>
                    <a:pt x="296379" y="145908"/>
                  </a:lnTo>
                  <a:lnTo>
                    <a:pt x="254377" y="162381"/>
                  </a:lnTo>
                  <a:lnTo>
                    <a:pt x="214639" y="182969"/>
                  </a:lnTo>
                  <a:lnTo>
                    <a:pt x="177430" y="207409"/>
                  </a:lnTo>
                  <a:lnTo>
                    <a:pt x="143014" y="235437"/>
                  </a:lnTo>
                  <a:lnTo>
                    <a:pt x="111656" y="266788"/>
                  </a:lnTo>
                  <a:lnTo>
                    <a:pt x="83620" y="301200"/>
                  </a:lnTo>
                  <a:lnTo>
                    <a:pt x="59172" y="338407"/>
                  </a:lnTo>
                  <a:lnTo>
                    <a:pt x="38576" y="378147"/>
                  </a:lnTo>
                  <a:lnTo>
                    <a:pt x="22095" y="420155"/>
                  </a:lnTo>
                  <a:lnTo>
                    <a:pt x="9996" y="464167"/>
                  </a:lnTo>
                  <a:lnTo>
                    <a:pt x="2543" y="509920"/>
                  </a:lnTo>
                  <a:lnTo>
                    <a:pt x="0" y="557149"/>
                  </a:lnTo>
                  <a:lnTo>
                    <a:pt x="0" y="990600"/>
                  </a:lnTo>
                  <a:lnTo>
                    <a:pt x="247650" y="990600"/>
                  </a:lnTo>
                  <a:lnTo>
                    <a:pt x="247650" y="557149"/>
                  </a:lnTo>
                  <a:lnTo>
                    <a:pt x="254286" y="507764"/>
                  </a:lnTo>
                  <a:lnTo>
                    <a:pt x="273012" y="463404"/>
                  </a:lnTo>
                  <a:lnTo>
                    <a:pt x="302053" y="425831"/>
                  </a:lnTo>
                  <a:lnTo>
                    <a:pt x="339635" y="396809"/>
                  </a:lnTo>
                  <a:lnTo>
                    <a:pt x="383983" y="378102"/>
                  </a:lnTo>
                  <a:lnTo>
                    <a:pt x="433324" y="371475"/>
                  </a:lnTo>
                  <a:lnTo>
                    <a:pt x="2114550" y="371475"/>
                  </a:lnTo>
                  <a:lnTo>
                    <a:pt x="2114550" y="495300"/>
                  </a:lnTo>
                  <a:lnTo>
                    <a:pt x="2362200" y="247650"/>
                  </a:lnTo>
                  <a:lnTo>
                    <a:pt x="21145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1270" y="212483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0" y="990600"/>
                  </a:moveTo>
                  <a:lnTo>
                    <a:pt x="0" y="557149"/>
                  </a:lnTo>
                  <a:lnTo>
                    <a:pt x="2543" y="509920"/>
                  </a:lnTo>
                  <a:lnTo>
                    <a:pt x="9996" y="464167"/>
                  </a:lnTo>
                  <a:lnTo>
                    <a:pt x="22095" y="420155"/>
                  </a:lnTo>
                  <a:lnTo>
                    <a:pt x="38576" y="378147"/>
                  </a:lnTo>
                  <a:lnTo>
                    <a:pt x="59172" y="338407"/>
                  </a:lnTo>
                  <a:lnTo>
                    <a:pt x="83620" y="301200"/>
                  </a:lnTo>
                  <a:lnTo>
                    <a:pt x="111656" y="266788"/>
                  </a:lnTo>
                  <a:lnTo>
                    <a:pt x="143014" y="235437"/>
                  </a:lnTo>
                  <a:lnTo>
                    <a:pt x="177430" y="207409"/>
                  </a:lnTo>
                  <a:lnTo>
                    <a:pt x="214639" y="182969"/>
                  </a:lnTo>
                  <a:lnTo>
                    <a:pt x="254377" y="162381"/>
                  </a:lnTo>
                  <a:lnTo>
                    <a:pt x="296379" y="145908"/>
                  </a:lnTo>
                  <a:lnTo>
                    <a:pt x="340380" y="133815"/>
                  </a:lnTo>
                  <a:lnTo>
                    <a:pt x="386117" y="126366"/>
                  </a:lnTo>
                  <a:lnTo>
                    <a:pt x="433324" y="123825"/>
                  </a:lnTo>
                  <a:lnTo>
                    <a:pt x="2114550" y="123825"/>
                  </a:lnTo>
                  <a:lnTo>
                    <a:pt x="2114550" y="0"/>
                  </a:lnTo>
                  <a:lnTo>
                    <a:pt x="2362200" y="247650"/>
                  </a:lnTo>
                  <a:lnTo>
                    <a:pt x="2114550" y="495300"/>
                  </a:lnTo>
                  <a:lnTo>
                    <a:pt x="2114550" y="371475"/>
                  </a:lnTo>
                  <a:lnTo>
                    <a:pt x="433324" y="371475"/>
                  </a:lnTo>
                  <a:lnTo>
                    <a:pt x="383983" y="378102"/>
                  </a:lnTo>
                  <a:lnTo>
                    <a:pt x="339635" y="396809"/>
                  </a:lnTo>
                  <a:lnTo>
                    <a:pt x="302053" y="425831"/>
                  </a:lnTo>
                  <a:lnTo>
                    <a:pt x="273012" y="463404"/>
                  </a:lnTo>
                  <a:lnTo>
                    <a:pt x="254286" y="507764"/>
                  </a:lnTo>
                  <a:lnTo>
                    <a:pt x="247650" y="557149"/>
                  </a:lnTo>
                  <a:lnTo>
                    <a:pt x="247650" y="990600"/>
                  </a:lnTo>
                  <a:lnTo>
                    <a:pt x="0" y="990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652520" y="4556886"/>
            <a:ext cx="2527300" cy="927100"/>
            <a:chOff x="3652520" y="4556886"/>
            <a:chExt cx="2527300" cy="927100"/>
          </a:xfrm>
        </p:grpSpPr>
        <p:sp>
          <p:nvSpPr>
            <p:cNvPr id="19" name="object 19"/>
            <p:cNvSpPr/>
            <p:nvPr/>
          </p:nvSpPr>
          <p:spPr>
            <a:xfrm>
              <a:off x="3658870" y="4563236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8600" y="0"/>
                  </a:moveTo>
                  <a:lnTo>
                    <a:pt x="0" y="228600"/>
                  </a:lnTo>
                  <a:lnTo>
                    <a:pt x="114300" y="228600"/>
                  </a:lnTo>
                  <a:lnTo>
                    <a:pt x="114300" y="514350"/>
                  </a:lnTo>
                  <a:lnTo>
                    <a:pt x="116990" y="560987"/>
                  </a:lnTo>
                  <a:lnTo>
                    <a:pt x="124863" y="606049"/>
                  </a:lnTo>
                  <a:lnTo>
                    <a:pt x="137618" y="649235"/>
                  </a:lnTo>
                  <a:lnTo>
                    <a:pt x="154954" y="690243"/>
                  </a:lnTo>
                  <a:lnTo>
                    <a:pt x="176573" y="728772"/>
                  </a:lnTo>
                  <a:lnTo>
                    <a:pt x="202174" y="764523"/>
                  </a:lnTo>
                  <a:lnTo>
                    <a:pt x="231457" y="797194"/>
                  </a:lnTo>
                  <a:lnTo>
                    <a:pt x="264122" y="826485"/>
                  </a:lnTo>
                  <a:lnTo>
                    <a:pt x="299870" y="852095"/>
                  </a:lnTo>
                  <a:lnTo>
                    <a:pt x="338401" y="873722"/>
                  </a:lnTo>
                  <a:lnTo>
                    <a:pt x="379414" y="891068"/>
                  </a:lnTo>
                  <a:lnTo>
                    <a:pt x="422610" y="903829"/>
                  </a:lnTo>
                  <a:lnTo>
                    <a:pt x="467688" y="911707"/>
                  </a:lnTo>
                  <a:lnTo>
                    <a:pt x="514350" y="914400"/>
                  </a:lnTo>
                  <a:lnTo>
                    <a:pt x="2514600" y="914400"/>
                  </a:lnTo>
                  <a:lnTo>
                    <a:pt x="2514600" y="685800"/>
                  </a:lnTo>
                  <a:lnTo>
                    <a:pt x="514350" y="685800"/>
                  </a:lnTo>
                  <a:lnTo>
                    <a:pt x="468753" y="679670"/>
                  </a:lnTo>
                  <a:lnTo>
                    <a:pt x="427792" y="662375"/>
                  </a:lnTo>
                  <a:lnTo>
                    <a:pt x="393096" y="635555"/>
                  </a:lnTo>
                  <a:lnTo>
                    <a:pt x="366296" y="600851"/>
                  </a:lnTo>
                  <a:lnTo>
                    <a:pt x="349020" y="559902"/>
                  </a:lnTo>
                  <a:lnTo>
                    <a:pt x="342900" y="514350"/>
                  </a:lnTo>
                  <a:lnTo>
                    <a:pt x="342900" y="228600"/>
                  </a:lnTo>
                  <a:lnTo>
                    <a:pt x="4572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8870" y="4563236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514600" y="914400"/>
                  </a:moveTo>
                  <a:lnTo>
                    <a:pt x="514350" y="914400"/>
                  </a:lnTo>
                  <a:lnTo>
                    <a:pt x="467688" y="911707"/>
                  </a:lnTo>
                  <a:lnTo>
                    <a:pt x="422610" y="903829"/>
                  </a:lnTo>
                  <a:lnTo>
                    <a:pt x="379414" y="891068"/>
                  </a:lnTo>
                  <a:lnTo>
                    <a:pt x="338401" y="873722"/>
                  </a:lnTo>
                  <a:lnTo>
                    <a:pt x="299870" y="852095"/>
                  </a:lnTo>
                  <a:lnTo>
                    <a:pt x="264122" y="826485"/>
                  </a:lnTo>
                  <a:lnTo>
                    <a:pt x="231457" y="797194"/>
                  </a:lnTo>
                  <a:lnTo>
                    <a:pt x="202174" y="764523"/>
                  </a:lnTo>
                  <a:lnTo>
                    <a:pt x="176573" y="728772"/>
                  </a:lnTo>
                  <a:lnTo>
                    <a:pt x="154954" y="690243"/>
                  </a:lnTo>
                  <a:lnTo>
                    <a:pt x="137618" y="649235"/>
                  </a:lnTo>
                  <a:lnTo>
                    <a:pt x="124863" y="606049"/>
                  </a:lnTo>
                  <a:lnTo>
                    <a:pt x="116990" y="560987"/>
                  </a:lnTo>
                  <a:lnTo>
                    <a:pt x="114300" y="514350"/>
                  </a:lnTo>
                  <a:lnTo>
                    <a:pt x="114300" y="228600"/>
                  </a:lnTo>
                  <a:lnTo>
                    <a:pt x="0" y="228600"/>
                  </a:lnTo>
                  <a:lnTo>
                    <a:pt x="228600" y="0"/>
                  </a:lnTo>
                  <a:lnTo>
                    <a:pt x="457200" y="228600"/>
                  </a:lnTo>
                  <a:lnTo>
                    <a:pt x="342900" y="228600"/>
                  </a:lnTo>
                  <a:lnTo>
                    <a:pt x="342900" y="514350"/>
                  </a:lnTo>
                  <a:lnTo>
                    <a:pt x="349020" y="559902"/>
                  </a:lnTo>
                  <a:lnTo>
                    <a:pt x="366296" y="600851"/>
                  </a:lnTo>
                  <a:lnTo>
                    <a:pt x="393096" y="635555"/>
                  </a:lnTo>
                  <a:lnTo>
                    <a:pt x="427792" y="662375"/>
                  </a:lnTo>
                  <a:lnTo>
                    <a:pt x="468753" y="679670"/>
                  </a:lnTo>
                  <a:lnTo>
                    <a:pt x="514350" y="685800"/>
                  </a:lnTo>
                  <a:lnTo>
                    <a:pt x="2514600" y="685800"/>
                  </a:lnTo>
                  <a:lnTo>
                    <a:pt x="2514600" y="9144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201661" y="3032886"/>
            <a:ext cx="469900" cy="1612900"/>
            <a:chOff x="7201661" y="3032886"/>
            <a:chExt cx="469900" cy="1612900"/>
          </a:xfrm>
        </p:grpSpPr>
        <p:sp>
          <p:nvSpPr>
            <p:cNvPr id="22" name="object 22"/>
            <p:cNvSpPr/>
            <p:nvPr/>
          </p:nvSpPr>
          <p:spPr>
            <a:xfrm>
              <a:off x="7208011" y="3039236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342900" y="0"/>
                  </a:moveTo>
                  <a:lnTo>
                    <a:pt x="114300" y="0"/>
                  </a:lnTo>
                  <a:lnTo>
                    <a:pt x="114300" y="1371600"/>
                  </a:lnTo>
                  <a:lnTo>
                    <a:pt x="0" y="1371600"/>
                  </a:lnTo>
                  <a:lnTo>
                    <a:pt x="228600" y="1600200"/>
                  </a:lnTo>
                  <a:lnTo>
                    <a:pt x="457200" y="1371600"/>
                  </a:lnTo>
                  <a:lnTo>
                    <a:pt x="342900" y="1371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8011" y="3039236"/>
              <a:ext cx="457200" cy="1600200"/>
            </a:xfrm>
            <a:custGeom>
              <a:avLst/>
              <a:gdLst/>
              <a:ahLst/>
              <a:cxnLst/>
              <a:rect l="l" t="t" r="r" b="b"/>
              <a:pathLst>
                <a:path w="457200" h="1600200">
                  <a:moveTo>
                    <a:pt x="0" y="1371600"/>
                  </a:moveTo>
                  <a:lnTo>
                    <a:pt x="114300" y="137160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1371600"/>
                  </a:lnTo>
                  <a:lnTo>
                    <a:pt x="457200" y="1371600"/>
                  </a:lnTo>
                  <a:lnTo>
                    <a:pt x="228600" y="160020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8878" y="5213070"/>
            <a:ext cx="2811399" cy="26456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8878" y="2213711"/>
            <a:ext cx="2174748" cy="2794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113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40" dirty="0"/>
              <a:t>Example</a:t>
            </a:r>
            <a:r>
              <a:rPr spc="-229" dirty="0"/>
              <a:t> </a:t>
            </a:r>
            <a:r>
              <a:rPr spc="-155" dirty="0"/>
              <a:t>1:</a:t>
            </a:r>
            <a:r>
              <a:rPr spc="-245" dirty="0"/>
              <a:t> </a:t>
            </a:r>
            <a:r>
              <a:rPr spc="-155" dirty="0"/>
              <a:t>Atari</a:t>
            </a:r>
            <a:r>
              <a:rPr spc="-245" dirty="0"/>
              <a:t> </a:t>
            </a:r>
            <a:r>
              <a:rPr spc="-380" dirty="0"/>
              <a:t>games</a:t>
            </a:r>
            <a:r>
              <a:rPr spc="-245" dirty="0"/>
              <a:t> </a:t>
            </a:r>
            <a:r>
              <a:rPr dirty="0"/>
              <a:t>with</a:t>
            </a:r>
            <a:r>
              <a:rPr spc="-225" dirty="0"/>
              <a:t> </a:t>
            </a:r>
            <a:r>
              <a:rPr spc="-335" dirty="0"/>
              <a:t>Q-</a:t>
            </a:r>
            <a:r>
              <a:rPr spc="-85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1742" y="2137905"/>
            <a:ext cx="6611873" cy="37191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7191" y="2105913"/>
            <a:ext cx="3656329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5080" indent="-227329" algn="just">
              <a:lnSpc>
                <a:spcPts val="3020"/>
              </a:lnSpc>
              <a:spcBef>
                <a:spcPts val="480"/>
              </a:spcBef>
              <a:buChar char="•"/>
              <a:tabLst>
                <a:tab pos="240665" algn="l"/>
              </a:tabLst>
            </a:pPr>
            <a:r>
              <a:rPr sz="2800" spc="-195" dirty="0">
                <a:latin typeface="Arial"/>
                <a:cs typeface="Arial"/>
              </a:rPr>
              <a:t>Playing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Atari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deep 	</a:t>
            </a:r>
            <a:r>
              <a:rPr sz="2800" spc="-85" dirty="0">
                <a:latin typeface="Arial"/>
                <a:cs typeface="Arial"/>
              </a:rPr>
              <a:t>reinforcement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learning, 	</a:t>
            </a:r>
            <a:r>
              <a:rPr sz="2800" spc="-25" dirty="0">
                <a:latin typeface="Arial"/>
                <a:cs typeface="Arial"/>
              </a:rPr>
              <a:t>Mnih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et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al.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‘13</a:t>
            </a:r>
            <a:endParaRPr sz="2800">
              <a:latin typeface="Arial"/>
              <a:cs typeface="Arial"/>
            </a:endParaRPr>
          </a:p>
          <a:p>
            <a:pPr marL="239395" marR="454659" indent="-227329">
              <a:lnSpc>
                <a:spcPts val="3020"/>
              </a:lnSpc>
              <a:spcBef>
                <a:spcPts val="1019"/>
              </a:spcBef>
              <a:buChar char="•"/>
              <a:tabLst>
                <a:tab pos="240665" algn="l"/>
              </a:tabLst>
            </a:pPr>
            <a:r>
              <a:rPr sz="2800" spc="-204" dirty="0">
                <a:latin typeface="Arial"/>
                <a:cs typeface="Arial"/>
              </a:rPr>
              <a:t>Q-</a:t>
            </a:r>
            <a:r>
              <a:rPr sz="2800" spc="-110" dirty="0">
                <a:latin typeface="Arial"/>
                <a:cs typeface="Arial"/>
              </a:rPr>
              <a:t>learning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with 	</a:t>
            </a:r>
            <a:r>
              <a:rPr sz="2800" spc="-90" dirty="0">
                <a:latin typeface="Arial"/>
                <a:cs typeface="Arial"/>
              </a:rPr>
              <a:t>convolutional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neural 	</a:t>
            </a:r>
            <a:r>
              <a:rPr sz="2800" spc="-10" dirty="0">
                <a:latin typeface="Arial"/>
                <a:cs typeface="Arial"/>
              </a:rPr>
              <a:t>networks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</TotalTime>
  <Words>989</Words>
  <Application>Microsoft Macintosh PowerPoint</Application>
  <PresentationFormat>Widescreen</PresentationFormat>
  <Paragraphs>162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Palatino</vt:lpstr>
      <vt:lpstr>Times New Roman</vt:lpstr>
      <vt:lpstr>Office Theme</vt:lpstr>
      <vt:lpstr>PowerPoint Presentation</vt:lpstr>
      <vt:lpstr>data</vt:lpstr>
      <vt:lpstr>What are some recent advances we’ve seen in AI?</vt:lpstr>
      <vt:lpstr>Reinforcement learning can discover new solutions</vt:lpstr>
      <vt:lpstr>What is reinforcement learning?</vt:lpstr>
      <vt:lpstr>How is this different from other machine learning topics?</vt:lpstr>
      <vt:lpstr>What is reinforcement learning?</vt:lpstr>
      <vt:lpstr>decisions (actions)</vt:lpstr>
      <vt:lpstr>Really really complex physical tasks!</vt:lpstr>
      <vt:lpstr>Reinforcement learning with language models</vt:lpstr>
      <vt:lpstr>Part 3: Why learn about reinforcement learning?</vt:lpstr>
      <vt:lpstr>Reinforcement learning can discover new solutions</vt:lpstr>
      <vt:lpstr>So where does that leave us?</vt:lpstr>
      <vt:lpstr>A bitter but misunderstood lesson</vt:lpstr>
      <vt:lpstr>How do we build intelligent machines?</vt:lpstr>
      <vt:lpstr>Learning as the basis of intelligence</vt:lpstr>
      <vt:lpstr>What must that single algorithm do?</vt:lpstr>
      <vt:lpstr>Why deep reinforcement learning?</vt:lpstr>
      <vt:lpstr>Instead program</vt:lpstr>
      <vt:lpstr>Part 1: The Markov decision process</vt:lpstr>
      <vt:lpstr>PowerPoint Presentation</vt:lpstr>
      <vt:lpstr>PowerPoint Presentation</vt:lpstr>
      <vt:lpstr>Basic definition: Markov chain The most basic probabilistic model of a dynamical system No actions yet, only states</vt:lpstr>
      <vt:lpstr>Basic definition: Markov decision process</vt:lpstr>
      <vt:lpstr>Part 2: Defining the objective</vt:lpstr>
      <vt:lpstr>The objective of RL</vt:lpstr>
      <vt:lpstr>Expectations and stochastic systems</vt:lpstr>
      <vt:lpstr>Part 3: Anatomy of an RL algorithm</vt:lpstr>
      <vt:lpstr>The anatomy of a reinforcement learning algorithm</vt:lpstr>
      <vt:lpstr>Value function based algorithms</vt:lpstr>
      <vt:lpstr>Actor-critic: value functions + policy gradients</vt:lpstr>
      <vt:lpstr>Example 1: Atari games with Q-functions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svlevine</dc:creator>
  <cp:lastModifiedBy>Yu, Dantong</cp:lastModifiedBy>
  <cp:revision>6</cp:revision>
  <dcterms:created xsi:type="dcterms:W3CDTF">2026-07-24T03:51:54Z</dcterms:created>
  <dcterms:modified xsi:type="dcterms:W3CDTF">2026-07-24T12:43:36Z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2026-07-24T00:00:00Z</vt:filetime>
  </property>
  <property fmtid="{D5CDD505-2E9C-101B-9397-08002B2CF9AE}" pid="5" name="Producer">
    <vt:lpwstr>Microsoft® PowerPoint® for Microsoft 365</vt:lpwstr>
  </property>
</Properties>
</file>