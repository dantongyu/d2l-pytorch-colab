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363" r:id="rId2"/>
    <p:sldId id="366" r:id="rId3"/>
    <p:sldId id="367" r:id="rId4"/>
    <p:sldId id="368" r:id="rId5"/>
    <p:sldId id="301" r:id="rId6"/>
    <p:sldId id="305" r:id="rId7"/>
    <p:sldId id="306" r:id="rId8"/>
    <p:sldId id="377" r:id="rId9"/>
    <p:sldId id="307" r:id="rId10"/>
    <p:sldId id="308" r:id="rId11"/>
    <p:sldId id="311" r:id="rId12"/>
    <p:sldId id="376" r:id="rId13"/>
    <p:sldId id="312" r:id="rId14"/>
    <p:sldId id="313" r:id="rId15"/>
    <p:sldId id="316" r:id="rId16"/>
    <p:sldId id="317" r:id="rId17"/>
    <p:sldId id="318" r:id="rId18"/>
    <p:sldId id="319" r:id="rId19"/>
    <p:sldId id="320" r:id="rId20"/>
    <p:sldId id="321" r:id="rId21"/>
    <p:sldId id="327" r:id="rId2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  <a:srgbClr val="FF0066"/>
    <a:srgbClr val="D60093"/>
    <a:srgbClr val="CC0066"/>
    <a:srgbClr val="FF0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6" autoAdjust="0"/>
    <p:restoredTop sz="77269" autoAdjust="0"/>
  </p:normalViewPr>
  <p:slideViewPr>
    <p:cSldViewPr>
      <p:cViewPr varScale="1">
        <p:scale>
          <a:sx n="155" d="100"/>
          <a:sy n="155" d="100"/>
        </p:scale>
        <p:origin x="31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768"/>
    </p:cViewPr>
  </p:sorterViewPr>
  <p:notesViewPr>
    <p:cSldViewPr>
      <p:cViewPr varScale="1">
        <p:scale>
          <a:sx n="53" d="100"/>
          <a:sy n="53" d="100"/>
        </p:scale>
        <p:origin x="-1836" y="-84"/>
      </p:cViewPr>
      <p:guideLst>
        <p:guide orient="horz" pos="3024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1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7/2/26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9"/>
            <a:ext cx="3170238" cy="47942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1" tIns="48326" rIns="96651" bIns="4832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6651" tIns="48326" rIns="96651" bIns="4832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0060"/>
          </a:xfrm>
          <a:prstGeom prst="rect">
            <a:avLst/>
          </a:prstGeom>
        </p:spPr>
        <p:txBody>
          <a:bodyPr vert="horz" lIns="96651" tIns="48326" rIns="96651" bIns="48326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012BF16-63C2-4958-952A-E6EC7F15FB5A}" type="slidenum">
              <a:rPr lang="en-IE" smtClean="0"/>
              <a:pPr>
                <a:defRPr/>
              </a:pPr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86013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184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170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A_{l} = g(\omega_{0\,}+ WX_{l\,}+ UA_{l-1}), where W\in R^K\times p</a:t>
            </a:r>
          </a:p>
          <a:p>
            <a:endParaRPr lang="en-US" dirty="0"/>
          </a:p>
          <a:p>
            <a:r>
              <a:rPr lang="en-US" dirty="0"/>
              <a:t>\sum_{</a:t>
            </a:r>
            <a:r>
              <a:rPr lang="en-US" dirty="0" err="1"/>
              <a:t>i</a:t>
            </a:r>
            <a:r>
              <a:rPr lang="en-US" dirty="0"/>
              <a:t>=1}^n(</a:t>
            </a:r>
            <a:r>
              <a:rPr lang="en-US" dirty="0" err="1"/>
              <a:t>y_i</a:t>
            </a:r>
            <a:r>
              <a:rPr lang="en-US" dirty="0"/>
              <a:t> – o_{il})^2 =\sum_{</a:t>
            </a:r>
            <a:r>
              <a:rPr lang="en-US" dirty="0" err="1"/>
              <a:t>i</a:t>
            </a:r>
            <a:r>
              <a:rPr lang="en-US" dirty="0"/>
              <a:t>=1}^n(</a:t>
            </a:r>
            <a:r>
              <a:rPr lang="en-US" dirty="0" err="1"/>
              <a:t>y_i</a:t>
            </a:r>
            <a:r>
              <a:rPr lang="en-US" dirty="0"/>
              <a:t> - (\beta_0 + \Beta \</a:t>
            </a:r>
            <a:r>
              <a:rPr lang="en-US" dirty="0" err="1"/>
              <a:t>cdot</a:t>
            </a:r>
            <a:r>
              <a:rPr lang="en-US" dirty="0"/>
              <a:t> g(\omega_0 +WX_{</a:t>
            </a:r>
            <a:r>
              <a:rPr lang="en-US" dirty="0" err="1"/>
              <a:t>iL</a:t>
            </a:r>
            <a:r>
              <a:rPr lang="en-US" dirty="0"/>
              <a:t>}+  UA_{I,L-1}  )))^2</a:t>
            </a:r>
          </a:p>
          <a:p>
            <a:endParaRPr lang="en-US" dirty="0"/>
          </a:p>
          <a:p>
            <a:r>
              <a:rPr lang="en-US" dirty="0"/>
              <a:t>\sum_{</a:t>
            </a:r>
            <a:r>
              <a:rPr lang="en-US" dirty="0" err="1"/>
              <a:t>i</a:t>
            </a:r>
            <a:r>
              <a:rPr lang="en-US" dirty="0"/>
              <a:t>=1}^{n}(y_{</a:t>
            </a:r>
            <a:r>
              <a:rPr lang="en-US" dirty="0" err="1"/>
              <a:t>i</a:t>
            </a:r>
            <a:r>
              <a:rPr lang="en-US" dirty="0"/>
              <a:t>} - o_{il})^{2} ==\sum_{</a:t>
            </a:r>
            <a:r>
              <a:rPr lang="en-US" dirty="0" err="1"/>
              <a:t>i</a:t>
            </a:r>
            <a:r>
              <a:rPr lang="en-US" dirty="0"/>
              <a:t>=1}^{n}\left(y_{</a:t>
            </a:r>
            <a:r>
              <a:rPr lang="en-US" dirty="0" err="1"/>
              <a:t>i</a:t>
            </a:r>
            <a:r>
              <a:rPr lang="en-US" dirty="0"/>
              <a:t>\,}-\left(\right)\beta_{0} +B \</a:t>
            </a:r>
            <a:r>
              <a:rPr lang="en-US" dirty="0" err="1"/>
              <a:t>cdot</a:t>
            </a:r>
            <a:r>
              <a:rPr lang="en-US" dirty="0"/>
              <a:t> g(\omega_{0} +WX_{</a:t>
            </a:r>
            <a:r>
              <a:rPr lang="en-US" dirty="0" err="1"/>
              <a:t>iL</a:t>
            </a:r>
            <a:r>
              <a:rPr lang="en-US" dirty="0"/>
              <a:t>}+  UA_{I,L-1})\right)^{2}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016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762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6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13" name="Picture 13" descr="njit_KO_desc_ta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46128"/>
            <a:ext cx="9208284" cy="6904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987552"/>
          </a:xfrm>
        </p:spPr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0292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82000" y="6583680"/>
            <a:ext cx="556260" cy="274320"/>
          </a:xfrm>
        </p:spPr>
        <p:txBody>
          <a:bodyPr/>
          <a:lstStyle>
            <a:lvl1pPr>
              <a:defRPr sz="20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876800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023338"/>
            <a:ext cx="4040188" cy="40726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023338"/>
            <a:ext cx="4041775" cy="40726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>
                <a:solidFill>
                  <a:srgbClr val="0000FF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39826768-8FCE-4417-A22B-1D26CD2A846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75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njit_Admin_footer_PPT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54725"/>
            <a:ext cx="9144000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 bwMode="invGray">
          <a:xfrm>
            <a:off x="0" y="96774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38200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990600"/>
            <a:ext cx="8229600" cy="4957445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83680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9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583680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600">
                <a:solidFill>
                  <a:schemeClr val="tx1">
                    <a:tint val="95000"/>
                  </a:schemeClr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fld id="{19B12225-5612-419B-A8D5-4B8EEE4C217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6" r:id="rId5"/>
    <p:sldLayoutId id="2147483668" r:id="rId6"/>
    <p:sldLayoutId id="2147483670" r:id="rId7"/>
    <p:sldLayoutId id="2147483677" r:id="rId8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rgbClr val="0000FF"/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100000"/>
        <a:buFont typeface="Wingdings" pitchFamily="2" charset="2"/>
        <a:buChar char="§"/>
        <a:defRPr kumimoji="0" sz="28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SzPct val="100000"/>
        <a:buFont typeface="Wingdings" pitchFamily="2" charset="2"/>
        <a:buChar char="§"/>
        <a:defRPr kumimoji="0"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itchFamily="2" charset="2"/>
        <a:buChar char="§"/>
        <a:defRPr kumimoji="0" sz="20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SzPct val="100000"/>
        <a:buFont typeface="Wingdings" pitchFamily="2" charset="2"/>
        <a:buChar char="§"/>
        <a:defRPr kumimoji="0" lang="en-US" sz="2000" kern="1200" smtClean="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sota/sentiment-analysis-on-imd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228600" y="228600"/>
            <a:ext cx="8991600" cy="1295400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Lecture 3: Deep Learning, Recurrent Neural Networks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sz="4000" dirty="0"/>
            </a:b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9039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C41852-89C0-D645-96D5-9AD4D45FBC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6935"/>
            <a:ext cx="9144000" cy="514413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42CB744A-98BD-02FF-7929-981E3BEC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28628690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7EF9C5F-368B-634A-B642-93E3B0E60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9144000" cy="514413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A94242A1-8B70-273C-AE9E-BF771D50B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767370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57070"/>
            <a:ext cx="9144000" cy="514348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A45DE57-04FA-5A69-DACA-0401EFA8A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Recurrent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150381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25168">
              <a:spcBef>
                <a:spcPts val="268"/>
              </a:spcBef>
            </a:pPr>
            <a:r>
              <a:rPr spc="109" dirty="0"/>
              <a:t>Recurrent</a:t>
            </a:r>
            <a:r>
              <a:rPr spc="495" dirty="0"/>
              <a:t> </a:t>
            </a:r>
            <a:r>
              <a:rPr dirty="0"/>
              <a:t>Neural</a:t>
            </a:r>
            <a:r>
              <a:rPr spc="495" dirty="0"/>
              <a:t> </a:t>
            </a:r>
            <a:r>
              <a:rPr spc="-20" dirty="0"/>
              <a:t>Networks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6909" y="918615"/>
            <a:ext cx="7503531" cy="5252419"/>
          </a:xfrm>
          <a:prstGeom prst="rect">
            <a:avLst/>
          </a:prstGeom>
        </p:spPr>
        <p:txBody>
          <a:bodyPr vert="horz" wrap="square" lIns="0" tIns="52851" rIns="0" bIns="0" rtlCol="0">
            <a:spAutoFit/>
          </a:bodyPr>
          <a:lstStyle/>
          <a:p>
            <a:pPr marL="100670">
              <a:spcBef>
                <a:spcPts val="416"/>
              </a:spcBef>
            </a:pPr>
            <a:r>
              <a:rPr sz="2180" spc="-109" dirty="0">
                <a:latin typeface="Lucida Grande"/>
                <a:cs typeface="Lucida Grande"/>
              </a:rPr>
              <a:t>Often</a:t>
            </a:r>
            <a:r>
              <a:rPr sz="2180" spc="-30" dirty="0">
                <a:latin typeface="Lucida Grande"/>
                <a:cs typeface="Lucida Grande"/>
              </a:rPr>
              <a:t> </a:t>
            </a:r>
            <a:r>
              <a:rPr sz="2180" spc="-89" dirty="0">
                <a:latin typeface="Lucida Grande"/>
                <a:cs typeface="Lucida Grande"/>
              </a:rPr>
              <a:t>data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arise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198" dirty="0">
                <a:latin typeface="Lucida Grande"/>
                <a:cs typeface="Lucida Grande"/>
              </a:rPr>
              <a:t>as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sequences:</a:t>
            </a:r>
            <a:endParaRPr sz="2180" dirty="0">
              <a:latin typeface="Lucida Grande"/>
              <a:cs typeface="Lucida Grande"/>
            </a:endParaRPr>
          </a:p>
          <a:p>
            <a:pPr marL="649324" marR="449241" indent="-275585">
              <a:lnSpc>
                <a:spcPct val="102600"/>
              </a:lnSpc>
              <a:spcBef>
                <a:spcPts val="14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180" spc="-178" dirty="0">
                <a:latin typeface="Lucida Grande"/>
                <a:cs typeface="Lucida Grande"/>
              </a:rPr>
              <a:t>Documents</a:t>
            </a:r>
            <a:r>
              <a:rPr sz="2180" spc="40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are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238" dirty="0">
                <a:latin typeface="Lucida Grande"/>
                <a:cs typeface="Lucida Grande"/>
              </a:rPr>
              <a:t>sequences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40" dirty="0">
                <a:latin typeface="Lucida Grande"/>
                <a:cs typeface="Lucida Grande"/>
              </a:rPr>
              <a:t> </a:t>
            </a:r>
            <a:r>
              <a:rPr sz="2180" spc="-178" dirty="0">
                <a:latin typeface="Lucida Grande"/>
                <a:cs typeface="Lucida Grande"/>
              </a:rPr>
              <a:t>words,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and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89" dirty="0">
                <a:latin typeface="Lucida Grande"/>
                <a:cs typeface="Lucida Grande"/>
              </a:rPr>
              <a:t>their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89" dirty="0">
                <a:latin typeface="Lucida Grande"/>
                <a:cs typeface="Lucida Grande"/>
              </a:rPr>
              <a:t>relative </a:t>
            </a:r>
            <a:r>
              <a:rPr sz="2180" spc="-168" dirty="0">
                <a:latin typeface="Lucida Grande"/>
                <a:cs typeface="Lucida Grande"/>
              </a:rPr>
              <a:t>positions</a:t>
            </a:r>
            <a:r>
              <a:rPr sz="2180" spc="79" dirty="0">
                <a:latin typeface="Lucida Grande"/>
                <a:cs typeface="Lucida Grande"/>
              </a:rPr>
              <a:t> </a:t>
            </a:r>
            <a:r>
              <a:rPr sz="2180" spc="-168" dirty="0">
                <a:latin typeface="Lucida Grande"/>
                <a:cs typeface="Lucida Grande"/>
              </a:rPr>
              <a:t>have</a:t>
            </a:r>
            <a:r>
              <a:rPr sz="2180" spc="89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meaning.</a:t>
            </a:r>
            <a:endParaRPr sz="2180" dirty="0">
              <a:latin typeface="Lucida Grande"/>
              <a:cs typeface="Lucida Grande"/>
            </a:endParaRPr>
          </a:p>
          <a:p>
            <a:pPr marL="649324" indent="-275585">
              <a:spcBef>
                <a:spcPts val="13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180" spc="-198" dirty="0">
                <a:latin typeface="Lucida Grande"/>
                <a:cs typeface="Lucida Grande"/>
              </a:rPr>
              <a:t>Time-series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such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98" dirty="0">
                <a:latin typeface="Lucida Grande"/>
                <a:cs typeface="Lucida Grande"/>
              </a:rPr>
              <a:t>as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49" dirty="0">
                <a:latin typeface="Lucida Grande"/>
                <a:cs typeface="Lucida Grande"/>
              </a:rPr>
              <a:t>weather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89" dirty="0">
                <a:latin typeface="Lucida Grande"/>
                <a:cs typeface="Lucida Grande"/>
              </a:rPr>
              <a:t>data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or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09" dirty="0">
                <a:latin typeface="Lucida Grande"/>
                <a:cs typeface="Lucida Grande"/>
              </a:rPr>
              <a:t>financial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indices.</a:t>
            </a:r>
            <a:endParaRPr sz="2180" dirty="0">
              <a:latin typeface="Lucida Grande"/>
              <a:cs typeface="Lucida Grande"/>
            </a:endParaRPr>
          </a:p>
          <a:p>
            <a:pPr marL="649324" indent="-275585">
              <a:spcBef>
                <a:spcPts val="12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180" spc="-149" dirty="0">
                <a:latin typeface="Lucida Grande"/>
                <a:cs typeface="Lucida Grande"/>
              </a:rPr>
              <a:t>Recorded</a:t>
            </a:r>
            <a:r>
              <a:rPr sz="2180" spc="40" dirty="0">
                <a:latin typeface="Lucida Grande"/>
                <a:cs typeface="Lucida Grande"/>
              </a:rPr>
              <a:t> </a:t>
            </a:r>
            <a:r>
              <a:rPr sz="2180" spc="-226" dirty="0">
                <a:latin typeface="Lucida Grande"/>
                <a:cs typeface="Lucida Grande"/>
              </a:rPr>
              <a:t>speech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or</a:t>
            </a:r>
            <a:r>
              <a:rPr sz="2180" spc="4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music.</a:t>
            </a:r>
            <a:endParaRPr sz="2180" dirty="0">
              <a:latin typeface="Lucida Grande"/>
              <a:cs typeface="Lucida Grande"/>
            </a:endParaRPr>
          </a:p>
          <a:p>
            <a:pPr marL="649324" indent="-275585">
              <a:spcBef>
                <a:spcPts val="12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180" spc="-99" dirty="0">
                <a:latin typeface="Lucida Grande"/>
                <a:cs typeface="Lucida Grande"/>
              </a:rPr>
              <a:t>Handwriting,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such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98" dirty="0">
                <a:latin typeface="Lucida Grande"/>
                <a:cs typeface="Lucida Grande"/>
              </a:rPr>
              <a:t>as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59" dirty="0">
                <a:latin typeface="Lucida Grande"/>
                <a:cs typeface="Lucida Grande"/>
              </a:rPr>
              <a:t>doctor’s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notes.</a:t>
            </a:r>
            <a:endParaRPr sz="2180" dirty="0">
              <a:latin typeface="Lucida Grande"/>
              <a:cs typeface="Lucida Grande"/>
            </a:endParaRPr>
          </a:p>
          <a:p>
            <a:pPr marL="100670" marR="459309">
              <a:lnSpc>
                <a:spcPct val="102600"/>
              </a:lnSpc>
              <a:spcBef>
                <a:spcPts val="149"/>
              </a:spcBef>
            </a:pPr>
            <a:r>
              <a:rPr sz="2180" dirty="0">
                <a:latin typeface="Lucida Grande"/>
                <a:cs typeface="Lucida Grande"/>
              </a:rPr>
              <a:t>RNNs</a:t>
            </a:r>
            <a:r>
              <a:rPr sz="2180" spc="-59" dirty="0">
                <a:latin typeface="Lucida Grande"/>
                <a:cs typeface="Lucida Grande"/>
              </a:rPr>
              <a:t> </a:t>
            </a:r>
            <a:r>
              <a:rPr sz="2180" spc="-109" dirty="0">
                <a:latin typeface="Lucida Grande"/>
                <a:cs typeface="Lucida Grande"/>
              </a:rPr>
              <a:t>build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models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that</a:t>
            </a:r>
            <a:r>
              <a:rPr sz="2180" spc="-1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take</a:t>
            </a:r>
            <a:r>
              <a:rPr sz="2180" spc="-10" dirty="0">
                <a:latin typeface="Lucida Grande"/>
                <a:cs typeface="Lucida Grande"/>
              </a:rPr>
              <a:t> </a:t>
            </a:r>
            <a:r>
              <a:rPr sz="2180" spc="-109" dirty="0">
                <a:latin typeface="Lucida Grande"/>
                <a:cs typeface="Lucida Grande"/>
              </a:rPr>
              <a:t>into</a:t>
            </a:r>
            <a:r>
              <a:rPr sz="2180" spc="-10" dirty="0">
                <a:latin typeface="Lucida Grande"/>
                <a:cs typeface="Lucida Grande"/>
              </a:rPr>
              <a:t> </a:t>
            </a:r>
            <a:r>
              <a:rPr sz="2180" spc="-168" dirty="0">
                <a:latin typeface="Lucida Grande"/>
                <a:cs typeface="Lucida Grande"/>
              </a:rPr>
              <a:t>account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99" dirty="0">
                <a:latin typeface="Lucida Grande"/>
                <a:cs typeface="Lucida Grande"/>
              </a:rPr>
              <a:t>this</a:t>
            </a:r>
            <a:r>
              <a:rPr sz="2180" spc="-10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sequential </a:t>
            </a:r>
            <a:r>
              <a:rPr sz="2180" spc="-119" dirty="0">
                <a:latin typeface="Lucida Grande"/>
                <a:cs typeface="Lucida Grande"/>
              </a:rPr>
              <a:t>nature</a:t>
            </a:r>
            <a:r>
              <a:rPr sz="2180" spc="-59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the</a:t>
            </a:r>
            <a:r>
              <a:rPr sz="2180" spc="-50" dirty="0">
                <a:latin typeface="Lucida Grande"/>
                <a:cs typeface="Lucida Grande"/>
              </a:rPr>
              <a:t> </a:t>
            </a:r>
            <a:r>
              <a:rPr sz="2180" spc="-79" dirty="0">
                <a:latin typeface="Lucida Grande"/>
                <a:cs typeface="Lucida Grande"/>
              </a:rPr>
              <a:t>data,</a:t>
            </a:r>
            <a:r>
              <a:rPr sz="2180" spc="-4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and</a:t>
            </a:r>
            <a:r>
              <a:rPr sz="2180" spc="-10" dirty="0">
                <a:latin typeface="Lucida Grande"/>
                <a:cs typeface="Lucida Grande"/>
              </a:rPr>
              <a:t> </a:t>
            </a:r>
            <a:r>
              <a:rPr sz="2180" spc="-109" dirty="0">
                <a:latin typeface="Lucida Grande"/>
                <a:cs typeface="Lucida Grande"/>
              </a:rPr>
              <a:t>build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</a:t>
            </a:r>
            <a:r>
              <a:rPr sz="2180" spc="-10" dirty="0">
                <a:latin typeface="Lucida Grande"/>
                <a:cs typeface="Lucida Grande"/>
              </a:rPr>
              <a:t> </a:t>
            </a:r>
            <a:r>
              <a:rPr sz="2180" spc="-178" dirty="0">
                <a:latin typeface="Lucida Grande"/>
                <a:cs typeface="Lucida Grande"/>
              </a:rPr>
              <a:t>memory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the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40" dirty="0">
                <a:latin typeface="Lucida Grande"/>
                <a:cs typeface="Lucida Grande"/>
              </a:rPr>
              <a:t>past.</a:t>
            </a:r>
            <a:endParaRPr sz="2180" dirty="0">
              <a:latin typeface="Lucida Grande"/>
              <a:cs typeface="Lucida Grande"/>
            </a:endParaRPr>
          </a:p>
          <a:p>
            <a:pPr marL="649324" indent="-275585"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180" spc="-20" dirty="0">
                <a:latin typeface="Lucida Grande"/>
                <a:cs typeface="Lucida Grande"/>
              </a:rPr>
              <a:t>The</a:t>
            </a:r>
            <a:r>
              <a:rPr sz="2180" spc="-79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feature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198" dirty="0">
                <a:latin typeface="Lucida Grande"/>
                <a:cs typeface="Lucida Grande"/>
              </a:rPr>
              <a:t>each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68" dirty="0">
                <a:latin typeface="Lucida Grande"/>
                <a:cs typeface="Lucida Grande"/>
              </a:rPr>
              <a:t>observation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99" dirty="0">
                <a:latin typeface="Lucida Grande"/>
                <a:cs typeface="Lucida Grande"/>
              </a:rPr>
              <a:t>is</a:t>
            </a:r>
            <a:r>
              <a:rPr sz="2180" dirty="0">
                <a:latin typeface="Lucida Grande"/>
                <a:cs typeface="Lucida Grande"/>
              </a:rPr>
              <a:t> a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i="1" spc="-337" dirty="0">
                <a:solidFill>
                  <a:srgbClr val="009900"/>
                </a:solidFill>
                <a:latin typeface="Menlo"/>
                <a:cs typeface="Menlo"/>
              </a:rPr>
              <a:t>sequence</a:t>
            </a:r>
            <a:r>
              <a:rPr sz="2180" i="1" spc="-59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vectors</a:t>
            </a:r>
            <a:endParaRPr sz="2180" dirty="0">
              <a:latin typeface="Lucida Grande"/>
              <a:cs typeface="Lucida Grande"/>
            </a:endParaRPr>
          </a:p>
          <a:p>
            <a:pPr marL="649324">
              <a:spcBef>
                <a:spcPts val="69"/>
              </a:spcBef>
            </a:pPr>
            <a:r>
              <a:rPr sz="2180" spc="416" dirty="0">
                <a:latin typeface="Lucida Grande"/>
                <a:cs typeface="Lucida Grande"/>
              </a:rPr>
              <a:t>X</a:t>
            </a:r>
            <a:r>
              <a:rPr sz="2180" spc="129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=</a:t>
            </a:r>
            <a:r>
              <a:rPr sz="2180" spc="-40" dirty="0">
                <a:latin typeface="Lucida Grande"/>
                <a:cs typeface="Lucida Grande"/>
              </a:rPr>
              <a:t> </a:t>
            </a:r>
            <a:r>
              <a:rPr sz="2180" i="1" dirty="0">
                <a:latin typeface="Menlo"/>
                <a:cs typeface="Menlo"/>
              </a:rPr>
              <a:t>{</a:t>
            </a:r>
            <a:r>
              <a:rPr sz="2180" dirty="0">
                <a:latin typeface="Lucida Grande"/>
                <a:cs typeface="Lucida Grande"/>
              </a:rPr>
              <a:t>X</a:t>
            </a:r>
            <a:r>
              <a:rPr sz="2378" baseline="-10416" dirty="0">
                <a:latin typeface="Times New Roman"/>
                <a:cs typeface="Times New Roman"/>
              </a:rPr>
              <a:t>1</a:t>
            </a:r>
            <a:r>
              <a:rPr sz="2180" dirty="0">
                <a:latin typeface="Lucida Grande"/>
                <a:cs typeface="Lucida Grande"/>
              </a:rPr>
              <a:t>,</a:t>
            </a:r>
            <a:r>
              <a:rPr sz="2180" spc="-297" dirty="0">
                <a:latin typeface="Lucida Grande"/>
                <a:cs typeface="Lucida Grande"/>
              </a:rPr>
              <a:t> </a:t>
            </a:r>
            <a:r>
              <a:rPr sz="2180" spc="178" dirty="0">
                <a:latin typeface="Lucida Grande"/>
                <a:cs typeface="Lucida Grande"/>
              </a:rPr>
              <a:t>X</a:t>
            </a:r>
            <a:r>
              <a:rPr sz="2378" spc="268" baseline="-10416" dirty="0">
                <a:latin typeface="Times New Roman"/>
                <a:cs typeface="Times New Roman"/>
              </a:rPr>
              <a:t>2</a:t>
            </a:r>
            <a:r>
              <a:rPr sz="2180" spc="178" dirty="0">
                <a:latin typeface="Lucida Grande"/>
                <a:cs typeface="Lucida Grande"/>
              </a:rPr>
              <a:t>,.</a:t>
            </a:r>
            <a:r>
              <a:rPr sz="2180" spc="-307" dirty="0">
                <a:latin typeface="Lucida Grande"/>
                <a:cs typeface="Lucida Grande"/>
              </a:rPr>
              <a:t> </a:t>
            </a:r>
            <a:r>
              <a:rPr sz="2180" spc="139" dirty="0">
                <a:latin typeface="Lucida Grande"/>
                <a:cs typeface="Lucida Grande"/>
              </a:rPr>
              <a:t>..,</a:t>
            </a:r>
            <a:r>
              <a:rPr sz="2180" spc="-317" dirty="0">
                <a:latin typeface="Lucida Grande"/>
                <a:cs typeface="Lucida Grande"/>
              </a:rPr>
              <a:t> </a:t>
            </a:r>
            <a:r>
              <a:rPr sz="2180" spc="69" dirty="0">
                <a:latin typeface="Lucida Grande"/>
                <a:cs typeface="Lucida Grande"/>
              </a:rPr>
              <a:t>X</a:t>
            </a:r>
            <a:r>
              <a:rPr sz="2378" spc="103" baseline="-10416" dirty="0">
                <a:latin typeface="Lucida Grande"/>
                <a:cs typeface="Lucida Grande"/>
              </a:rPr>
              <a:t>L</a:t>
            </a:r>
            <a:r>
              <a:rPr sz="2180" i="1" spc="69" dirty="0">
                <a:latin typeface="Menlo"/>
                <a:cs typeface="Menlo"/>
              </a:rPr>
              <a:t>}</a:t>
            </a:r>
            <a:r>
              <a:rPr sz="2180" spc="69" dirty="0">
                <a:latin typeface="Lucida Grande"/>
                <a:cs typeface="Lucida Grande"/>
              </a:rPr>
              <a:t>.</a:t>
            </a:r>
            <a:endParaRPr sz="2180" dirty="0">
              <a:latin typeface="Lucida Grande"/>
              <a:cs typeface="Lucida Grande"/>
            </a:endParaRPr>
          </a:p>
          <a:p>
            <a:pPr marL="649324" marR="259226" indent="-275585">
              <a:lnSpc>
                <a:spcPct val="102600"/>
              </a:lnSpc>
              <a:spcBef>
                <a:spcPts val="6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180" spc="-20" dirty="0">
                <a:latin typeface="Lucida Grande"/>
                <a:cs typeface="Lucida Grande"/>
              </a:rPr>
              <a:t>The</a:t>
            </a:r>
            <a:r>
              <a:rPr sz="2180" spc="-159" dirty="0">
                <a:latin typeface="Lucida Grande"/>
                <a:cs typeface="Lucida Grande"/>
              </a:rPr>
              <a:t> </a:t>
            </a:r>
            <a:r>
              <a:rPr sz="2180" spc="-99" dirty="0">
                <a:latin typeface="Lucida Grande"/>
                <a:cs typeface="Lucida Grande"/>
              </a:rPr>
              <a:t>target</a:t>
            </a:r>
            <a:r>
              <a:rPr sz="2180" spc="-69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Y</a:t>
            </a:r>
            <a:r>
              <a:rPr sz="2180" spc="367" dirty="0">
                <a:latin typeface="Lucida Grande"/>
                <a:cs typeface="Lucida Grande"/>
              </a:rPr>
              <a:t> </a:t>
            </a:r>
            <a:r>
              <a:rPr sz="2180" spc="-99" dirty="0">
                <a:latin typeface="Lucida Grande"/>
                <a:cs typeface="Lucida Grande"/>
              </a:rPr>
              <a:t>is</a:t>
            </a:r>
            <a:r>
              <a:rPr sz="2180" spc="-50" dirty="0">
                <a:latin typeface="Lucida Grande"/>
                <a:cs typeface="Lucida Grande"/>
              </a:rPr>
              <a:t> </a:t>
            </a:r>
            <a:r>
              <a:rPr sz="2180" spc="-159" dirty="0">
                <a:latin typeface="Lucida Grande"/>
                <a:cs typeface="Lucida Grande"/>
              </a:rPr>
              <a:t>often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the</a:t>
            </a:r>
            <a:r>
              <a:rPr sz="2180" spc="-50" dirty="0">
                <a:latin typeface="Lucida Grande"/>
                <a:cs typeface="Lucida Grande"/>
              </a:rPr>
              <a:t> </a:t>
            </a:r>
            <a:r>
              <a:rPr sz="2180" spc="-149" dirty="0">
                <a:latin typeface="Lucida Grande"/>
                <a:cs typeface="Lucida Grande"/>
              </a:rPr>
              <a:t>usual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kind</a:t>
            </a:r>
            <a:r>
              <a:rPr sz="2180" spc="-5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—</a:t>
            </a:r>
            <a:r>
              <a:rPr sz="2180" spc="-5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e.g.</a:t>
            </a:r>
            <a:r>
              <a:rPr sz="2180" spc="168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</a:t>
            </a:r>
            <a:r>
              <a:rPr sz="2180" spc="-50" dirty="0">
                <a:latin typeface="Lucida Grande"/>
                <a:cs typeface="Lucida Grande"/>
              </a:rPr>
              <a:t> </a:t>
            </a:r>
            <a:r>
              <a:rPr sz="2180" spc="-149" dirty="0">
                <a:latin typeface="Lucida Grande"/>
                <a:cs typeface="Lucida Grande"/>
              </a:rPr>
              <a:t>single </a:t>
            </a:r>
            <a:r>
              <a:rPr sz="2180" spc="-109" dirty="0">
                <a:latin typeface="Lucida Grande"/>
                <a:cs typeface="Lucida Grande"/>
              </a:rPr>
              <a:t>variable</a:t>
            </a:r>
            <a:r>
              <a:rPr sz="2180" spc="-59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such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98" dirty="0">
                <a:latin typeface="Lucida Grande"/>
                <a:cs typeface="Lucida Grande"/>
              </a:rPr>
              <a:t>as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88" dirty="0">
                <a:solidFill>
                  <a:srgbClr val="990000"/>
                </a:solidFill>
                <a:latin typeface="Courier New"/>
                <a:cs typeface="Courier New"/>
              </a:rPr>
              <a:t>Sentiment</a:t>
            </a:r>
            <a:r>
              <a:rPr sz="2180" spc="-188" dirty="0">
                <a:latin typeface="Lucida Grande"/>
                <a:cs typeface="Lucida Grande"/>
              </a:rPr>
              <a:t>,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or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 </a:t>
            </a:r>
            <a:r>
              <a:rPr sz="2180" spc="-317" dirty="0">
                <a:latin typeface="Lucida Grande"/>
                <a:cs typeface="Lucida Grande"/>
              </a:rPr>
              <a:t>one-</a:t>
            </a:r>
            <a:r>
              <a:rPr sz="2180" spc="-99" dirty="0">
                <a:latin typeface="Lucida Grande"/>
                <a:cs typeface="Lucida Grande"/>
              </a:rPr>
              <a:t>hot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vector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50" dirty="0">
                <a:latin typeface="Lucida Grande"/>
                <a:cs typeface="Lucida Grande"/>
              </a:rPr>
              <a:t>for </a:t>
            </a:r>
            <a:r>
              <a:rPr sz="2180" spc="-20" dirty="0">
                <a:latin typeface="Lucida Grande"/>
                <a:cs typeface="Lucida Grande"/>
              </a:rPr>
              <a:t>multiclass.</a:t>
            </a:r>
            <a:endParaRPr sz="2180" dirty="0">
              <a:latin typeface="Lucida Grande"/>
              <a:cs typeface="Lucida Grande"/>
            </a:endParaRPr>
          </a:p>
          <a:p>
            <a:pPr marL="649324" marR="446725" indent="-275585">
              <a:lnSpc>
                <a:spcPct val="102699"/>
              </a:lnSpc>
              <a:spcBef>
                <a:spcPts val="5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z="2180" spc="-168" dirty="0">
                <a:latin typeface="Lucida Grande"/>
                <a:cs typeface="Lucida Grande"/>
              </a:rPr>
              <a:t>However,</a:t>
            </a:r>
            <a:r>
              <a:rPr sz="2180" spc="-1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Y</a:t>
            </a:r>
            <a:r>
              <a:rPr sz="2180" spc="466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can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168" dirty="0">
                <a:latin typeface="Lucida Grande"/>
                <a:cs typeface="Lucida Grande"/>
              </a:rPr>
              <a:t>also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178" dirty="0">
                <a:latin typeface="Lucida Grande"/>
                <a:cs typeface="Lucida Grande"/>
              </a:rPr>
              <a:t>be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218" dirty="0">
                <a:latin typeface="Lucida Grande"/>
                <a:cs typeface="Lucida Grande"/>
              </a:rPr>
              <a:t>sequence,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such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98" dirty="0">
                <a:latin typeface="Lucida Grande"/>
                <a:cs typeface="Lucida Grande"/>
              </a:rPr>
              <a:t>as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119" dirty="0">
                <a:latin typeface="Lucida Grande"/>
                <a:cs typeface="Lucida Grande"/>
              </a:rPr>
              <a:t>the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168" dirty="0">
                <a:latin typeface="Lucida Grande"/>
                <a:cs typeface="Lucida Grande"/>
              </a:rPr>
              <a:t>same </a:t>
            </a:r>
            <a:r>
              <a:rPr sz="2180" spc="-188" dirty="0">
                <a:latin typeface="Lucida Grande"/>
                <a:cs typeface="Lucida Grande"/>
              </a:rPr>
              <a:t>document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in</a:t>
            </a:r>
            <a:r>
              <a:rPr sz="2180" spc="-3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lang="en-US" sz="2180" spc="-258" dirty="0">
                <a:latin typeface="Lucida Grande"/>
                <a:cs typeface="Lucida Grande"/>
              </a:rPr>
              <a:t>different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language.</a:t>
            </a:r>
            <a:endParaRPr sz="2180" dirty="0">
              <a:latin typeface="Lucida Grande"/>
              <a:cs typeface="Lucida Grande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B616-2C4B-6737-2FA4-DCE98D0E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85570">
              <a:spcBef>
                <a:spcPts val="268"/>
              </a:spcBef>
            </a:pPr>
            <a:r>
              <a:rPr dirty="0"/>
              <a:t>Simple</a:t>
            </a:r>
            <a:r>
              <a:rPr spc="535" dirty="0"/>
              <a:t> </a:t>
            </a:r>
            <a:r>
              <a:rPr spc="109" dirty="0"/>
              <a:t>Recurrent</a:t>
            </a:r>
            <a:r>
              <a:rPr spc="545" dirty="0"/>
              <a:t> </a:t>
            </a:r>
            <a:r>
              <a:rPr dirty="0"/>
              <a:t>Neural</a:t>
            </a:r>
            <a:r>
              <a:rPr spc="555" dirty="0"/>
              <a:t> </a:t>
            </a:r>
            <a:r>
              <a:rPr dirty="0"/>
              <a:t>Network</a:t>
            </a:r>
            <a:r>
              <a:rPr spc="545" dirty="0"/>
              <a:t> </a:t>
            </a:r>
            <a:r>
              <a:rPr spc="79" dirty="0"/>
              <a:t>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object 89"/>
              <p:cNvSpPr txBox="1"/>
              <p:nvPr/>
            </p:nvSpPr>
            <p:spPr>
              <a:xfrm>
                <a:off x="532132" y="3858744"/>
                <a:ext cx="8001000" cy="2570062"/>
              </a:xfrm>
              <a:prstGeom prst="rect">
                <a:avLst/>
              </a:prstGeom>
            </p:spPr>
            <p:txBody>
              <a:bodyPr vert="horz" wrap="square" lIns="0" tIns="13842" rIns="0" bIns="0" rtlCol="0">
                <a:spAutoFit/>
              </a:bodyPr>
              <a:lstStyle/>
              <a:p>
                <a:pPr marL="176530" marR="55244" indent="-139065">
                  <a:lnSpc>
                    <a:spcPct val="102600"/>
                  </a:lnSpc>
                  <a:spcBef>
                    <a:spcPts val="5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r>
                  <a:rPr lang="en-US" sz="2000" spc="50" dirty="0">
                    <a:latin typeface="Times New Roman"/>
                    <a:cs typeface="Times New Roman"/>
                  </a:rPr>
                  <a:t>The</a:t>
                </a:r>
                <a:r>
                  <a:rPr lang="en-US" sz="2000" spc="14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hidden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layer</a:t>
                </a:r>
                <a:r>
                  <a:rPr lang="en-US" sz="2000" spc="145" dirty="0">
                    <a:latin typeface="Times New Roman"/>
                    <a:cs typeface="Times New Roman"/>
                  </a:rPr>
                  <a:t> has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50" dirty="0">
                    <a:latin typeface="Times New Roman"/>
                    <a:cs typeface="Times New Roman"/>
                  </a:rPr>
                  <a:t>a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sequence</a:t>
                </a:r>
                <a:r>
                  <a:rPr lang="en-US" sz="2000" spc="14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of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vectors</a:t>
                </a:r>
                <a:r>
                  <a:rPr lang="en-US" sz="2000" spc="145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dirty="0">
                    <a:latin typeface="Georgia"/>
                    <a:cs typeface="Georgia"/>
                  </a:rPr>
                  <a:t>A</a:t>
                </a:r>
                <a:r>
                  <a:rPr lang="en-US" sz="2400" i="1" baseline="-13888" dirty="0">
                    <a:latin typeface="Georgia"/>
                    <a:cs typeface="Georgia"/>
                  </a:rPr>
                  <a:t>£</a:t>
                </a:r>
                <a:r>
                  <a:rPr lang="en-US" sz="2000" i="1" baseline="-13888" dirty="0">
                    <a:latin typeface="Times New Roman"/>
                    <a:cs typeface="Times New Roman"/>
                  </a:rPr>
                  <a:t>. 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At the l-</a:t>
                </a:r>
                <a:r>
                  <a:rPr lang="en-US" sz="2000" spc="150" dirty="0" err="1">
                    <a:latin typeface="Times New Roman"/>
                    <a:cs typeface="Times New Roman"/>
                  </a:rPr>
                  <a:t>th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step, the hidden unit </a:t>
                </a:r>
                <a:r>
                  <a:rPr lang="en-US" sz="2000" dirty="0">
                    <a:latin typeface="Times New Roman"/>
                    <a:cs typeface="Times New Roman"/>
                  </a:rPr>
                  <a:t>receives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50" dirty="0">
                    <a:latin typeface="Times New Roman"/>
                    <a:cs typeface="Times New Roman"/>
                  </a:rPr>
                  <a:t>input</a:t>
                </a:r>
                <a:r>
                  <a:rPr lang="en-US" sz="2000" spc="120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dirty="0" err="1">
                    <a:latin typeface="Georgia"/>
                    <a:cs typeface="Georgia"/>
                  </a:rPr>
                  <a:t>X</a:t>
                </a:r>
                <a:r>
                  <a:rPr lang="en-US" sz="2400" i="1" baseline="-13888" dirty="0" err="1">
                    <a:latin typeface="Georgia"/>
                    <a:cs typeface="Georgia"/>
                  </a:rPr>
                  <a:t>l</a:t>
                </a:r>
                <a:r>
                  <a:rPr lang="en-US" sz="2400" i="1" spc="375" baseline="-13888" dirty="0">
                    <a:latin typeface="Georgia"/>
                    <a:cs typeface="Georgia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as</a:t>
                </a:r>
                <a:r>
                  <a:rPr lang="en-US" sz="2000" spc="12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well</a:t>
                </a:r>
                <a:r>
                  <a:rPr lang="en-US" sz="2000" spc="12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as</a:t>
                </a:r>
                <a:r>
                  <a:rPr lang="en-US" sz="2000" spc="120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dirty="0">
                    <a:latin typeface="Georgia"/>
                    <a:cs typeface="Georgia"/>
                  </a:rPr>
                  <a:t>A</a:t>
                </a:r>
                <a:r>
                  <a:rPr lang="en-US" sz="2400" i="1" baseline="-13888" dirty="0">
                    <a:latin typeface="Georgia"/>
                    <a:cs typeface="Georgia"/>
                  </a:rPr>
                  <a:t>l</a:t>
                </a:r>
                <a:r>
                  <a:rPr lang="en-US" sz="2400" i="1" baseline="-13888" dirty="0">
                    <a:latin typeface="News Gothic Std"/>
                    <a:cs typeface="News Gothic Std"/>
                  </a:rPr>
                  <a:t>−</a:t>
                </a:r>
                <a:r>
                  <a:rPr lang="en-US" sz="2400" baseline="-13888" dirty="0">
                    <a:latin typeface="Georgia"/>
                    <a:cs typeface="Georgia"/>
                  </a:rPr>
                  <a:t>1</a:t>
                </a:r>
                <a:r>
                  <a:rPr lang="en-US" sz="2000" baseline="-13888" dirty="0">
                    <a:latin typeface="Times New Roman"/>
                    <a:cs typeface="Times New Roman"/>
                  </a:rPr>
                  <a:t>, </a:t>
                </a:r>
                <a:r>
                  <a:rPr lang="en-US" sz="2000" dirty="0">
                    <a:latin typeface="Times New Roman"/>
                    <a:cs typeface="Times New Roman"/>
                  </a:rPr>
                  <a:t>updates the hidden state</a:t>
                </a:r>
                <a:r>
                  <a:rPr lang="en-US" sz="2000" spc="125" dirty="0">
                    <a:latin typeface="Times New Roman"/>
                    <a:cs typeface="Times New Roman"/>
                  </a:rPr>
                  <a:t> </a:t>
                </a:r>
                <a:r>
                  <a:rPr lang="en-US" sz="1800" i="1" dirty="0">
                    <a:latin typeface="Georgia"/>
                    <a:cs typeface="Georgia"/>
                  </a:rPr>
                  <a:t>A</a:t>
                </a:r>
                <a:r>
                  <a:rPr lang="en-US" sz="2000" i="1" baseline="-13888" dirty="0">
                    <a:latin typeface="Georgia"/>
                    <a:cs typeface="Georgia"/>
                  </a:rPr>
                  <a:t>l, </a:t>
                </a:r>
                <a:r>
                  <a:rPr lang="en-US" sz="2000" spc="50" dirty="0">
                    <a:latin typeface="Times New Roman"/>
                    <a:cs typeface="Times New Roman"/>
                  </a:rPr>
                  <a:t>and generates an</a:t>
                </a:r>
                <a:r>
                  <a:rPr lang="en-US" sz="2000" spc="120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65" dirty="0">
                    <a:latin typeface="Times New Roman"/>
                    <a:cs typeface="Times New Roman"/>
                  </a:rPr>
                  <a:t>output</a:t>
                </a:r>
                <a:r>
                  <a:rPr lang="en-US" sz="2000" spc="125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spc="-25" dirty="0" err="1">
                    <a:latin typeface="Georgia"/>
                    <a:cs typeface="Georgia"/>
                  </a:rPr>
                  <a:t>O</a:t>
                </a:r>
                <a:r>
                  <a:rPr lang="en-US" sz="2400" i="1" spc="-37" baseline="-13888" dirty="0" err="1">
                    <a:latin typeface="Georgia"/>
                    <a:cs typeface="Georgia"/>
                  </a:rPr>
                  <a:t>l</a:t>
                </a:r>
                <a:r>
                  <a:rPr lang="en-US" sz="2000" spc="-25" dirty="0">
                    <a:latin typeface="Times New Roman"/>
                    <a:cs typeface="Times New Roman"/>
                  </a:rPr>
                  <a:t>.</a:t>
                </a:r>
                <a:endParaRPr lang="en-US" sz="2000" dirty="0">
                  <a:latin typeface="Times New Roman"/>
                  <a:cs typeface="Times New Roman"/>
                </a:endParaRPr>
              </a:p>
              <a:p>
                <a:pPr marL="176530" marR="114300" indent="-139065">
                  <a:lnSpc>
                    <a:spcPct val="102600"/>
                  </a:lnSpc>
                  <a:spcBef>
                    <a:spcPts val="8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r>
                  <a:rPr lang="en-US" sz="2000" spc="50" dirty="0">
                    <a:latin typeface="Times New Roman"/>
                    <a:cs typeface="Times New Roman"/>
                  </a:rPr>
                  <a:t>The</a:t>
                </a:r>
                <a:r>
                  <a:rPr lang="en-US" sz="2000" spc="140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dirty="0">
                    <a:solidFill>
                      <a:srgbClr val="009900"/>
                    </a:solidFill>
                    <a:latin typeface="Times New Roman"/>
                    <a:cs typeface="Times New Roman"/>
                  </a:rPr>
                  <a:t>same</a:t>
                </a:r>
                <a:r>
                  <a:rPr lang="en-US" sz="2000" i="1" spc="155" dirty="0">
                    <a:solidFill>
                      <a:srgbClr val="009900"/>
                    </a:solidFill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weights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b="1" dirty="0">
                    <a:latin typeface="Georgia"/>
                    <a:cs typeface="Georgia"/>
                  </a:rPr>
                  <a:t>W</a:t>
                </a:r>
                <a:r>
                  <a:rPr lang="en-US" sz="2000" b="1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/>
                          </a:rPr>
                          <m:t>𝑹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𝑲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×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𝒑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/>
                    <a:cs typeface="Times New Roman"/>
                  </a:rPr>
                  <a:t>,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b="1" dirty="0">
                    <a:latin typeface="Georgia"/>
                    <a:cs typeface="Georgia"/>
                  </a:rPr>
                  <a:t>U</a:t>
                </a:r>
                <a:r>
                  <a:rPr lang="en-US" sz="2000" b="1" dirty="0"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𝑹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𝑲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×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cs typeface="Times New Roman"/>
                          </a:rPr>
                          <m:t>𝑲</m:t>
                        </m:r>
                      </m:sup>
                    </m:sSup>
                  </m:oMath>
                </a14:m>
                <a:r>
                  <a:rPr lang="en-US" sz="2000" b="1" spc="150" dirty="0">
                    <a:latin typeface="Georgia"/>
                    <a:cs typeface="Georgia"/>
                  </a:rPr>
                  <a:t> </a:t>
                </a:r>
                <a:r>
                  <a:rPr lang="en-US" sz="2000" spc="50" dirty="0">
                    <a:latin typeface="Times New Roman"/>
                    <a:cs typeface="Times New Roman"/>
                  </a:rPr>
                  <a:t>and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  <a:cs typeface="Times New Roman"/>
                      </a:rPr>
                      <m:t>𝚩</m:t>
                    </m:r>
                    <m:r>
                      <a:rPr lang="en-US" sz="2000" b="1" i="1">
                        <a:latin typeface="Cambria Math" panose="02040503050406030204" pitchFamily="18" charset="0"/>
                        <a:cs typeface="Times New Roman"/>
                      </a:rPr>
                      <m:t>∈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𝑹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  <a:cs typeface="Times New Roman"/>
                          </a:rPr>
                          <m:t>𝑲</m:t>
                        </m:r>
                      </m:sup>
                    </m:sSup>
                  </m:oMath>
                </a14:m>
                <a:r>
                  <a:rPr lang="en-US" sz="2000" b="1" spc="140" dirty="0">
                    <a:latin typeface="Georgia"/>
                    <a:cs typeface="Georgia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are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used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90" dirty="0">
                    <a:latin typeface="Times New Roman"/>
                    <a:cs typeface="Times New Roman"/>
                  </a:rPr>
                  <a:t>at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each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step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-25" dirty="0">
                    <a:latin typeface="Times New Roman"/>
                    <a:cs typeface="Times New Roman"/>
                  </a:rPr>
                  <a:t>in </a:t>
                </a:r>
                <a:r>
                  <a:rPr lang="en-US" sz="2000" spc="55" dirty="0">
                    <a:latin typeface="Times New Roman"/>
                    <a:cs typeface="Times New Roman"/>
                  </a:rPr>
                  <a:t>the</a:t>
                </a:r>
                <a:r>
                  <a:rPr lang="en-US" sz="2000" spc="114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sequence</a:t>
                </a:r>
                <a:r>
                  <a:rPr lang="en-US" sz="2000" spc="12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—</a:t>
                </a:r>
                <a:r>
                  <a:rPr lang="en-US" sz="2000" spc="12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hence</a:t>
                </a:r>
                <a:r>
                  <a:rPr lang="en-US" sz="2000" spc="120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55" dirty="0">
                    <a:latin typeface="Times New Roman"/>
                    <a:cs typeface="Times New Roman"/>
                  </a:rPr>
                  <a:t>the</a:t>
                </a:r>
                <a:r>
                  <a:rPr lang="en-US" sz="2000" spc="114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60" dirty="0">
                    <a:latin typeface="Times New Roman"/>
                    <a:cs typeface="Times New Roman"/>
                  </a:rPr>
                  <a:t>term</a:t>
                </a:r>
                <a:r>
                  <a:rPr lang="en-US" sz="2000" spc="125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spc="-10" dirty="0">
                    <a:solidFill>
                      <a:srgbClr val="009900"/>
                    </a:solidFill>
                    <a:latin typeface="Times New Roman"/>
                    <a:cs typeface="Times New Roman"/>
                  </a:rPr>
                  <a:t>recurrent</a:t>
                </a:r>
                <a:r>
                  <a:rPr lang="en-US" sz="2000" spc="-10" dirty="0">
                    <a:latin typeface="Times New Roman"/>
                    <a:cs typeface="Times New Roman"/>
                  </a:rPr>
                  <a:t>.</a:t>
                </a:r>
              </a:p>
              <a:p>
                <a:pPr marL="176530" marR="114300" indent="-139065">
                  <a:lnSpc>
                    <a:spcPct val="102600"/>
                  </a:lnSpc>
                  <a:spcBef>
                    <a:spcPts val="8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r>
                  <a:rPr lang="en-US" sz="2000" spc="50" dirty="0">
                    <a:latin typeface="Times New Roman"/>
                    <a:cs typeface="Times New Roman"/>
                  </a:rPr>
                  <a:t>The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dirty="0">
                    <a:latin typeface="Georgia"/>
                    <a:cs typeface="Georgia"/>
                  </a:rPr>
                  <a:t>A</a:t>
                </a:r>
                <a:r>
                  <a:rPr lang="en-US" sz="2400" i="1" baseline="-13888" dirty="0">
                    <a:latin typeface="Georgia"/>
                    <a:cs typeface="Georgia"/>
                  </a:rPr>
                  <a:t>l</a:t>
                </a:r>
                <a:r>
                  <a:rPr lang="en-US" sz="2400" i="1" spc="434" baseline="-13888" dirty="0">
                    <a:latin typeface="Georgia"/>
                    <a:cs typeface="Georgia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sequence</a:t>
                </a:r>
                <a:r>
                  <a:rPr lang="en-US" sz="2000" spc="15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represents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50" dirty="0">
                    <a:latin typeface="Times New Roman"/>
                    <a:cs typeface="Times New Roman"/>
                  </a:rPr>
                  <a:t>an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evolving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model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for</a:t>
                </a:r>
                <a:r>
                  <a:rPr lang="en-US" sz="2000" spc="155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30" dirty="0">
                    <a:latin typeface="Times New Roman"/>
                    <a:cs typeface="Times New Roman"/>
                  </a:rPr>
                  <a:t>the </a:t>
                </a:r>
                <a:r>
                  <a:rPr lang="en-US" sz="2000" dirty="0">
                    <a:latin typeface="Times New Roman"/>
                    <a:cs typeface="Times New Roman"/>
                  </a:rPr>
                  <a:t>response</a:t>
                </a:r>
                <a:r>
                  <a:rPr lang="en-US" sz="2000" spc="130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85" dirty="0">
                    <a:latin typeface="Times New Roman"/>
                    <a:cs typeface="Times New Roman"/>
                  </a:rPr>
                  <a:t>that</a:t>
                </a:r>
                <a:r>
                  <a:rPr lang="en-US" sz="2000" spc="13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is</a:t>
                </a:r>
                <a:r>
                  <a:rPr lang="en-US" sz="2000" spc="135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60" dirty="0">
                    <a:latin typeface="Times New Roman"/>
                    <a:cs typeface="Times New Roman"/>
                  </a:rPr>
                  <a:t>updated</a:t>
                </a:r>
                <a:r>
                  <a:rPr lang="en-US" sz="2000" spc="14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as</a:t>
                </a:r>
                <a:r>
                  <a:rPr lang="en-US" sz="2000" spc="135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each</a:t>
                </a:r>
                <a:r>
                  <a:rPr lang="en-US" sz="2000" spc="140" dirty="0">
                    <a:latin typeface="Times New Roman"/>
                    <a:cs typeface="Times New Roman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element</a:t>
                </a:r>
                <a:r>
                  <a:rPr lang="en-US" sz="2000" spc="135" dirty="0">
                    <a:latin typeface="Times New Roman"/>
                    <a:cs typeface="Times New Roman"/>
                  </a:rPr>
                  <a:t> </a:t>
                </a:r>
                <a:r>
                  <a:rPr lang="en-US" sz="2000" i="1" dirty="0" err="1">
                    <a:latin typeface="Georgia"/>
                    <a:cs typeface="Georgia"/>
                  </a:rPr>
                  <a:t>X</a:t>
                </a:r>
                <a:r>
                  <a:rPr lang="en-US" sz="2400" i="1" baseline="-13888" dirty="0" err="1">
                    <a:latin typeface="Georgia"/>
                    <a:cs typeface="Georgia"/>
                  </a:rPr>
                  <a:t>l</a:t>
                </a:r>
                <a:r>
                  <a:rPr lang="en-US" sz="2400" i="1" spc="397" baseline="-13888" dirty="0">
                    <a:latin typeface="Georgia"/>
                    <a:cs typeface="Georgia"/>
                  </a:rPr>
                  <a:t> </a:t>
                </a:r>
                <a:r>
                  <a:rPr lang="en-US" sz="2000" dirty="0">
                    <a:latin typeface="Times New Roman"/>
                    <a:cs typeface="Times New Roman"/>
                  </a:rPr>
                  <a:t>is</a:t>
                </a:r>
                <a:r>
                  <a:rPr lang="en-US" sz="2000" spc="135" dirty="0">
                    <a:latin typeface="Times New Roman"/>
                    <a:cs typeface="Times New Roman"/>
                  </a:rPr>
                  <a:t> </a:t>
                </a:r>
                <a:r>
                  <a:rPr lang="en-US" sz="2000" spc="-10" dirty="0">
                    <a:latin typeface="Times New Roman"/>
                    <a:cs typeface="Times New Roman"/>
                  </a:rPr>
                  <a:t>processed.</a:t>
                </a:r>
                <a:endParaRPr lang="en-US" sz="2000" dirty="0">
                  <a:latin typeface="Times New Roman"/>
                  <a:cs typeface="Times New Roman"/>
                </a:endParaRPr>
              </a:p>
              <a:p>
                <a:pPr marL="176530" marR="114300" indent="-139065">
                  <a:lnSpc>
                    <a:spcPct val="102600"/>
                  </a:lnSpc>
                  <a:spcBef>
                    <a:spcPts val="85"/>
                  </a:spcBef>
                  <a:buClr>
                    <a:srgbClr val="3333B2"/>
                  </a:buClr>
                  <a:buFont typeface="Meiryo UI"/>
                  <a:buChar char="•"/>
                  <a:tabLst>
                    <a:tab pos="176530" algn="l"/>
                  </a:tabLst>
                </a:pPr>
                <a:endParaRPr sz="2000" dirty="0">
                  <a:latin typeface="Lucida Grande"/>
                  <a:cs typeface="Lucida Grande"/>
                </a:endParaRPr>
              </a:p>
            </p:txBody>
          </p:sp>
        </mc:Choice>
        <mc:Fallback xmlns="">
          <p:sp>
            <p:nvSpPr>
              <p:cNvPr id="89" name="object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32" y="3858744"/>
                <a:ext cx="8001000" cy="2570062"/>
              </a:xfrm>
              <a:prstGeom prst="rect">
                <a:avLst/>
              </a:prstGeom>
              <a:blipFill>
                <a:blip r:embed="rId2"/>
                <a:stretch>
                  <a:fillRect l="-1426" t="-3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" name="Picture 91">
            <a:extLst>
              <a:ext uri="{FF2B5EF4-FFF2-40B4-BE49-F238E27FC236}">
                <a16:creationId xmlns:a16="http://schemas.microsoft.com/office/drawing/2014/main" id="{060CEF70-C63E-B536-771F-5DB1E26965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57" y="1030072"/>
            <a:ext cx="6991350" cy="2789200"/>
          </a:xfrm>
          <a:prstGeom prst="rect">
            <a:avLst/>
          </a:prstGeom>
        </p:spPr>
      </p:pic>
      <p:sp>
        <p:nvSpPr>
          <p:cNvPr id="93" name="Slide Number Placeholder 92">
            <a:extLst>
              <a:ext uri="{FF2B5EF4-FFF2-40B4-BE49-F238E27FC236}">
                <a16:creationId xmlns:a16="http://schemas.microsoft.com/office/drawing/2014/main" id="{2E572DE4-F546-0563-2E5A-B083AC87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25168">
              <a:spcBef>
                <a:spcPts val="268"/>
              </a:spcBef>
            </a:pPr>
            <a:r>
              <a:rPr spc="109" dirty="0"/>
              <a:t>RNN</a:t>
            </a:r>
            <a:r>
              <a:rPr spc="307" dirty="0"/>
              <a:t> </a:t>
            </a:r>
            <a:r>
              <a:rPr dirty="0"/>
              <a:t>in</a:t>
            </a:r>
            <a:r>
              <a:rPr spc="317" dirty="0"/>
              <a:t> </a:t>
            </a:r>
            <a:r>
              <a:rPr spc="-20" dirty="0"/>
              <a:t>Detail</a:t>
            </a: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0CDF6287-8CBD-A7E8-95DE-D7EB99742CB2}"/>
              </a:ext>
            </a:extLst>
          </p:cNvPr>
          <p:cNvSpPr txBox="1"/>
          <p:nvPr/>
        </p:nvSpPr>
        <p:spPr>
          <a:xfrm>
            <a:off x="489857" y="1088498"/>
            <a:ext cx="8349343" cy="4131708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lang="en-US" sz="2400" b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1388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i="1" spc="322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spc="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spc="-15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spc="-15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800" b="1" i="1" baseline="-1388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lp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sz="2400" b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b="1" i="1"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components,</a:t>
            </a:r>
            <a:r>
              <a:rPr lang="en-US" sz="2400" b="1" spc="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i="1" spc="300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400" b="1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spc="-37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spc="-37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i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b="1" i="1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b="1" i="1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baseline="-1388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lK</a:t>
            </a:r>
            <a:r>
              <a:rPr lang="en-US" sz="2800" b="1" i="1" spc="-112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en-US" sz="2400" b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spc="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i="1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components.</a:t>
            </a:r>
            <a:r>
              <a:rPr lang="en-US" sz="2400" b="1" spc="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US" sz="24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</a:t>
            </a:r>
            <a:r>
              <a:rPr lang="en-US"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en-US" sz="2400" b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2400" b="1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</a:t>
            </a:r>
            <a:r>
              <a:rPr lang="en-US" sz="2400" b="1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</a:t>
            </a:r>
            <a:r>
              <a:rPr lang="en-US"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lang="en-US" sz="2400" b="1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b="1" i="1" spc="30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b="1" i="1" spc="367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lang="en-US" sz="2400" b="1" dirty="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lang="en-US" sz="2000" b="1" dirty="0">
                <a:latin typeface="Times New Roman"/>
                <a:cs typeface="Times New Roman"/>
              </a:rPr>
              <a:t>Often</a:t>
            </a:r>
            <a:r>
              <a:rPr lang="en-US" sz="2000" b="1" spc="17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we</a:t>
            </a:r>
            <a:r>
              <a:rPr lang="en-US" sz="2000" b="1" spc="17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are</a:t>
            </a:r>
            <a:r>
              <a:rPr lang="en-US" sz="2000" b="1" spc="17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concerned</a:t>
            </a:r>
            <a:r>
              <a:rPr lang="en-US" sz="2000" b="1" spc="180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only</a:t>
            </a:r>
            <a:r>
              <a:rPr lang="en-US" sz="2000" b="1" spc="17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with</a:t>
            </a:r>
            <a:r>
              <a:rPr lang="en-US" sz="2000" b="1" spc="170" dirty="0">
                <a:latin typeface="Times New Roman"/>
                <a:cs typeface="Times New Roman"/>
              </a:rPr>
              <a:t> </a:t>
            </a:r>
            <a:r>
              <a:rPr lang="en-US" sz="2000" b="1" spc="55" dirty="0">
                <a:latin typeface="Times New Roman"/>
                <a:cs typeface="Times New Roman"/>
              </a:rPr>
              <a:t>the</a:t>
            </a:r>
            <a:r>
              <a:rPr lang="en-US" sz="2000" b="1" spc="175" dirty="0">
                <a:latin typeface="Times New Roman"/>
                <a:cs typeface="Times New Roman"/>
              </a:rPr>
              <a:t> </a:t>
            </a:r>
            <a:r>
              <a:rPr lang="en-US" sz="2000" b="1" dirty="0">
                <a:latin typeface="Times New Roman"/>
                <a:cs typeface="Times New Roman"/>
              </a:rPr>
              <a:t>prediction</a:t>
            </a:r>
            <a:r>
              <a:rPr lang="en-US" sz="2000" b="1" spc="170" dirty="0">
                <a:latin typeface="Times New Roman"/>
                <a:cs typeface="Times New Roman"/>
              </a:rPr>
              <a:t> </a:t>
            </a:r>
            <a:r>
              <a:rPr lang="en-US" sz="2000" b="1" i="1" spc="55" dirty="0">
                <a:latin typeface="Georgia"/>
                <a:cs typeface="Georgia"/>
              </a:rPr>
              <a:t>O</a:t>
            </a:r>
            <a:r>
              <a:rPr lang="en-US" sz="2400" b="1" i="1" spc="82" baseline="-10416" dirty="0">
                <a:latin typeface="Georgia"/>
                <a:cs typeface="Georgia"/>
              </a:rPr>
              <a:t>L</a:t>
            </a:r>
            <a:r>
              <a:rPr lang="en-US" sz="2400" b="1" i="1" spc="465" baseline="-10416" dirty="0">
                <a:latin typeface="Georgia"/>
                <a:cs typeface="Georgia"/>
              </a:rPr>
              <a:t> </a:t>
            </a:r>
            <a:r>
              <a:rPr lang="en-US" sz="2000" b="1" spc="90" dirty="0">
                <a:latin typeface="Times New Roman"/>
                <a:cs typeface="Times New Roman"/>
              </a:rPr>
              <a:t>at</a:t>
            </a:r>
            <a:r>
              <a:rPr lang="en-US" sz="2000" b="1" spc="170" dirty="0">
                <a:latin typeface="Times New Roman"/>
                <a:cs typeface="Times New Roman"/>
              </a:rPr>
              <a:t> </a:t>
            </a:r>
            <a:r>
              <a:rPr lang="en-US" sz="2000" b="1" spc="55" dirty="0">
                <a:latin typeface="Times New Roman"/>
                <a:cs typeface="Times New Roman"/>
              </a:rPr>
              <a:t>the</a:t>
            </a:r>
            <a:r>
              <a:rPr lang="en-US" sz="2000" b="1" spc="175" dirty="0">
                <a:latin typeface="Times New Roman"/>
                <a:cs typeface="Times New Roman"/>
              </a:rPr>
              <a:t> </a:t>
            </a:r>
            <a:r>
              <a:rPr lang="en-US" sz="2000" b="1" spc="-20" dirty="0">
                <a:latin typeface="Times New Roman"/>
                <a:cs typeface="Times New Roman"/>
              </a:rPr>
              <a:t>last </a:t>
            </a:r>
            <a:r>
              <a:rPr lang="en-US" sz="2000" b="1" spc="50" dirty="0">
                <a:latin typeface="Times New Roman"/>
                <a:cs typeface="Times New Roman"/>
              </a:rPr>
              <a:t>unit.</a:t>
            </a:r>
            <a:r>
              <a:rPr lang="en-US" sz="2000" b="1" spc="260" dirty="0">
                <a:latin typeface="Times New Roman"/>
                <a:cs typeface="Times New Roman"/>
              </a:rPr>
              <a:t> </a:t>
            </a:r>
            <a:r>
              <a:rPr lang="en-US" sz="2000" b="1" spc="20" dirty="0">
                <a:latin typeface="Times New Roman"/>
                <a:cs typeface="Times New Roman"/>
              </a:rPr>
              <a:t>For</a:t>
            </a:r>
            <a:r>
              <a:rPr lang="en-US" sz="2000" b="1" spc="130" dirty="0">
                <a:latin typeface="Times New Roman"/>
                <a:cs typeface="Times New Roman"/>
              </a:rPr>
              <a:t> </a:t>
            </a:r>
            <a:r>
              <a:rPr lang="en-US" sz="2000" b="1" spc="20" dirty="0">
                <a:latin typeface="Times New Roman"/>
                <a:cs typeface="Times New Roman"/>
              </a:rPr>
              <a:t>squared</a:t>
            </a:r>
            <a:r>
              <a:rPr lang="en-US" sz="2000" b="1" spc="130" dirty="0">
                <a:latin typeface="Times New Roman"/>
                <a:cs typeface="Times New Roman"/>
              </a:rPr>
              <a:t> </a:t>
            </a:r>
            <a:r>
              <a:rPr lang="en-US" sz="2000" b="1" spc="20" dirty="0">
                <a:latin typeface="Times New Roman"/>
                <a:cs typeface="Times New Roman"/>
              </a:rPr>
              <a:t>error</a:t>
            </a:r>
            <a:r>
              <a:rPr lang="en-US" sz="2000" b="1" spc="125" dirty="0">
                <a:latin typeface="Times New Roman"/>
                <a:cs typeface="Times New Roman"/>
              </a:rPr>
              <a:t> </a:t>
            </a:r>
            <a:r>
              <a:rPr lang="en-US" sz="2000" b="1" spc="20" dirty="0">
                <a:latin typeface="Times New Roman"/>
                <a:cs typeface="Times New Roman"/>
              </a:rPr>
              <a:t>loss,</a:t>
            </a:r>
            <a:r>
              <a:rPr lang="en-US" sz="2000" b="1" spc="125" dirty="0">
                <a:latin typeface="Times New Roman"/>
                <a:cs typeface="Times New Roman"/>
              </a:rPr>
              <a:t> </a:t>
            </a:r>
            <a:r>
              <a:rPr lang="en-US" sz="2000" b="1" spc="50" dirty="0">
                <a:latin typeface="Times New Roman"/>
                <a:cs typeface="Times New Roman"/>
              </a:rPr>
              <a:t>and</a:t>
            </a:r>
            <a:r>
              <a:rPr lang="en-US" sz="2000" b="1" spc="120" dirty="0">
                <a:latin typeface="Times New Roman"/>
                <a:cs typeface="Times New Roman"/>
              </a:rPr>
              <a:t> </a:t>
            </a:r>
            <a:r>
              <a:rPr lang="en-US" sz="2000" b="1" i="1" spc="20" dirty="0">
                <a:latin typeface="Georgia"/>
                <a:cs typeface="Georgia"/>
              </a:rPr>
              <a:t>n</a:t>
            </a:r>
            <a:r>
              <a:rPr lang="en-US" sz="2000" b="1" i="1" spc="135" dirty="0">
                <a:latin typeface="Georgia"/>
                <a:cs typeface="Georgia"/>
              </a:rPr>
              <a:t> </a:t>
            </a:r>
            <a:r>
              <a:rPr lang="en-US" sz="2000" b="1" spc="20" dirty="0">
                <a:latin typeface="Times New Roman"/>
                <a:cs typeface="Times New Roman"/>
              </a:rPr>
              <a:t>sequence/response</a:t>
            </a:r>
            <a:r>
              <a:rPr lang="en-US" sz="2000" b="1" spc="125" dirty="0">
                <a:latin typeface="Times New Roman"/>
                <a:cs typeface="Times New Roman"/>
              </a:rPr>
              <a:t> </a:t>
            </a:r>
            <a:r>
              <a:rPr lang="en-US" sz="2000" b="1" spc="20" dirty="0">
                <a:latin typeface="Times New Roman"/>
                <a:cs typeface="Times New Roman"/>
              </a:rPr>
              <a:t>pairs,</a:t>
            </a:r>
            <a:r>
              <a:rPr lang="en-US" sz="2000" b="1" spc="135" dirty="0">
                <a:latin typeface="Times New Roman"/>
                <a:cs typeface="Times New Roman"/>
              </a:rPr>
              <a:t> </a:t>
            </a:r>
            <a:r>
              <a:rPr lang="en-US" sz="2000" b="1" spc="-25" dirty="0">
                <a:latin typeface="Times New Roman"/>
                <a:cs typeface="Times New Roman"/>
              </a:rPr>
              <a:t>we </a:t>
            </a:r>
            <a:r>
              <a:rPr lang="en-US" sz="2000" b="1" dirty="0">
                <a:latin typeface="Times New Roman"/>
                <a:cs typeface="Times New Roman"/>
              </a:rPr>
              <a:t>would</a:t>
            </a:r>
            <a:r>
              <a:rPr lang="en-US" sz="2000" b="1" spc="135" dirty="0">
                <a:latin typeface="Times New Roman"/>
                <a:cs typeface="Times New Roman"/>
              </a:rPr>
              <a:t> </a:t>
            </a:r>
            <a:r>
              <a:rPr lang="en-US" sz="2000" b="1" spc="-10" dirty="0">
                <a:latin typeface="Times New Roman"/>
                <a:cs typeface="Times New Roman"/>
              </a:rPr>
              <a:t>minimize</a:t>
            </a:r>
            <a:endParaRPr lang="en-US" sz="2000" b="1" dirty="0">
              <a:latin typeface="Times New Roman"/>
              <a:cs typeface="Times New Roman"/>
            </a:endParaRPr>
          </a:p>
          <a:p>
            <a:pPr marL="38100" marR="30480">
              <a:lnSpc>
                <a:spcPct val="102600"/>
              </a:lnSpc>
              <a:spcBef>
                <a:spcPts val="55"/>
              </a:spcBef>
            </a:pP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11">
            <a:extLst>
              <a:ext uri="{FF2B5EF4-FFF2-40B4-BE49-F238E27FC236}">
                <a16:creationId xmlns:a16="http://schemas.microsoft.com/office/drawing/2014/main" id="{E248C803-FB45-143E-8A73-9FF0999DF99A}"/>
              </a:ext>
            </a:extLst>
          </p:cNvPr>
          <p:cNvSpPr txBox="1"/>
          <p:nvPr/>
        </p:nvSpPr>
        <p:spPr>
          <a:xfrm>
            <a:off x="1767296" y="2295437"/>
            <a:ext cx="4277406" cy="368049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091055" algn="l"/>
              </a:tabLst>
            </a:pPr>
            <a:r>
              <a:rPr sz="1400" dirty="0">
                <a:latin typeface="Arial"/>
                <a:cs typeface="Arial"/>
              </a:rPr>
              <a:t>	 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2" name="Picture 41" descr="A black and white math symbols&#10;&#10;Description automatically generated with medium confidence">
            <a:extLst>
              <a:ext uri="{FF2B5EF4-FFF2-40B4-BE49-F238E27FC236}">
                <a16:creationId xmlns:a16="http://schemas.microsoft.com/office/drawing/2014/main" id="{A130B638-0057-3B46-EFB0-73D5112E2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236680"/>
            <a:ext cx="5976257" cy="195432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4C57011-9EAE-25E9-6BEC-11A9F5E678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56" y="4778352"/>
            <a:ext cx="7423140" cy="8837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4A0BB6-D975-F4A2-DD73-D2604EB14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F9CDE3C-29CA-F994-A0B6-36BAEC616FA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101766" y="2544324"/>
            <a:ext cx="2913459" cy="238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9A6ED5-EE43-0CB8-EE88-AA4F123E89B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56872" y="5662059"/>
            <a:ext cx="6920905" cy="3077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A50E-459B-AF13-9E23-A9356E35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99DD2-4725-9242-8D0B-D70D6A86A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Introduction</a:t>
            </a:r>
          </a:p>
          <a:p>
            <a:r>
              <a:rPr lang="en-US" dirty="0"/>
              <a:t>Deep Learning Model 1: Multilayer Perception </a:t>
            </a:r>
          </a:p>
          <a:p>
            <a:r>
              <a:rPr lang="en-US" dirty="0"/>
              <a:t>Deep Learning Model 2: Convolutional Neural Networks </a:t>
            </a:r>
          </a:p>
          <a:p>
            <a:r>
              <a:rPr lang="en-US" dirty="0"/>
              <a:t>Deep Learning Model 3: Recurrent Neural Networks</a:t>
            </a:r>
          </a:p>
          <a:p>
            <a:r>
              <a:rPr lang="en-US" dirty="0">
                <a:solidFill>
                  <a:srgbClr val="FF0000"/>
                </a:solidFill>
              </a:rPr>
              <a:t>Use case 1: Sentiment Prediction</a:t>
            </a:r>
          </a:p>
          <a:p>
            <a:r>
              <a:rPr lang="en-US" dirty="0"/>
              <a:t>Use case 2: Forecast</a:t>
            </a:r>
          </a:p>
          <a:p>
            <a:r>
              <a:rPr lang="en-US" dirty="0"/>
              <a:t>Deep Learning Optimization</a:t>
            </a:r>
          </a:p>
          <a:p>
            <a:r>
              <a:rPr lang="en-US" dirty="0"/>
              <a:t>A bag of tricks</a:t>
            </a:r>
          </a:p>
          <a:p>
            <a:r>
              <a:rPr lang="en-US" dirty="0"/>
              <a:t>Some Interesting Findings in Extremely Deep Neural Networks (</a:t>
            </a:r>
            <a:r>
              <a:rPr lang="en-US" dirty="0" err="1"/>
              <a:t>ChatGPT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0E81-9EB6-7DFB-72FE-1530F7A4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591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95F33DE-41D1-A5AA-55DF-C97CD54E8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09" dirty="0"/>
              <a:t>RNN</a:t>
            </a:r>
            <a:r>
              <a:rPr lang="en-US" spc="347" dirty="0"/>
              <a:t> </a:t>
            </a:r>
            <a:r>
              <a:rPr lang="en-US" spc="149" dirty="0"/>
              <a:t>and</a:t>
            </a:r>
            <a:r>
              <a:rPr lang="en-US" spc="367" dirty="0"/>
              <a:t> </a:t>
            </a:r>
            <a:r>
              <a:rPr lang="en-US" dirty="0"/>
              <a:t>IMDB</a:t>
            </a:r>
            <a:r>
              <a:rPr lang="en-US" spc="357" dirty="0"/>
              <a:t> </a:t>
            </a:r>
            <a:r>
              <a:rPr lang="en-US" spc="-20" dirty="0"/>
              <a:t>Reviews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72CF22-CD5C-8946-753B-D29852A9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6B13424-06A5-2D28-7871-B3FA9216BFFA}"/>
                  </a:ext>
                </a:extLst>
              </p:cNvPr>
              <p:cNvSpPr txBox="1"/>
              <p:nvPr/>
            </p:nvSpPr>
            <p:spPr>
              <a:xfrm>
                <a:off x="381000" y="1297455"/>
                <a:ext cx="8088176" cy="426309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0365" marR="92075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Arial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spc="1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document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  <a:r>
                  <a:rPr lang="en-US" sz="2000" spc="1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n-US" sz="2000" spc="1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spc="1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sequence</a:t>
                </a:r>
                <a:r>
                  <a:rPr lang="en-US" sz="2000" spc="1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n-US" sz="2000" spc="1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words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15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{</m:t>
                    </m:r>
                    <m:sSubSup>
                      <m:sSubSupPr>
                        <m:ctrlPr>
                          <a:rPr lang="ar-AE" sz="2000" b="0" i="1" spc="15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sSub>
                          <m:sSubPr>
                            <m:ctrlPr>
                              <a:rPr lang="ar-AE" sz="2000" b="0" i="1" spc="15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ar-AE" sz="2000" b="0" i="1" spc="15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sz="2000" b="0" i="1" spc="15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ar-AE" sz="2000" b="0" i="1" spc="15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}</m:t>
                        </m:r>
                      </m:e>
                      <m:sub>
                        <m:r>
                          <a:rPr lang="ar-AE" sz="2000" b="0" i="1" spc="15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ar-AE" sz="2000" b="0" i="1" spc="15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p>
                    </m:sSubSup>
                  </m:oMath>
                </a14:m>
                <a:r>
                  <a:rPr lang="ar-AE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ar-AE" sz="2000" spc="2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typically</a:t>
                </a:r>
                <a:r>
                  <a:rPr lang="en-US" sz="2000" spc="1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truncate/pad</a:t>
                </a:r>
                <a:r>
                  <a:rPr lang="en-US" sz="2000" spc="19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spc="1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documents</a:t>
                </a:r>
                <a:r>
                  <a:rPr lang="en-US" sz="2000" spc="1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n-US" sz="2000" spc="1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spc="1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</a:t>
                </a:r>
                <a:r>
                  <a:rPr lang="en-US" sz="2000" spc="1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spc="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000" i="1" spc="10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n-US" sz="2000" spc="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words</a:t>
                </a:r>
                <a:r>
                  <a:rPr lang="en-US" sz="2000" spc="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(we</a:t>
                </a:r>
                <a:r>
                  <a:rPr lang="en-US" sz="2000" spc="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</a:t>
                </a:r>
                <a:r>
                  <a:rPr lang="en-US" sz="2000" spc="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spc="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000" i="1" spc="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sz="2000" spc="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500).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0365" marR="92075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Arial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spc="-3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2400" i="1" spc="-44" baseline="-13888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i="1" spc="419" baseline="-138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represented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spc="1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one-hot</a:t>
                </a:r>
                <a:r>
                  <a:rPr lang="en-US" sz="2000" i="1" spc="185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encoded</a:t>
                </a:r>
                <a:r>
                  <a:rPr lang="en-US" sz="2000" i="1" spc="150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</a:t>
                </a:r>
                <a:r>
                  <a:rPr lang="en-US" sz="2000" spc="1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400" i="1" baseline="-13888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sz="2400" i="1" spc="494" baseline="-13888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(dummy</a:t>
                </a:r>
                <a:r>
                  <a:rPr lang="en-US" sz="2000" spc="20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variable)</a:t>
                </a:r>
                <a:r>
                  <a:rPr lang="en-US" sz="2000" spc="1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n-US" sz="2000" spc="1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</a:t>
                </a:r>
                <a:r>
                  <a:rPr lang="en-US" sz="2000" spc="20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sz="2000" i="1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spc="1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</a:t>
                </a:r>
                <a:r>
                  <a:rPr lang="en-US" sz="2000" spc="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</a:t>
                </a:r>
                <a:r>
                  <a:rPr lang="en-US" sz="2000" spc="19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zeros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sz="2000" spc="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spc="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single</a:t>
                </a:r>
                <a:r>
                  <a:rPr lang="en-US" sz="2000" spc="1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one</a:t>
                </a:r>
                <a:r>
                  <a:rPr lang="en-US" sz="2000" spc="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spc="1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spc="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</a:t>
                </a:r>
                <a:r>
                  <a:rPr lang="en-US" sz="2000" spc="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</a:t>
                </a:r>
                <a:r>
                  <a:rPr lang="en-US" sz="2000" spc="1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8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</a:t>
                </a:r>
                <a:r>
                  <a:rPr lang="en-US" sz="2000" spc="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</a:t>
                </a:r>
                <a:r>
                  <a:rPr lang="en-US" sz="2000" spc="1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spc="13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dictionary.</a:t>
                </a:r>
              </a:p>
              <a:p>
                <a:pPr marL="380365" marR="56515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Arial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en-US" sz="2000" spc="2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results</a:t>
                </a:r>
                <a:r>
                  <a:rPr lang="en-US" sz="2000" spc="2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spc="2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</a:t>
                </a:r>
                <a:r>
                  <a:rPr lang="en-US" sz="2000" spc="2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extremely</a:t>
                </a:r>
                <a:r>
                  <a:rPr lang="en-US" sz="2000" spc="2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sparse</a:t>
                </a:r>
                <a:r>
                  <a:rPr lang="en-US" sz="2000" spc="24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  <a:r>
                  <a:rPr lang="en-US" sz="2000" spc="2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representation,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</a:t>
                </a:r>
                <a:r>
                  <a:rPr lang="en-US" sz="2000" spc="10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would</a:t>
                </a:r>
                <a:r>
                  <a:rPr lang="en-US" sz="2000" spc="1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</a:t>
                </a:r>
                <a:r>
                  <a:rPr lang="en-US" sz="2000" spc="10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</a:t>
                </a:r>
                <a:r>
                  <a:rPr lang="en-US" sz="2000" spc="10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well.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0365" marR="459740" indent="-342900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Arial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</a:t>
                </a:r>
                <a:r>
                  <a:rPr lang="en-US" sz="2000" spc="2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</a:t>
                </a:r>
                <a:r>
                  <a:rPr lang="en-US" sz="2000" spc="2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</a:t>
                </a:r>
                <a:r>
                  <a:rPr lang="en-US" sz="2000" spc="2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000" spc="2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lower-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dimensional</a:t>
                </a:r>
                <a:r>
                  <a:rPr lang="en-US" sz="2000" spc="2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pretrained</a:t>
                </a:r>
                <a:r>
                  <a:rPr lang="en-US" sz="2000" spc="254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spc="-20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word </a:t>
                </a:r>
                <a:r>
                  <a:rPr lang="en-US" sz="2000" i="1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embedding</a:t>
                </a:r>
                <a:r>
                  <a:rPr lang="en-US" sz="2000" i="1" spc="135" dirty="0">
                    <a:solidFill>
                      <a:srgbClr val="0099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matrix</a:t>
                </a:r>
                <a:r>
                  <a:rPr lang="en-US" sz="2000" spc="1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en-US" sz="2000" b="1" spc="1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000" i="1" spc="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spc="-5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×</a:t>
                </a:r>
                <a:r>
                  <a:rPr lang="en-US" sz="2000" i="1" spc="-10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sz="2000" i="1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spc="6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spc="1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next</a:t>
                </a:r>
                <a:r>
                  <a:rPr lang="en-US" sz="2000" spc="14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slide).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80365" marR="90805" indent="-342900" algn="just">
                  <a:lnSpc>
                    <a:spcPct val="102600"/>
                  </a:lnSpc>
                  <a:spcBef>
                    <a:spcPts val="900"/>
                  </a:spcBef>
                  <a:buClr>
                    <a:srgbClr val="3333B2"/>
                  </a:buClr>
                  <a:buFont typeface="Arial" panose="020B0604020202020204" pitchFamily="34" charset="0"/>
                  <a:buChar char="•"/>
                  <a:tabLst>
                    <a:tab pos="176530" algn="l"/>
                  </a:tabLst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en-US" sz="2000" spc="2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reduces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binary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</a:t>
                </a:r>
                <a:r>
                  <a:rPr lang="en-US" sz="2000" spc="2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sz="2000" i="1" spc="3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5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</a:t>
                </a:r>
                <a:r>
                  <a:rPr lang="en-US" sz="2000" spc="2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real</a:t>
                </a:r>
                <a:r>
                  <a:rPr lang="en-US" sz="2000" spc="1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</a:t>
                </a:r>
                <a:r>
                  <a:rPr lang="en-US" sz="2000" spc="1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vector</a:t>
                </a:r>
                <a:r>
                  <a:rPr lang="en-US" sz="2000" spc="1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</a:t>
                </a:r>
                <a:r>
                  <a:rPr lang="en-US" sz="2000" spc="1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dimension</a:t>
                </a:r>
                <a:r>
                  <a:rPr lang="en-US" sz="2000" i="1" spc="10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pc="10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sz="2000" b="0" i="1" spc="10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≪10</m:t>
                    </m:r>
                    <m:r>
                      <a:rPr lang="en-US" sz="2000" b="0" i="1" spc="105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𝐾</m:t>
                    </m:r>
                  </m:oMath>
                </a14:m>
                <a:r>
                  <a:rPr lang="en-US" sz="2000" i="1" spc="2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(e.g.</a:t>
                </a:r>
                <a:r>
                  <a:rPr lang="en-US" sz="2000" spc="32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</a:t>
                </a:r>
                <a:r>
                  <a:rPr lang="en-US" sz="2000" i="1" spc="18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</a:t>
                </a:r>
                <a:r>
                  <a:rPr lang="en-US" sz="2000" spc="17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3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  <a:r>
                  <a:rPr lang="en-US" sz="2000" spc="2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spc="-1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hundreds.)</a:t>
                </a:r>
                <a:endParaRPr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object 4">
                <a:extLst>
                  <a:ext uri="{FF2B5EF4-FFF2-40B4-BE49-F238E27FC236}">
                    <a16:creationId xmlns:a16="http://schemas.microsoft.com/office/drawing/2014/main" id="{56B13424-06A5-2D28-7871-B3FA9216B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297455"/>
                <a:ext cx="8088176" cy="4263090"/>
              </a:xfrm>
              <a:prstGeom prst="rect">
                <a:avLst/>
              </a:prstGeom>
              <a:blipFill>
                <a:blip r:embed="rId2"/>
                <a:stretch>
                  <a:fillRect l="-1413" t="-1786" r="-942" b="-2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261959"/>
            <a:ext cx="8405676" cy="726804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algn="ctr">
              <a:spcBef>
                <a:spcPts val="268"/>
              </a:spcBef>
            </a:pPr>
            <a:r>
              <a:rPr dirty="0"/>
              <a:t>Word</a:t>
            </a:r>
            <a:r>
              <a:rPr spc="535" dirty="0"/>
              <a:t> </a:t>
            </a:r>
            <a:r>
              <a:rPr spc="79" dirty="0"/>
              <a:t>Embedding</a:t>
            </a:r>
          </a:p>
        </p:txBody>
      </p:sp>
      <p:sp>
        <p:nvSpPr>
          <p:cNvPr id="160" name="object 160"/>
          <p:cNvSpPr txBox="1"/>
          <p:nvPr/>
        </p:nvSpPr>
        <p:spPr>
          <a:xfrm>
            <a:off x="252583" y="4648200"/>
            <a:ext cx="8702242" cy="1433601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R="529778">
              <a:lnSpc>
                <a:spcPts val="1883"/>
              </a:lnSpc>
              <a:spcBef>
                <a:spcPts val="268"/>
              </a:spcBef>
            </a:pPr>
            <a:r>
              <a:rPr spc="99" dirty="0">
                <a:solidFill>
                  <a:srgbClr val="009900"/>
                </a:solidFill>
                <a:latin typeface="Times New Roman"/>
                <a:cs typeface="Times New Roman"/>
              </a:rPr>
              <a:t>this</a:t>
            </a:r>
            <a:r>
              <a:rPr spc="29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is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one</a:t>
            </a:r>
            <a:r>
              <a:rPr spc="29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of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129" dirty="0">
                <a:solidFill>
                  <a:srgbClr val="009900"/>
                </a:solidFill>
                <a:latin typeface="Times New Roman"/>
                <a:cs typeface="Times New Roman"/>
              </a:rPr>
              <a:t>the</a:t>
            </a:r>
            <a:r>
              <a:rPr spc="29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109" dirty="0">
                <a:solidFill>
                  <a:srgbClr val="009900"/>
                </a:solidFill>
                <a:latin typeface="Times New Roman"/>
                <a:cs typeface="Times New Roman"/>
              </a:rPr>
              <a:t>best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films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99" dirty="0">
                <a:solidFill>
                  <a:srgbClr val="009900"/>
                </a:solidFill>
                <a:latin typeface="Times New Roman"/>
                <a:cs typeface="Times New Roman"/>
              </a:rPr>
              <a:t>actually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119" dirty="0">
                <a:solidFill>
                  <a:srgbClr val="009900"/>
                </a:solidFill>
                <a:latin typeface="Times New Roman"/>
                <a:cs typeface="Times New Roman"/>
              </a:rPr>
              <a:t>the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109" dirty="0">
                <a:solidFill>
                  <a:srgbClr val="009900"/>
                </a:solidFill>
                <a:latin typeface="Times New Roman"/>
                <a:cs typeface="Times New Roman"/>
              </a:rPr>
              <a:t>best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I</a:t>
            </a:r>
            <a:r>
              <a:rPr spc="29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have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ever</a:t>
            </a:r>
            <a:r>
              <a:rPr spc="29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seen</a:t>
            </a:r>
            <a:r>
              <a:rPr spc="30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129" dirty="0">
                <a:solidFill>
                  <a:srgbClr val="009900"/>
                </a:solidFill>
                <a:latin typeface="Times New Roman"/>
                <a:cs typeface="Times New Roman"/>
              </a:rPr>
              <a:t>the</a:t>
            </a:r>
            <a:r>
              <a:rPr spc="297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-40" dirty="0">
                <a:solidFill>
                  <a:srgbClr val="009900"/>
                </a:solidFill>
                <a:latin typeface="Times New Roman"/>
                <a:cs typeface="Times New Roman"/>
              </a:rPr>
              <a:t>film</a:t>
            </a:r>
            <a:r>
              <a:rPr spc="119" dirty="0">
                <a:solidFill>
                  <a:srgbClr val="009900"/>
                </a:solidFill>
                <a:latin typeface="Times New Roman"/>
                <a:cs typeface="Times New Roman"/>
              </a:rPr>
              <a:t> starts</a:t>
            </a:r>
            <a:r>
              <a:rPr spc="248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one</a:t>
            </a:r>
            <a:r>
              <a:rPr spc="258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dirty="0">
                <a:solidFill>
                  <a:srgbClr val="009900"/>
                </a:solidFill>
                <a:latin typeface="Times New Roman"/>
                <a:cs typeface="Times New Roman"/>
              </a:rPr>
              <a:t>fall</a:t>
            </a:r>
            <a:r>
              <a:rPr spc="258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spc="99" dirty="0">
                <a:solidFill>
                  <a:srgbClr val="009900"/>
                </a:solidFill>
                <a:latin typeface="Times New Roman"/>
                <a:cs typeface="Times New Roman"/>
              </a:rPr>
              <a:t>day</a:t>
            </a:r>
            <a:r>
              <a:rPr spc="248" dirty="0">
                <a:solidFill>
                  <a:srgbClr val="009900"/>
                </a:solidFill>
                <a:latin typeface="Times New Roman"/>
                <a:cs typeface="Times New Roman"/>
              </a:rPr>
              <a:t> </a:t>
            </a:r>
            <a:r>
              <a:rPr i="1" spc="119" dirty="0">
                <a:solidFill>
                  <a:srgbClr val="009900"/>
                </a:solidFill>
                <a:latin typeface="Arial"/>
                <a:cs typeface="Arial"/>
              </a:rPr>
              <a:t>···</a:t>
            </a:r>
            <a:r>
              <a:rPr i="1" spc="-119" dirty="0">
                <a:solidFill>
                  <a:srgbClr val="009900"/>
                </a:solidFill>
                <a:latin typeface="Arial"/>
                <a:cs typeface="Arial"/>
              </a:rPr>
              <a:t> </a:t>
            </a:r>
            <a:r>
              <a:rPr spc="-99" dirty="0">
                <a:solidFill>
                  <a:srgbClr val="009900"/>
                </a:solidFill>
                <a:latin typeface="Times New Roman"/>
                <a:cs typeface="Times New Roman"/>
              </a:rPr>
              <a:t>.</a:t>
            </a:r>
            <a:endParaRPr lang="en-US" spc="-99" dirty="0">
              <a:solidFill>
                <a:srgbClr val="009900"/>
              </a:solidFill>
              <a:latin typeface="Times New Roman"/>
              <a:cs typeface="Times New Roman"/>
            </a:endParaRPr>
          </a:p>
          <a:p>
            <a:pPr marR="529778">
              <a:lnSpc>
                <a:spcPts val="1883"/>
              </a:lnSpc>
              <a:spcBef>
                <a:spcPts val="268"/>
              </a:spcBef>
            </a:pPr>
            <a:endParaRPr sz="1200" dirty="0">
              <a:latin typeface="Times New Roman"/>
              <a:cs typeface="Times New Roman"/>
            </a:endParaRPr>
          </a:p>
          <a:p>
            <a:pPr marL="25168" marR="10067">
              <a:lnSpc>
                <a:spcPct val="102600"/>
              </a:lnSpc>
              <a:spcBef>
                <a:spcPts val="10"/>
              </a:spcBef>
            </a:pPr>
            <a:r>
              <a:rPr sz="2000" spc="-149" dirty="0">
                <a:latin typeface="Lucida Grande"/>
                <a:cs typeface="Lucida Grande"/>
              </a:rPr>
              <a:t>Embeddings</a:t>
            </a:r>
            <a:r>
              <a:rPr sz="2000" spc="-20" dirty="0">
                <a:latin typeface="Lucida Grande"/>
                <a:cs typeface="Lucida Grande"/>
              </a:rPr>
              <a:t> </a:t>
            </a:r>
            <a:r>
              <a:rPr sz="2000" spc="-139" dirty="0">
                <a:latin typeface="Lucida Grande"/>
                <a:cs typeface="Lucida Grande"/>
              </a:rPr>
              <a:t>are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29" dirty="0">
                <a:latin typeface="Lucida Grande"/>
                <a:cs typeface="Lucida Grande"/>
              </a:rPr>
              <a:t>pretrained</a:t>
            </a:r>
            <a:r>
              <a:rPr sz="2000" spc="10" dirty="0">
                <a:latin typeface="Lucida Grande"/>
                <a:cs typeface="Lucida Grande"/>
              </a:rPr>
              <a:t> </a:t>
            </a:r>
            <a:r>
              <a:rPr sz="2000" spc="-218" dirty="0">
                <a:latin typeface="Lucida Grande"/>
                <a:cs typeface="Lucida Grande"/>
              </a:rPr>
              <a:t>on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59" dirty="0">
                <a:latin typeface="Lucida Grande"/>
                <a:cs typeface="Lucida Grande"/>
              </a:rPr>
              <a:t>very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49" dirty="0">
                <a:latin typeface="Lucida Grande"/>
                <a:cs typeface="Lucida Grande"/>
              </a:rPr>
              <a:t>large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corpora</a:t>
            </a:r>
            <a:r>
              <a:rPr sz="2000" spc="10" dirty="0">
                <a:latin typeface="Lucida Grande"/>
                <a:cs typeface="Lucida Grande"/>
              </a:rPr>
              <a:t> </a:t>
            </a:r>
            <a:r>
              <a:rPr sz="2000" spc="-208" dirty="0">
                <a:latin typeface="Lucida Grande"/>
                <a:cs typeface="Lucida Grande"/>
              </a:rPr>
              <a:t>of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documents, </a:t>
            </a:r>
            <a:r>
              <a:rPr sz="2000" spc="-188" dirty="0">
                <a:latin typeface="Lucida Grande"/>
                <a:cs typeface="Lucida Grande"/>
              </a:rPr>
              <a:t>using</a:t>
            </a:r>
            <a:r>
              <a:rPr sz="2000" spc="10" dirty="0">
                <a:latin typeface="Lucida Grande"/>
                <a:cs typeface="Lucida Grande"/>
              </a:rPr>
              <a:t> </a:t>
            </a:r>
            <a:r>
              <a:rPr sz="2000" spc="-188" dirty="0">
                <a:latin typeface="Lucida Grande"/>
                <a:cs typeface="Lucida Grande"/>
              </a:rPr>
              <a:t>methods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similar</a:t>
            </a:r>
            <a:r>
              <a:rPr sz="2000" spc="-59" dirty="0">
                <a:latin typeface="Lucida Grande"/>
                <a:cs typeface="Lucida Grande"/>
              </a:rPr>
              <a:t> to</a:t>
            </a:r>
            <a:r>
              <a:rPr sz="2000" spc="10" dirty="0">
                <a:latin typeface="Lucida Grande"/>
                <a:cs typeface="Lucida Grande"/>
              </a:rPr>
              <a:t> </a:t>
            </a:r>
            <a:r>
              <a:rPr sz="2000" spc="-99" dirty="0">
                <a:latin typeface="Lucida Grande"/>
                <a:cs typeface="Lucida Grande"/>
              </a:rPr>
              <a:t>principal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68" dirty="0">
                <a:latin typeface="Lucida Grande"/>
                <a:cs typeface="Lucida Grande"/>
              </a:rPr>
              <a:t>components.</a:t>
            </a:r>
            <a:r>
              <a:rPr sz="2000" spc="226" dirty="0">
                <a:latin typeface="Lucida Grande"/>
                <a:cs typeface="Lucida Grande"/>
              </a:rPr>
              <a:t>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word2vec</a:t>
            </a:r>
            <a:r>
              <a:rPr sz="200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50" dirty="0">
                <a:latin typeface="Lucida Grande"/>
                <a:cs typeface="Lucida Grande"/>
              </a:rPr>
              <a:t>and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GloVe</a:t>
            </a:r>
            <a:r>
              <a:rPr sz="2000" spc="-57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39" dirty="0">
                <a:latin typeface="Lucida Grande"/>
                <a:cs typeface="Lucida Grande"/>
              </a:rPr>
              <a:t>are</a:t>
            </a:r>
            <a:r>
              <a:rPr sz="2000" spc="50" dirty="0">
                <a:latin typeface="Lucida Grande"/>
                <a:cs typeface="Lucida Grande"/>
              </a:rPr>
              <a:t> </a:t>
            </a:r>
            <a:r>
              <a:rPr sz="2000" spc="-20" dirty="0">
                <a:latin typeface="Lucida Grande"/>
                <a:cs typeface="Lucida Grande"/>
              </a:rPr>
              <a:t>popular.</a:t>
            </a:r>
            <a:endParaRPr sz="2000" dirty="0">
              <a:latin typeface="Lucida Grande"/>
              <a:cs typeface="Lucida Grande"/>
            </a:endParaRPr>
          </a:p>
        </p:txBody>
      </p:sp>
      <p:sp>
        <p:nvSpPr>
          <p:cNvPr id="162" name="Slide Number Placeholder 161">
            <a:extLst>
              <a:ext uri="{FF2B5EF4-FFF2-40B4-BE49-F238E27FC236}">
                <a16:creationId xmlns:a16="http://schemas.microsoft.com/office/drawing/2014/main" id="{9AF5DA57-0E22-2D14-3A8A-4440B21AB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64" name="Picture 163">
            <a:extLst>
              <a:ext uri="{FF2B5EF4-FFF2-40B4-BE49-F238E27FC236}">
                <a16:creationId xmlns:a16="http://schemas.microsoft.com/office/drawing/2014/main" id="{BF9E22D9-83F7-A976-AD19-71455EDF5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95400"/>
            <a:ext cx="7315200" cy="2743200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74C4EC96-3635-BABF-B5A9-E80A14456E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765" y="3848100"/>
            <a:ext cx="73152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208098"/>
            <a:ext cx="8229600" cy="726804"/>
          </a:xfrm>
          <a:prstGeom prst="rect">
            <a:avLst/>
          </a:prstGeom>
        </p:spPr>
        <p:txBody>
          <a:bodyPr vert="horz" wrap="square" lIns="0" tIns="33975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>
              <a:spcBef>
                <a:spcPts val="268"/>
              </a:spcBef>
            </a:pPr>
            <a:r>
              <a:rPr spc="109" dirty="0"/>
              <a:t>RNN</a:t>
            </a:r>
            <a:r>
              <a:rPr spc="396" dirty="0"/>
              <a:t> </a:t>
            </a:r>
            <a:r>
              <a:rPr dirty="0"/>
              <a:t>on</a:t>
            </a:r>
            <a:r>
              <a:rPr spc="416" dirty="0"/>
              <a:t> </a:t>
            </a:r>
            <a:r>
              <a:rPr dirty="0"/>
              <a:t>IMDB</a:t>
            </a:r>
            <a:r>
              <a:rPr spc="404" dirty="0"/>
              <a:t> </a:t>
            </a:r>
            <a:r>
              <a:rPr spc="-20" dirty="0"/>
              <a:t>Reviews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342900" y="958093"/>
            <a:ext cx="8458200" cy="5286266"/>
          </a:xfrm>
          <a:prstGeom prst="rect">
            <a:avLst/>
          </a:prstGeom>
        </p:spPr>
        <p:txBody>
          <a:bodyPr vert="horz" wrap="square" lIns="0" tIns="201687" rIns="0" bIns="0" rtlCol="0">
            <a:spAutoFit/>
          </a:bodyPr>
          <a:lstStyle/>
          <a:p>
            <a:pPr marL="349830" marR="549912" indent="-275585">
              <a:lnSpc>
                <a:spcPct val="102600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sz="2600" spc="-40" dirty="0"/>
              <a:t>After</a:t>
            </a:r>
            <a:r>
              <a:rPr sz="2600" spc="-89" dirty="0"/>
              <a:t> </a:t>
            </a:r>
            <a:r>
              <a:rPr sz="2600" dirty="0"/>
              <a:t>a</a:t>
            </a:r>
            <a:r>
              <a:rPr sz="2600" spc="-30" dirty="0"/>
              <a:t> </a:t>
            </a:r>
            <a:r>
              <a:rPr sz="2600" spc="-40" dirty="0"/>
              <a:t>lot</a:t>
            </a:r>
            <a:r>
              <a:rPr sz="2600" spc="-30" dirty="0"/>
              <a:t> </a:t>
            </a:r>
            <a:r>
              <a:rPr sz="2600" spc="-208" dirty="0"/>
              <a:t>of</a:t>
            </a:r>
            <a:r>
              <a:rPr sz="2600" spc="30" dirty="0"/>
              <a:t> </a:t>
            </a:r>
            <a:r>
              <a:rPr sz="2600" spc="-149" dirty="0"/>
              <a:t>work,</a:t>
            </a:r>
            <a:r>
              <a:rPr sz="2600" spc="-20" dirty="0"/>
              <a:t> </a:t>
            </a:r>
            <a:r>
              <a:rPr sz="2600" spc="-119" dirty="0"/>
              <a:t>the</a:t>
            </a:r>
            <a:r>
              <a:rPr sz="2600" spc="-30" dirty="0"/>
              <a:t> </a:t>
            </a:r>
            <a:r>
              <a:rPr sz="2600" spc="-149" dirty="0"/>
              <a:t>results</a:t>
            </a:r>
            <a:r>
              <a:rPr sz="2600" spc="-20" dirty="0"/>
              <a:t> </a:t>
            </a:r>
            <a:r>
              <a:rPr sz="2600" spc="-139" dirty="0"/>
              <a:t>are</a:t>
            </a:r>
            <a:r>
              <a:rPr sz="2600" spc="-30" dirty="0"/>
              <a:t> </a:t>
            </a:r>
            <a:r>
              <a:rPr sz="2600" dirty="0"/>
              <a:t>a</a:t>
            </a:r>
            <a:r>
              <a:rPr sz="2600" spc="-20" dirty="0"/>
              <a:t> </a:t>
            </a:r>
            <a:r>
              <a:rPr sz="2600" spc="-149" dirty="0"/>
              <a:t>disappointing</a:t>
            </a:r>
            <a:r>
              <a:rPr sz="2600" spc="-30" dirty="0"/>
              <a:t> </a:t>
            </a:r>
            <a:r>
              <a:rPr sz="2600" spc="-50" dirty="0"/>
              <a:t>76% </a:t>
            </a:r>
            <a:r>
              <a:rPr sz="2600" spc="-20" dirty="0"/>
              <a:t>accuracy.</a:t>
            </a:r>
            <a:endParaRPr sz="2600" dirty="0"/>
          </a:p>
          <a:p>
            <a:pPr marL="349830" marR="60402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sz="2600" dirty="0"/>
              <a:t>We </a:t>
            </a:r>
            <a:r>
              <a:rPr sz="2600" spc="-139" dirty="0"/>
              <a:t>then</a:t>
            </a:r>
            <a:r>
              <a:rPr sz="2600" spc="10" dirty="0"/>
              <a:t> </a:t>
            </a:r>
            <a:r>
              <a:rPr sz="2600" spc="-40" dirty="0"/>
              <a:t>fit</a:t>
            </a:r>
            <a:r>
              <a:rPr sz="2600" spc="20" dirty="0"/>
              <a:t> </a:t>
            </a:r>
            <a:r>
              <a:rPr sz="2600" dirty="0"/>
              <a:t>a </a:t>
            </a:r>
            <a:r>
              <a:rPr sz="2600" spc="-218" dirty="0"/>
              <a:t>more</a:t>
            </a:r>
            <a:r>
              <a:rPr sz="2600" dirty="0"/>
              <a:t> </a:t>
            </a:r>
            <a:r>
              <a:rPr sz="2600" spc="-159" dirty="0"/>
              <a:t>exotic</a:t>
            </a:r>
            <a:r>
              <a:rPr sz="2600" spc="10" dirty="0"/>
              <a:t> </a:t>
            </a:r>
            <a:r>
              <a:rPr sz="2600" dirty="0"/>
              <a:t>RNN </a:t>
            </a:r>
            <a:r>
              <a:rPr sz="2600" spc="-99" dirty="0"/>
              <a:t>than</a:t>
            </a:r>
            <a:r>
              <a:rPr sz="2600" spc="10" dirty="0"/>
              <a:t> </a:t>
            </a:r>
            <a:r>
              <a:rPr sz="2600" spc="-119" dirty="0"/>
              <a:t>the</a:t>
            </a:r>
            <a:r>
              <a:rPr sz="2600" spc="10" dirty="0"/>
              <a:t> </a:t>
            </a:r>
            <a:r>
              <a:rPr sz="2600" spc="-238" dirty="0"/>
              <a:t>one</a:t>
            </a:r>
            <a:r>
              <a:rPr sz="2600" dirty="0"/>
              <a:t> </a:t>
            </a:r>
            <a:r>
              <a:rPr sz="2600" spc="-168" dirty="0"/>
              <a:t>displayed</a:t>
            </a:r>
            <a:r>
              <a:rPr sz="2600" spc="20" dirty="0"/>
              <a:t> </a:t>
            </a:r>
            <a:r>
              <a:rPr sz="2600" dirty="0"/>
              <a:t>— </a:t>
            </a:r>
            <a:r>
              <a:rPr lang="en-US" sz="2600" spc="-99" dirty="0"/>
              <a:t>an LSTM with long and short-term</a:t>
            </a:r>
            <a:r>
              <a:rPr sz="2600" i="1" spc="-54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600" i="1" spc="-159" dirty="0">
                <a:solidFill>
                  <a:srgbClr val="009900"/>
                </a:solidFill>
                <a:latin typeface="Menlo"/>
                <a:cs typeface="Menlo"/>
              </a:rPr>
              <a:t>memory.</a:t>
            </a:r>
            <a:r>
              <a:rPr sz="2600" i="1" spc="-357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600" spc="-129" dirty="0"/>
              <a:t>Here</a:t>
            </a:r>
            <a:r>
              <a:rPr lang="en-US" sz="2600" spc="-129" dirty="0"/>
              <a:t>, A</a:t>
            </a:r>
            <a:r>
              <a:rPr lang="en-US" sz="2600" b="1" spc="-129" baseline="-2500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600" spc="-129" dirty="0"/>
              <a:t> receives input from A</a:t>
            </a:r>
            <a:r>
              <a:rPr lang="en-US" sz="2600" b="1" spc="-129" baseline="-25000" dirty="0"/>
              <a:t>l-1</a:t>
            </a:r>
            <a:r>
              <a:rPr lang="en-US" sz="2600" spc="-129" dirty="0"/>
              <a:t> (short-term memory) as well as from a version that reaches further back in time (long-term</a:t>
            </a:r>
            <a:r>
              <a:rPr sz="2600" spc="-40" dirty="0"/>
              <a:t> </a:t>
            </a:r>
            <a:r>
              <a:rPr sz="2600" spc="-99" dirty="0"/>
              <a:t>memory).</a:t>
            </a:r>
            <a:r>
              <a:rPr sz="2600" spc="89" dirty="0"/>
              <a:t> </a:t>
            </a:r>
            <a:r>
              <a:rPr sz="2600" spc="-129" dirty="0"/>
              <a:t>Now</a:t>
            </a:r>
            <a:r>
              <a:rPr sz="2600" spc="-10" dirty="0"/>
              <a:t> </a:t>
            </a:r>
            <a:r>
              <a:rPr sz="2600" spc="-248" dirty="0"/>
              <a:t>we</a:t>
            </a:r>
            <a:r>
              <a:rPr sz="2600" spc="30" dirty="0"/>
              <a:t> </a:t>
            </a:r>
            <a:r>
              <a:rPr sz="2600" spc="-178" dirty="0"/>
              <a:t>get</a:t>
            </a:r>
            <a:r>
              <a:rPr sz="2600" dirty="0"/>
              <a:t> </a:t>
            </a:r>
            <a:r>
              <a:rPr sz="2600" spc="-40" dirty="0"/>
              <a:t>87%</a:t>
            </a:r>
            <a:r>
              <a:rPr sz="2600" spc="-10" dirty="0"/>
              <a:t> </a:t>
            </a:r>
            <a:r>
              <a:rPr sz="2600" spc="-149" dirty="0"/>
              <a:t>accuracy,</a:t>
            </a:r>
            <a:r>
              <a:rPr sz="2600" spc="-20" dirty="0"/>
              <a:t> </a:t>
            </a:r>
            <a:r>
              <a:rPr sz="2600" spc="-99" dirty="0"/>
              <a:t>slightly</a:t>
            </a:r>
            <a:r>
              <a:rPr sz="2600" spc="-10" dirty="0"/>
              <a:t> </a:t>
            </a:r>
            <a:r>
              <a:rPr sz="2600" spc="-208" dirty="0"/>
              <a:t>less</a:t>
            </a:r>
            <a:r>
              <a:rPr sz="2600" spc="30" dirty="0"/>
              <a:t> </a:t>
            </a:r>
            <a:r>
              <a:rPr sz="2600" spc="-89" dirty="0"/>
              <a:t>than</a:t>
            </a:r>
            <a:r>
              <a:rPr sz="2600" spc="-20" dirty="0"/>
              <a:t> </a:t>
            </a:r>
            <a:r>
              <a:rPr sz="2600" spc="-50" dirty="0"/>
              <a:t>the </a:t>
            </a:r>
            <a:r>
              <a:rPr sz="2600" spc="-40" dirty="0"/>
              <a:t>88%</a:t>
            </a:r>
            <a:r>
              <a:rPr sz="2600" spc="-129" dirty="0"/>
              <a:t> </a:t>
            </a:r>
            <a:r>
              <a:rPr sz="2600" spc="-168" dirty="0"/>
              <a:t>achieved</a:t>
            </a:r>
            <a:r>
              <a:rPr sz="2600" dirty="0"/>
              <a:t> </a:t>
            </a:r>
            <a:r>
              <a:rPr sz="2600" spc="-40" dirty="0"/>
              <a:t>by</a:t>
            </a:r>
            <a:r>
              <a:rPr sz="2600" spc="-50" dirty="0"/>
              <a:t> </a:t>
            </a:r>
            <a:r>
              <a:rPr sz="2600" spc="-20" dirty="0">
                <a:solidFill>
                  <a:srgbClr val="990000"/>
                </a:solidFill>
                <a:latin typeface="Courier New"/>
                <a:cs typeface="Courier New"/>
              </a:rPr>
              <a:t>glmnet</a:t>
            </a:r>
            <a:r>
              <a:rPr sz="2600" spc="-20" dirty="0"/>
              <a:t>.</a:t>
            </a:r>
            <a:endParaRPr sz="2600" dirty="0">
              <a:latin typeface="Courier New"/>
              <a:cs typeface="Courier New"/>
            </a:endParaRPr>
          </a:p>
          <a:p>
            <a:pPr marL="349830" marR="60402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sz="2600" spc="-149" dirty="0"/>
              <a:t>These</a:t>
            </a:r>
            <a:r>
              <a:rPr sz="2600" spc="-30" dirty="0"/>
              <a:t> </a:t>
            </a:r>
            <a:r>
              <a:rPr sz="2600" spc="-89" dirty="0"/>
              <a:t>data</a:t>
            </a:r>
            <a:r>
              <a:rPr sz="2600" spc="20" dirty="0"/>
              <a:t> </a:t>
            </a:r>
            <a:r>
              <a:rPr sz="2600" spc="-168" dirty="0"/>
              <a:t>have</a:t>
            </a:r>
            <a:r>
              <a:rPr sz="2600" spc="10" dirty="0"/>
              <a:t> </a:t>
            </a:r>
            <a:r>
              <a:rPr sz="2600" spc="-198" dirty="0"/>
              <a:t>been</a:t>
            </a:r>
            <a:r>
              <a:rPr sz="2600" spc="30" dirty="0"/>
              <a:t> </a:t>
            </a:r>
            <a:r>
              <a:rPr sz="2600" spc="-218" dirty="0"/>
              <a:t>used</a:t>
            </a:r>
            <a:r>
              <a:rPr sz="2600" spc="30" dirty="0"/>
              <a:t> </a:t>
            </a:r>
            <a:r>
              <a:rPr sz="2600" spc="-198" dirty="0"/>
              <a:t>as</a:t>
            </a:r>
            <a:r>
              <a:rPr sz="2600" spc="30" dirty="0"/>
              <a:t> </a:t>
            </a:r>
            <a:r>
              <a:rPr sz="2600" dirty="0"/>
              <a:t>a</a:t>
            </a:r>
            <a:r>
              <a:rPr sz="2600" spc="10" dirty="0"/>
              <a:t> </a:t>
            </a:r>
            <a:r>
              <a:rPr sz="2600" spc="-178" dirty="0"/>
              <a:t>benchmark</a:t>
            </a:r>
            <a:r>
              <a:rPr sz="2600" spc="20" dirty="0"/>
              <a:t> </a:t>
            </a:r>
            <a:r>
              <a:rPr sz="2600" spc="-129" dirty="0"/>
              <a:t>for</a:t>
            </a:r>
            <a:r>
              <a:rPr sz="2600" spc="10" dirty="0"/>
              <a:t> </a:t>
            </a:r>
            <a:r>
              <a:rPr sz="2600" spc="-188" dirty="0"/>
              <a:t>new</a:t>
            </a:r>
            <a:r>
              <a:rPr sz="2600" spc="20" dirty="0"/>
              <a:t> </a:t>
            </a:r>
            <a:r>
              <a:rPr sz="2600" spc="-50" dirty="0"/>
              <a:t>RNN </a:t>
            </a:r>
            <a:r>
              <a:rPr sz="2600" spc="-119" dirty="0"/>
              <a:t>architectures.</a:t>
            </a:r>
            <a:r>
              <a:rPr sz="2600" spc="159" dirty="0"/>
              <a:t> </a:t>
            </a:r>
            <a:r>
              <a:rPr sz="2600" spc="-40" dirty="0"/>
              <a:t>The</a:t>
            </a:r>
            <a:r>
              <a:rPr sz="2600" spc="-30" dirty="0"/>
              <a:t> </a:t>
            </a:r>
            <a:r>
              <a:rPr lang="en-US" sz="2600" spc="-159" dirty="0"/>
              <a:t>best-reported</a:t>
            </a:r>
            <a:r>
              <a:rPr sz="2600" spc="-20" dirty="0"/>
              <a:t> </a:t>
            </a:r>
            <a:r>
              <a:rPr sz="2600" spc="-129" dirty="0"/>
              <a:t>result</a:t>
            </a:r>
            <a:r>
              <a:rPr sz="2600" spc="-30" dirty="0"/>
              <a:t> </a:t>
            </a:r>
            <a:r>
              <a:rPr sz="2600" spc="-198" dirty="0"/>
              <a:t>found</a:t>
            </a:r>
            <a:r>
              <a:rPr sz="2600" dirty="0"/>
              <a:t> at</a:t>
            </a:r>
            <a:r>
              <a:rPr sz="2600" spc="-30" dirty="0"/>
              <a:t> </a:t>
            </a:r>
            <a:r>
              <a:rPr sz="2600" spc="-119" dirty="0"/>
              <a:t>the</a:t>
            </a:r>
            <a:r>
              <a:rPr sz="2600" spc="-20" dirty="0"/>
              <a:t> </a:t>
            </a:r>
            <a:r>
              <a:rPr sz="2600" spc="-119" dirty="0"/>
              <a:t>time</a:t>
            </a:r>
            <a:r>
              <a:rPr sz="2600" spc="-30" dirty="0"/>
              <a:t> </a:t>
            </a:r>
            <a:r>
              <a:rPr sz="2600" spc="-69" dirty="0"/>
              <a:t>of </a:t>
            </a:r>
            <a:r>
              <a:rPr sz="2600" spc="-99" dirty="0"/>
              <a:t>writing</a:t>
            </a:r>
            <a:r>
              <a:rPr sz="2600" spc="-79" dirty="0"/>
              <a:t> </a:t>
            </a:r>
            <a:r>
              <a:rPr sz="2600" spc="-168" dirty="0"/>
              <a:t>(2020)</a:t>
            </a:r>
            <a:r>
              <a:rPr sz="2600" dirty="0"/>
              <a:t> </a:t>
            </a:r>
            <a:r>
              <a:rPr sz="2600" spc="-208" dirty="0"/>
              <a:t>was</a:t>
            </a:r>
            <a:r>
              <a:rPr sz="2600" spc="30" dirty="0"/>
              <a:t> </a:t>
            </a:r>
            <a:r>
              <a:rPr sz="2600" spc="-159" dirty="0"/>
              <a:t>around</a:t>
            </a:r>
            <a:r>
              <a:rPr sz="2600" spc="-20" dirty="0"/>
              <a:t> 95%.</a:t>
            </a:r>
            <a:r>
              <a:rPr sz="2600" spc="99" dirty="0"/>
              <a:t> </a:t>
            </a:r>
            <a:r>
              <a:rPr sz="2600" dirty="0"/>
              <a:t>We</a:t>
            </a:r>
            <a:r>
              <a:rPr sz="2600" spc="-30" dirty="0"/>
              <a:t> </a:t>
            </a:r>
            <a:r>
              <a:rPr sz="2600" spc="-119" dirty="0"/>
              <a:t>point</a:t>
            </a:r>
            <a:r>
              <a:rPr sz="2600" spc="-40" dirty="0"/>
              <a:t> </a:t>
            </a:r>
            <a:r>
              <a:rPr sz="2600" spc="-59" dirty="0"/>
              <a:t>to</a:t>
            </a:r>
            <a:r>
              <a:rPr sz="2600" spc="-40" dirty="0"/>
              <a:t> </a:t>
            </a:r>
            <a:r>
              <a:rPr sz="2600" dirty="0"/>
              <a:t>a</a:t>
            </a:r>
            <a:r>
              <a:rPr sz="2600" spc="-30" dirty="0"/>
              <a:t> </a:t>
            </a:r>
            <a:r>
              <a:rPr sz="2600" i="1" spc="-277" dirty="0">
                <a:solidFill>
                  <a:srgbClr val="009900"/>
                </a:solidFill>
                <a:latin typeface="Menlo"/>
                <a:cs typeface="Menlo"/>
                <a:hlinkClick r:id="rId3"/>
              </a:rPr>
              <a:t>leaderboard</a:t>
            </a:r>
            <a:r>
              <a:rPr lang="en-US" sz="2600" i="1" spc="-277" dirty="0">
                <a:solidFill>
                  <a:srgbClr val="009900"/>
                </a:solidFill>
                <a:latin typeface="Menlo"/>
                <a:cs typeface="Menlo"/>
              </a:rPr>
              <a:t> (</a:t>
            </a:r>
            <a:r>
              <a:rPr lang="en-US" sz="2600" i="1" spc="-277" dirty="0">
                <a:solidFill>
                  <a:srgbClr val="009900"/>
                </a:solidFill>
                <a:latin typeface="Menlo"/>
                <a:cs typeface="Menlo"/>
                <a:hlinkClick r:id="rId3"/>
              </a:rPr>
              <a:t>https://paperswithcode.com/sota/sentiment-analysis-on-imdb</a:t>
            </a:r>
            <a:r>
              <a:rPr lang="en-US" sz="2600" i="1" spc="-277" dirty="0">
                <a:solidFill>
                  <a:srgbClr val="009900"/>
                </a:solidFill>
                <a:latin typeface="Menlo"/>
                <a:cs typeface="Menlo"/>
              </a:rPr>
              <a:t>) </a:t>
            </a:r>
            <a:r>
              <a:rPr sz="2600" dirty="0"/>
              <a:t>in</a:t>
            </a:r>
            <a:r>
              <a:rPr sz="2600" spc="-159" dirty="0"/>
              <a:t> </a:t>
            </a:r>
            <a:r>
              <a:rPr sz="2600" spc="-109" dirty="0"/>
              <a:t>Section</a:t>
            </a:r>
            <a:r>
              <a:rPr sz="2600" spc="-59" dirty="0"/>
              <a:t> </a:t>
            </a:r>
            <a:r>
              <a:rPr sz="2600" spc="-20" dirty="0"/>
              <a:t>10.5.1.</a:t>
            </a:r>
            <a:r>
              <a:rPr lang="en-US" sz="2600" spc="-20" dirty="0"/>
              <a:t> </a:t>
            </a:r>
            <a:endParaRPr sz="2600" dirty="0">
              <a:latin typeface="Menlo"/>
              <a:cs typeface="Menlo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2AD9F2-0353-1EA1-9672-C399224F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3A50E-459B-AF13-9E23-A9356E35A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99DD2-4725-9242-8D0B-D70D6A86A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Introduction</a:t>
            </a:r>
          </a:p>
          <a:p>
            <a:r>
              <a:rPr lang="en-US" dirty="0"/>
              <a:t>Deep Learning Model 1: Multilayer Perception </a:t>
            </a:r>
          </a:p>
          <a:p>
            <a:r>
              <a:rPr lang="en-US" dirty="0"/>
              <a:t>Deep Learning Model 2: Convolutional Neural Networks </a:t>
            </a:r>
          </a:p>
          <a:p>
            <a:r>
              <a:rPr lang="en-US" dirty="0"/>
              <a:t>Deep Learning Model 3: Recurrent Neural Networks</a:t>
            </a:r>
          </a:p>
          <a:p>
            <a:r>
              <a:rPr lang="en-US" dirty="0"/>
              <a:t>Use case 1: Sentiment Prediction</a:t>
            </a:r>
          </a:p>
          <a:p>
            <a:r>
              <a:rPr lang="en-US" dirty="0">
                <a:solidFill>
                  <a:srgbClr val="FF0000"/>
                </a:solidFill>
              </a:rPr>
              <a:t>Use case 2: Forecast</a:t>
            </a:r>
          </a:p>
          <a:p>
            <a:r>
              <a:rPr lang="en-US" dirty="0"/>
              <a:t>Deep Learning Optimization</a:t>
            </a:r>
          </a:p>
          <a:p>
            <a:r>
              <a:rPr lang="en-US" dirty="0"/>
              <a:t>A bag of tricks</a:t>
            </a:r>
          </a:p>
          <a:p>
            <a:r>
              <a:rPr lang="en-US" dirty="0"/>
              <a:t>Some Interesting Findings in Extremely Deep Neural Networks (</a:t>
            </a:r>
            <a:r>
              <a:rPr lang="en-US" dirty="0" err="1"/>
              <a:t>ChatGPT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0E81-9EB6-7DFB-72FE-1530F7A4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59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862212" y="1179579"/>
            <a:ext cx="5912980" cy="5253606"/>
            <a:chOff x="937610" y="595250"/>
            <a:chExt cx="2983865" cy="26511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0136" y="627496"/>
              <a:ext cx="2731907" cy="81079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937610" y="597353"/>
              <a:ext cx="2981960" cy="871219"/>
            </a:xfrm>
            <a:custGeom>
              <a:avLst/>
              <a:gdLst/>
              <a:ahLst/>
              <a:cxnLst/>
              <a:rect l="l" t="t" r="r" b="b"/>
              <a:pathLst>
                <a:path w="2981960" h="871219">
                  <a:moveTo>
                    <a:pt x="35554" y="728695"/>
                  </a:moveTo>
                  <a:lnTo>
                    <a:pt x="35554" y="45704"/>
                  </a:lnTo>
                </a:path>
                <a:path w="2981960" h="871219">
                  <a:moveTo>
                    <a:pt x="35554" y="728695"/>
                  </a:moveTo>
                  <a:lnTo>
                    <a:pt x="0" y="728695"/>
                  </a:lnTo>
                </a:path>
                <a:path w="2981960" h="871219">
                  <a:moveTo>
                    <a:pt x="35554" y="557933"/>
                  </a:moveTo>
                  <a:lnTo>
                    <a:pt x="0" y="557933"/>
                  </a:lnTo>
                </a:path>
                <a:path w="2981960" h="871219">
                  <a:moveTo>
                    <a:pt x="35554" y="387228"/>
                  </a:moveTo>
                  <a:lnTo>
                    <a:pt x="0" y="387228"/>
                  </a:lnTo>
                </a:path>
                <a:path w="2981960" h="871219">
                  <a:moveTo>
                    <a:pt x="35554" y="216466"/>
                  </a:moveTo>
                  <a:lnTo>
                    <a:pt x="0" y="216466"/>
                  </a:lnTo>
                </a:path>
                <a:path w="2981960" h="871219">
                  <a:moveTo>
                    <a:pt x="35554" y="45704"/>
                  </a:moveTo>
                  <a:lnTo>
                    <a:pt x="0" y="45704"/>
                  </a:lnTo>
                </a:path>
                <a:path w="2981960" h="871219">
                  <a:moveTo>
                    <a:pt x="35554" y="871081"/>
                  </a:moveTo>
                  <a:lnTo>
                    <a:pt x="2981460" y="871081"/>
                  </a:lnTo>
                  <a:lnTo>
                    <a:pt x="2981460" y="0"/>
                  </a:lnTo>
                  <a:lnTo>
                    <a:pt x="35554" y="0"/>
                  </a:lnTo>
                  <a:lnTo>
                    <a:pt x="35554" y="871081"/>
                  </a:lnTo>
                </a:path>
              </a:pathLst>
            </a:custGeom>
            <a:ln w="42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6" name="object 6"/>
            <p:cNvSpPr/>
            <p:nvPr/>
          </p:nvSpPr>
          <p:spPr>
            <a:xfrm>
              <a:off x="3017483" y="597353"/>
              <a:ext cx="0" cy="871219"/>
            </a:xfrm>
            <a:custGeom>
              <a:avLst/>
              <a:gdLst/>
              <a:ahLst/>
              <a:cxnLst/>
              <a:rect l="l" t="t" r="r" b="b"/>
              <a:pathLst>
                <a:path h="871219">
                  <a:moveTo>
                    <a:pt x="0" y="871081"/>
                  </a:moveTo>
                  <a:lnTo>
                    <a:pt x="0" y="0"/>
                  </a:lnTo>
                </a:path>
              </a:pathLst>
            </a:custGeom>
            <a:ln w="84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0136" y="1498577"/>
              <a:ext cx="2731907" cy="81073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937610" y="1468434"/>
              <a:ext cx="2981960" cy="871219"/>
            </a:xfrm>
            <a:custGeom>
              <a:avLst/>
              <a:gdLst/>
              <a:ahLst/>
              <a:cxnLst/>
              <a:rect l="l" t="t" r="r" b="b"/>
              <a:pathLst>
                <a:path w="2981960" h="871219">
                  <a:moveTo>
                    <a:pt x="35554" y="778942"/>
                  </a:moveTo>
                  <a:lnTo>
                    <a:pt x="35554" y="111654"/>
                  </a:lnTo>
                </a:path>
                <a:path w="2981960" h="871219">
                  <a:moveTo>
                    <a:pt x="35554" y="778942"/>
                  </a:moveTo>
                  <a:lnTo>
                    <a:pt x="0" y="778942"/>
                  </a:lnTo>
                </a:path>
                <a:path w="2981960" h="871219">
                  <a:moveTo>
                    <a:pt x="35554" y="612106"/>
                  </a:moveTo>
                  <a:lnTo>
                    <a:pt x="0" y="612106"/>
                  </a:lnTo>
                </a:path>
                <a:path w="2981960" h="871219">
                  <a:moveTo>
                    <a:pt x="35554" y="445270"/>
                  </a:moveTo>
                  <a:lnTo>
                    <a:pt x="0" y="445270"/>
                  </a:lnTo>
                </a:path>
                <a:path w="2981960" h="871219">
                  <a:moveTo>
                    <a:pt x="35554" y="278434"/>
                  </a:moveTo>
                  <a:lnTo>
                    <a:pt x="0" y="278434"/>
                  </a:lnTo>
                </a:path>
                <a:path w="2981960" h="871219">
                  <a:moveTo>
                    <a:pt x="35554" y="111654"/>
                  </a:moveTo>
                  <a:lnTo>
                    <a:pt x="0" y="111654"/>
                  </a:lnTo>
                </a:path>
                <a:path w="2981960" h="871219">
                  <a:moveTo>
                    <a:pt x="35554" y="871081"/>
                  </a:moveTo>
                  <a:lnTo>
                    <a:pt x="2981460" y="871081"/>
                  </a:lnTo>
                  <a:lnTo>
                    <a:pt x="2981460" y="0"/>
                  </a:lnTo>
                  <a:lnTo>
                    <a:pt x="35554" y="0"/>
                  </a:lnTo>
                  <a:lnTo>
                    <a:pt x="35554" y="871081"/>
                  </a:lnTo>
                </a:path>
              </a:pathLst>
            </a:custGeom>
            <a:ln w="42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sp>
          <p:nvSpPr>
            <p:cNvPr id="9" name="object 9"/>
            <p:cNvSpPr/>
            <p:nvPr/>
          </p:nvSpPr>
          <p:spPr>
            <a:xfrm>
              <a:off x="3017483" y="1468434"/>
              <a:ext cx="0" cy="871219"/>
            </a:xfrm>
            <a:custGeom>
              <a:avLst/>
              <a:gdLst/>
              <a:ahLst/>
              <a:cxnLst/>
              <a:rect l="l" t="t" r="r" b="b"/>
              <a:pathLst>
                <a:path h="871219">
                  <a:moveTo>
                    <a:pt x="0" y="871081"/>
                  </a:moveTo>
                  <a:lnTo>
                    <a:pt x="0" y="0"/>
                  </a:lnTo>
                </a:path>
              </a:pathLst>
            </a:custGeom>
            <a:ln w="8411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0136" y="2369658"/>
              <a:ext cx="2731907" cy="81073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37610" y="2339516"/>
              <a:ext cx="2981960" cy="906780"/>
            </a:xfrm>
            <a:custGeom>
              <a:avLst/>
              <a:gdLst/>
              <a:ahLst/>
              <a:cxnLst/>
              <a:rect l="l" t="t" r="r" b="b"/>
              <a:pathLst>
                <a:path w="2981960" h="906780">
                  <a:moveTo>
                    <a:pt x="380386" y="871025"/>
                  </a:moveTo>
                  <a:lnTo>
                    <a:pt x="2646218" y="871025"/>
                  </a:lnTo>
                </a:path>
                <a:path w="2981960" h="906780">
                  <a:moveTo>
                    <a:pt x="380386" y="871025"/>
                  </a:moveTo>
                  <a:lnTo>
                    <a:pt x="380386" y="906579"/>
                  </a:lnTo>
                </a:path>
                <a:path w="2981960" h="906780">
                  <a:moveTo>
                    <a:pt x="946788" y="871025"/>
                  </a:moveTo>
                  <a:lnTo>
                    <a:pt x="946788" y="906579"/>
                  </a:lnTo>
                </a:path>
                <a:path w="2981960" h="906780">
                  <a:moveTo>
                    <a:pt x="1513134" y="871025"/>
                  </a:moveTo>
                  <a:lnTo>
                    <a:pt x="1513134" y="906579"/>
                  </a:lnTo>
                </a:path>
                <a:path w="2981960" h="906780">
                  <a:moveTo>
                    <a:pt x="2079536" y="871025"/>
                  </a:moveTo>
                  <a:lnTo>
                    <a:pt x="2079536" y="906579"/>
                  </a:lnTo>
                </a:path>
                <a:path w="2981960" h="906780">
                  <a:moveTo>
                    <a:pt x="2646218" y="871025"/>
                  </a:moveTo>
                  <a:lnTo>
                    <a:pt x="2646218" y="906579"/>
                  </a:lnTo>
                </a:path>
                <a:path w="2981960" h="906780">
                  <a:moveTo>
                    <a:pt x="35554" y="820609"/>
                  </a:moveTo>
                  <a:lnTo>
                    <a:pt x="35554" y="106775"/>
                  </a:lnTo>
                </a:path>
                <a:path w="2981960" h="906780">
                  <a:moveTo>
                    <a:pt x="35554" y="820609"/>
                  </a:moveTo>
                  <a:lnTo>
                    <a:pt x="0" y="820609"/>
                  </a:lnTo>
                </a:path>
                <a:path w="2981960" h="906780">
                  <a:moveTo>
                    <a:pt x="35554" y="677831"/>
                  </a:moveTo>
                  <a:lnTo>
                    <a:pt x="0" y="677831"/>
                  </a:lnTo>
                </a:path>
                <a:path w="2981960" h="906780">
                  <a:moveTo>
                    <a:pt x="35554" y="535053"/>
                  </a:moveTo>
                  <a:lnTo>
                    <a:pt x="0" y="535053"/>
                  </a:lnTo>
                </a:path>
                <a:path w="2981960" h="906780">
                  <a:moveTo>
                    <a:pt x="35554" y="392331"/>
                  </a:moveTo>
                  <a:lnTo>
                    <a:pt x="0" y="392331"/>
                  </a:lnTo>
                </a:path>
                <a:path w="2981960" h="906780">
                  <a:moveTo>
                    <a:pt x="35554" y="249553"/>
                  </a:moveTo>
                  <a:lnTo>
                    <a:pt x="0" y="249553"/>
                  </a:lnTo>
                </a:path>
                <a:path w="2981960" h="906780">
                  <a:moveTo>
                    <a:pt x="35554" y="106775"/>
                  </a:moveTo>
                  <a:lnTo>
                    <a:pt x="0" y="106775"/>
                  </a:lnTo>
                </a:path>
                <a:path w="2981960" h="906780">
                  <a:moveTo>
                    <a:pt x="35554" y="871025"/>
                  </a:moveTo>
                  <a:lnTo>
                    <a:pt x="2981460" y="871025"/>
                  </a:lnTo>
                  <a:lnTo>
                    <a:pt x="2981460" y="0"/>
                  </a:lnTo>
                  <a:lnTo>
                    <a:pt x="35554" y="0"/>
                  </a:lnTo>
                  <a:lnTo>
                    <a:pt x="35554" y="871025"/>
                  </a:lnTo>
                </a:path>
              </a:pathLst>
            </a:custGeom>
            <a:ln w="420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13277" y="2339516"/>
              <a:ext cx="798766" cy="871025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362739" y="1460677"/>
            <a:ext cx="137282" cy="1172781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Log(Trading</a:t>
            </a:r>
            <a:r>
              <a:rPr sz="892" spc="129" dirty="0">
                <a:latin typeface="Helvetica"/>
                <a:cs typeface="Helvetica"/>
              </a:rPr>
              <a:t> </a:t>
            </a:r>
            <a:r>
              <a:rPr sz="892" spc="-20" dirty="0">
                <a:latin typeface="Helvetica"/>
                <a:cs typeface="Helvetica"/>
              </a:rPr>
              <a:t>Volume)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79005CCA-92E9-9787-C93D-1CFD21FFC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spc="109" dirty="0">
                <a:solidFill>
                  <a:srgbClr val="3333B3"/>
                </a:solidFill>
                <a:latin typeface="Times New Roman"/>
                <a:cs typeface="Times New Roman"/>
              </a:rPr>
              <a:t>Time</a:t>
            </a:r>
            <a:r>
              <a:rPr lang="en-US" sz="4800" spc="297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lang="en-US" sz="4800" dirty="0">
                <a:solidFill>
                  <a:srgbClr val="3333B3"/>
                </a:solidFill>
                <a:latin typeface="Times New Roman"/>
                <a:cs typeface="Times New Roman"/>
              </a:rPr>
              <a:t>Series</a:t>
            </a:r>
            <a:r>
              <a:rPr lang="en-US" sz="4800" spc="307" dirty="0">
                <a:solidFill>
                  <a:srgbClr val="3333B3"/>
                </a:solidFill>
                <a:latin typeface="Times New Roman"/>
                <a:cs typeface="Times New Roman"/>
              </a:rPr>
              <a:t> </a:t>
            </a:r>
            <a:r>
              <a:rPr lang="en-US" sz="4800" spc="-20" dirty="0">
                <a:solidFill>
                  <a:srgbClr val="3333B3"/>
                </a:solidFill>
                <a:latin typeface="Times New Roman"/>
                <a:cs typeface="Times New Roman"/>
              </a:rPr>
              <a:t>Forecasting</a:t>
            </a:r>
            <a:endParaRPr lang="en-US" dirty="0"/>
          </a:p>
        </p:txBody>
      </p:sp>
      <p:sp>
        <p:nvSpPr>
          <p:cNvPr id="14" name="object 14"/>
          <p:cNvSpPr txBox="1"/>
          <p:nvPr/>
        </p:nvSpPr>
        <p:spPr>
          <a:xfrm>
            <a:off x="1644342" y="2482018"/>
            <a:ext cx="137282" cy="291937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spc="-40" dirty="0">
                <a:latin typeface="Helvetica"/>
                <a:cs typeface="Helvetica"/>
              </a:rPr>
              <a:t>−1.0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44342" y="1164286"/>
            <a:ext cx="137282" cy="897203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0.0</a:t>
            </a:r>
            <a:r>
              <a:rPr sz="892" spc="436" dirty="0">
                <a:latin typeface="Helvetica"/>
                <a:cs typeface="Helvetica"/>
              </a:rPr>
              <a:t>  </a:t>
            </a:r>
            <a:r>
              <a:rPr sz="892" dirty="0">
                <a:latin typeface="Helvetica"/>
                <a:cs typeface="Helvetica"/>
              </a:rPr>
              <a:t>0.5</a:t>
            </a:r>
            <a:r>
              <a:rPr sz="892" spc="446" dirty="0">
                <a:latin typeface="Helvetica"/>
                <a:cs typeface="Helvetica"/>
              </a:rPr>
              <a:t>  </a:t>
            </a:r>
            <a:r>
              <a:rPr sz="892" spc="-50" dirty="0">
                <a:latin typeface="Helvetica"/>
                <a:cs typeface="Helvetica"/>
              </a:rPr>
              <a:t>1.0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2739" y="3244443"/>
            <a:ext cx="137282" cy="1057013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Dow</a:t>
            </a:r>
            <a:r>
              <a:rPr sz="892" spc="129" dirty="0">
                <a:latin typeface="Helvetica"/>
                <a:cs typeface="Helvetica"/>
              </a:rPr>
              <a:t> </a:t>
            </a:r>
            <a:r>
              <a:rPr sz="892" dirty="0">
                <a:latin typeface="Helvetica"/>
                <a:cs typeface="Helvetica"/>
              </a:rPr>
              <a:t>Jones</a:t>
            </a:r>
            <a:r>
              <a:rPr sz="892" spc="159" dirty="0">
                <a:latin typeface="Helvetica"/>
                <a:cs typeface="Helvetica"/>
              </a:rPr>
              <a:t> </a:t>
            </a:r>
            <a:r>
              <a:rPr sz="892" spc="-20" dirty="0">
                <a:latin typeface="Helvetica"/>
                <a:cs typeface="Helvetica"/>
              </a:rPr>
              <a:t>Return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44342" y="4273698"/>
            <a:ext cx="137282" cy="952570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dirty="0">
                <a:latin typeface="Helvetica"/>
                <a:cs typeface="Helvetica"/>
              </a:rPr>
              <a:t>−9</a:t>
            </a:r>
            <a:r>
              <a:rPr sz="892" spc="941" dirty="0">
                <a:latin typeface="Helvetica"/>
                <a:cs typeface="Helvetica"/>
              </a:rPr>
              <a:t> </a:t>
            </a:r>
            <a:r>
              <a:rPr sz="892" dirty="0">
                <a:latin typeface="Helvetica"/>
                <a:cs typeface="Helvetica"/>
              </a:rPr>
              <a:t>−8</a:t>
            </a:r>
            <a:r>
              <a:rPr sz="892" spc="454" dirty="0">
                <a:latin typeface="Helvetica"/>
                <a:cs typeface="Helvetica"/>
              </a:rPr>
              <a:t>  </a:t>
            </a:r>
            <a:r>
              <a:rPr sz="892" spc="-20" dirty="0">
                <a:latin typeface="Helvetica"/>
                <a:cs typeface="Helvetica"/>
              </a:rPr>
              <a:t>−0.04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44342" y="3648304"/>
            <a:ext cx="137282" cy="289420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spc="-40" dirty="0">
                <a:latin typeface="Helvetica"/>
                <a:cs typeface="Helvetica"/>
              </a:rPr>
              <a:t>0.00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44342" y="2987082"/>
            <a:ext cx="137282" cy="289420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spc="-40" dirty="0">
                <a:latin typeface="Helvetica"/>
                <a:cs typeface="Helvetica"/>
              </a:rPr>
              <a:t>0.04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454927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1965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577226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1970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99637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1975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822048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1980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45014" y="6468250"/>
            <a:ext cx="323396" cy="171588"/>
          </a:xfrm>
          <a:prstGeom prst="rect">
            <a:avLst/>
          </a:prstGeom>
        </p:spPr>
        <p:txBody>
          <a:bodyPr vert="horz" wrap="square" lIns="0" tIns="33975" rIns="0" bIns="0" rtlCol="0">
            <a:spAutoFit/>
          </a:bodyPr>
          <a:lstStyle/>
          <a:p>
            <a:pPr marL="25168">
              <a:spcBef>
                <a:spcPts val="268"/>
              </a:spcBef>
            </a:pPr>
            <a:r>
              <a:rPr sz="892" spc="-40" dirty="0">
                <a:latin typeface="Helvetica"/>
                <a:cs typeface="Helvetica"/>
              </a:rPr>
              <a:t>1985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44342" y="6133462"/>
            <a:ext cx="137282" cy="257961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spc="-50" dirty="0">
                <a:latin typeface="Helvetica"/>
                <a:cs typeface="Helvetica"/>
              </a:rPr>
              <a:t>−13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44342" y="5567588"/>
            <a:ext cx="137282" cy="257961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spc="-50" dirty="0">
                <a:latin typeface="Helvetica"/>
                <a:cs typeface="Helvetica"/>
              </a:rPr>
              <a:t>−11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362739" y="5108756"/>
            <a:ext cx="137282" cy="781434"/>
          </a:xfrm>
          <a:prstGeom prst="rect">
            <a:avLst/>
          </a:prstGeom>
        </p:spPr>
        <p:txBody>
          <a:bodyPr vert="vert270" wrap="square" lIns="0" tIns="6292" rIns="0" bIns="0" rtlCol="0">
            <a:spAutoFit/>
          </a:bodyPr>
          <a:lstStyle/>
          <a:p>
            <a:pPr marL="25168">
              <a:spcBef>
                <a:spcPts val="50"/>
              </a:spcBef>
            </a:pPr>
            <a:r>
              <a:rPr sz="892" spc="-20" dirty="0">
                <a:latin typeface="Helvetica"/>
                <a:cs typeface="Helvetica"/>
              </a:rPr>
              <a:t>Log(Volatility)</a:t>
            </a:r>
            <a:endParaRPr sz="892">
              <a:latin typeface="Helvetica"/>
              <a:cs typeface="Helvetica"/>
            </a:endParaRP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C1B76AFC-9B7E-D617-C908-CBACEFFF6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985476F-93BF-6F6C-5A91-B291C7D19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New-York</a:t>
            </a:r>
            <a:r>
              <a:rPr lang="en-US" spc="614" dirty="0"/>
              <a:t> </a:t>
            </a:r>
            <a:r>
              <a:rPr lang="en-US" dirty="0"/>
              <a:t>Stock</a:t>
            </a:r>
            <a:r>
              <a:rPr lang="en-US" spc="595" dirty="0"/>
              <a:t> </a:t>
            </a:r>
            <a:r>
              <a:rPr lang="en-US" dirty="0"/>
              <a:t>Exchange</a:t>
            </a:r>
            <a:r>
              <a:rPr lang="en-US" spc="604" dirty="0"/>
              <a:t> </a:t>
            </a:r>
            <a:r>
              <a:rPr lang="en-US" spc="129" dirty="0"/>
              <a:t>Data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457200" y="1143000"/>
            <a:ext cx="8289235" cy="4805545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75503" marR="60402">
              <a:lnSpc>
                <a:spcPct val="102699"/>
              </a:lnSpc>
              <a:spcBef>
                <a:spcPts val="109"/>
              </a:spcBef>
            </a:pPr>
            <a:r>
              <a:rPr sz="2000" spc="-159" dirty="0">
                <a:latin typeface="Lucida Grande"/>
                <a:cs typeface="Lucida Grande"/>
              </a:rPr>
              <a:t>Shown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59" dirty="0">
                <a:latin typeface="Lucida Grande"/>
                <a:cs typeface="Lucida Grande"/>
              </a:rPr>
              <a:t>in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lang="en-US" sz="2000" dirty="0">
                <a:latin typeface="Lucida Grande"/>
                <a:cs typeface="Lucida Grande"/>
              </a:rPr>
              <a:t>the </a:t>
            </a:r>
            <a:r>
              <a:rPr sz="2000" spc="-168" dirty="0">
                <a:latin typeface="Lucida Grande"/>
                <a:cs typeface="Lucida Grande"/>
              </a:rPr>
              <a:t>previous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slide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are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49" dirty="0">
                <a:latin typeface="Lucida Grande"/>
                <a:cs typeface="Lucida Grande"/>
              </a:rPr>
              <a:t>three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59" dirty="0">
                <a:latin typeface="Lucida Grande"/>
                <a:cs typeface="Lucida Grande"/>
              </a:rPr>
              <a:t>daily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29" dirty="0">
                <a:latin typeface="Lucida Grande"/>
                <a:cs typeface="Lucida Grande"/>
              </a:rPr>
              <a:t>time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98" dirty="0">
                <a:latin typeface="Lucida Grande"/>
                <a:cs typeface="Lucida Grande"/>
              </a:rPr>
              <a:t>series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168" dirty="0">
                <a:latin typeface="Lucida Grande"/>
                <a:cs typeface="Lucida Grande"/>
              </a:rPr>
              <a:t>for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29" dirty="0">
                <a:latin typeface="Lucida Grande"/>
                <a:cs typeface="Lucida Grande"/>
              </a:rPr>
              <a:t>the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09" dirty="0">
                <a:latin typeface="Lucida Grande"/>
                <a:cs typeface="Lucida Grande"/>
              </a:rPr>
              <a:t>period </a:t>
            </a:r>
            <a:r>
              <a:rPr sz="2000" spc="-188" dirty="0">
                <a:latin typeface="Lucida Grande"/>
                <a:cs typeface="Lucida Grande"/>
              </a:rPr>
              <a:t>December</a:t>
            </a:r>
            <a:r>
              <a:rPr sz="2000" spc="59" dirty="0">
                <a:latin typeface="Lucida Grande"/>
                <a:cs typeface="Lucida Grande"/>
              </a:rPr>
              <a:t> </a:t>
            </a:r>
            <a:r>
              <a:rPr sz="2000" spc="-198" dirty="0">
                <a:latin typeface="Lucida Grande"/>
                <a:cs typeface="Lucida Grande"/>
              </a:rPr>
              <a:t>3,</a:t>
            </a:r>
            <a:r>
              <a:rPr sz="2000" spc="69" dirty="0">
                <a:latin typeface="Lucida Grande"/>
                <a:cs typeface="Lucida Grande"/>
              </a:rPr>
              <a:t> </a:t>
            </a:r>
            <a:r>
              <a:rPr sz="2000" spc="-317" dirty="0">
                <a:latin typeface="Lucida Grande"/>
                <a:cs typeface="Lucida Grande"/>
              </a:rPr>
              <a:t>1962</a:t>
            </a:r>
            <a:r>
              <a:rPr lang="en-US" sz="2000" spc="-317" dirty="0">
                <a:latin typeface="Lucida Grande"/>
                <a:cs typeface="Lucida Grande"/>
              </a:rPr>
              <a:t>,</a:t>
            </a:r>
            <a:r>
              <a:rPr sz="2000" spc="59" dirty="0">
                <a:latin typeface="Lucida Grande"/>
                <a:cs typeface="Lucida Grande"/>
              </a:rPr>
              <a:t> </a:t>
            </a:r>
            <a:r>
              <a:rPr sz="2000" spc="-59" dirty="0">
                <a:latin typeface="Lucida Grande"/>
                <a:cs typeface="Lucida Grande"/>
              </a:rPr>
              <a:t>to</a:t>
            </a:r>
            <a:r>
              <a:rPr sz="2000" spc="69" dirty="0">
                <a:latin typeface="Lucida Grande"/>
                <a:cs typeface="Lucida Grande"/>
              </a:rPr>
              <a:t> </a:t>
            </a:r>
            <a:r>
              <a:rPr sz="2000" spc="-188" dirty="0">
                <a:latin typeface="Lucida Grande"/>
                <a:cs typeface="Lucida Grande"/>
              </a:rPr>
              <a:t>December</a:t>
            </a:r>
            <a:r>
              <a:rPr sz="2000" spc="69" dirty="0">
                <a:latin typeface="Lucida Grande"/>
                <a:cs typeface="Lucida Grande"/>
              </a:rPr>
              <a:t> </a:t>
            </a:r>
            <a:r>
              <a:rPr sz="2000" spc="-248" dirty="0">
                <a:latin typeface="Lucida Grande"/>
                <a:cs typeface="Lucida Grande"/>
              </a:rPr>
              <a:t>31,</a:t>
            </a:r>
            <a:r>
              <a:rPr sz="2000" spc="59" dirty="0">
                <a:latin typeface="Lucida Grande"/>
                <a:cs typeface="Lucida Grande"/>
              </a:rPr>
              <a:t> </a:t>
            </a:r>
            <a:r>
              <a:rPr sz="2000" spc="-317" dirty="0">
                <a:latin typeface="Lucida Grande"/>
                <a:cs typeface="Lucida Grande"/>
              </a:rPr>
              <a:t>1986</a:t>
            </a:r>
            <a:r>
              <a:rPr sz="2000" spc="69" dirty="0">
                <a:latin typeface="Lucida Grande"/>
                <a:cs typeface="Lucida Grande"/>
              </a:rPr>
              <a:t> </a:t>
            </a:r>
            <a:r>
              <a:rPr sz="2000" spc="-208" dirty="0">
                <a:latin typeface="Lucida Grande"/>
                <a:cs typeface="Lucida Grande"/>
              </a:rPr>
              <a:t>(6,051</a:t>
            </a:r>
            <a:r>
              <a:rPr sz="2000" spc="59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trading</a:t>
            </a:r>
            <a:r>
              <a:rPr sz="2000" spc="69" dirty="0">
                <a:latin typeface="Lucida Grande"/>
                <a:cs typeface="Lucida Grande"/>
              </a:rPr>
              <a:t> </a:t>
            </a:r>
            <a:r>
              <a:rPr sz="2000" spc="-20" dirty="0">
                <a:latin typeface="Lucida Grande"/>
                <a:cs typeface="Lucida Grande"/>
              </a:rPr>
              <a:t>days):</a:t>
            </a:r>
            <a:endParaRPr sz="2000" dirty="0">
              <a:latin typeface="Lucida Grande"/>
              <a:cs typeface="Lucida Grande"/>
            </a:endParaRPr>
          </a:p>
          <a:p>
            <a:pPr marL="624156" marR="60402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625415" algn="l"/>
              </a:tabLst>
            </a:pPr>
            <a:r>
              <a:rPr sz="20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trading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39" dirty="0">
                <a:solidFill>
                  <a:srgbClr val="990000"/>
                </a:solidFill>
                <a:latin typeface="Courier New"/>
                <a:cs typeface="Courier New"/>
              </a:rPr>
              <a:t>volume</a:t>
            </a:r>
            <a:r>
              <a:rPr sz="2000" spc="-139" dirty="0">
                <a:latin typeface="Lucida Grande"/>
                <a:cs typeface="Lucida Grande"/>
              </a:rPr>
              <a:t>.</a:t>
            </a:r>
            <a:r>
              <a:rPr sz="2000" spc="10" dirty="0">
                <a:latin typeface="Lucida Grande"/>
                <a:cs typeface="Lucida Grande"/>
              </a:rPr>
              <a:t> </a:t>
            </a:r>
            <a:r>
              <a:rPr sz="2000" spc="-40" dirty="0">
                <a:latin typeface="Lucida Grande"/>
                <a:cs typeface="Lucida Grande"/>
              </a:rPr>
              <a:t>This</a:t>
            </a:r>
            <a:r>
              <a:rPr sz="2000" spc="-20" dirty="0">
                <a:latin typeface="Lucida Grande"/>
                <a:cs typeface="Lucida Grande"/>
              </a:rPr>
              <a:t> </a:t>
            </a:r>
            <a:r>
              <a:rPr sz="2000" spc="-99" dirty="0">
                <a:latin typeface="Lucida Grande"/>
                <a:cs typeface="Lucida Grande"/>
              </a:rPr>
              <a:t>is</a:t>
            </a:r>
            <a:r>
              <a:rPr sz="2000" spc="-2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the</a:t>
            </a:r>
            <a:r>
              <a:rPr sz="2000" spc="-20" dirty="0">
                <a:latin typeface="Lucida Grande"/>
                <a:cs typeface="Lucida Grande"/>
              </a:rPr>
              <a:t> </a:t>
            </a:r>
            <a:r>
              <a:rPr sz="2000" spc="-109" dirty="0">
                <a:latin typeface="Lucida Grande"/>
                <a:cs typeface="Lucida Grande"/>
              </a:rPr>
              <a:t>fraction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208" dirty="0">
                <a:latin typeface="Lucida Grande"/>
                <a:cs typeface="Lucida Grande"/>
              </a:rPr>
              <a:t>of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50" dirty="0">
                <a:latin typeface="Lucida Grande"/>
                <a:cs typeface="Lucida Grande"/>
              </a:rPr>
              <a:t>all </a:t>
            </a:r>
            <a:r>
              <a:rPr sz="2000" spc="-159" dirty="0">
                <a:latin typeface="Lucida Grande"/>
                <a:cs typeface="Lucida Grande"/>
              </a:rPr>
              <a:t>outstanding</a:t>
            </a:r>
            <a:r>
              <a:rPr sz="2000" spc="-20" dirty="0">
                <a:latin typeface="Lucida Grande"/>
                <a:cs typeface="Lucida Grande"/>
              </a:rPr>
              <a:t> </a:t>
            </a:r>
            <a:r>
              <a:rPr sz="2000" spc="-198" dirty="0">
                <a:latin typeface="Lucida Grande"/>
                <a:cs typeface="Lucida Grande"/>
              </a:rPr>
              <a:t>shares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20" dirty="0">
                <a:latin typeface="Lucida Grande"/>
                <a:cs typeface="Lucida Grande"/>
              </a:rPr>
              <a:t>that</a:t>
            </a:r>
            <a:r>
              <a:rPr sz="2000" spc="-50" dirty="0">
                <a:latin typeface="Lucida Grande"/>
                <a:cs typeface="Lucida Grande"/>
              </a:rPr>
              <a:t> </a:t>
            </a:r>
            <a:r>
              <a:rPr sz="2000" spc="-139" dirty="0">
                <a:latin typeface="Lucida Grande"/>
                <a:cs typeface="Lucida Grande"/>
              </a:rPr>
              <a:t>are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29" dirty="0">
                <a:latin typeface="Lucida Grande"/>
                <a:cs typeface="Lucida Grande"/>
              </a:rPr>
              <a:t>traded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218" dirty="0">
                <a:latin typeface="Lucida Grande"/>
                <a:cs typeface="Lucida Grande"/>
              </a:rPr>
              <a:t>on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20" dirty="0">
                <a:latin typeface="Lucida Grande"/>
                <a:cs typeface="Lucida Grande"/>
              </a:rPr>
              <a:t>that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day</a:t>
            </a:r>
            <a:r>
              <a:rPr lang="en-US" sz="2000" spc="-159" dirty="0">
                <a:latin typeface="Lucida Grande"/>
                <a:cs typeface="Lucida Grande"/>
              </a:rPr>
              <a:t> relative to a 100-day moving average of past turnover,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226" dirty="0">
                <a:latin typeface="Lucida Grande"/>
                <a:cs typeface="Lucida Grande"/>
              </a:rPr>
              <a:t>on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49" dirty="0">
                <a:latin typeface="Lucida Grande"/>
                <a:cs typeface="Lucida Grande"/>
              </a:rPr>
              <a:t>the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208" dirty="0">
                <a:latin typeface="Lucida Grande"/>
                <a:cs typeface="Lucida Grande"/>
              </a:rPr>
              <a:t>log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scale.</a:t>
            </a:r>
            <a:endParaRPr sz="2000" dirty="0">
              <a:latin typeface="Lucida Grande"/>
              <a:cs typeface="Lucida Grande"/>
            </a:endParaRPr>
          </a:p>
          <a:p>
            <a:pPr marL="624156" marR="222733" indent="-275585">
              <a:lnSpc>
                <a:spcPct val="102600"/>
              </a:lnSpc>
              <a:spcBef>
                <a:spcPts val="595"/>
              </a:spcBef>
              <a:buClr>
                <a:srgbClr val="3333B3"/>
              </a:buClr>
              <a:buFont typeface="Menlo"/>
              <a:buChar char="•"/>
              <a:tabLst>
                <a:tab pos="625415" algn="l"/>
              </a:tabLst>
            </a:pPr>
            <a:r>
              <a:rPr sz="2000" spc="-188" dirty="0">
                <a:solidFill>
                  <a:srgbClr val="990000"/>
                </a:solidFill>
                <a:latin typeface="Courier New"/>
                <a:cs typeface="Courier New"/>
              </a:rPr>
              <a:t>Dow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Jones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39" dirty="0">
                <a:solidFill>
                  <a:srgbClr val="990000"/>
                </a:solidFill>
                <a:latin typeface="Courier New"/>
                <a:cs typeface="Courier New"/>
              </a:rPr>
              <a:t>return</a:t>
            </a:r>
            <a:r>
              <a:rPr sz="2000" spc="-139" dirty="0">
                <a:latin typeface="Lucida Grande"/>
                <a:cs typeface="Lucida Grande"/>
              </a:rPr>
              <a:t>.</a:t>
            </a:r>
            <a:r>
              <a:rPr sz="2000" spc="79" dirty="0">
                <a:latin typeface="Lucida Grande"/>
                <a:cs typeface="Lucida Grande"/>
              </a:rPr>
              <a:t> </a:t>
            </a:r>
            <a:r>
              <a:rPr sz="2000" spc="-40" dirty="0">
                <a:latin typeface="Lucida Grande"/>
                <a:cs typeface="Lucida Grande"/>
              </a:rPr>
              <a:t>This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99" dirty="0">
                <a:latin typeface="Lucida Grande"/>
                <a:cs typeface="Lucida Grande"/>
              </a:rPr>
              <a:t>is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the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lang="en-US" sz="2000" spc="-268" dirty="0">
                <a:latin typeface="Lucida Grande"/>
                <a:cs typeface="Lucida Grande"/>
              </a:rPr>
              <a:t>difference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88" dirty="0">
                <a:latin typeface="Lucida Grande"/>
                <a:cs typeface="Lucida Grande"/>
              </a:rPr>
              <a:t>between</a:t>
            </a:r>
            <a:r>
              <a:rPr sz="2000" spc="1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the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99" dirty="0">
                <a:latin typeface="Lucida Grande"/>
                <a:cs typeface="Lucida Grande"/>
              </a:rPr>
              <a:t>log </a:t>
            </a:r>
            <a:r>
              <a:rPr sz="2000" spc="-208" dirty="0">
                <a:latin typeface="Lucida Grande"/>
                <a:cs typeface="Lucida Grande"/>
              </a:rPr>
              <a:t>of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the</a:t>
            </a:r>
            <a:r>
              <a:rPr sz="2000" spc="-59" dirty="0">
                <a:latin typeface="Lucida Grande"/>
                <a:cs typeface="Lucida Grande"/>
              </a:rPr>
              <a:t> </a:t>
            </a:r>
            <a:r>
              <a:rPr sz="2000" spc="-129" dirty="0">
                <a:latin typeface="Lucida Grande"/>
                <a:cs typeface="Lucida Grande"/>
              </a:rPr>
              <a:t>Dow</a:t>
            </a:r>
            <a:r>
              <a:rPr sz="2000" spc="-30" dirty="0">
                <a:latin typeface="Lucida Grande"/>
                <a:cs typeface="Lucida Grande"/>
              </a:rPr>
              <a:t> </a:t>
            </a:r>
            <a:r>
              <a:rPr sz="2000" spc="-99" dirty="0">
                <a:latin typeface="Lucida Grande"/>
                <a:cs typeface="Lucida Grande"/>
              </a:rPr>
              <a:t>Jones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79" dirty="0">
                <a:latin typeface="Lucida Grande"/>
                <a:cs typeface="Lucida Grande"/>
              </a:rPr>
              <a:t>Industrial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Index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218" dirty="0">
                <a:latin typeface="Lucida Grande"/>
                <a:cs typeface="Lucida Grande"/>
              </a:rPr>
              <a:t>on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consecutive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20" dirty="0">
                <a:latin typeface="Lucida Grande"/>
                <a:cs typeface="Lucida Grande"/>
              </a:rPr>
              <a:t>trading days.</a:t>
            </a:r>
            <a:endParaRPr sz="2000" dirty="0">
              <a:latin typeface="Lucida Grande"/>
              <a:cs typeface="Lucida Grande"/>
            </a:endParaRPr>
          </a:p>
          <a:p>
            <a:pPr marL="624156" marR="354863" indent="-275585">
              <a:lnSpc>
                <a:spcPct val="102600"/>
              </a:lnSpc>
              <a:spcBef>
                <a:spcPts val="585"/>
              </a:spcBef>
              <a:buClr>
                <a:srgbClr val="3333B3"/>
              </a:buClr>
              <a:buFont typeface="Menlo"/>
              <a:buChar char="•"/>
              <a:tabLst>
                <a:tab pos="625415" algn="l"/>
              </a:tabLst>
            </a:pPr>
            <a:r>
              <a:rPr sz="20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59" dirty="0">
                <a:solidFill>
                  <a:srgbClr val="990000"/>
                </a:solidFill>
                <a:latin typeface="Courier New"/>
                <a:cs typeface="Courier New"/>
              </a:rPr>
              <a:t>volatility</a:t>
            </a:r>
            <a:r>
              <a:rPr sz="2000" spc="-159" dirty="0">
                <a:latin typeface="Lucida Grande"/>
                <a:cs typeface="Lucida Grande"/>
              </a:rPr>
              <a:t>.</a:t>
            </a:r>
            <a:r>
              <a:rPr sz="2000" spc="89" dirty="0">
                <a:latin typeface="Lucida Grande"/>
                <a:cs typeface="Lucida Grande"/>
              </a:rPr>
              <a:t> </a:t>
            </a:r>
            <a:r>
              <a:rPr sz="2000" spc="-40" dirty="0">
                <a:latin typeface="Lucida Grande"/>
                <a:cs typeface="Lucida Grande"/>
              </a:rPr>
              <a:t>This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99" dirty="0">
                <a:latin typeface="Lucida Grande"/>
                <a:cs typeface="Lucida Grande"/>
              </a:rPr>
              <a:t>is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208" dirty="0">
                <a:latin typeface="Lucida Grande"/>
                <a:cs typeface="Lucida Grande"/>
              </a:rPr>
              <a:t>based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218" dirty="0">
                <a:latin typeface="Lucida Grande"/>
                <a:cs typeface="Lucida Grande"/>
              </a:rPr>
              <a:t>on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the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168" dirty="0">
                <a:latin typeface="Lucida Grande"/>
                <a:cs typeface="Lucida Grande"/>
              </a:rPr>
              <a:t>absolute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values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69" dirty="0">
                <a:latin typeface="Lucida Grande"/>
                <a:cs typeface="Lucida Grande"/>
              </a:rPr>
              <a:t>of </a:t>
            </a:r>
            <a:r>
              <a:rPr sz="2000" spc="-50" dirty="0">
                <a:latin typeface="Lucida Grande"/>
                <a:cs typeface="Lucida Grande"/>
              </a:rPr>
              <a:t>daily</a:t>
            </a:r>
            <a:r>
              <a:rPr sz="2000" spc="-69" dirty="0">
                <a:latin typeface="Lucida Grande"/>
                <a:cs typeface="Lucida Grande"/>
              </a:rPr>
              <a:t> </a:t>
            </a:r>
            <a:r>
              <a:rPr sz="2000" spc="-129" dirty="0">
                <a:latin typeface="Lucida Grande"/>
                <a:cs typeface="Lucida Grande"/>
              </a:rPr>
              <a:t>price</a:t>
            </a:r>
            <a:r>
              <a:rPr sz="2000" spc="-50" dirty="0">
                <a:latin typeface="Lucida Grande"/>
                <a:cs typeface="Lucida Grande"/>
              </a:rPr>
              <a:t> </a:t>
            </a:r>
            <a:r>
              <a:rPr sz="2000" spc="-20" dirty="0">
                <a:latin typeface="Lucida Grande"/>
                <a:cs typeface="Lucida Grande"/>
              </a:rPr>
              <a:t>movements.</a:t>
            </a:r>
            <a:endParaRPr sz="2000" dirty="0">
              <a:latin typeface="Lucida Grande"/>
              <a:cs typeface="Lucida Grande"/>
            </a:endParaRPr>
          </a:p>
          <a:p>
            <a:pPr marL="75503" marR="700917">
              <a:lnSpc>
                <a:spcPct val="102600"/>
              </a:lnSpc>
              <a:spcBef>
                <a:spcPts val="595"/>
              </a:spcBef>
            </a:pPr>
            <a:r>
              <a:rPr sz="2000" spc="-20" dirty="0">
                <a:latin typeface="Lucida Grande"/>
                <a:cs typeface="Lucida Grande"/>
              </a:rPr>
              <a:t>Goal:</a:t>
            </a:r>
            <a:r>
              <a:rPr sz="2000" spc="208" dirty="0">
                <a:latin typeface="Lucida Grande"/>
                <a:cs typeface="Lucida Grande"/>
              </a:rPr>
              <a:t> </a:t>
            </a:r>
            <a:r>
              <a:rPr sz="2000" spc="-109" dirty="0">
                <a:latin typeface="Lucida Grande"/>
                <a:cs typeface="Lucida Grande"/>
              </a:rPr>
              <a:t>predict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trading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volume</a:t>
            </a:r>
            <a:r>
              <a:rPr sz="200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68" dirty="0">
                <a:latin typeface="Lucida Grande"/>
                <a:cs typeface="Lucida Grande"/>
              </a:rPr>
              <a:t>tomorrow,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59" dirty="0">
                <a:latin typeface="Lucida Grande"/>
                <a:cs typeface="Lucida Grande"/>
              </a:rPr>
              <a:t>given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50" dirty="0">
                <a:latin typeface="Lucida Grande"/>
                <a:cs typeface="Lucida Grande"/>
              </a:rPr>
              <a:t>its </a:t>
            </a:r>
            <a:r>
              <a:rPr sz="2000" spc="-198" dirty="0">
                <a:latin typeface="Lucida Grande"/>
                <a:cs typeface="Lucida Grande"/>
              </a:rPr>
              <a:t>observed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68" dirty="0">
                <a:latin typeface="Lucida Grande"/>
                <a:cs typeface="Lucida Grande"/>
              </a:rPr>
              <a:t>values</a:t>
            </a:r>
            <a:r>
              <a:rPr sz="2000" dirty="0">
                <a:latin typeface="Lucida Grande"/>
                <a:cs typeface="Lucida Grande"/>
              </a:rPr>
              <a:t> </a:t>
            </a:r>
            <a:r>
              <a:rPr sz="2000" spc="-139" dirty="0">
                <a:latin typeface="Lucida Grande"/>
                <a:cs typeface="Lucida Grande"/>
              </a:rPr>
              <a:t>up</a:t>
            </a:r>
            <a:r>
              <a:rPr sz="2000" spc="-10" dirty="0">
                <a:latin typeface="Lucida Grande"/>
                <a:cs typeface="Lucida Grande"/>
              </a:rPr>
              <a:t> </a:t>
            </a:r>
            <a:r>
              <a:rPr sz="2000" spc="-59" dirty="0">
                <a:latin typeface="Lucida Grande"/>
                <a:cs typeface="Lucida Grande"/>
              </a:rPr>
              <a:t>to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39" dirty="0">
                <a:latin typeface="Lucida Grande"/>
                <a:cs typeface="Lucida Grande"/>
              </a:rPr>
              <a:t>today,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98" dirty="0">
                <a:latin typeface="Lucida Grande"/>
                <a:cs typeface="Lucida Grande"/>
              </a:rPr>
              <a:t>as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19" dirty="0">
                <a:latin typeface="Lucida Grande"/>
                <a:cs typeface="Lucida Grande"/>
              </a:rPr>
              <a:t>well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198" dirty="0">
                <a:latin typeface="Lucida Grande"/>
                <a:cs typeface="Lucida Grande"/>
              </a:rPr>
              <a:t>as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88" dirty="0">
                <a:latin typeface="Lucida Grande"/>
                <a:cs typeface="Lucida Grande"/>
              </a:rPr>
              <a:t>those</a:t>
            </a:r>
            <a:r>
              <a:rPr sz="2000" spc="20" dirty="0">
                <a:latin typeface="Lucida Grande"/>
                <a:cs typeface="Lucida Grande"/>
              </a:rPr>
              <a:t> </a:t>
            </a:r>
            <a:r>
              <a:rPr sz="2000" spc="-208" dirty="0">
                <a:latin typeface="Lucida Grande"/>
                <a:cs typeface="Lucida Grande"/>
              </a:rPr>
              <a:t>of</a:t>
            </a:r>
            <a:r>
              <a:rPr sz="2000" spc="30" dirty="0">
                <a:latin typeface="Lucida Grande"/>
                <a:cs typeface="Lucida Grande"/>
              </a:rPr>
              <a:t> </a:t>
            </a:r>
            <a:r>
              <a:rPr sz="2000" spc="-188" dirty="0">
                <a:solidFill>
                  <a:srgbClr val="990000"/>
                </a:solidFill>
                <a:latin typeface="Courier New"/>
                <a:cs typeface="Courier New"/>
              </a:rPr>
              <a:t>Dow</a:t>
            </a:r>
            <a:r>
              <a:rPr sz="200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29" dirty="0">
                <a:solidFill>
                  <a:srgbClr val="990000"/>
                </a:solidFill>
                <a:latin typeface="Courier New"/>
                <a:cs typeface="Courier New"/>
              </a:rPr>
              <a:t>Jones </a:t>
            </a:r>
            <a:r>
              <a:rPr sz="2000" spc="-198" dirty="0">
                <a:solidFill>
                  <a:srgbClr val="990000"/>
                </a:solidFill>
                <a:latin typeface="Courier New"/>
                <a:cs typeface="Courier New"/>
              </a:rPr>
              <a:t>return</a:t>
            </a:r>
            <a:r>
              <a:rPr sz="200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129" dirty="0">
                <a:latin typeface="Lucida Grande"/>
                <a:cs typeface="Lucida Grande"/>
              </a:rPr>
              <a:t>and</a:t>
            </a:r>
            <a:r>
              <a:rPr sz="2000" spc="40" dirty="0">
                <a:latin typeface="Lucida Grande"/>
                <a:cs typeface="Lucida Grande"/>
              </a:rPr>
              <a:t> </a:t>
            </a:r>
            <a:r>
              <a:rPr sz="2000" spc="-188" dirty="0">
                <a:solidFill>
                  <a:srgbClr val="990000"/>
                </a:solidFill>
                <a:latin typeface="Courier New"/>
                <a:cs typeface="Courier New"/>
              </a:rPr>
              <a:t>Log</a:t>
            </a:r>
            <a:r>
              <a:rPr sz="2000" spc="-159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000" spc="-20" dirty="0">
                <a:solidFill>
                  <a:srgbClr val="990000"/>
                </a:solidFill>
                <a:latin typeface="Courier New"/>
                <a:cs typeface="Courier New"/>
              </a:rPr>
              <a:t>volatility</a:t>
            </a:r>
            <a:r>
              <a:rPr sz="2000" spc="-20" dirty="0">
                <a:latin typeface="Lucida Grande"/>
                <a:cs typeface="Lucida Grande"/>
              </a:rPr>
              <a:t>.</a:t>
            </a:r>
            <a:endParaRPr sz="2000" dirty="0">
              <a:latin typeface="Lucida Grande"/>
              <a:cs typeface="Lucida Grande"/>
            </a:endParaRPr>
          </a:p>
          <a:p>
            <a:pPr marL="75503" marR="451758">
              <a:lnSpc>
                <a:spcPts val="2675"/>
              </a:lnSpc>
              <a:spcBef>
                <a:spcPts val="109"/>
              </a:spcBef>
            </a:pPr>
            <a:r>
              <a:rPr sz="2000" spc="-129" dirty="0">
                <a:solidFill>
                  <a:srgbClr val="0000FF"/>
                </a:solidFill>
                <a:latin typeface="Lucida Grande"/>
                <a:cs typeface="Lucida Grande"/>
              </a:rPr>
              <a:t>These</a:t>
            </a:r>
            <a:r>
              <a:rPr sz="2000" spc="-3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59" dirty="0">
                <a:solidFill>
                  <a:srgbClr val="0000FF"/>
                </a:solidFill>
                <a:latin typeface="Lucida Grande"/>
                <a:cs typeface="Lucida Grande"/>
              </a:rPr>
              <a:t>data</a:t>
            </a:r>
            <a:r>
              <a:rPr sz="2000" spc="-4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168" dirty="0">
                <a:solidFill>
                  <a:srgbClr val="0000FF"/>
                </a:solidFill>
                <a:latin typeface="Lucida Grande"/>
                <a:cs typeface="Lucida Grande"/>
              </a:rPr>
              <a:t>were</a:t>
            </a:r>
            <a:r>
              <a:rPr sz="2000" spc="1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198" dirty="0">
                <a:solidFill>
                  <a:srgbClr val="0000FF"/>
                </a:solidFill>
                <a:latin typeface="Lucida Grande"/>
                <a:cs typeface="Lucida Grande"/>
              </a:rPr>
              <a:t>assembled</a:t>
            </a:r>
            <a:r>
              <a:rPr sz="2000" spc="3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40" dirty="0">
                <a:solidFill>
                  <a:srgbClr val="0000FF"/>
                </a:solidFill>
                <a:latin typeface="Lucida Grande"/>
                <a:cs typeface="Lucida Grande"/>
              </a:rPr>
              <a:t>by</a:t>
            </a:r>
            <a:r>
              <a:rPr sz="2000" spc="-1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40" dirty="0">
                <a:solidFill>
                  <a:srgbClr val="0000FF"/>
                </a:solidFill>
                <a:latin typeface="Lucida Grande"/>
                <a:cs typeface="Lucida Grande"/>
              </a:rPr>
              <a:t>LeBaron</a:t>
            </a:r>
            <a:r>
              <a:rPr sz="2000" spc="-1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119" dirty="0">
                <a:solidFill>
                  <a:srgbClr val="0000FF"/>
                </a:solidFill>
                <a:latin typeface="Lucida Grande"/>
                <a:cs typeface="Lucida Grande"/>
              </a:rPr>
              <a:t>and</a:t>
            </a:r>
            <a:r>
              <a:rPr sz="200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119" dirty="0">
                <a:solidFill>
                  <a:srgbClr val="0000FF"/>
                </a:solidFill>
                <a:latin typeface="Lucida Grande"/>
                <a:cs typeface="Lucida Grande"/>
              </a:rPr>
              <a:t>Weigend</a:t>
            </a:r>
            <a:r>
              <a:rPr sz="2000" spc="-1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149" dirty="0">
                <a:solidFill>
                  <a:srgbClr val="0000FF"/>
                </a:solidFill>
                <a:latin typeface="Lucida Grande"/>
                <a:cs typeface="Lucida Grande"/>
              </a:rPr>
              <a:t>(1998)</a:t>
            </a:r>
            <a:r>
              <a:rPr sz="2000" spc="-10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i="1" spc="-40" dirty="0">
                <a:solidFill>
                  <a:srgbClr val="0000FF"/>
                </a:solidFill>
                <a:latin typeface="Menlo"/>
                <a:cs typeface="Menlo"/>
              </a:rPr>
              <a:t>IEEE </a:t>
            </a:r>
            <a:r>
              <a:rPr sz="2000" i="1" spc="-297" dirty="0">
                <a:solidFill>
                  <a:srgbClr val="0000FF"/>
                </a:solidFill>
                <a:latin typeface="Menlo"/>
                <a:cs typeface="Menlo"/>
              </a:rPr>
              <a:t>Transactions</a:t>
            </a:r>
            <a:r>
              <a:rPr sz="2000" i="1" spc="-466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00" i="1" spc="-159" dirty="0">
                <a:solidFill>
                  <a:srgbClr val="0000FF"/>
                </a:solidFill>
                <a:latin typeface="Menlo"/>
                <a:cs typeface="Menlo"/>
              </a:rPr>
              <a:t>on</a:t>
            </a:r>
            <a:r>
              <a:rPr sz="2000" i="1" spc="-466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00" i="1" spc="-268" dirty="0">
                <a:solidFill>
                  <a:srgbClr val="0000FF"/>
                </a:solidFill>
                <a:latin typeface="Menlo"/>
                <a:cs typeface="Menlo"/>
              </a:rPr>
              <a:t>Neural</a:t>
            </a:r>
            <a:r>
              <a:rPr sz="2000" i="1" spc="-466" dirty="0">
                <a:solidFill>
                  <a:srgbClr val="0000FF"/>
                </a:solidFill>
                <a:latin typeface="Menlo"/>
                <a:cs typeface="Menlo"/>
              </a:rPr>
              <a:t> </a:t>
            </a:r>
            <a:r>
              <a:rPr sz="2000" i="1" spc="-218" dirty="0">
                <a:solidFill>
                  <a:srgbClr val="0000FF"/>
                </a:solidFill>
                <a:latin typeface="Menlo"/>
                <a:cs typeface="Menlo"/>
              </a:rPr>
              <a:t>Networks</a:t>
            </a:r>
            <a:r>
              <a:rPr sz="2000" spc="-218" dirty="0">
                <a:solidFill>
                  <a:srgbClr val="0000FF"/>
                </a:solidFill>
                <a:latin typeface="Lucida Grande"/>
                <a:cs typeface="Lucida Grande"/>
              </a:rPr>
              <a:t>,</a:t>
            </a:r>
            <a:r>
              <a:rPr sz="2000" spc="59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Lucida Grande"/>
                <a:cs typeface="Lucida Grande"/>
              </a:rPr>
              <a:t>9(1):</a:t>
            </a:r>
            <a:r>
              <a:rPr sz="2000" spc="277" dirty="0">
                <a:solidFill>
                  <a:srgbClr val="0000FF"/>
                </a:solidFill>
                <a:latin typeface="Lucida Grande"/>
                <a:cs typeface="Lucida Grande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Lucida Grande"/>
                <a:cs typeface="Lucida Grande"/>
              </a:rPr>
              <a:t>213–220.</a:t>
            </a:r>
            <a:endParaRPr sz="2000" dirty="0">
              <a:solidFill>
                <a:srgbClr val="0000FF"/>
              </a:solidFill>
              <a:latin typeface="Lucida Grande"/>
              <a:cs typeface="Lucida Grand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FBD3FA-2E07-2DC6-06A5-0AE4437E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2514242">
              <a:spcBef>
                <a:spcPts val="268"/>
              </a:spcBef>
            </a:pPr>
            <a:r>
              <a:rPr spc="79" dirty="0"/>
              <a:t>Autocorrelation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7337132-A0C0-A966-FC80-BB27E2CA4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0B06334-DFA9-3D75-D728-C108FFB9FE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18" b="4982"/>
          <a:stretch/>
        </p:blipFill>
        <p:spPr>
          <a:xfrm>
            <a:off x="914400" y="1143000"/>
            <a:ext cx="7315200" cy="3200400"/>
          </a:xfrm>
          <a:prstGeom prst="rect">
            <a:avLst/>
          </a:prstGeom>
        </p:spPr>
      </p:pic>
      <p:sp>
        <p:nvSpPr>
          <p:cNvPr id="27" name="object 20">
            <a:extLst>
              <a:ext uri="{FF2B5EF4-FFF2-40B4-BE49-F238E27FC236}">
                <a16:creationId xmlns:a16="http://schemas.microsoft.com/office/drawing/2014/main" id="{665D10E4-0233-51A7-81C6-F5EEE365EC99}"/>
              </a:ext>
            </a:extLst>
          </p:cNvPr>
          <p:cNvSpPr txBox="1"/>
          <p:nvPr/>
        </p:nvSpPr>
        <p:spPr>
          <a:xfrm>
            <a:off x="414974" y="4572000"/>
            <a:ext cx="8523286" cy="141654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76530" marR="198755" indent="-1390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Meiryo UI"/>
              <a:buChar char="•"/>
              <a:tabLst>
                <a:tab pos="176530" algn="l"/>
              </a:tabLst>
            </a:pP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autocorrelation</a:t>
            </a:r>
            <a:r>
              <a:rPr i="1" spc="145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</a:t>
            </a:r>
            <a:r>
              <a:rPr lang="en-US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i="1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</a:t>
            </a:r>
            <a:r>
              <a:rPr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pairs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i="1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i="1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i="1" baseline="-1388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000" i="1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sz="2000" i="1" baseline="-138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pc="1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pc="-2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i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spc="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</a:t>
            </a:r>
            <a:r>
              <a:rPr spc="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days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apart.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530" marR="356870" indent="-139065">
              <a:lnSpc>
                <a:spcPct val="102600"/>
              </a:lnSpc>
              <a:buClr>
                <a:srgbClr val="3333B2"/>
              </a:buClr>
              <a:buFont typeface="Meiryo UI"/>
              <a:buChar char="•"/>
              <a:tabLst>
                <a:tab pos="17653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sizable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correlations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confidence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pc="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helpful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pc="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6530" marR="30480" indent="-139065">
              <a:lnSpc>
                <a:spcPct val="102600"/>
              </a:lnSpc>
              <a:buClr>
                <a:srgbClr val="3333B2"/>
              </a:buClr>
              <a:buFont typeface="Meiryo UI"/>
              <a:buChar char="•"/>
              <a:tabLst>
                <a:tab pos="176530" algn="l"/>
              </a:tabLst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curious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spc="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i="1" baseline="-1041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i="1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</a:t>
            </a:r>
            <a:r>
              <a:rPr sz="2000" i="1" spc="457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</a:t>
            </a:r>
            <a:r>
              <a:rPr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2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</a:t>
            </a:r>
            <a:r>
              <a:rPr i="1" spc="-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2000" i="1" spc="-15" baseline="-1388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975" rIns="0" bIns="0" rtlCol="0" anchor="ctr">
            <a:sp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pPr marL="2487816">
              <a:spcBef>
                <a:spcPts val="268"/>
              </a:spcBef>
            </a:pPr>
            <a:r>
              <a:rPr spc="109" dirty="0"/>
              <a:t>RNN</a:t>
            </a:r>
            <a:r>
              <a:rPr spc="238" dirty="0"/>
              <a:t> </a:t>
            </a:r>
            <a:r>
              <a:rPr spc="-20" dirty="0"/>
              <a:t>Forecaster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58342" y="1219200"/>
            <a:ext cx="8628458" cy="4504226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125838">
              <a:spcBef>
                <a:spcPts val="178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9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4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data!</a:t>
            </a:r>
            <a:r>
              <a:rPr sz="2400" spc="25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68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2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38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59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RNN?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838"/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400" spc="-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9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9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1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mini-</a:t>
            </a:r>
            <a:r>
              <a:rPr sz="2400" spc="-1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8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838">
              <a:spcBef>
                <a:spcPts val="69"/>
              </a:spcBef>
            </a:pPr>
            <a:r>
              <a:rPr sz="2400" spc="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7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400" spc="-8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2400" spc="-31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268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400" spc="1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</a:t>
            </a:r>
            <a:r>
              <a:rPr sz="2400" spc="-33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39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..,</a:t>
            </a:r>
            <a:r>
              <a:rPr sz="2400" spc="-33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sz="2400" spc="281" baseline="-10416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i="1" spc="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sz="2400" i="1" spc="-5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49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297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88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sz="24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24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i="1" spc="-40" dirty="0">
                <a:solidFill>
                  <a:srgbClr val="0099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lag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spc="-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838">
              <a:spcBef>
                <a:spcPts val="69"/>
              </a:spcBef>
            </a:pPr>
            <a:endParaRPr lang="en-US" sz="2400" baseline="50505" dirty="0">
              <a:latin typeface="Lucida Grande"/>
              <a:cs typeface="Lucida Grande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endParaRPr lang="en-US" sz="2400" dirty="0">
              <a:latin typeface="Times New Roman"/>
              <a:cs typeface="Times New Roman"/>
            </a:endParaRPr>
          </a:p>
          <a:p>
            <a:pPr marL="50800" marR="167640">
              <a:lnSpc>
                <a:spcPct val="102600"/>
              </a:lnSpc>
              <a:spcBef>
                <a:spcPts val="894"/>
              </a:spcBef>
            </a:pPr>
            <a:r>
              <a:rPr lang="en-US" sz="2400" dirty="0">
                <a:latin typeface="Times New Roman"/>
                <a:cs typeface="Times New Roman"/>
              </a:rPr>
              <a:t>Since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i="1" dirty="0">
                <a:latin typeface="Georgia"/>
                <a:cs typeface="Georgia"/>
              </a:rPr>
              <a:t>T</a:t>
            </a:r>
            <a:r>
              <a:rPr lang="en-US" sz="2400" spc="215" dirty="0">
                <a:latin typeface="Times New Roman"/>
                <a:cs typeface="Times New Roman"/>
              </a:rPr>
              <a:t>=</a:t>
            </a:r>
            <a:r>
              <a:rPr lang="en-US" sz="2400" spc="-10" dirty="0">
                <a:latin typeface="Times New Roman"/>
                <a:cs typeface="Times New Roman"/>
              </a:rPr>
              <a:t>6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dirty="0">
                <a:latin typeface="Times New Roman"/>
                <a:cs typeface="Times New Roman"/>
              </a:rPr>
              <a:t>051, with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i="1" spc="70" dirty="0">
                <a:latin typeface="Georgia"/>
                <a:cs typeface="Georgia"/>
              </a:rPr>
              <a:t>L</a:t>
            </a:r>
            <a:r>
              <a:rPr lang="en-US" sz="2400" i="1" spc="60" dirty="0">
                <a:latin typeface="Georgia"/>
                <a:cs typeface="Georgia"/>
              </a:rPr>
              <a:t> </a:t>
            </a:r>
            <a:r>
              <a:rPr lang="en-US" sz="2400" spc="215" dirty="0">
                <a:latin typeface="Times New Roman"/>
                <a:cs typeface="Times New Roman"/>
              </a:rPr>
              <a:t>=</a:t>
            </a:r>
            <a:r>
              <a:rPr lang="en-US" sz="2400" dirty="0">
                <a:latin typeface="Times New Roman"/>
                <a:cs typeface="Times New Roman"/>
              </a:rPr>
              <a:t>5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we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can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create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6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dirty="0">
                <a:latin typeface="Times New Roman"/>
                <a:cs typeface="Times New Roman"/>
              </a:rPr>
              <a:t>046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such</a:t>
            </a:r>
            <a:r>
              <a:rPr lang="en-US" sz="2400" spc="120" dirty="0">
                <a:latin typeface="Times New Roman"/>
                <a:cs typeface="Times New Roman"/>
              </a:rPr>
              <a:t> </a:t>
            </a:r>
            <a:r>
              <a:rPr lang="en-US" sz="2400" spc="60" dirty="0">
                <a:latin typeface="Times New Roman"/>
                <a:cs typeface="Times New Roman"/>
              </a:rPr>
              <a:t>(</a:t>
            </a:r>
            <a:r>
              <a:rPr lang="en-US" sz="2400" i="1" spc="60" dirty="0">
                <a:latin typeface="Georgia"/>
                <a:cs typeface="Georgia"/>
              </a:rPr>
              <a:t>X,</a:t>
            </a:r>
            <a:r>
              <a:rPr lang="en-US" sz="2400" i="1" spc="-70" dirty="0">
                <a:latin typeface="Georgia"/>
                <a:cs typeface="Georgia"/>
              </a:rPr>
              <a:t> </a:t>
            </a:r>
            <a:r>
              <a:rPr lang="en-US" sz="2400" i="1" spc="-50" dirty="0">
                <a:latin typeface="Georgia"/>
                <a:cs typeface="Georgia"/>
              </a:rPr>
              <a:t>Y</a:t>
            </a:r>
            <a:r>
              <a:rPr lang="en-US" sz="2400" i="1" dirty="0">
                <a:latin typeface="Georgia"/>
                <a:cs typeface="Georgia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) </a:t>
            </a:r>
            <a:r>
              <a:rPr lang="en-US" sz="2400" spc="-10" dirty="0">
                <a:latin typeface="Times New Roman"/>
                <a:cs typeface="Times New Roman"/>
              </a:rPr>
              <a:t>pairs.</a:t>
            </a:r>
            <a:endParaRPr lang="en-US" sz="2400" dirty="0">
              <a:latin typeface="Times New Roman"/>
              <a:cs typeface="Times New Roman"/>
            </a:endParaRPr>
          </a:p>
          <a:p>
            <a:pPr marL="50800" marR="43180" indent="-635">
              <a:lnSpc>
                <a:spcPct val="102600"/>
              </a:lnSpc>
            </a:pPr>
            <a:r>
              <a:rPr lang="en-US" sz="2400" dirty="0">
                <a:latin typeface="Times New Roman"/>
                <a:cs typeface="Times New Roman"/>
              </a:rPr>
              <a:t>We</a:t>
            </a:r>
            <a:r>
              <a:rPr lang="en-US" sz="2400" spc="1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use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spc="55" dirty="0">
                <a:latin typeface="Times New Roman"/>
                <a:cs typeface="Times New Roman"/>
              </a:rPr>
              <a:t>the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first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4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dirty="0">
                <a:latin typeface="Times New Roman"/>
                <a:cs typeface="Times New Roman"/>
              </a:rPr>
              <a:t>281 as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training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spc="60" dirty="0">
                <a:latin typeface="Times New Roman"/>
                <a:cs typeface="Times New Roman"/>
              </a:rPr>
              <a:t>data,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spc="50" dirty="0">
                <a:latin typeface="Times New Roman"/>
                <a:cs typeface="Times New Roman"/>
              </a:rPr>
              <a:t>and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spc="55" dirty="0">
                <a:latin typeface="Times New Roman"/>
                <a:cs typeface="Times New Roman"/>
              </a:rPr>
              <a:t>the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following</a:t>
            </a:r>
            <a:r>
              <a:rPr lang="en-US" sz="2400" spc="1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1</a:t>
            </a:r>
            <a:r>
              <a:rPr lang="en-US" sz="2400" i="1" spc="-10" dirty="0">
                <a:latin typeface="Georgia"/>
                <a:cs typeface="Georgia"/>
              </a:rPr>
              <a:t>,</a:t>
            </a:r>
            <a:r>
              <a:rPr lang="en-US" sz="2400" spc="-25" dirty="0">
                <a:latin typeface="Times New Roman"/>
                <a:cs typeface="Times New Roman"/>
              </a:rPr>
              <a:t>770 </a:t>
            </a:r>
            <a:r>
              <a:rPr lang="en-US" sz="2400" dirty="0">
                <a:latin typeface="Times New Roman"/>
                <a:cs typeface="Times New Roman"/>
              </a:rPr>
              <a:t>as</a:t>
            </a:r>
            <a:r>
              <a:rPr lang="en-US" sz="2400" spc="155" dirty="0">
                <a:latin typeface="Times New Roman"/>
                <a:cs typeface="Times New Roman"/>
              </a:rPr>
              <a:t> </a:t>
            </a:r>
            <a:r>
              <a:rPr lang="en-US" sz="2400" spc="60" dirty="0">
                <a:latin typeface="Times New Roman"/>
                <a:cs typeface="Times New Roman"/>
              </a:rPr>
              <a:t>test</a:t>
            </a:r>
            <a:r>
              <a:rPr lang="en-US" sz="2400" spc="165" dirty="0">
                <a:latin typeface="Times New Roman"/>
                <a:cs typeface="Times New Roman"/>
              </a:rPr>
              <a:t> </a:t>
            </a:r>
            <a:r>
              <a:rPr lang="en-US" sz="2400" spc="60" dirty="0">
                <a:latin typeface="Times New Roman"/>
                <a:cs typeface="Times New Roman"/>
              </a:rPr>
              <a:t>data.</a:t>
            </a:r>
            <a:r>
              <a:rPr lang="en-US" sz="2400" spc="3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We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fit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spc="50" dirty="0">
                <a:latin typeface="Times New Roman"/>
                <a:cs typeface="Times New Roman"/>
              </a:rPr>
              <a:t>an</a:t>
            </a:r>
            <a:r>
              <a:rPr lang="en-US" sz="2400" spc="1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RNN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with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12</a:t>
            </a:r>
            <a:r>
              <a:rPr lang="en-US" sz="2400" spc="1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hidden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units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per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lag</a:t>
            </a:r>
            <a:r>
              <a:rPr lang="en-US" sz="2400" spc="16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step </a:t>
            </a:r>
            <a:r>
              <a:rPr lang="en-US" sz="2400" dirty="0">
                <a:latin typeface="Times New Roman"/>
                <a:cs typeface="Times New Roman"/>
              </a:rPr>
              <a:t>(i.e. per</a:t>
            </a:r>
            <a:r>
              <a:rPr lang="en-US" sz="2400" spc="190" dirty="0">
                <a:latin typeface="Times New Roman"/>
                <a:cs typeface="Times New Roman"/>
              </a:rPr>
              <a:t> </a:t>
            </a:r>
            <a:r>
              <a:rPr lang="en-US" sz="2400" i="1" spc="-20" dirty="0">
                <a:latin typeface="Georgia"/>
                <a:cs typeface="Georgia"/>
              </a:rPr>
              <a:t>A</a:t>
            </a:r>
            <a:r>
              <a:rPr lang="en-US" sz="2400" i="1" spc="-30" baseline="-13888" dirty="0">
                <a:latin typeface="Georgia"/>
                <a:cs typeface="Georgia"/>
              </a:rPr>
              <a:t>l</a:t>
            </a:r>
            <a:r>
              <a:rPr lang="en-US" sz="2400" spc="-20" dirty="0">
                <a:latin typeface="Times New Roman"/>
                <a:cs typeface="Times New Roman"/>
              </a:rPr>
              <a:t>.)</a:t>
            </a:r>
            <a:endParaRPr sz="2400" baseline="50505" dirty="0">
              <a:latin typeface="Lucida Grande"/>
              <a:cs typeface="Lucida Grande"/>
            </a:endParaRP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7EAF210-1A77-C12D-827B-EB133647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20" name="Picture 19" descr="A black and white image of a smiley face&#10;&#10;Description automatically generated">
            <a:extLst>
              <a:ext uri="{FF2B5EF4-FFF2-40B4-BE49-F238E27FC236}">
                <a16:creationId xmlns:a16="http://schemas.microsoft.com/office/drawing/2014/main" id="{ACE7C428-0618-94A5-4EB8-2758EA0ED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60" y="2667000"/>
            <a:ext cx="9072479" cy="130431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7B81B4F9-034C-BA83-B970-18718F054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09" dirty="0"/>
              <a:t>RNN</a:t>
            </a:r>
            <a:r>
              <a:rPr lang="en-US" spc="347" dirty="0"/>
              <a:t> </a:t>
            </a:r>
            <a:r>
              <a:rPr lang="en-US" spc="89" dirty="0"/>
              <a:t>Results</a:t>
            </a:r>
            <a:r>
              <a:rPr lang="en-US" spc="347" dirty="0"/>
              <a:t> </a:t>
            </a:r>
            <a:r>
              <a:rPr lang="en-US" dirty="0"/>
              <a:t>for</a:t>
            </a:r>
            <a:r>
              <a:rPr lang="en-US" spc="347" dirty="0"/>
              <a:t> </a:t>
            </a:r>
            <a:r>
              <a:rPr lang="en-US" dirty="0"/>
              <a:t>NYSE</a:t>
            </a:r>
            <a:r>
              <a:rPr lang="en-US" spc="347" dirty="0"/>
              <a:t> </a:t>
            </a:r>
            <a:r>
              <a:rPr lang="en-US" spc="129" dirty="0"/>
              <a:t>Data</a:t>
            </a:r>
            <a:endParaRPr lang="en-US" dirty="0"/>
          </a:p>
        </p:txBody>
      </p:sp>
      <p:grpSp>
        <p:nvGrpSpPr>
          <p:cNvPr id="3" name="object 3"/>
          <p:cNvGrpSpPr/>
          <p:nvPr/>
        </p:nvGrpSpPr>
        <p:grpSpPr>
          <a:xfrm>
            <a:off x="1430155" y="1875286"/>
            <a:ext cx="6515728" cy="2037267"/>
            <a:chOff x="719582" y="946324"/>
            <a:chExt cx="3288029" cy="10280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6983" y="977374"/>
              <a:ext cx="3005662" cy="91314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9582" y="946324"/>
              <a:ext cx="3288029" cy="1028065"/>
            </a:xfrm>
            <a:custGeom>
              <a:avLst/>
              <a:gdLst/>
              <a:ahLst/>
              <a:cxnLst/>
              <a:rect l="l" t="t" r="r" b="b"/>
              <a:pathLst>
                <a:path w="3288029" h="1028064">
                  <a:moveTo>
                    <a:pt x="171316" y="975247"/>
                  </a:moveTo>
                  <a:lnTo>
                    <a:pt x="2741262" y="975247"/>
                  </a:lnTo>
                </a:path>
                <a:path w="3288029" h="1028064">
                  <a:moveTo>
                    <a:pt x="171316" y="975247"/>
                  </a:moveTo>
                  <a:lnTo>
                    <a:pt x="171316" y="1027897"/>
                  </a:lnTo>
                </a:path>
                <a:path w="3288029" h="1028064">
                  <a:moveTo>
                    <a:pt x="1028302" y="975247"/>
                  </a:moveTo>
                  <a:lnTo>
                    <a:pt x="1028302" y="1027897"/>
                  </a:lnTo>
                </a:path>
                <a:path w="3288029" h="1028064">
                  <a:moveTo>
                    <a:pt x="1884208" y="975247"/>
                  </a:moveTo>
                  <a:lnTo>
                    <a:pt x="1884208" y="1027897"/>
                  </a:lnTo>
                </a:path>
                <a:path w="3288029" h="1028064">
                  <a:moveTo>
                    <a:pt x="2741262" y="975247"/>
                  </a:moveTo>
                  <a:lnTo>
                    <a:pt x="2741262" y="1027897"/>
                  </a:lnTo>
                </a:path>
                <a:path w="3288029" h="1028064">
                  <a:moveTo>
                    <a:pt x="52650" y="813043"/>
                  </a:moveTo>
                  <a:lnTo>
                    <a:pt x="52650" y="30915"/>
                  </a:lnTo>
                </a:path>
                <a:path w="3288029" h="1028064">
                  <a:moveTo>
                    <a:pt x="52650" y="813043"/>
                  </a:moveTo>
                  <a:lnTo>
                    <a:pt x="0" y="813043"/>
                  </a:lnTo>
                </a:path>
                <a:path w="3288029" h="1028064">
                  <a:moveTo>
                    <a:pt x="52650" y="617494"/>
                  </a:moveTo>
                  <a:lnTo>
                    <a:pt x="0" y="617494"/>
                  </a:lnTo>
                </a:path>
                <a:path w="3288029" h="1028064">
                  <a:moveTo>
                    <a:pt x="52650" y="422013"/>
                  </a:moveTo>
                  <a:lnTo>
                    <a:pt x="0" y="422013"/>
                  </a:lnTo>
                </a:path>
                <a:path w="3288029" h="1028064">
                  <a:moveTo>
                    <a:pt x="52650" y="226464"/>
                  </a:moveTo>
                  <a:lnTo>
                    <a:pt x="0" y="226464"/>
                  </a:lnTo>
                </a:path>
                <a:path w="3288029" h="1028064">
                  <a:moveTo>
                    <a:pt x="52650" y="30915"/>
                  </a:moveTo>
                  <a:lnTo>
                    <a:pt x="0" y="30915"/>
                  </a:lnTo>
                </a:path>
                <a:path w="3288029" h="1028064">
                  <a:moveTo>
                    <a:pt x="52650" y="975247"/>
                  </a:moveTo>
                  <a:lnTo>
                    <a:pt x="3287814" y="975247"/>
                  </a:lnTo>
                  <a:lnTo>
                    <a:pt x="3287814" y="0"/>
                  </a:lnTo>
                  <a:lnTo>
                    <a:pt x="52650" y="0"/>
                  </a:lnTo>
                  <a:lnTo>
                    <a:pt x="52650" y="975247"/>
                  </a:lnTo>
                </a:path>
              </a:pathLst>
            </a:custGeom>
            <a:ln w="506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3567"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514" y="1083451"/>
              <a:ext cx="3000599" cy="51847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551059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1980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49439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1982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45414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1984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43796" y="3984432"/>
            <a:ext cx="437903" cy="23632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1387" spc="-40" dirty="0">
                <a:latin typeface="Helvetica"/>
                <a:cs typeface="Helvetica"/>
              </a:rPr>
              <a:t>1986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25021" y="3289699"/>
            <a:ext cx="193386" cy="393863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5168">
              <a:lnSpc>
                <a:spcPts val="1526"/>
              </a:lnSpc>
            </a:pPr>
            <a:r>
              <a:rPr sz="1387" spc="-40" dirty="0">
                <a:latin typeface="Helvetica"/>
                <a:cs typeface="Helvetica"/>
              </a:rPr>
              <a:t>−1.0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5021" y="1790648"/>
            <a:ext cx="193386" cy="106708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5168">
              <a:lnSpc>
                <a:spcPts val="1526"/>
              </a:lnSpc>
            </a:pPr>
            <a:r>
              <a:rPr sz="1387" dirty="0">
                <a:latin typeface="Helvetica"/>
                <a:cs typeface="Helvetica"/>
              </a:rPr>
              <a:t>0.0</a:t>
            </a:r>
            <a:r>
              <a:rPr sz="1387" spc="694" dirty="0">
                <a:latin typeface="Helvetica"/>
                <a:cs typeface="Helvetica"/>
              </a:rPr>
              <a:t> </a:t>
            </a:r>
            <a:r>
              <a:rPr sz="1387" dirty="0">
                <a:latin typeface="Helvetica"/>
                <a:cs typeface="Helvetica"/>
              </a:rPr>
              <a:t>0.5</a:t>
            </a:r>
            <a:r>
              <a:rPr sz="1387" spc="694" dirty="0">
                <a:latin typeface="Helvetica"/>
                <a:cs typeface="Helvetica"/>
              </a:rPr>
              <a:t> </a:t>
            </a:r>
            <a:r>
              <a:rPr sz="1387" spc="-50" dirty="0">
                <a:latin typeface="Helvetica"/>
                <a:cs typeface="Helvetica"/>
              </a:rPr>
              <a:t>1.0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44140" y="1285106"/>
            <a:ext cx="3791404" cy="284586"/>
          </a:xfrm>
          <a:prstGeom prst="rect">
            <a:avLst/>
          </a:prstGeom>
        </p:spPr>
        <p:txBody>
          <a:bodyPr vert="horz" wrap="square" lIns="0" tIns="25167" rIns="0" bIns="0" rtlCol="0">
            <a:spAutoFit/>
          </a:bodyPr>
          <a:lstStyle/>
          <a:p>
            <a:pPr marL="25168">
              <a:spcBef>
                <a:spcPts val="198"/>
              </a:spcBef>
            </a:pPr>
            <a:r>
              <a:rPr sz="1684" b="1" spc="-20" dirty="0">
                <a:latin typeface="Helvetica"/>
                <a:cs typeface="Helvetica"/>
              </a:rPr>
              <a:t>Test</a:t>
            </a:r>
            <a:r>
              <a:rPr sz="1684" b="1" spc="-50" dirty="0">
                <a:latin typeface="Helvetica"/>
                <a:cs typeface="Helvetica"/>
              </a:rPr>
              <a:t> </a:t>
            </a:r>
            <a:r>
              <a:rPr sz="1684" b="1" dirty="0">
                <a:latin typeface="Helvetica"/>
                <a:cs typeface="Helvetica"/>
              </a:rPr>
              <a:t>Period:</a:t>
            </a:r>
            <a:r>
              <a:rPr sz="1684" b="1" spc="-50" dirty="0">
                <a:latin typeface="Helvetica"/>
                <a:cs typeface="Helvetica"/>
              </a:rPr>
              <a:t> </a:t>
            </a:r>
            <a:r>
              <a:rPr sz="1684" b="1" dirty="0">
                <a:latin typeface="Helvetica"/>
                <a:cs typeface="Helvetica"/>
              </a:rPr>
              <a:t>Observed</a:t>
            </a:r>
            <a:r>
              <a:rPr sz="1684" b="1" spc="-50" dirty="0">
                <a:latin typeface="Helvetica"/>
                <a:cs typeface="Helvetica"/>
              </a:rPr>
              <a:t> </a:t>
            </a:r>
            <a:r>
              <a:rPr sz="1684" b="1" dirty="0">
                <a:latin typeface="Helvetica"/>
                <a:cs typeface="Helvetica"/>
              </a:rPr>
              <a:t>and</a:t>
            </a:r>
            <a:r>
              <a:rPr sz="1684" b="1" spc="-40" dirty="0">
                <a:latin typeface="Helvetica"/>
                <a:cs typeface="Helvetica"/>
              </a:rPr>
              <a:t> </a:t>
            </a:r>
            <a:r>
              <a:rPr sz="1684" b="1" spc="-20" dirty="0">
                <a:latin typeface="Helvetica"/>
                <a:cs typeface="Helvetica"/>
              </a:rPr>
              <a:t>Predicted</a:t>
            </a:r>
            <a:endParaRPr sz="1684">
              <a:latin typeface="Helvetica"/>
              <a:cs typeface="Helvetic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43325" y="4401771"/>
            <a:ext cx="393863" cy="23632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1387" spc="-50" dirty="0">
                <a:latin typeface="Helvetica"/>
                <a:cs typeface="Helvetica"/>
              </a:rPr>
              <a:t>Year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7682" y="2047364"/>
            <a:ext cx="193386" cy="1589294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25168">
              <a:lnSpc>
                <a:spcPts val="1526"/>
              </a:lnSpc>
            </a:pPr>
            <a:r>
              <a:rPr sz="1387" spc="-40" dirty="0">
                <a:latin typeface="Helvetica"/>
                <a:cs typeface="Helvetica"/>
              </a:rPr>
              <a:t>log(Trading</a:t>
            </a:r>
            <a:r>
              <a:rPr sz="1387" spc="10" dirty="0">
                <a:latin typeface="Helvetica"/>
                <a:cs typeface="Helvetica"/>
              </a:rPr>
              <a:t> </a:t>
            </a:r>
            <a:r>
              <a:rPr sz="1387" spc="-20" dirty="0">
                <a:latin typeface="Helvetica"/>
                <a:cs typeface="Helvetica"/>
              </a:rPr>
              <a:t>Volume)</a:t>
            </a:r>
            <a:endParaRPr sz="1387">
              <a:latin typeface="Helvetica"/>
              <a:cs typeface="Helvetic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84579" y="4562796"/>
            <a:ext cx="7917491" cy="1380422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100670">
              <a:spcBef>
                <a:spcPts val="178"/>
              </a:spcBef>
            </a:pPr>
            <a:r>
              <a:rPr sz="2180" spc="-69" dirty="0">
                <a:latin typeface="Lucida Grande"/>
                <a:cs typeface="Lucida Grande"/>
              </a:rPr>
              <a:t>Figure</a:t>
            </a:r>
            <a:r>
              <a:rPr sz="2180" spc="-99" dirty="0">
                <a:latin typeface="Lucida Grande"/>
                <a:cs typeface="Lucida Grande"/>
              </a:rPr>
              <a:t> </a:t>
            </a:r>
            <a:r>
              <a:rPr sz="2180" spc="-248" dirty="0">
                <a:latin typeface="Lucida Grande"/>
                <a:cs typeface="Lucida Grande"/>
              </a:rPr>
              <a:t>shows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predictions</a:t>
            </a:r>
            <a:r>
              <a:rPr sz="2180" spc="-3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and</a:t>
            </a:r>
            <a:r>
              <a:rPr sz="2180" spc="-40" dirty="0">
                <a:latin typeface="Lucida Grande"/>
                <a:cs typeface="Lucida Grande"/>
              </a:rPr>
              <a:t> truth</a:t>
            </a:r>
            <a:r>
              <a:rPr sz="2180" spc="-3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spc="-30" dirty="0">
                <a:latin typeface="Lucida Grande"/>
                <a:cs typeface="Lucida Grande"/>
              </a:rPr>
              <a:t> </a:t>
            </a:r>
            <a:r>
              <a:rPr sz="2180" spc="-109" dirty="0">
                <a:latin typeface="Lucida Grande"/>
                <a:cs typeface="Lucida Grande"/>
              </a:rPr>
              <a:t>test</a:t>
            </a:r>
            <a:r>
              <a:rPr sz="2180" spc="-4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period.</a:t>
            </a:r>
            <a:endParaRPr sz="1684" dirty="0">
              <a:latin typeface="Lucida Grande"/>
              <a:cs typeface="Lucida Grande"/>
            </a:endParaRPr>
          </a:p>
          <a:p>
            <a:pPr marL="100670"/>
            <a:r>
              <a:rPr sz="2180" spc="149" dirty="0">
                <a:latin typeface="Lucida Grande"/>
                <a:cs typeface="Lucida Grande"/>
              </a:rPr>
              <a:t>R</a:t>
            </a:r>
            <a:r>
              <a:rPr sz="2378" spc="222" baseline="27777" dirty="0">
                <a:latin typeface="Times New Roman"/>
                <a:cs typeface="Times New Roman"/>
              </a:rPr>
              <a:t>2</a:t>
            </a:r>
            <a:r>
              <a:rPr sz="2378" spc="386" baseline="27777" dirty="0">
                <a:latin typeface="Times New Roman"/>
                <a:cs typeface="Times New Roman"/>
              </a:rPr>
              <a:t> </a:t>
            </a:r>
            <a:r>
              <a:rPr sz="2180" dirty="0">
                <a:latin typeface="Lucida Grande"/>
                <a:cs typeface="Lucida Grande"/>
              </a:rPr>
              <a:t>=</a:t>
            </a:r>
            <a:r>
              <a:rPr sz="2180" spc="-109" dirty="0">
                <a:latin typeface="Lucida Grande"/>
                <a:cs typeface="Lucida Grande"/>
              </a:rPr>
              <a:t> </a:t>
            </a:r>
            <a:r>
              <a:rPr sz="2180" spc="-268" dirty="0">
                <a:latin typeface="Lucida Grande"/>
                <a:cs typeface="Lucida Grande"/>
              </a:rPr>
              <a:t>0.42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50" dirty="0">
                <a:latin typeface="Lucida Grande"/>
                <a:cs typeface="Lucida Grande"/>
              </a:rPr>
              <a:t>RNN</a:t>
            </a:r>
            <a:endParaRPr sz="2180" dirty="0">
              <a:latin typeface="Lucida Grande"/>
              <a:cs typeface="Lucida Grande"/>
            </a:endParaRPr>
          </a:p>
          <a:p>
            <a:pPr marL="100670" marR="85570">
              <a:lnSpc>
                <a:spcPct val="102600"/>
              </a:lnSpc>
            </a:pPr>
            <a:r>
              <a:rPr sz="2180" spc="149" dirty="0">
                <a:latin typeface="Lucida Grande"/>
                <a:cs typeface="Lucida Grande"/>
              </a:rPr>
              <a:t>R</a:t>
            </a:r>
            <a:r>
              <a:rPr sz="2378" spc="222" baseline="27777" dirty="0">
                <a:latin typeface="Times New Roman"/>
                <a:cs typeface="Times New Roman"/>
              </a:rPr>
              <a:t>2</a:t>
            </a:r>
            <a:r>
              <a:rPr sz="2378" spc="476" baseline="27777" dirty="0">
                <a:latin typeface="Times New Roman"/>
                <a:cs typeface="Times New Roman"/>
              </a:rPr>
              <a:t> </a:t>
            </a:r>
            <a:r>
              <a:rPr sz="2180" dirty="0">
                <a:latin typeface="Lucida Grande"/>
                <a:cs typeface="Lucida Grande"/>
              </a:rPr>
              <a:t>=</a:t>
            </a:r>
            <a:r>
              <a:rPr sz="2180" spc="-69" dirty="0">
                <a:latin typeface="Lucida Grande"/>
                <a:cs typeface="Lucida Grande"/>
              </a:rPr>
              <a:t> </a:t>
            </a:r>
            <a:r>
              <a:rPr sz="2180" spc="-268" dirty="0">
                <a:latin typeface="Lucida Grande"/>
                <a:cs typeface="Lucida Grande"/>
              </a:rPr>
              <a:t>0.18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i="1" spc="-347" dirty="0">
                <a:solidFill>
                  <a:srgbClr val="009900"/>
                </a:solidFill>
                <a:latin typeface="Menlo"/>
                <a:cs typeface="Menlo"/>
              </a:rPr>
              <a:t>straw</a:t>
            </a:r>
            <a:r>
              <a:rPr sz="2180" i="1" spc="-51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180" i="1" dirty="0">
                <a:solidFill>
                  <a:srgbClr val="009900"/>
                </a:solidFill>
                <a:latin typeface="Menlo"/>
                <a:cs typeface="Menlo"/>
              </a:rPr>
              <a:t>man</a:t>
            </a:r>
            <a:r>
              <a:rPr sz="2180" i="1" spc="-57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180" dirty="0">
                <a:latin typeface="Lucida Grande"/>
                <a:cs typeface="Lucida Grande"/>
              </a:rPr>
              <a:t>—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248" dirty="0">
                <a:latin typeface="Lucida Grande"/>
                <a:cs typeface="Lucida Grande"/>
              </a:rPr>
              <a:t>use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159" dirty="0">
                <a:latin typeface="Lucida Grande"/>
                <a:cs typeface="Lucida Grande"/>
              </a:rPr>
              <a:t>yesterday’s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value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99" dirty="0">
                <a:solidFill>
                  <a:srgbClr val="990000"/>
                </a:solidFill>
                <a:latin typeface="Courier New"/>
                <a:cs typeface="Courier New"/>
              </a:rPr>
              <a:t>Log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trading</a:t>
            </a:r>
            <a:r>
              <a:rPr sz="2180" spc="-178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volume</a:t>
            </a:r>
            <a:r>
              <a:rPr sz="218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59" dirty="0">
                <a:latin typeface="Lucida Grande"/>
                <a:cs typeface="Lucida Grande"/>
              </a:rPr>
              <a:t>to</a:t>
            </a:r>
            <a:r>
              <a:rPr sz="2180" spc="-99" dirty="0">
                <a:latin typeface="Lucida Grande"/>
                <a:cs typeface="Lucida Grande"/>
              </a:rPr>
              <a:t> </a:t>
            </a:r>
            <a:r>
              <a:rPr sz="2180" spc="-109" dirty="0">
                <a:latin typeface="Lucida Grande"/>
                <a:cs typeface="Lucida Grande"/>
              </a:rPr>
              <a:t>predict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that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today.</a:t>
            </a:r>
            <a:endParaRPr sz="2180" dirty="0">
              <a:latin typeface="Lucida Grande"/>
              <a:cs typeface="Lucida Grand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8A52DD-6360-F83E-6DD9-5B2D106C6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3102139C-E7CB-0A5E-94B4-DF8E7BBCC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Autoregression</a:t>
            </a:r>
            <a:r>
              <a:rPr lang="en-US" spc="268" dirty="0"/>
              <a:t>  </a:t>
            </a:r>
            <a:r>
              <a:rPr lang="en-US" spc="-20" dirty="0"/>
              <a:t>Forecaster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92410" y="1064863"/>
            <a:ext cx="7074436" cy="706648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25168">
              <a:spcBef>
                <a:spcPts val="178"/>
              </a:spcBef>
            </a:pPr>
            <a:r>
              <a:rPr sz="2180" spc="-20" dirty="0">
                <a:latin typeface="Lucida Grande"/>
                <a:cs typeface="Lucida Grande"/>
              </a:rPr>
              <a:t>The</a:t>
            </a:r>
            <a:r>
              <a:rPr sz="2180" spc="-4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RNN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168" dirty="0">
                <a:latin typeface="Lucida Grande"/>
                <a:cs typeface="Lucida Grande"/>
              </a:rPr>
              <a:t>forecaster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99" dirty="0">
                <a:latin typeface="Lucida Grande"/>
                <a:cs typeface="Lucida Grande"/>
              </a:rPr>
              <a:t>is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99" dirty="0">
                <a:latin typeface="Lucida Grande"/>
                <a:cs typeface="Lucida Grande"/>
              </a:rPr>
              <a:t>similar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in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structure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59" dirty="0">
                <a:latin typeface="Lucida Grande"/>
                <a:cs typeface="Lucida Grande"/>
              </a:rPr>
              <a:t>to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</a:t>
            </a:r>
            <a:r>
              <a:rPr sz="2180" spc="-20" dirty="0">
                <a:latin typeface="Lucida Grande"/>
                <a:cs typeface="Lucida Grande"/>
              </a:rPr>
              <a:t> </a:t>
            </a:r>
            <a:r>
              <a:rPr sz="2180" spc="-59" dirty="0">
                <a:latin typeface="Lucida Grande"/>
                <a:cs typeface="Lucida Grande"/>
              </a:rPr>
              <a:t>traditional</a:t>
            </a:r>
            <a:endParaRPr sz="2180">
              <a:latin typeface="Lucida Grande"/>
              <a:cs typeface="Lucida Grande"/>
            </a:endParaRPr>
          </a:p>
          <a:p>
            <a:pPr marL="25168">
              <a:spcBef>
                <a:spcPts val="69"/>
              </a:spcBef>
            </a:pPr>
            <a:r>
              <a:rPr sz="2180" i="1" spc="-386" dirty="0">
                <a:solidFill>
                  <a:srgbClr val="009900"/>
                </a:solidFill>
                <a:latin typeface="Menlo"/>
                <a:cs typeface="Menlo"/>
              </a:rPr>
              <a:t>autoregression</a:t>
            </a:r>
            <a:r>
              <a:rPr sz="2180" i="1" spc="-347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procedure.</a:t>
            </a:r>
            <a:endParaRPr sz="2180">
              <a:latin typeface="Lucida Grande"/>
              <a:cs typeface="Lucida Grande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343111" y="5967188"/>
            <a:ext cx="86826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34" name="object 34"/>
          <p:cNvSpPr/>
          <p:nvPr/>
        </p:nvSpPr>
        <p:spPr>
          <a:xfrm>
            <a:off x="1701127" y="6308177"/>
            <a:ext cx="86826" cy="0"/>
          </a:xfrm>
          <a:custGeom>
            <a:avLst/>
            <a:gdLst/>
            <a:ahLst/>
            <a:cxnLst/>
            <a:rect l="l" t="t" r="r" b="b"/>
            <a:pathLst>
              <a:path w="43815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object 35"/>
              <p:cNvSpPr txBox="1"/>
              <p:nvPr/>
            </p:nvSpPr>
            <p:spPr>
              <a:xfrm>
                <a:off x="493643" y="3769108"/>
                <a:ext cx="8726557" cy="2260920"/>
              </a:xfrm>
              <a:prstGeom prst="rect">
                <a:avLst/>
              </a:prstGeom>
            </p:spPr>
            <p:txBody>
              <a:bodyPr vert="horz" wrap="square" lIns="0" tIns="22650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90"/>
                  </a:spcBef>
                </a:pPr>
                <a:r>
                  <a:rPr lang="en-US" sz="2180" dirty="0">
                    <a:latin typeface="Lucida Grande"/>
                    <a:cs typeface="Lucida Grande"/>
                  </a:rPr>
                  <a:t>Fit</a:t>
                </a:r>
                <a:r>
                  <a:rPr lang="en-US" sz="2180" spc="109" dirty="0">
                    <a:latin typeface="Lucida Grande"/>
                    <a:cs typeface="Lucida Grande"/>
                  </a:rPr>
                  <a:t> </a:t>
                </a:r>
                <a:r>
                  <a:rPr lang="en-US" sz="2180" spc="-79" dirty="0">
                    <a:latin typeface="Lucida Grande"/>
                    <a:cs typeface="Lucida Grande"/>
                  </a:rPr>
                  <a:t>an</a:t>
                </a:r>
                <a:r>
                  <a:rPr lang="en-US" sz="2180" spc="119" dirty="0">
                    <a:latin typeface="Lucida Grande"/>
                    <a:cs typeface="Lucida Grande"/>
                  </a:rPr>
                  <a:t> </a:t>
                </a:r>
                <a:r>
                  <a:rPr lang="en-US" sz="2180" dirty="0">
                    <a:latin typeface="Lucida Grande"/>
                    <a:cs typeface="Lucida Grande"/>
                  </a:rPr>
                  <a:t>OLS</a:t>
                </a:r>
                <a:r>
                  <a:rPr lang="en-US" sz="2180" spc="109" dirty="0">
                    <a:latin typeface="Lucida Grande"/>
                    <a:cs typeface="Lucida Grande"/>
                  </a:rPr>
                  <a:t> </a:t>
                </a:r>
                <a:r>
                  <a:rPr lang="en-US" sz="2180" spc="-208" dirty="0">
                    <a:latin typeface="Lucida Grande"/>
                    <a:cs typeface="Lucida Grande"/>
                  </a:rPr>
                  <a:t>regression</a:t>
                </a:r>
                <a:r>
                  <a:rPr lang="en-US" sz="2180" spc="119" dirty="0">
                    <a:latin typeface="Lucida Grande"/>
                    <a:cs typeface="Lucida Grande"/>
                  </a:rPr>
                  <a:t> </a:t>
                </a:r>
                <a:r>
                  <a:rPr lang="en-US" sz="2180" spc="-208" dirty="0">
                    <a:latin typeface="Lucida Grande"/>
                    <a:cs typeface="Lucida Grande"/>
                  </a:rPr>
                  <a:t>of</a:t>
                </a:r>
                <a:r>
                  <a:rPr lang="en-US" sz="2180" spc="109" dirty="0">
                    <a:latin typeface="Lucida Grande"/>
                    <a:cs typeface="Lucida Grande"/>
                  </a:rPr>
                  <a:t> </a:t>
                </a:r>
                <a:r>
                  <a:rPr lang="en-US" sz="2180" b="1" spc="218" dirty="0">
                    <a:latin typeface="Times New Roman"/>
                    <a:cs typeface="Times New Roman"/>
                  </a:rPr>
                  <a:t>y</a:t>
                </a:r>
                <a:r>
                  <a:rPr lang="en-US" sz="2180" b="1" spc="297" dirty="0">
                    <a:latin typeface="Times New Roman"/>
                    <a:cs typeface="Times New Roman"/>
                  </a:rPr>
                  <a:t> </a:t>
                </a:r>
                <a:r>
                  <a:rPr lang="en-US" sz="2180" spc="-218" dirty="0">
                    <a:latin typeface="Lucida Grande"/>
                    <a:cs typeface="Lucida Grande"/>
                  </a:rPr>
                  <a:t>on</a:t>
                </a:r>
                <a:r>
                  <a:rPr lang="en-US" sz="2180" spc="119" dirty="0">
                    <a:latin typeface="Lucida Grande"/>
                    <a:cs typeface="Lucida Grande"/>
                  </a:rPr>
                  <a:t> </a:t>
                </a:r>
                <a:r>
                  <a:rPr lang="en-US" sz="2180" b="1" dirty="0">
                    <a:latin typeface="Times New Roman"/>
                    <a:cs typeface="Times New Roman"/>
                  </a:rPr>
                  <a:t>M</a:t>
                </a:r>
                <a:r>
                  <a:rPr lang="en-US" sz="2180" dirty="0">
                    <a:latin typeface="Lucida Grande"/>
                    <a:cs typeface="Lucida Grande"/>
                  </a:rPr>
                  <a:t>,</a:t>
                </a:r>
                <a:r>
                  <a:rPr lang="en-US" sz="2180" spc="109" dirty="0">
                    <a:latin typeface="Lucida Grande"/>
                    <a:cs typeface="Lucida Grande"/>
                  </a:rPr>
                  <a:t> </a:t>
                </a:r>
                <a:r>
                  <a:rPr lang="en-US" sz="2180" spc="-20" dirty="0">
                    <a:latin typeface="Lucida Grande"/>
                    <a:cs typeface="Lucida Grande"/>
                  </a:rPr>
                  <a:t>giving </a:t>
                </a:r>
                <a:endParaRPr lang="en-US" sz="2400" dirty="0">
                  <a:latin typeface="Times New Roman"/>
                  <a:cs typeface="Times New Roman"/>
                </a:endParaRPr>
              </a:p>
              <a:p>
                <a:pPr marL="50800" marR="645160" indent="685800">
                  <a:lnSpc>
                    <a:spcPct val="1857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pc="-459" smtClean="0">
                            <a:latin typeface="Cambria Math" panose="02040503050406030204" pitchFamily="18" charset="0"/>
                            <a:cs typeface="Georgia"/>
                          </a:rPr>
                        </m:ctrlPr>
                      </m:sSubPr>
                      <m:e>
                        <m:r>
                          <a:rPr lang="en-US" sz="2800" b="0" i="1" spc="-459" smtClean="0">
                            <a:latin typeface="Cambria Math" panose="02040503050406030204" pitchFamily="18" charset="0"/>
                            <a:cs typeface="Georgia"/>
                          </a:rPr>
                          <m:t>𝑣</m:t>
                        </m:r>
                      </m:e>
                      <m:sub>
                        <m:r>
                          <a:rPr lang="en-US" sz="2800" b="0" i="1" spc="-459" smtClean="0">
                            <a:latin typeface="Cambria Math" panose="02040503050406030204" pitchFamily="18" charset="0"/>
                            <a:cs typeface="Georgia"/>
                          </a:rPr>
                          <m:t>𝑡</m:t>
                        </m:r>
                      </m:sub>
                    </m:sSub>
                    <m:r>
                      <a:rPr lang="en-US" sz="2800" b="0" i="1" spc="-459" smtClean="0">
                        <a:latin typeface="Cambria Math" panose="02040503050406030204" pitchFamily="18" charset="0"/>
                        <a:cs typeface="Georgia"/>
                      </a:rPr>
                      <m:t>=</m:t>
                    </m:r>
                    <m:sSub>
                      <m:sSubPr>
                        <m:ctrlPr>
                          <a:rPr lang="en-US" sz="2800" b="0" i="1" spc="-459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b="0" i="1" spc="-459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b="0" i="1" spc="-459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spc="215" dirty="0">
                    <a:latin typeface="Times New Roman"/>
                    <a:cs typeface="Times New Roman"/>
                  </a:rPr>
                  <a:t>+</a:t>
                </a:r>
                <a:r>
                  <a:rPr lang="en-US" sz="2800" spc="-459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pc="-459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spc="-459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b="0" i="1" spc="-459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pc="-459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pc="-459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spc="-459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b="0" i="1" spc="-459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sz="2800" b="0" i="1" spc="-459" smtClean="0">
                        <a:latin typeface="Cambria Math" panose="02040503050406030204" pitchFamily="18" charset="0"/>
                      </a:rPr>
                      <m:t>+…+ </m:t>
                    </m:r>
                    <m:sSub>
                      <m:sSubPr>
                        <m:ctrlPr>
                          <a:rPr lang="en-US" sz="2800" i="1" spc="-459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800" i="1" spc="-459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800" i="1" spc="-459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2800" i="1" spc="-459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800" b="0" i="1" spc="-459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pc="-459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endParaRPr lang="en-US" sz="2400" dirty="0">
                  <a:latin typeface="Lucida Grande"/>
                  <a:cs typeface="Lucida Grande"/>
                </a:endParaRPr>
              </a:p>
              <a:p>
                <a:pPr marL="100670">
                  <a:spcBef>
                    <a:spcPts val="178"/>
                  </a:spcBef>
                </a:pPr>
                <a:r>
                  <a:rPr lang="en-US" sz="2180" spc="-99" dirty="0">
                    <a:latin typeface="Lucida Grande"/>
                    <a:cs typeface="Lucida Grande"/>
                  </a:rPr>
                  <a:t>Known</a:t>
                </a:r>
                <a:r>
                  <a:rPr lang="en-US" sz="2180" spc="5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98" dirty="0">
                    <a:latin typeface="Lucida Grande"/>
                    <a:cs typeface="Lucida Grande"/>
                  </a:rPr>
                  <a:t>as</a:t>
                </a:r>
                <a:r>
                  <a:rPr lang="en-US" sz="2180" spc="5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79" dirty="0">
                    <a:latin typeface="Lucida Grande"/>
                    <a:cs typeface="Lucida Grande"/>
                  </a:rPr>
                  <a:t>an</a:t>
                </a:r>
                <a:r>
                  <a:rPr lang="en-US" sz="2180" spc="50" dirty="0">
                    <a:latin typeface="Lucida Grande"/>
                    <a:cs typeface="Lucida Grande"/>
                  </a:rPr>
                  <a:t> </a:t>
                </a:r>
                <a:r>
                  <a:rPr lang="en-US" sz="2180" i="1" spc="-386" dirty="0">
                    <a:solidFill>
                      <a:srgbClr val="009900"/>
                    </a:solidFill>
                    <a:latin typeface="Menlo"/>
                    <a:cs typeface="Menlo"/>
                  </a:rPr>
                  <a:t>order-</a:t>
                </a:r>
                <a:r>
                  <a:rPr lang="en-US" sz="2180" spc="297" dirty="0">
                    <a:solidFill>
                      <a:srgbClr val="009900"/>
                    </a:solidFill>
                    <a:latin typeface="Lucida Grande"/>
                    <a:cs typeface="Lucida Grande"/>
                  </a:rPr>
                  <a:t>L</a:t>
                </a:r>
                <a:r>
                  <a:rPr lang="en-US" sz="2180" spc="99" dirty="0">
                    <a:solidFill>
                      <a:srgbClr val="009900"/>
                    </a:solidFill>
                    <a:latin typeface="Lucida Grande"/>
                    <a:cs typeface="Lucida Grande"/>
                  </a:rPr>
                  <a:t> </a:t>
                </a:r>
                <a:r>
                  <a:rPr lang="en-US" sz="2180" i="1" spc="-386" dirty="0">
                    <a:solidFill>
                      <a:srgbClr val="009900"/>
                    </a:solidFill>
                    <a:latin typeface="Menlo"/>
                    <a:cs typeface="Menlo"/>
                  </a:rPr>
                  <a:t>autoregression</a:t>
                </a:r>
                <a:r>
                  <a:rPr lang="en-US" sz="2180" i="1" spc="-575" dirty="0">
                    <a:solidFill>
                      <a:srgbClr val="009900"/>
                    </a:solidFill>
                    <a:latin typeface="Menlo"/>
                    <a:cs typeface="Menlo"/>
                  </a:rPr>
                  <a:t> </a:t>
                </a:r>
                <a:r>
                  <a:rPr lang="en-US" sz="2180" spc="-188" dirty="0">
                    <a:latin typeface="Lucida Grande"/>
                    <a:cs typeface="Lucida Grande"/>
                  </a:rPr>
                  <a:t>model</a:t>
                </a:r>
                <a:r>
                  <a:rPr lang="en-US" sz="2180" spc="5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19" dirty="0">
                    <a:latin typeface="Lucida Grande"/>
                    <a:cs typeface="Lucida Grande"/>
                  </a:rPr>
                  <a:t>or</a:t>
                </a:r>
                <a:r>
                  <a:rPr lang="en-US" sz="2180" spc="50" dirty="0">
                    <a:latin typeface="Lucida Grande"/>
                    <a:cs typeface="Lucida Grande"/>
                  </a:rPr>
                  <a:t> </a:t>
                </a:r>
                <a:r>
                  <a:rPr lang="en-US" sz="2180" spc="109" dirty="0">
                    <a:latin typeface="Lucida Grande"/>
                    <a:cs typeface="Lucida Grande"/>
                  </a:rPr>
                  <a:t>AR(L).</a:t>
                </a:r>
                <a:endParaRPr lang="en-US" sz="2180" dirty="0">
                  <a:latin typeface="Lucida Grande"/>
                  <a:cs typeface="Lucida Grande"/>
                </a:endParaRPr>
              </a:p>
              <a:p>
                <a:pPr marL="100670">
                  <a:spcBef>
                    <a:spcPts val="69"/>
                  </a:spcBef>
                </a:pPr>
                <a:r>
                  <a:rPr lang="en-US" sz="2180" spc="-40" dirty="0">
                    <a:latin typeface="Lucida Grande"/>
                    <a:cs typeface="Lucida Grande"/>
                  </a:rPr>
                  <a:t>For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19" dirty="0">
                    <a:latin typeface="Lucida Grande"/>
                    <a:cs typeface="Lucida Grande"/>
                  </a:rPr>
                  <a:t>the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NYSE</a:t>
                </a:r>
                <a:r>
                  <a:rPr lang="en-US" sz="2180" spc="-585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spc="-89" dirty="0">
                    <a:latin typeface="Lucida Grande"/>
                    <a:cs typeface="Lucida Grande"/>
                  </a:rPr>
                  <a:t>data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248" dirty="0">
                    <a:latin typeface="Lucida Grande"/>
                    <a:cs typeface="Lucida Grande"/>
                  </a:rPr>
                  <a:t>we</a:t>
                </a:r>
                <a:r>
                  <a:rPr lang="en-US" sz="2180" spc="4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39" dirty="0">
                    <a:latin typeface="Lucida Grande"/>
                    <a:cs typeface="Lucida Grande"/>
                  </a:rPr>
                  <a:t>can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49" dirty="0">
                    <a:latin typeface="Lucida Grande"/>
                    <a:cs typeface="Lucida Grande"/>
                  </a:rPr>
                  <a:t>include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208" dirty="0">
                    <a:latin typeface="Lucida Grande"/>
                    <a:cs typeface="Lucida Grande"/>
                  </a:rPr>
                  <a:t>lagged</a:t>
                </a:r>
                <a:r>
                  <a:rPr lang="en-US" sz="2180" spc="4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78" dirty="0">
                    <a:latin typeface="Lucida Grande"/>
                    <a:cs typeface="Lucida Grande"/>
                  </a:rPr>
                  <a:t>versions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208" dirty="0">
                    <a:latin typeface="Lucida Grande"/>
                    <a:cs typeface="Lucida Grande"/>
                  </a:rPr>
                  <a:t>of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DJ</a:t>
                </a:r>
                <a:r>
                  <a:rPr lang="en-US" sz="2180" spc="-486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spc="-20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return</a:t>
                </a:r>
                <a:endParaRPr lang="en-US" sz="2180" dirty="0">
                  <a:latin typeface="Courier New"/>
                  <a:cs typeface="Courier New"/>
                </a:endParaRPr>
              </a:p>
              <a:p>
                <a:pPr marL="100670">
                  <a:spcBef>
                    <a:spcPts val="69"/>
                  </a:spcBef>
                </a:pPr>
                <a:r>
                  <a:rPr lang="en-US" sz="2180" spc="-129" dirty="0">
                    <a:latin typeface="Lucida Grande"/>
                    <a:cs typeface="Lucida Grande"/>
                  </a:rPr>
                  <a:t>and</a:t>
                </a:r>
                <a:r>
                  <a:rPr lang="en-US" sz="2180" spc="-5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log</a:t>
                </a:r>
                <a:r>
                  <a:rPr lang="en-US" sz="2180" spc="-495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spc="-198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volatility</a:t>
                </a:r>
                <a:r>
                  <a:rPr lang="en-US" sz="2180" spc="-595" dirty="0">
                    <a:solidFill>
                      <a:srgbClr val="990000"/>
                    </a:solidFill>
                    <a:latin typeface="Courier New"/>
                    <a:cs typeface="Courier New"/>
                  </a:rPr>
                  <a:t> </a:t>
                </a:r>
                <a:r>
                  <a:rPr lang="en-US" sz="2180" dirty="0">
                    <a:latin typeface="Lucida Grande"/>
                    <a:cs typeface="Lucida Grande"/>
                  </a:rPr>
                  <a:t>in</a:t>
                </a:r>
                <a:r>
                  <a:rPr lang="en-US" sz="2180" spc="-2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89" dirty="0">
                    <a:latin typeface="Lucida Grande"/>
                    <a:cs typeface="Lucida Grande"/>
                  </a:rPr>
                  <a:t>matrix</a:t>
                </a:r>
                <a:r>
                  <a:rPr lang="en-US" sz="2180" spc="10" dirty="0">
                    <a:latin typeface="Lucida Grande"/>
                    <a:cs typeface="Lucida Grande"/>
                  </a:rPr>
                  <a:t> </a:t>
                </a:r>
                <a:r>
                  <a:rPr lang="en-US" sz="2180" b="1" dirty="0">
                    <a:latin typeface="Times New Roman"/>
                    <a:cs typeface="Times New Roman"/>
                  </a:rPr>
                  <a:t>M</a:t>
                </a:r>
                <a:r>
                  <a:rPr lang="en-US" sz="2180" dirty="0">
                    <a:latin typeface="Lucida Grande"/>
                    <a:cs typeface="Lucida Grande"/>
                  </a:rPr>
                  <a:t>,</a:t>
                </a:r>
                <a:r>
                  <a:rPr lang="en-US" sz="2180" spc="1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129" dirty="0">
                    <a:latin typeface="Lucida Grande"/>
                    <a:cs typeface="Lucida Grande"/>
                  </a:rPr>
                  <a:t>resulting</a:t>
                </a:r>
                <a:r>
                  <a:rPr lang="en-US" sz="2180" spc="10" dirty="0">
                    <a:latin typeface="Lucida Grande"/>
                    <a:cs typeface="Lucida Grande"/>
                  </a:rPr>
                  <a:t> </a:t>
                </a:r>
                <a:r>
                  <a:rPr lang="en-US" sz="2180" dirty="0">
                    <a:latin typeface="Lucida Grande"/>
                    <a:cs typeface="Lucida Grande"/>
                  </a:rPr>
                  <a:t>in</a:t>
                </a:r>
                <a:r>
                  <a:rPr lang="en-US" sz="2180" spc="1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20" dirty="0">
                    <a:latin typeface="Lucida Grande"/>
                    <a:cs typeface="Lucida Grande"/>
                  </a:rPr>
                  <a:t>3L</a:t>
                </a:r>
                <a:r>
                  <a:rPr lang="en-US" sz="2180" spc="-208" dirty="0">
                    <a:latin typeface="Lucida Grande"/>
                    <a:cs typeface="Lucida Grande"/>
                  </a:rPr>
                  <a:t> </a:t>
                </a:r>
                <a:r>
                  <a:rPr lang="en-US" sz="2180" spc="-69" dirty="0">
                    <a:latin typeface="Lucida Grande"/>
                    <a:cs typeface="Lucida Grande"/>
                  </a:rPr>
                  <a:t>+</a:t>
                </a:r>
                <a:r>
                  <a:rPr lang="en-US" sz="2180" spc="-208" dirty="0">
                    <a:latin typeface="Lucida Grande"/>
                    <a:cs typeface="Lucida Grande"/>
                  </a:rPr>
                  <a:t> </a:t>
                </a:r>
                <a:r>
                  <a:rPr lang="en-US" sz="2180" spc="-317" dirty="0">
                    <a:latin typeface="Lucida Grande"/>
                    <a:cs typeface="Lucida Grande"/>
                  </a:rPr>
                  <a:t>1</a:t>
                </a:r>
                <a:r>
                  <a:rPr lang="en-US" sz="2180" spc="30" dirty="0">
                    <a:latin typeface="Lucida Grande"/>
                    <a:cs typeface="Lucida Grande"/>
                  </a:rPr>
                  <a:t> </a:t>
                </a:r>
                <a:r>
                  <a:rPr lang="en-US" sz="2180" spc="-50" dirty="0">
                    <a:latin typeface="Lucida Grande"/>
                    <a:cs typeface="Lucida Grande"/>
                  </a:rPr>
                  <a:t>columns.</a:t>
                </a:r>
                <a:endParaRPr lang="en-US" sz="2180" dirty="0">
                  <a:latin typeface="Lucida Grande"/>
                  <a:cs typeface="Lucida Grande"/>
                </a:endParaRPr>
              </a:p>
            </p:txBody>
          </p:sp>
        </mc:Choice>
        <mc:Fallback xmlns="">
          <p:sp>
            <p:nvSpPr>
              <p:cNvPr id="35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643" y="3769108"/>
                <a:ext cx="8726557" cy="2260920"/>
              </a:xfrm>
              <a:prstGeom prst="rect">
                <a:avLst/>
              </a:prstGeom>
              <a:blipFill>
                <a:blip r:embed="rId2"/>
                <a:stretch>
                  <a:fillRect l="-1306" t="-2793" b="-6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C832A1-03EF-E930-D40E-A92C26293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18</a:t>
            </a:fld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4729CA8-B238-CA15-ABC7-DBA10169C039}"/>
              </a:ext>
            </a:extLst>
          </p:cNvPr>
          <p:cNvGrpSpPr/>
          <p:nvPr/>
        </p:nvGrpSpPr>
        <p:grpSpPr>
          <a:xfrm>
            <a:off x="2113762" y="1807128"/>
            <a:ext cx="4934721" cy="1856232"/>
            <a:chOff x="869774" y="909408"/>
            <a:chExt cx="3253026" cy="1084557"/>
          </a:xfrm>
        </p:grpSpPr>
        <p:sp>
          <p:nvSpPr>
            <p:cNvPr id="40" name="object 15">
              <a:extLst>
                <a:ext uri="{FF2B5EF4-FFF2-40B4-BE49-F238E27FC236}">
                  <a16:creationId xmlns:a16="http://schemas.microsoft.com/office/drawing/2014/main" id="{CE8CC30E-234A-19F2-998F-F748FFFC68D4}"/>
                </a:ext>
              </a:extLst>
            </p:cNvPr>
            <p:cNvSpPr txBox="1"/>
            <p:nvPr/>
          </p:nvSpPr>
          <p:spPr>
            <a:xfrm>
              <a:off x="1697735" y="1388680"/>
              <a:ext cx="323215" cy="168870"/>
            </a:xfrm>
            <a:prstGeom prst="rect">
              <a:avLst/>
            </a:prstGeom>
          </p:spPr>
          <p:txBody>
            <a:bodyPr vert="horz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b="1" spc="55" dirty="0">
                  <a:latin typeface="Georgia"/>
                  <a:cs typeface="Georgia"/>
                </a:rPr>
                <a:t>M</a:t>
              </a:r>
              <a:r>
                <a:rPr b="1" spc="20" dirty="0">
                  <a:latin typeface="Georgia"/>
                  <a:cs typeface="Georgia"/>
                </a:rPr>
                <a:t> </a:t>
              </a:r>
              <a:r>
                <a:rPr spc="155" dirty="0">
                  <a:latin typeface="Times New Roman"/>
                  <a:cs typeface="Times New Roman"/>
                </a:rPr>
                <a:t>=</a:t>
              </a:r>
              <a:endParaRPr dirty="0">
                <a:latin typeface="Times New Roman"/>
                <a:cs typeface="Times New Roman"/>
              </a:endParaRPr>
            </a:p>
          </p:txBody>
        </p:sp>
        <p:sp>
          <p:nvSpPr>
            <p:cNvPr id="41" name="Google Shape;5358;p32">
              <a:extLst>
                <a:ext uri="{FF2B5EF4-FFF2-40B4-BE49-F238E27FC236}">
                  <a16:creationId xmlns:a16="http://schemas.microsoft.com/office/drawing/2014/main" id="{D1CD8A7E-97C4-0FD2-E5DF-9B3021462B66}"/>
                </a:ext>
              </a:extLst>
            </p:cNvPr>
            <p:cNvSpPr txBox="1"/>
            <p:nvPr/>
          </p:nvSpPr>
          <p:spPr>
            <a:xfrm>
              <a:off x="869774" y="909408"/>
              <a:ext cx="555455" cy="1084557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t="-969" b="-969"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latin typeface="Corbel"/>
                  <a:ea typeface="Corbel"/>
                  <a:cs typeface="Corbel"/>
                  <a:sym typeface="Corbel"/>
                </a:rPr>
                <a:t> </a:t>
              </a:r>
              <a:endParaRPr sz="1600"/>
            </a:p>
          </p:txBody>
        </p:sp>
        <p:pic>
          <p:nvPicPr>
            <p:cNvPr id="42" name="Picture 41" descr="A group of black text on a white background&#10;&#10;Description automatically generated">
              <a:extLst>
                <a:ext uri="{FF2B5EF4-FFF2-40B4-BE49-F238E27FC236}">
                  <a16:creationId xmlns:a16="http://schemas.microsoft.com/office/drawing/2014/main" id="{4FFD2C7B-D4A7-C670-7BDF-9C2DABF10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20950" y="922093"/>
              <a:ext cx="2101850" cy="1070315"/>
            </a:xfrm>
            <a:prstGeom prst="rect">
              <a:avLst/>
            </a:prstGeom>
          </p:spPr>
        </p:pic>
      </p:grpSp>
      <p:sp>
        <p:nvSpPr>
          <p:cNvPr id="43" name="object 15">
            <a:extLst>
              <a:ext uri="{FF2B5EF4-FFF2-40B4-BE49-F238E27FC236}">
                <a16:creationId xmlns:a16="http://schemas.microsoft.com/office/drawing/2014/main" id="{26658C63-EA6F-A94A-7EE5-0DABCD2C7EE7}"/>
              </a:ext>
            </a:extLst>
          </p:cNvPr>
          <p:cNvSpPr txBox="1"/>
          <p:nvPr/>
        </p:nvSpPr>
        <p:spPr>
          <a:xfrm>
            <a:off x="1700381" y="2540314"/>
            <a:ext cx="490305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b="1" spc="20" dirty="0">
                <a:latin typeface="Georgia"/>
                <a:cs typeface="Georgia"/>
              </a:rPr>
              <a:t>y</a:t>
            </a:r>
            <a:r>
              <a:rPr b="1" spc="20" dirty="0">
                <a:latin typeface="Georgia"/>
                <a:cs typeface="Georgia"/>
              </a:rPr>
              <a:t> </a:t>
            </a:r>
            <a:r>
              <a:rPr spc="155" dirty="0">
                <a:latin typeface="Times New Roman"/>
                <a:cs typeface="Times New Roman"/>
              </a:rPr>
              <a:t>=</a:t>
            </a:r>
            <a:endParaRPr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5A1CD2E-49FD-2BE9-4BF2-F96E1E5F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Autoregression</a:t>
            </a:r>
            <a:r>
              <a:rPr lang="en-US" sz="3600" spc="595" dirty="0"/>
              <a:t> </a:t>
            </a:r>
            <a:r>
              <a:rPr lang="en-US" sz="3600" spc="89" dirty="0"/>
              <a:t>Results</a:t>
            </a:r>
            <a:r>
              <a:rPr lang="en-US" sz="3600" spc="595" dirty="0"/>
              <a:t> </a:t>
            </a:r>
            <a:r>
              <a:rPr lang="en-US" sz="3600" dirty="0"/>
              <a:t>for</a:t>
            </a:r>
            <a:r>
              <a:rPr lang="en-US" sz="3600" spc="595" dirty="0"/>
              <a:t> </a:t>
            </a:r>
            <a:r>
              <a:rPr lang="en-US" sz="3600" dirty="0"/>
              <a:t>NYSE</a:t>
            </a:r>
            <a:r>
              <a:rPr lang="en-US" sz="3600" spc="595" dirty="0"/>
              <a:t> </a:t>
            </a:r>
            <a:r>
              <a:rPr lang="en-US" sz="3600" spc="129" dirty="0"/>
              <a:t>Data</a:t>
            </a:r>
            <a:endParaRPr lang="en-US" sz="3600" dirty="0"/>
          </a:p>
        </p:txBody>
      </p:sp>
      <p:sp>
        <p:nvSpPr>
          <p:cNvPr id="3" name="object 3"/>
          <p:cNvSpPr/>
          <p:nvPr/>
        </p:nvSpPr>
        <p:spPr>
          <a:xfrm>
            <a:off x="5770024" y="4270758"/>
            <a:ext cx="86826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4" name="object 4"/>
          <p:cNvSpPr/>
          <p:nvPr/>
        </p:nvSpPr>
        <p:spPr>
          <a:xfrm>
            <a:off x="6162074" y="4270758"/>
            <a:ext cx="86826" cy="0"/>
          </a:xfrm>
          <a:custGeom>
            <a:avLst/>
            <a:gdLst/>
            <a:ahLst/>
            <a:cxnLst/>
            <a:rect l="l" t="t" r="r" b="b"/>
            <a:pathLst>
              <a:path w="43814">
                <a:moveTo>
                  <a:pt x="0" y="0"/>
                </a:moveTo>
                <a:lnTo>
                  <a:pt x="43637" y="0"/>
                </a:lnTo>
              </a:path>
            </a:pathLst>
          </a:custGeom>
          <a:ln w="5054">
            <a:solidFill>
              <a:srgbClr val="990000"/>
            </a:solidFill>
          </a:ln>
        </p:spPr>
        <p:txBody>
          <a:bodyPr wrap="square" lIns="0" tIns="0" rIns="0" bIns="0" rtlCol="0"/>
          <a:lstStyle/>
          <a:p>
            <a:endParaRPr sz="3567"/>
          </a:p>
        </p:txBody>
      </p:sp>
      <p:sp>
        <p:nvSpPr>
          <p:cNvPr id="5" name="object 5"/>
          <p:cNvSpPr txBox="1"/>
          <p:nvPr/>
        </p:nvSpPr>
        <p:spPr>
          <a:xfrm>
            <a:off x="591742" y="2200901"/>
            <a:ext cx="7904946" cy="2463539"/>
          </a:xfrm>
          <a:prstGeom prst="rect">
            <a:avLst/>
          </a:prstGeom>
        </p:spPr>
        <p:txBody>
          <a:bodyPr vert="horz" wrap="square" lIns="0" tIns="22650" rIns="0" bIns="0" rtlCol="0">
            <a:spAutoFit/>
          </a:bodyPr>
          <a:lstStyle/>
          <a:p>
            <a:pPr marL="125838">
              <a:spcBef>
                <a:spcPts val="178"/>
              </a:spcBef>
            </a:pPr>
            <a:r>
              <a:rPr sz="2180" spc="149" dirty="0">
                <a:latin typeface="Lucida Grande"/>
                <a:cs typeface="Lucida Grande"/>
              </a:rPr>
              <a:t>R</a:t>
            </a:r>
            <a:r>
              <a:rPr sz="2378" spc="222" baseline="27777" dirty="0">
                <a:latin typeface="Times New Roman"/>
                <a:cs typeface="Times New Roman"/>
              </a:rPr>
              <a:t>2</a:t>
            </a:r>
            <a:r>
              <a:rPr sz="2378" spc="476" baseline="27777" dirty="0">
                <a:latin typeface="Times New Roman"/>
                <a:cs typeface="Times New Roman"/>
              </a:rPr>
              <a:t> </a:t>
            </a:r>
            <a:r>
              <a:rPr sz="2180" dirty="0">
                <a:latin typeface="Lucida Grande"/>
                <a:cs typeface="Lucida Grande"/>
              </a:rPr>
              <a:t>=</a:t>
            </a:r>
            <a:r>
              <a:rPr sz="2180" spc="-79" dirty="0">
                <a:latin typeface="Lucida Grande"/>
                <a:cs typeface="Lucida Grande"/>
              </a:rPr>
              <a:t> </a:t>
            </a:r>
            <a:r>
              <a:rPr sz="2180" spc="-268" dirty="0">
                <a:latin typeface="Lucida Grande"/>
                <a:cs typeface="Lucida Grande"/>
              </a:rPr>
              <a:t>0.41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AR(5)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188" dirty="0">
                <a:latin typeface="Lucida Grande"/>
                <a:cs typeface="Lucida Grande"/>
              </a:rPr>
              <a:t>model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(16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parameters)</a:t>
            </a:r>
            <a:endParaRPr sz="2180">
              <a:latin typeface="Lucida Grande"/>
              <a:cs typeface="Lucida Grande"/>
            </a:endParaRPr>
          </a:p>
          <a:p>
            <a:pPr marL="125838">
              <a:spcBef>
                <a:spcPts val="2041"/>
              </a:spcBef>
            </a:pPr>
            <a:r>
              <a:rPr sz="2180" spc="149" dirty="0">
                <a:latin typeface="Lucida Grande"/>
                <a:cs typeface="Lucida Grande"/>
              </a:rPr>
              <a:t>R</a:t>
            </a:r>
            <a:r>
              <a:rPr sz="2378" spc="222" baseline="27777" dirty="0">
                <a:latin typeface="Times New Roman"/>
                <a:cs typeface="Times New Roman"/>
              </a:rPr>
              <a:t>2</a:t>
            </a:r>
            <a:r>
              <a:rPr sz="2378" spc="476" baseline="27777" dirty="0">
                <a:latin typeface="Times New Roman"/>
                <a:cs typeface="Times New Roman"/>
              </a:rPr>
              <a:t> </a:t>
            </a:r>
            <a:r>
              <a:rPr sz="2180" dirty="0">
                <a:latin typeface="Lucida Grande"/>
                <a:cs typeface="Lucida Grande"/>
              </a:rPr>
              <a:t>=</a:t>
            </a:r>
            <a:r>
              <a:rPr sz="2180" spc="-69" dirty="0">
                <a:latin typeface="Lucida Grande"/>
                <a:cs typeface="Lucida Grande"/>
              </a:rPr>
              <a:t> </a:t>
            </a:r>
            <a:r>
              <a:rPr sz="2180" spc="-268" dirty="0">
                <a:latin typeface="Lucida Grande"/>
                <a:cs typeface="Lucida Grande"/>
              </a:rPr>
              <a:t>0.42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RNN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188" dirty="0">
                <a:latin typeface="Lucida Grande"/>
                <a:cs typeface="Lucida Grande"/>
              </a:rPr>
              <a:t>model</a:t>
            </a:r>
            <a:r>
              <a:rPr sz="2180" spc="50" dirty="0">
                <a:latin typeface="Lucida Grande"/>
                <a:cs typeface="Lucida Grande"/>
              </a:rPr>
              <a:t> </a:t>
            </a:r>
            <a:r>
              <a:rPr sz="2180" spc="-198" dirty="0">
                <a:latin typeface="Lucida Grande"/>
                <a:cs typeface="Lucida Grande"/>
              </a:rPr>
              <a:t>(205</a:t>
            </a:r>
            <a:r>
              <a:rPr sz="2180" spc="59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parameters)</a:t>
            </a:r>
            <a:endParaRPr sz="2180">
              <a:latin typeface="Lucida Grande"/>
              <a:cs typeface="Lucida Grande"/>
            </a:endParaRPr>
          </a:p>
          <a:p>
            <a:pPr marL="125838">
              <a:spcBef>
                <a:spcPts val="2041"/>
              </a:spcBef>
            </a:pPr>
            <a:r>
              <a:rPr sz="2180" spc="149" dirty="0">
                <a:latin typeface="Lucida Grande"/>
                <a:cs typeface="Lucida Grande"/>
              </a:rPr>
              <a:t>R</a:t>
            </a:r>
            <a:r>
              <a:rPr sz="2378" spc="222" baseline="27777" dirty="0">
                <a:latin typeface="Times New Roman"/>
                <a:cs typeface="Times New Roman"/>
              </a:rPr>
              <a:t>2</a:t>
            </a:r>
            <a:r>
              <a:rPr sz="2378" spc="414" baseline="27777" dirty="0">
                <a:latin typeface="Times New Roman"/>
                <a:cs typeface="Times New Roman"/>
              </a:rPr>
              <a:t> </a:t>
            </a:r>
            <a:r>
              <a:rPr sz="2180" dirty="0">
                <a:latin typeface="Lucida Grande"/>
                <a:cs typeface="Lucida Grande"/>
              </a:rPr>
              <a:t>=</a:t>
            </a:r>
            <a:r>
              <a:rPr sz="2180" spc="-99" dirty="0">
                <a:latin typeface="Lucida Grande"/>
                <a:cs typeface="Lucida Grande"/>
              </a:rPr>
              <a:t> </a:t>
            </a:r>
            <a:r>
              <a:rPr sz="2180" spc="-268" dirty="0">
                <a:latin typeface="Lucida Grande"/>
                <a:cs typeface="Lucida Grande"/>
              </a:rPr>
              <a:t>0.42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AR(5)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188" dirty="0">
                <a:latin typeface="Lucida Grande"/>
                <a:cs typeface="Lucida Grande"/>
              </a:rPr>
              <a:t>model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fit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40" dirty="0">
                <a:latin typeface="Lucida Grande"/>
                <a:cs typeface="Lucida Grande"/>
              </a:rPr>
              <a:t>by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139" dirty="0">
                <a:latin typeface="Lucida Grande"/>
                <a:cs typeface="Lucida Grande"/>
              </a:rPr>
              <a:t>neural</a:t>
            </a:r>
            <a:r>
              <a:rPr sz="2180" spc="20" dirty="0">
                <a:latin typeface="Lucida Grande"/>
                <a:cs typeface="Lucida Grande"/>
              </a:rPr>
              <a:t> </a:t>
            </a:r>
            <a:r>
              <a:rPr sz="2180" spc="-20" dirty="0">
                <a:latin typeface="Lucida Grande"/>
                <a:cs typeface="Lucida Grande"/>
              </a:rPr>
              <a:t>network.</a:t>
            </a:r>
            <a:endParaRPr sz="2180">
              <a:latin typeface="Lucida Grande"/>
              <a:cs typeface="Lucida Grande"/>
            </a:endParaRPr>
          </a:p>
          <a:p>
            <a:pPr marL="125838" marR="85570">
              <a:lnSpc>
                <a:spcPct val="102699"/>
              </a:lnSpc>
              <a:spcBef>
                <a:spcPts val="1970"/>
              </a:spcBef>
            </a:pPr>
            <a:r>
              <a:rPr sz="2180" spc="149" dirty="0">
                <a:latin typeface="Lucida Grande"/>
                <a:cs typeface="Lucida Grande"/>
              </a:rPr>
              <a:t>R</a:t>
            </a:r>
            <a:r>
              <a:rPr sz="2378" spc="222" baseline="27777" dirty="0">
                <a:latin typeface="Times New Roman"/>
                <a:cs typeface="Times New Roman"/>
              </a:rPr>
              <a:t>2</a:t>
            </a:r>
            <a:r>
              <a:rPr sz="2378" spc="176" baseline="27777" dirty="0">
                <a:latin typeface="Times New Roman"/>
                <a:cs typeface="Times New Roman"/>
              </a:rPr>
              <a:t> </a:t>
            </a:r>
            <a:r>
              <a:rPr sz="2180" dirty="0">
                <a:latin typeface="Lucida Grande"/>
                <a:cs typeface="Lucida Grande"/>
              </a:rPr>
              <a:t>=</a:t>
            </a:r>
            <a:r>
              <a:rPr sz="2180" spc="-99" dirty="0">
                <a:latin typeface="Lucida Grande"/>
                <a:cs typeface="Lucida Grande"/>
              </a:rPr>
              <a:t> </a:t>
            </a:r>
            <a:r>
              <a:rPr sz="2180" spc="-268" dirty="0">
                <a:latin typeface="Lucida Grande"/>
                <a:cs typeface="Lucida Grande"/>
              </a:rPr>
              <a:t>0.46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for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all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models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dirty="0">
                <a:latin typeface="Lucida Grande"/>
                <a:cs typeface="Lucida Grande"/>
              </a:rPr>
              <a:t>if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226" dirty="0">
                <a:latin typeface="Lucida Grande"/>
                <a:cs typeface="Lucida Grande"/>
              </a:rPr>
              <a:t>we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149" dirty="0">
                <a:latin typeface="Lucida Grande"/>
                <a:cs typeface="Lucida Grande"/>
              </a:rPr>
              <a:t>include</a:t>
            </a:r>
            <a:r>
              <a:rPr sz="2180" dirty="0">
                <a:latin typeface="Lucida Grande"/>
                <a:cs typeface="Lucida Grande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day</a:t>
            </a:r>
            <a:r>
              <a:rPr sz="2180" spc="-4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of</a:t>
            </a:r>
            <a:r>
              <a:rPr sz="2180" spc="-4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198" dirty="0">
                <a:solidFill>
                  <a:srgbClr val="990000"/>
                </a:solidFill>
                <a:latin typeface="Courier New"/>
                <a:cs typeface="Courier New"/>
              </a:rPr>
              <a:t>week</a:t>
            </a:r>
            <a:r>
              <a:rPr sz="2180" spc="-59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2180" spc="-208" dirty="0">
                <a:latin typeface="Lucida Grande"/>
                <a:cs typeface="Lucida Grande"/>
              </a:rPr>
              <a:t>of</a:t>
            </a:r>
            <a:r>
              <a:rPr sz="2180" spc="30" dirty="0">
                <a:latin typeface="Lucida Grande"/>
                <a:cs typeface="Lucida Grande"/>
              </a:rPr>
              <a:t> </a:t>
            </a:r>
            <a:r>
              <a:rPr sz="2180" spc="-89" dirty="0">
                <a:latin typeface="Lucida Grande"/>
                <a:cs typeface="Lucida Grande"/>
              </a:rPr>
              <a:t>day</a:t>
            </a:r>
            <a:r>
              <a:rPr sz="2180" spc="10" dirty="0">
                <a:latin typeface="Lucida Grande"/>
                <a:cs typeface="Lucida Grande"/>
              </a:rPr>
              <a:t> </a:t>
            </a:r>
            <a:r>
              <a:rPr sz="2180" spc="-129" dirty="0">
                <a:latin typeface="Lucida Grande"/>
                <a:cs typeface="Lucida Grande"/>
              </a:rPr>
              <a:t>being </a:t>
            </a:r>
            <a:r>
              <a:rPr sz="2180" spc="-20" dirty="0">
                <a:latin typeface="Lucida Grande"/>
                <a:cs typeface="Lucida Grande"/>
              </a:rPr>
              <a:t>predicted.</a:t>
            </a:r>
            <a:endParaRPr sz="2180">
              <a:latin typeface="Lucida Grande"/>
              <a:cs typeface="Lucida Grande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9E3CF3-01AE-9449-59AF-00D4D07D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F1F977-BF60-D81A-1E68-C1BB44F00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09" dirty="0"/>
              <a:t>Summary</a:t>
            </a:r>
            <a:r>
              <a:rPr lang="en-US" spc="218" dirty="0"/>
              <a:t> </a:t>
            </a:r>
            <a:r>
              <a:rPr lang="en-US" dirty="0"/>
              <a:t>of</a:t>
            </a:r>
            <a:r>
              <a:rPr lang="en-US" spc="218" dirty="0"/>
              <a:t> </a:t>
            </a:r>
            <a:r>
              <a:rPr lang="en-US" spc="-40" dirty="0"/>
              <a:t>RNNs</a:t>
            </a:r>
            <a:endParaRPr lang="en-US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302971" y="1096487"/>
            <a:ext cx="8839200" cy="5761513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presented the simplest of RNNs. Many more complex variations exist.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variation treats the sequence as a one-dimensional image, and uses CNNs for fitting. For example, a sequence of words using an embedding representation can be viewed as an image, and the CNN convolves by sliding a convolutional filter along the sequence.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have additional hidden layers, where each hidden layer is a sequence, and treats the previous hidden layer as an input sequence.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have output also be a sequence, and input and output share the hidden units. So-called seq2seq learning is used for language translation.</a:t>
            </a: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9830" marR="737410" indent="-275585">
              <a:lnSpc>
                <a:spcPct val="102699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351088" algn="l"/>
              </a:tabLst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5A68CB-1305-6750-A6E9-C58A30A2F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457200" y="1143000"/>
            <a:ext cx="8229600" cy="4799326"/>
          </a:xfrm>
          <a:prstGeom prst="rect">
            <a:avLst/>
          </a:prstGeom>
        </p:spPr>
        <p:txBody>
          <a:bodyPr vert="horz" wrap="square" lIns="0" tIns="13842" rIns="0" bIns="0" rtlCol="0">
            <a:spAutoFit/>
          </a:bodyPr>
          <a:lstStyle/>
          <a:p>
            <a:pPr marL="649324" marR="234059" indent="-275585">
              <a:lnSpc>
                <a:spcPct val="102600"/>
              </a:lnSpc>
              <a:spcBef>
                <a:spcPts val="10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pc="-20" dirty="0">
                <a:latin typeface="Lucida Grande"/>
                <a:cs typeface="Lucida Grande"/>
              </a:rPr>
              <a:t>CNNs</a:t>
            </a:r>
            <a:r>
              <a:rPr spc="-59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have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had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218" dirty="0">
                <a:latin typeface="Lucida Grande"/>
                <a:cs typeface="Lucida Grande"/>
              </a:rPr>
              <a:t>enormous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248" dirty="0">
                <a:latin typeface="Lucida Grande"/>
                <a:cs typeface="Lucida Grande"/>
              </a:rPr>
              <a:t>successes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dirty="0">
                <a:latin typeface="Lucida Grande"/>
                <a:cs typeface="Lucida Grande"/>
              </a:rPr>
              <a:t>in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98" dirty="0">
                <a:latin typeface="Lucida Grande"/>
                <a:cs typeface="Lucida Grande"/>
              </a:rPr>
              <a:t>image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29" dirty="0">
                <a:latin typeface="Lucida Grande"/>
                <a:cs typeface="Lucida Grande"/>
              </a:rPr>
              <a:t>classification and</a:t>
            </a:r>
            <a:r>
              <a:rPr spc="-50" dirty="0">
                <a:latin typeface="Lucida Grande"/>
                <a:cs typeface="Lucida Grande"/>
              </a:rPr>
              <a:t> </a:t>
            </a:r>
            <a:r>
              <a:rPr spc="-178" dirty="0">
                <a:latin typeface="Lucida Grande"/>
                <a:cs typeface="Lucida Grande"/>
              </a:rPr>
              <a:t>modeling,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29" dirty="0">
                <a:latin typeface="Lucida Grande"/>
                <a:cs typeface="Lucida Grande"/>
              </a:rPr>
              <a:t>and</a:t>
            </a:r>
            <a:r>
              <a:rPr spc="-30" dirty="0">
                <a:latin typeface="Lucida Grande"/>
                <a:cs typeface="Lucida Grande"/>
              </a:rPr>
              <a:t> </a:t>
            </a:r>
            <a:r>
              <a:rPr spc="-129" dirty="0">
                <a:latin typeface="Lucida Grande"/>
                <a:cs typeface="Lucida Grande"/>
              </a:rPr>
              <a:t>are</a:t>
            </a:r>
            <a:r>
              <a:rPr spc="-10" dirty="0">
                <a:latin typeface="Lucida Grande"/>
                <a:cs typeface="Lucida Grande"/>
              </a:rPr>
              <a:t> </a:t>
            </a:r>
            <a:r>
              <a:rPr spc="-119" dirty="0">
                <a:latin typeface="Lucida Grande"/>
                <a:cs typeface="Lucida Grande"/>
              </a:rPr>
              <a:t>starting</a:t>
            </a:r>
            <a:r>
              <a:rPr spc="-10" dirty="0">
                <a:latin typeface="Lucida Grande"/>
                <a:cs typeface="Lucida Grande"/>
              </a:rPr>
              <a:t> </a:t>
            </a:r>
            <a:r>
              <a:rPr spc="-59" dirty="0">
                <a:latin typeface="Lucida Grande"/>
                <a:cs typeface="Lucida Grande"/>
              </a:rPr>
              <a:t>to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178" dirty="0">
                <a:latin typeface="Lucida Grande"/>
                <a:cs typeface="Lucida Grande"/>
              </a:rPr>
              <a:t>be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238" dirty="0">
                <a:latin typeface="Lucida Grande"/>
                <a:cs typeface="Lucida Grande"/>
              </a:rPr>
              <a:t>used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dirty="0">
                <a:latin typeface="Lucida Grande"/>
                <a:cs typeface="Lucida Grande"/>
              </a:rPr>
              <a:t>in </a:t>
            </a:r>
            <a:r>
              <a:rPr spc="-20" dirty="0">
                <a:latin typeface="Lucida Grande"/>
                <a:cs typeface="Lucida Grande"/>
              </a:rPr>
              <a:t>medical </a:t>
            </a:r>
            <a:r>
              <a:rPr spc="-159" dirty="0">
                <a:latin typeface="Lucida Grande"/>
                <a:cs typeface="Lucida Grande"/>
              </a:rPr>
              <a:t>diagnosis.</a:t>
            </a:r>
            <a:r>
              <a:rPr spc="218"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Examples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149" dirty="0">
                <a:latin typeface="Lucida Grande"/>
                <a:cs typeface="Lucida Grande"/>
              </a:rPr>
              <a:t>include</a:t>
            </a:r>
            <a:r>
              <a:rPr spc="-10" dirty="0">
                <a:latin typeface="Lucida Grande"/>
                <a:cs typeface="Lucida Grande"/>
              </a:rPr>
              <a:t> </a:t>
            </a:r>
            <a:r>
              <a:rPr spc="-79" dirty="0">
                <a:latin typeface="Lucida Grande"/>
                <a:cs typeface="Lucida Grande"/>
              </a:rPr>
              <a:t>digital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20" dirty="0">
                <a:latin typeface="Lucida Grande"/>
                <a:cs typeface="Lucida Grande"/>
              </a:rPr>
              <a:t>mammography, </a:t>
            </a:r>
            <a:r>
              <a:rPr spc="-168" dirty="0">
                <a:latin typeface="Lucida Grande"/>
                <a:cs typeface="Lucida Grande"/>
              </a:rPr>
              <a:t>ophthalmology,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149" dirty="0">
                <a:latin typeface="Lucida Grande"/>
                <a:cs typeface="Lucida Grande"/>
              </a:rPr>
              <a:t>MRI</a:t>
            </a:r>
            <a:r>
              <a:rPr spc="20" dirty="0">
                <a:latin typeface="Lucida Grande"/>
                <a:cs typeface="Lucida Grande"/>
              </a:rPr>
              <a:t> </a:t>
            </a:r>
            <a:r>
              <a:rPr spc="-188" dirty="0">
                <a:latin typeface="Lucida Grande"/>
                <a:cs typeface="Lucida Grande"/>
              </a:rPr>
              <a:t>scans,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29" dirty="0">
                <a:latin typeface="Lucida Grande"/>
                <a:cs typeface="Lucida Grande"/>
              </a:rPr>
              <a:t>and</a:t>
            </a:r>
            <a:r>
              <a:rPr spc="20" dirty="0">
                <a:latin typeface="Lucida Grande"/>
                <a:cs typeface="Lucida Grande"/>
              </a:rPr>
              <a:t> </a:t>
            </a:r>
            <a:r>
              <a:rPr spc="-79" dirty="0">
                <a:latin typeface="Lucida Grande"/>
                <a:cs typeface="Lucida Grande"/>
              </a:rPr>
              <a:t>digital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X-</a:t>
            </a:r>
            <a:r>
              <a:rPr spc="-40" dirty="0">
                <a:latin typeface="Lucida Grande"/>
                <a:cs typeface="Lucida Grande"/>
              </a:rPr>
              <a:t>rays.</a:t>
            </a:r>
            <a:endParaRPr dirty="0">
              <a:latin typeface="Lucida Grande"/>
              <a:cs typeface="Lucida Grande"/>
            </a:endParaRPr>
          </a:p>
          <a:p>
            <a:pPr marL="649324" marR="673233" indent="-275585">
              <a:lnSpc>
                <a:spcPct val="102600"/>
              </a:lnSpc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dirty="0">
                <a:latin typeface="Lucida Grande"/>
                <a:cs typeface="Lucida Grande"/>
              </a:rPr>
              <a:t>RNNs</a:t>
            </a:r>
            <a:r>
              <a:rPr spc="-40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have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had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big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wins</a:t>
            </a:r>
            <a:r>
              <a:rPr dirty="0">
                <a:latin typeface="Lucida Grande"/>
                <a:cs typeface="Lucida Grande"/>
              </a:rPr>
              <a:t> in </a:t>
            </a:r>
            <a:r>
              <a:rPr spc="-226" dirty="0">
                <a:latin typeface="Lucida Grande"/>
                <a:cs typeface="Lucida Grande"/>
              </a:rPr>
              <a:t>speech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78" dirty="0">
                <a:latin typeface="Lucida Grande"/>
                <a:cs typeface="Lucida Grande"/>
              </a:rPr>
              <a:t>modeling,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language </a:t>
            </a:r>
            <a:r>
              <a:rPr spc="-109" dirty="0">
                <a:latin typeface="Lucida Grande"/>
                <a:cs typeface="Lucida Grande"/>
              </a:rPr>
              <a:t>translation,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129" dirty="0">
                <a:latin typeface="Lucida Grande"/>
                <a:cs typeface="Lucida Grande"/>
              </a:rPr>
              <a:t>and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20" dirty="0">
                <a:latin typeface="Lucida Grande"/>
                <a:cs typeface="Lucida Grande"/>
              </a:rPr>
              <a:t>forecasting.</a:t>
            </a:r>
            <a:endParaRPr dirty="0">
              <a:latin typeface="Lucida Grande"/>
              <a:cs typeface="Lucida Grande"/>
            </a:endParaRPr>
          </a:p>
          <a:p>
            <a:pPr marL="100670">
              <a:spcBef>
                <a:spcPts val="565"/>
              </a:spcBef>
            </a:pPr>
            <a:r>
              <a:rPr spc="-129" dirty="0">
                <a:latin typeface="Lucida Grande"/>
                <a:cs typeface="Lucida Grande"/>
              </a:rPr>
              <a:t>Should</a:t>
            </a:r>
            <a:r>
              <a:rPr spc="50" dirty="0">
                <a:latin typeface="Lucida Grande"/>
                <a:cs typeface="Lucida Grande"/>
              </a:rPr>
              <a:t> </a:t>
            </a:r>
            <a:r>
              <a:rPr spc="-248" dirty="0">
                <a:latin typeface="Lucida Grande"/>
                <a:cs typeface="Lucida Grande"/>
              </a:rPr>
              <a:t>we</a:t>
            </a:r>
            <a:r>
              <a:rPr spc="59"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always</a:t>
            </a:r>
            <a:r>
              <a:rPr spc="59" dirty="0">
                <a:latin typeface="Lucida Grande"/>
                <a:cs typeface="Lucida Grande"/>
              </a:rPr>
              <a:t> </a:t>
            </a:r>
            <a:r>
              <a:rPr spc="-248" dirty="0">
                <a:latin typeface="Lucida Grande"/>
                <a:cs typeface="Lucida Grande"/>
              </a:rPr>
              <a:t>use</a:t>
            </a:r>
            <a:r>
              <a:rPr spc="50" dirty="0">
                <a:latin typeface="Lucida Grande"/>
                <a:cs typeface="Lucida Grande"/>
              </a:rPr>
              <a:t> </a:t>
            </a:r>
            <a:r>
              <a:rPr spc="-218" dirty="0">
                <a:latin typeface="Lucida Grande"/>
                <a:cs typeface="Lucida Grande"/>
              </a:rPr>
              <a:t>deep</a:t>
            </a:r>
            <a:r>
              <a:rPr spc="59" dirty="0">
                <a:latin typeface="Lucida Grande"/>
                <a:cs typeface="Lucida Grande"/>
              </a:rPr>
              <a:t> </a:t>
            </a:r>
            <a:r>
              <a:rPr spc="-149" dirty="0">
                <a:latin typeface="Lucida Grande"/>
                <a:cs typeface="Lucida Grande"/>
              </a:rPr>
              <a:t>learning</a:t>
            </a:r>
            <a:r>
              <a:rPr spc="59" dirty="0">
                <a:latin typeface="Lucida Grande"/>
                <a:cs typeface="Lucida Grande"/>
              </a:rPr>
              <a:t> </a:t>
            </a:r>
            <a:r>
              <a:rPr spc="-20" dirty="0">
                <a:latin typeface="Lucida Grande"/>
                <a:cs typeface="Lucida Grande"/>
              </a:rPr>
              <a:t>models?</a:t>
            </a:r>
            <a:endParaRPr dirty="0">
              <a:latin typeface="Lucida Grande"/>
              <a:cs typeface="Lucida Grande"/>
            </a:endParaRPr>
          </a:p>
          <a:p>
            <a:pPr marL="649324" marR="85570" indent="-275585">
              <a:lnSpc>
                <a:spcPct val="102600"/>
              </a:lnSpc>
              <a:spcBef>
                <a:spcPts val="99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pc="-119" dirty="0">
                <a:latin typeface="Lucida Grande"/>
                <a:cs typeface="Lucida Grande"/>
              </a:rPr>
              <a:t>Often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19" dirty="0">
                <a:latin typeface="Lucida Grande"/>
                <a:cs typeface="Lucida Grande"/>
              </a:rPr>
              <a:t>the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78" dirty="0">
                <a:latin typeface="Lucida Grande"/>
                <a:cs typeface="Lucida Grande"/>
              </a:rPr>
              <a:t>big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248" dirty="0">
                <a:latin typeface="Lucida Grande"/>
                <a:cs typeface="Lucida Grande"/>
              </a:rPr>
              <a:t>successes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49" dirty="0">
                <a:latin typeface="Lucida Grande"/>
                <a:cs typeface="Lucida Grande"/>
              </a:rPr>
              <a:t>occur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88" dirty="0">
                <a:latin typeface="Lucida Grande"/>
                <a:cs typeface="Lucida Grande"/>
              </a:rPr>
              <a:t>when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the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i="1" spc="-426" dirty="0">
                <a:solidFill>
                  <a:srgbClr val="009900"/>
                </a:solidFill>
                <a:latin typeface="Menlo"/>
                <a:cs typeface="Menlo"/>
              </a:rPr>
              <a:t>signal</a:t>
            </a:r>
            <a:r>
              <a:rPr i="1" spc="-53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426" dirty="0">
                <a:solidFill>
                  <a:srgbClr val="009900"/>
                </a:solidFill>
                <a:latin typeface="Menlo"/>
                <a:cs typeface="Menlo"/>
              </a:rPr>
              <a:t>to</a:t>
            </a:r>
            <a:r>
              <a:rPr i="1" spc="-53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357" dirty="0">
                <a:solidFill>
                  <a:srgbClr val="009900"/>
                </a:solidFill>
                <a:latin typeface="Menlo"/>
                <a:cs typeface="Menlo"/>
              </a:rPr>
              <a:t>noise</a:t>
            </a:r>
            <a:r>
              <a:rPr i="1" spc="-52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377" dirty="0">
                <a:solidFill>
                  <a:srgbClr val="009900"/>
                </a:solidFill>
                <a:latin typeface="Menlo"/>
                <a:cs typeface="Menlo"/>
              </a:rPr>
              <a:t>ratio </a:t>
            </a:r>
            <a:r>
              <a:rPr spc="-99" dirty="0">
                <a:latin typeface="Lucida Grande"/>
                <a:cs typeface="Lucida Grande"/>
              </a:rPr>
              <a:t>is</a:t>
            </a:r>
            <a:r>
              <a:rPr spc="-79" dirty="0">
                <a:latin typeface="Lucida Grande"/>
                <a:cs typeface="Lucida Grande"/>
              </a:rPr>
              <a:t> </a:t>
            </a:r>
            <a:r>
              <a:rPr spc="-149" dirty="0">
                <a:latin typeface="Lucida Grande"/>
                <a:cs typeface="Lucida Grande"/>
              </a:rPr>
              <a:t>high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dirty="0">
                <a:latin typeface="Lucida Grande"/>
                <a:cs typeface="Lucida Grande"/>
              </a:rPr>
              <a:t>—</a:t>
            </a:r>
            <a:r>
              <a:rPr spc="-59" dirty="0">
                <a:latin typeface="Lucida Grande"/>
                <a:cs typeface="Lucida Grande"/>
              </a:rPr>
              <a:t> </a:t>
            </a:r>
            <a:r>
              <a:rPr spc="-119" dirty="0">
                <a:latin typeface="Lucida Grande"/>
                <a:cs typeface="Lucida Grande"/>
              </a:rPr>
              <a:t>e.g.</a:t>
            </a:r>
            <a:r>
              <a:rPr spc="208" dirty="0">
                <a:latin typeface="Lucida Grande"/>
                <a:cs typeface="Lucida Grande"/>
              </a:rPr>
              <a:t> </a:t>
            </a:r>
            <a:r>
              <a:rPr spc="-198" dirty="0">
                <a:latin typeface="Lucida Grande"/>
                <a:cs typeface="Lucida Grande"/>
              </a:rPr>
              <a:t>image</a:t>
            </a:r>
            <a:r>
              <a:rPr spc="20" dirty="0">
                <a:latin typeface="Lucida Grande"/>
                <a:cs typeface="Lucida Grande"/>
              </a:rPr>
              <a:t> </a:t>
            </a:r>
            <a:r>
              <a:rPr spc="-149" dirty="0">
                <a:latin typeface="Lucida Grande"/>
                <a:cs typeface="Lucida Grande"/>
              </a:rPr>
              <a:t>recognition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129" dirty="0">
                <a:latin typeface="Lucida Grande"/>
                <a:cs typeface="Lucida Grande"/>
              </a:rPr>
              <a:t>and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188" dirty="0">
                <a:latin typeface="Lucida Grande"/>
                <a:cs typeface="Lucida Grande"/>
              </a:rPr>
              <a:t>language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20" dirty="0">
                <a:latin typeface="Lucida Grande"/>
                <a:cs typeface="Lucida Grande"/>
              </a:rPr>
              <a:t>translation. </a:t>
            </a:r>
            <a:r>
              <a:rPr spc="-129" dirty="0">
                <a:latin typeface="Lucida Grande"/>
                <a:cs typeface="Lucida Grande"/>
              </a:rPr>
              <a:t>Datasets</a:t>
            </a:r>
            <a:r>
              <a:rPr spc="-30"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are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149" dirty="0">
                <a:latin typeface="Lucida Grande"/>
                <a:cs typeface="Lucida Grande"/>
              </a:rPr>
              <a:t>large,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129" dirty="0">
                <a:latin typeface="Lucida Grande"/>
                <a:cs typeface="Lucida Grande"/>
              </a:rPr>
              <a:t>and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119" dirty="0">
                <a:latin typeface="Lucida Grande"/>
                <a:cs typeface="Lucida Grande"/>
              </a:rPr>
              <a:t>overfitting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99" dirty="0">
                <a:latin typeface="Lucida Grande"/>
                <a:cs typeface="Lucida Grande"/>
              </a:rPr>
              <a:t>is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99" dirty="0">
                <a:latin typeface="Lucida Grande"/>
                <a:cs typeface="Lucida Grande"/>
              </a:rPr>
              <a:t>not</a:t>
            </a:r>
            <a:r>
              <a:rPr spc="-30" dirty="0">
                <a:latin typeface="Lucida Grande"/>
                <a:cs typeface="Lucida Grande"/>
              </a:rPr>
              <a:t> </a:t>
            </a:r>
            <a:r>
              <a:rPr dirty="0">
                <a:latin typeface="Lucida Grande"/>
                <a:cs typeface="Lucida Grande"/>
              </a:rPr>
              <a:t>a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big</a:t>
            </a:r>
            <a:r>
              <a:rPr spc="-10" dirty="0">
                <a:latin typeface="Lucida Grande"/>
                <a:cs typeface="Lucida Grande"/>
              </a:rPr>
              <a:t> </a:t>
            </a:r>
            <a:r>
              <a:rPr spc="-20" dirty="0">
                <a:latin typeface="Lucida Grande"/>
                <a:cs typeface="Lucida Grande"/>
              </a:rPr>
              <a:t>problem.</a:t>
            </a:r>
            <a:endParaRPr dirty="0">
              <a:latin typeface="Lucida Grande"/>
              <a:cs typeface="Lucida Grande"/>
            </a:endParaRPr>
          </a:p>
          <a:p>
            <a:pPr marL="649324" indent="-275585">
              <a:lnSpc>
                <a:spcPts val="2348"/>
              </a:lnSpc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spc="-40" dirty="0">
                <a:latin typeface="Lucida Grande"/>
                <a:cs typeface="Lucida Grande"/>
              </a:rPr>
              <a:t>For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noisier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79" dirty="0">
                <a:latin typeface="Lucida Grande"/>
                <a:cs typeface="Lucida Grande"/>
              </a:rPr>
              <a:t>data,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simpler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208" dirty="0">
                <a:latin typeface="Lucida Grande"/>
                <a:cs typeface="Lucida Grande"/>
              </a:rPr>
              <a:t>models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139" dirty="0">
                <a:latin typeface="Lucida Grande"/>
                <a:cs typeface="Lucida Grande"/>
              </a:rPr>
              <a:t>can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often</a:t>
            </a:r>
            <a:r>
              <a:rPr spc="10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work</a:t>
            </a:r>
            <a:r>
              <a:rPr dirty="0">
                <a:latin typeface="Lucida Grande"/>
                <a:cs typeface="Lucida Grande"/>
              </a:rPr>
              <a:t> </a:t>
            </a:r>
            <a:r>
              <a:rPr spc="-20" dirty="0">
                <a:latin typeface="Lucida Grande"/>
                <a:cs typeface="Lucida Grande"/>
              </a:rPr>
              <a:t>better.</a:t>
            </a:r>
            <a:endParaRPr dirty="0">
              <a:latin typeface="Lucida Grande"/>
              <a:cs typeface="Lucida Grande"/>
            </a:endParaRPr>
          </a:p>
          <a:p>
            <a:pPr marL="1197977" marR="127096" lvl="1" indent="-263001">
              <a:lnSpc>
                <a:spcPts val="2378"/>
              </a:lnSpc>
              <a:spcBef>
                <a:spcPts val="59"/>
              </a:spcBef>
              <a:buClr>
                <a:srgbClr val="3333B3"/>
              </a:buClr>
              <a:buFont typeface="Menlo"/>
              <a:buChar char="•"/>
              <a:tabLst>
                <a:tab pos="1199236" algn="l"/>
              </a:tabLst>
            </a:pPr>
            <a:r>
              <a:rPr sz="1600" dirty="0">
                <a:latin typeface="Lucida Grande"/>
                <a:cs typeface="Lucida Grande"/>
              </a:rPr>
              <a:t>On</a:t>
            </a:r>
            <a:r>
              <a:rPr sz="1600" spc="-10" dirty="0">
                <a:latin typeface="Lucida Grande"/>
                <a:cs typeface="Lucida Grande"/>
              </a:rPr>
              <a:t> </a:t>
            </a:r>
            <a:r>
              <a:rPr sz="1600" spc="-89" dirty="0">
                <a:latin typeface="Lucida Grande"/>
                <a:cs typeface="Lucida Grande"/>
              </a:rPr>
              <a:t>the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168" dirty="0">
                <a:solidFill>
                  <a:srgbClr val="990000"/>
                </a:solidFill>
                <a:latin typeface="Courier New"/>
                <a:cs typeface="Courier New"/>
              </a:rPr>
              <a:t>NYSE</a:t>
            </a:r>
            <a:r>
              <a:rPr sz="1600" spc="-53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spc="-69" dirty="0">
                <a:latin typeface="Lucida Grande"/>
                <a:cs typeface="Lucida Grande"/>
              </a:rPr>
              <a:t>data,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89" dirty="0">
                <a:latin typeface="Lucida Grande"/>
                <a:cs typeface="Lucida Grande"/>
              </a:rPr>
              <a:t>the</a:t>
            </a:r>
            <a:r>
              <a:rPr sz="1600" spc="10" dirty="0">
                <a:latin typeface="Lucida Grande"/>
                <a:cs typeface="Lucida Grande"/>
              </a:rPr>
              <a:t> </a:t>
            </a:r>
            <a:r>
              <a:rPr sz="1600" dirty="0">
                <a:latin typeface="Lucida Grande"/>
                <a:cs typeface="Lucida Grande"/>
              </a:rPr>
              <a:t>AR(5)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168" dirty="0">
                <a:latin typeface="Lucida Grande"/>
                <a:cs typeface="Lucida Grande"/>
              </a:rPr>
              <a:t>model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89" dirty="0">
                <a:latin typeface="Lucida Grande"/>
                <a:cs typeface="Lucida Grande"/>
              </a:rPr>
              <a:t>is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208" dirty="0">
                <a:latin typeface="Lucida Grande"/>
                <a:cs typeface="Lucida Grande"/>
              </a:rPr>
              <a:t>much</a:t>
            </a:r>
            <a:r>
              <a:rPr sz="1600" spc="30" dirty="0">
                <a:latin typeface="Lucida Grande"/>
                <a:cs typeface="Lucida Grande"/>
              </a:rPr>
              <a:t> </a:t>
            </a:r>
            <a:r>
              <a:rPr sz="1600" spc="-139" dirty="0">
                <a:latin typeface="Lucida Grande"/>
                <a:cs typeface="Lucida Grande"/>
              </a:rPr>
              <a:t>simpler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79" dirty="0">
                <a:latin typeface="Lucida Grande"/>
                <a:cs typeface="Lucida Grande"/>
              </a:rPr>
              <a:t>than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119" dirty="0">
                <a:latin typeface="Lucida Grande"/>
                <a:cs typeface="Lucida Grande"/>
              </a:rPr>
              <a:t>a </a:t>
            </a:r>
            <a:r>
              <a:rPr sz="1600" dirty="0">
                <a:latin typeface="Lucida Grande"/>
                <a:cs typeface="Lucida Grande"/>
              </a:rPr>
              <a:t>RNN,</a:t>
            </a:r>
            <a:r>
              <a:rPr sz="1600" spc="59" dirty="0">
                <a:latin typeface="Lucida Grande"/>
                <a:cs typeface="Lucida Grande"/>
              </a:rPr>
              <a:t> </a:t>
            </a:r>
            <a:r>
              <a:rPr sz="1600" spc="-119" dirty="0">
                <a:latin typeface="Lucida Grande"/>
                <a:cs typeface="Lucida Grande"/>
              </a:rPr>
              <a:t>and</a:t>
            </a:r>
            <a:r>
              <a:rPr sz="1600" spc="69" dirty="0">
                <a:latin typeface="Lucida Grande"/>
                <a:cs typeface="Lucida Grande"/>
              </a:rPr>
              <a:t> </a:t>
            </a:r>
            <a:r>
              <a:rPr sz="1600" spc="-168" dirty="0">
                <a:latin typeface="Lucida Grande"/>
                <a:cs typeface="Lucida Grande"/>
              </a:rPr>
              <a:t>performed</a:t>
            </a:r>
            <a:r>
              <a:rPr sz="1600" spc="69" dirty="0">
                <a:latin typeface="Lucida Grande"/>
                <a:cs typeface="Lucida Grande"/>
              </a:rPr>
              <a:t> </a:t>
            </a:r>
            <a:r>
              <a:rPr sz="1600" spc="-178" dirty="0">
                <a:latin typeface="Lucida Grande"/>
                <a:cs typeface="Lucida Grande"/>
              </a:rPr>
              <a:t>as</a:t>
            </a:r>
            <a:r>
              <a:rPr sz="1600" spc="69" dirty="0">
                <a:latin typeface="Lucida Grande"/>
                <a:cs typeface="Lucida Grande"/>
              </a:rPr>
              <a:t> </a:t>
            </a:r>
            <a:r>
              <a:rPr sz="1600" spc="-20" dirty="0">
                <a:latin typeface="Lucida Grande"/>
                <a:cs typeface="Lucida Grande"/>
              </a:rPr>
              <a:t>well.</a:t>
            </a:r>
            <a:endParaRPr sz="1600" dirty="0">
              <a:latin typeface="Lucida Grande"/>
              <a:cs typeface="Lucida Grande"/>
            </a:endParaRPr>
          </a:p>
          <a:p>
            <a:pPr marL="1197977" lvl="1" indent="-263001">
              <a:lnSpc>
                <a:spcPts val="2279"/>
              </a:lnSpc>
              <a:buClr>
                <a:srgbClr val="3333B3"/>
              </a:buClr>
              <a:buFont typeface="Menlo"/>
              <a:buChar char="•"/>
              <a:tabLst>
                <a:tab pos="1199236" algn="l"/>
              </a:tabLst>
            </a:pPr>
            <a:r>
              <a:rPr sz="1600" spc="-20" dirty="0">
                <a:latin typeface="Lucida Grande"/>
                <a:cs typeface="Lucida Grande"/>
              </a:rPr>
              <a:t>On</a:t>
            </a:r>
            <a:r>
              <a:rPr sz="1600" spc="-109" dirty="0">
                <a:latin typeface="Lucida Grande"/>
                <a:cs typeface="Lucida Grande"/>
              </a:rPr>
              <a:t> </a:t>
            </a:r>
            <a:r>
              <a:rPr sz="1600" spc="-99" dirty="0">
                <a:latin typeface="Lucida Grande"/>
                <a:cs typeface="Lucida Grande"/>
              </a:rPr>
              <a:t>the</a:t>
            </a:r>
            <a:r>
              <a:rPr sz="1600" spc="-30" dirty="0">
                <a:latin typeface="Lucida Grande"/>
                <a:cs typeface="Lucida Grande"/>
              </a:rPr>
              <a:t> </a:t>
            </a:r>
            <a:r>
              <a:rPr sz="1600" spc="-168" dirty="0">
                <a:solidFill>
                  <a:srgbClr val="990000"/>
                </a:solidFill>
                <a:latin typeface="Courier New"/>
                <a:cs typeface="Courier New"/>
              </a:rPr>
              <a:t>IMDB</a:t>
            </a:r>
            <a:r>
              <a:rPr sz="1600" spc="-56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spc="-99" dirty="0">
                <a:latin typeface="Lucida Grande"/>
                <a:cs typeface="Lucida Grande"/>
              </a:rPr>
              <a:t>review</a:t>
            </a:r>
            <a:r>
              <a:rPr sz="1600" spc="-40" dirty="0">
                <a:latin typeface="Lucida Grande"/>
                <a:cs typeface="Lucida Grande"/>
              </a:rPr>
              <a:t> </a:t>
            </a:r>
            <a:r>
              <a:rPr sz="1600" spc="-89" dirty="0">
                <a:latin typeface="Lucida Grande"/>
                <a:cs typeface="Lucida Grande"/>
              </a:rPr>
              <a:t>data,</a:t>
            </a:r>
            <a:r>
              <a:rPr sz="1600" spc="-20" dirty="0">
                <a:latin typeface="Lucida Grande"/>
                <a:cs typeface="Lucida Grande"/>
              </a:rPr>
              <a:t> </a:t>
            </a:r>
            <a:r>
              <a:rPr sz="1600" spc="-99" dirty="0">
                <a:latin typeface="Lucida Grande"/>
                <a:cs typeface="Lucida Grande"/>
              </a:rPr>
              <a:t>the</a:t>
            </a:r>
            <a:r>
              <a:rPr sz="1600" spc="-30" dirty="0">
                <a:latin typeface="Lucida Grande"/>
                <a:cs typeface="Lucida Grande"/>
              </a:rPr>
              <a:t> </a:t>
            </a:r>
            <a:r>
              <a:rPr sz="1600" spc="-89" dirty="0">
                <a:latin typeface="Lucida Grande"/>
                <a:cs typeface="Lucida Grande"/>
              </a:rPr>
              <a:t>linear</a:t>
            </a:r>
            <a:r>
              <a:rPr sz="1600" spc="-40" dirty="0">
                <a:latin typeface="Lucida Grande"/>
                <a:cs typeface="Lucida Grande"/>
              </a:rPr>
              <a:t> </a:t>
            </a:r>
            <a:r>
              <a:rPr sz="1600" spc="-178" dirty="0">
                <a:latin typeface="Lucida Grande"/>
                <a:cs typeface="Lucida Grande"/>
              </a:rPr>
              <a:t>model</a:t>
            </a:r>
            <a:r>
              <a:rPr sz="1600" spc="-10" dirty="0">
                <a:latin typeface="Lucida Grande"/>
                <a:cs typeface="Lucida Grande"/>
              </a:rPr>
              <a:t> </a:t>
            </a:r>
            <a:r>
              <a:rPr sz="1600" spc="-20" dirty="0">
                <a:latin typeface="Lucida Grande"/>
                <a:cs typeface="Lucida Grande"/>
              </a:rPr>
              <a:t>fit </a:t>
            </a:r>
            <a:r>
              <a:rPr sz="1600" spc="-89" dirty="0">
                <a:latin typeface="Lucida Grande"/>
                <a:cs typeface="Lucida Grande"/>
              </a:rPr>
              <a:t>by</a:t>
            </a:r>
            <a:r>
              <a:rPr sz="1600" spc="-30" dirty="0">
                <a:latin typeface="Lucida Grande"/>
                <a:cs typeface="Lucida Grande"/>
              </a:rPr>
              <a:t> </a:t>
            </a:r>
            <a:r>
              <a:rPr sz="1600" spc="-168" dirty="0">
                <a:solidFill>
                  <a:srgbClr val="990000"/>
                </a:solidFill>
                <a:latin typeface="Courier New"/>
                <a:cs typeface="Courier New"/>
              </a:rPr>
              <a:t>glmnet</a:t>
            </a:r>
            <a:r>
              <a:rPr sz="1600" spc="-565" dirty="0">
                <a:solidFill>
                  <a:srgbClr val="990000"/>
                </a:solidFill>
                <a:latin typeface="Courier New"/>
                <a:cs typeface="Courier New"/>
              </a:rPr>
              <a:t> </a:t>
            </a:r>
            <a:r>
              <a:rPr sz="1600" spc="-50" dirty="0">
                <a:latin typeface="Lucida Grande"/>
                <a:cs typeface="Lucida Grande"/>
              </a:rPr>
              <a:t>did</a:t>
            </a:r>
            <a:endParaRPr sz="1600" dirty="0">
              <a:latin typeface="Lucida Grande"/>
              <a:cs typeface="Lucida Grande"/>
            </a:endParaRPr>
          </a:p>
          <a:p>
            <a:pPr marL="1197977">
              <a:lnSpc>
                <a:spcPts val="2378"/>
              </a:lnSpc>
            </a:pPr>
            <a:r>
              <a:rPr sz="1600" spc="-178" dirty="0">
                <a:latin typeface="Lucida Grande"/>
                <a:cs typeface="Lucida Grande"/>
              </a:rPr>
              <a:t>as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99" dirty="0">
                <a:latin typeface="Lucida Grande"/>
                <a:cs typeface="Lucida Grande"/>
              </a:rPr>
              <a:t>well</a:t>
            </a:r>
            <a:r>
              <a:rPr sz="1600" spc="-59" dirty="0">
                <a:latin typeface="Lucida Grande"/>
                <a:cs typeface="Lucida Grande"/>
              </a:rPr>
              <a:t> </a:t>
            </a:r>
            <a:r>
              <a:rPr sz="1600" spc="-178" dirty="0">
                <a:latin typeface="Lucida Grande"/>
                <a:cs typeface="Lucida Grande"/>
              </a:rPr>
              <a:t>as</a:t>
            </a:r>
            <a:r>
              <a:rPr sz="1600" spc="20" dirty="0">
                <a:latin typeface="Lucida Grande"/>
                <a:cs typeface="Lucida Grande"/>
              </a:rPr>
              <a:t> </a:t>
            </a:r>
            <a:r>
              <a:rPr sz="1600" spc="-89" dirty="0">
                <a:latin typeface="Lucida Grande"/>
                <a:cs typeface="Lucida Grande"/>
              </a:rPr>
              <a:t>the</a:t>
            </a:r>
            <a:r>
              <a:rPr sz="1600" spc="-69" dirty="0">
                <a:latin typeface="Lucida Grande"/>
                <a:cs typeface="Lucida Grande"/>
              </a:rPr>
              <a:t> </a:t>
            </a:r>
            <a:r>
              <a:rPr sz="1600" spc="-99" dirty="0">
                <a:latin typeface="Lucida Grande"/>
                <a:cs typeface="Lucida Grande"/>
              </a:rPr>
              <a:t>neural</a:t>
            </a:r>
            <a:r>
              <a:rPr sz="1600" spc="-40" dirty="0">
                <a:latin typeface="Lucida Grande"/>
                <a:cs typeface="Lucida Grande"/>
              </a:rPr>
              <a:t> </a:t>
            </a:r>
            <a:r>
              <a:rPr sz="1600" spc="-129" dirty="0">
                <a:latin typeface="Lucida Grande"/>
                <a:cs typeface="Lucida Grande"/>
              </a:rPr>
              <a:t>network,</a:t>
            </a:r>
            <a:r>
              <a:rPr sz="1600" spc="-20" dirty="0">
                <a:latin typeface="Lucida Grande"/>
                <a:cs typeface="Lucida Grande"/>
              </a:rPr>
              <a:t> </a:t>
            </a:r>
            <a:r>
              <a:rPr sz="1600" spc="-119" dirty="0">
                <a:latin typeface="Lucida Grande"/>
                <a:cs typeface="Lucida Grande"/>
              </a:rPr>
              <a:t>and</a:t>
            </a:r>
            <a:r>
              <a:rPr sz="1600" spc="-30" dirty="0">
                <a:latin typeface="Lucida Grande"/>
                <a:cs typeface="Lucida Grande"/>
              </a:rPr>
              <a:t> </a:t>
            </a:r>
            <a:r>
              <a:rPr sz="1600" spc="-79" dirty="0">
                <a:latin typeface="Lucida Grande"/>
                <a:cs typeface="Lucida Grande"/>
              </a:rPr>
              <a:t>better</a:t>
            </a:r>
            <a:r>
              <a:rPr sz="1600" spc="-20" dirty="0">
                <a:latin typeface="Lucida Grande"/>
                <a:cs typeface="Lucida Grande"/>
              </a:rPr>
              <a:t> </a:t>
            </a:r>
            <a:r>
              <a:rPr sz="1600" spc="-79" dirty="0">
                <a:latin typeface="Lucida Grande"/>
                <a:cs typeface="Lucida Grande"/>
              </a:rPr>
              <a:t>than</a:t>
            </a:r>
            <a:r>
              <a:rPr sz="1600" spc="-30" dirty="0">
                <a:latin typeface="Lucida Grande"/>
                <a:cs typeface="Lucida Grande"/>
              </a:rPr>
              <a:t> </a:t>
            </a:r>
            <a:r>
              <a:rPr sz="1600" spc="-89" dirty="0">
                <a:latin typeface="Lucida Grande"/>
                <a:cs typeface="Lucida Grande"/>
              </a:rPr>
              <a:t>the</a:t>
            </a:r>
            <a:r>
              <a:rPr sz="1600" spc="-20" dirty="0">
                <a:latin typeface="Lucida Grande"/>
                <a:cs typeface="Lucida Grande"/>
              </a:rPr>
              <a:t> </a:t>
            </a:r>
            <a:r>
              <a:rPr sz="1600" spc="-40" dirty="0">
                <a:latin typeface="Lucida Grande"/>
                <a:cs typeface="Lucida Grande"/>
              </a:rPr>
              <a:t>RNN.</a:t>
            </a:r>
            <a:endParaRPr sz="1600" dirty="0">
              <a:latin typeface="Lucida Grande"/>
              <a:cs typeface="Lucida Grande"/>
            </a:endParaRPr>
          </a:p>
          <a:p>
            <a:pPr marL="649324" marR="490768" indent="-275585">
              <a:lnSpc>
                <a:spcPct val="102600"/>
              </a:lnSpc>
              <a:spcBef>
                <a:spcPts val="40"/>
              </a:spcBef>
              <a:buClr>
                <a:srgbClr val="3333B3"/>
              </a:buClr>
              <a:buFont typeface="Menlo"/>
              <a:buChar char="•"/>
              <a:tabLst>
                <a:tab pos="650582" algn="l"/>
              </a:tabLst>
            </a:pPr>
            <a:r>
              <a:rPr dirty="0">
                <a:latin typeface="Lucida Grande"/>
                <a:cs typeface="Lucida Grande"/>
              </a:rPr>
              <a:t>We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spc="-218" dirty="0">
                <a:latin typeface="Lucida Grande"/>
                <a:cs typeface="Lucida Grande"/>
              </a:rPr>
              <a:t>endorse</a:t>
            </a:r>
            <a:r>
              <a:rPr spc="40" dirty="0">
                <a:latin typeface="Lucida Grande"/>
                <a:cs typeface="Lucida Grande"/>
              </a:rPr>
              <a:t> </a:t>
            </a:r>
            <a:r>
              <a:rPr spc="-119" dirty="0">
                <a:latin typeface="Lucida Grande"/>
                <a:cs typeface="Lucida Grande"/>
              </a:rPr>
              <a:t>the</a:t>
            </a:r>
            <a:r>
              <a:rPr spc="40" dirty="0">
                <a:latin typeface="Lucida Grande"/>
                <a:cs typeface="Lucida Grande"/>
              </a:rPr>
              <a:t> </a:t>
            </a:r>
            <a:r>
              <a:rPr i="1" spc="-218" dirty="0">
                <a:solidFill>
                  <a:srgbClr val="009900"/>
                </a:solidFill>
                <a:latin typeface="Menlo"/>
                <a:cs typeface="Menlo"/>
              </a:rPr>
              <a:t>Occam’s</a:t>
            </a:r>
            <a:r>
              <a:rPr i="1" spc="-53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i="1" spc="-377" dirty="0">
                <a:solidFill>
                  <a:srgbClr val="009900"/>
                </a:solidFill>
                <a:latin typeface="Menlo"/>
                <a:cs typeface="Menlo"/>
              </a:rPr>
              <a:t>razor</a:t>
            </a:r>
            <a:r>
              <a:rPr i="1" spc="-575" dirty="0">
                <a:solidFill>
                  <a:srgbClr val="009900"/>
                </a:solidFill>
                <a:latin typeface="Menlo"/>
                <a:cs typeface="Menlo"/>
              </a:rPr>
              <a:t> </a:t>
            </a:r>
            <a:r>
              <a:rPr spc="-99" dirty="0">
                <a:latin typeface="Lucida Grande"/>
                <a:cs typeface="Lucida Grande"/>
              </a:rPr>
              <a:t>principal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dirty="0">
                <a:latin typeface="Lucida Grande"/>
                <a:cs typeface="Lucida Grande"/>
              </a:rPr>
              <a:t>—</a:t>
            </a:r>
            <a:r>
              <a:rPr spc="40" dirty="0">
                <a:latin typeface="Lucida Grande"/>
                <a:cs typeface="Lucida Grande"/>
              </a:rPr>
              <a:t> </a:t>
            </a:r>
            <a:r>
              <a:rPr spc="-226" dirty="0">
                <a:latin typeface="Lucida Grande"/>
                <a:cs typeface="Lucida Grande"/>
              </a:rPr>
              <a:t>we</a:t>
            </a:r>
            <a:r>
              <a:rPr spc="40" dirty="0">
                <a:latin typeface="Lucida Grande"/>
                <a:cs typeface="Lucida Grande"/>
              </a:rPr>
              <a:t> </a:t>
            </a:r>
            <a:r>
              <a:rPr spc="-20" dirty="0">
                <a:latin typeface="Lucida Grande"/>
                <a:cs typeface="Lucida Grande"/>
              </a:rPr>
              <a:t>prefer </a:t>
            </a:r>
            <a:r>
              <a:rPr spc="-159" dirty="0">
                <a:latin typeface="Lucida Grande"/>
                <a:cs typeface="Lucida Grande"/>
              </a:rPr>
              <a:t>simpler</a:t>
            </a:r>
            <a:r>
              <a:rPr spc="-20" dirty="0">
                <a:latin typeface="Lucida Grande"/>
                <a:cs typeface="Lucida Grande"/>
              </a:rPr>
              <a:t> </a:t>
            </a:r>
            <a:r>
              <a:rPr spc="-208" dirty="0">
                <a:latin typeface="Lucida Grande"/>
                <a:cs typeface="Lucida Grande"/>
              </a:rPr>
              <a:t>models</a:t>
            </a:r>
            <a:r>
              <a:rPr spc="30" dirty="0">
                <a:latin typeface="Lucida Grande"/>
                <a:cs typeface="Lucida Grande"/>
              </a:rPr>
              <a:t> </a:t>
            </a:r>
            <a:r>
              <a:rPr dirty="0">
                <a:latin typeface="Lucida Grande"/>
                <a:cs typeface="Lucida Grande"/>
              </a:rPr>
              <a:t>if</a:t>
            </a:r>
            <a:r>
              <a:rPr spc="-168" dirty="0">
                <a:latin typeface="Lucida Grande"/>
                <a:cs typeface="Lucida Grande"/>
              </a:rPr>
              <a:t> </a:t>
            </a:r>
            <a:r>
              <a:rPr spc="-69" dirty="0">
                <a:latin typeface="Lucida Grande"/>
                <a:cs typeface="Lucida Grande"/>
              </a:rPr>
              <a:t>they</a:t>
            </a:r>
            <a:r>
              <a:rPr spc="-79" dirty="0">
                <a:latin typeface="Lucida Grande"/>
                <a:cs typeface="Lucida Grande"/>
              </a:rPr>
              <a:t> </a:t>
            </a:r>
            <a:r>
              <a:rPr spc="-159" dirty="0">
                <a:latin typeface="Lucida Grande"/>
                <a:cs typeface="Lucida Grande"/>
              </a:rPr>
              <a:t>work</a:t>
            </a:r>
            <a:r>
              <a:rPr spc="-10" dirty="0">
                <a:latin typeface="Lucida Grande"/>
                <a:cs typeface="Lucida Grande"/>
              </a:rPr>
              <a:t> </a:t>
            </a:r>
            <a:r>
              <a:rPr spc="-198" dirty="0">
                <a:latin typeface="Lucida Grande"/>
                <a:cs typeface="Lucida Grande"/>
              </a:rPr>
              <a:t>as</a:t>
            </a:r>
            <a:r>
              <a:rPr spc="20" dirty="0">
                <a:latin typeface="Lucida Grande"/>
                <a:cs typeface="Lucida Grande"/>
              </a:rPr>
              <a:t> </a:t>
            </a:r>
            <a:r>
              <a:rPr spc="-69" dirty="0">
                <a:latin typeface="Lucida Grande"/>
                <a:cs typeface="Lucida Grande"/>
              </a:rPr>
              <a:t>well.</a:t>
            </a:r>
            <a:r>
              <a:rPr spc="178" dirty="0">
                <a:latin typeface="Lucida Grande"/>
                <a:cs typeface="Lucida Grande"/>
              </a:rPr>
              <a:t> </a:t>
            </a:r>
            <a:r>
              <a:rPr spc="-99" dirty="0">
                <a:latin typeface="Lucida Grande"/>
                <a:cs typeface="Lucida Grande"/>
              </a:rPr>
              <a:t>More</a:t>
            </a:r>
            <a:r>
              <a:rPr spc="-30" dirty="0">
                <a:latin typeface="Lucida Grande"/>
                <a:cs typeface="Lucida Grande"/>
              </a:rPr>
              <a:t> </a:t>
            </a:r>
            <a:r>
              <a:rPr spc="-119" dirty="0">
                <a:latin typeface="Lucida Grande"/>
                <a:cs typeface="Lucida Grande"/>
              </a:rPr>
              <a:t>interpretable!</a:t>
            </a:r>
            <a:endParaRPr dirty="0">
              <a:latin typeface="Lucida Grande"/>
              <a:cs typeface="Lucida Grande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85F04E-6FB1-51F8-FFC7-1ADCF879F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119" dirty="0"/>
              <a:t>When</a:t>
            </a:r>
            <a:r>
              <a:rPr lang="en-US" spc="317" dirty="0"/>
              <a:t> </a:t>
            </a:r>
            <a:r>
              <a:rPr lang="en-US" spc="149" dirty="0"/>
              <a:t>to</a:t>
            </a:r>
            <a:r>
              <a:rPr lang="en-US" spc="337" dirty="0"/>
              <a:t> </a:t>
            </a:r>
            <a:r>
              <a:rPr lang="en-US" dirty="0"/>
              <a:t>Use</a:t>
            </a:r>
            <a:r>
              <a:rPr lang="en-US" spc="327" dirty="0"/>
              <a:t> </a:t>
            </a:r>
            <a:r>
              <a:rPr lang="en-US" dirty="0"/>
              <a:t>Deep</a:t>
            </a:r>
            <a:r>
              <a:rPr lang="en-US" spc="327" dirty="0"/>
              <a:t> </a:t>
            </a:r>
            <a:r>
              <a:rPr lang="en-US" spc="-20" dirty="0"/>
              <a:t>Learning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F589266-979B-67F6-CB7C-653E4762C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12225-5612-419B-A8D5-4B8EEE4C217E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>
    <a:spDef>
      <a:spPr>
        <a:ln w="38100">
          <a:solidFill>
            <a:srgbClr val="008000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spDef>
    <a:lnDef>
      <a:spPr>
        <a:ln w="28575"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dirty="0" smtClean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82E4831-23FF-C34F-96D5-04130C90F63E}">
  <we:reference id="wa200002290" version="1.0.0.3" store="en-US" storeType="OMEX"/>
  <we:alternateReferences>
    <we:reference id="wa200002290" version="1.0.0.3" store="" storeType="OMEX"/>
  </we:alternateReferences>
  <we:properties>
    <we:property name="mathList" value="[{&quot;id&quot;:&quot;1&quot;,&quot;code&quot;:&quot;$A_{l} = g(\\omega_{0\\,}+ WX_{l\\,}+ UA_{l-1})\r\n$&quot;,&quot;font&quot;:{&quot;size&quot;:12,&quot;family&quot;:&quot;Arial&quot;,&quot;color&quot;:&quot;black&quot;},&quot;type&quot;:&quot;$&quot;},{&quot;id&quot;:&quot;1&quot;,&quot;code&quot;:&quot;$\\sum_{i=1}^{n}(y_{i} - o_{il})^{2} ==\\sum_{i=1}^{n}\\left(y_{i\\,}-\\left(\\right)\\beta_{0} +B \\cdot g(\\omega_{0} +WX_{iL}+  UA_{I,L-1})\\right)^{2}$&quot;,&quot;font&quot;:{&quot;size&quot;:12,&quot;family&quot;:&quot;Arial&quot;,&quot;color&quot;:&quot;black&quot;},&quot;type&quot;:&quot;$&quot;},{&quot;id&quot;:&quot;1&quot;,&quot;code&quot;:&quot;$\\sum_{i=1}^{n}(y_{i} - o_{il})^{2} ==\\sum_{i=1}^{n}\\left(y_{i\\,}-\\left(\\beta_{0} +B \\cdot g(\\omega_{0} +WX_{iL}+  UA_{I,L-1})\\right)\\right)^{2}$&quot;,&quot;font&quot;:{&quot;size&quot;:12,&quot;family&quot;:&quot;Arial&quot;,&quot;color&quot;:&quot;black&quot;},&quot;type&quot;:&quot;$&quot;},{&quot;id&quot;:&quot;1&quot;,&quot;code&quot;:&quot;$\\sum_{i=1}^{n}(y_{i} - o_{il})^{2} =\\sum_{i=1}^{n}\\left(y_{i\\,}-\\left(\\beta_{0} +B \\cdot g(\\omega_{0} +WX_{iL}+  UA_{i,L-1})\\right)\\right)^{2}$&quot;,&quot;font&quot;:{&quot;size&quot;:12,&quot;family&quot;:&quot;Arial&quot;,&quot;color&quot;:&quot;black&quot;},&quot;type&quot;:&quot;$&quot;},{&quot;id&quot;:&quot;1&quot;,&quot;code&quot;:&quot;$\\sum_{i=1}^{n}(y_{i} - o_{iL})^{2} =\\sum_{i=1}^{n}\\left(y_{i\\,}-\\left(\\beta_{0} +B \\cdot g(\\omega_{0} +WX_{iL}+  UA_{i,L-1})\\right)\\right)^{2}$&quot;,&quot;font&quot;:{&quot;size&quot;:12,&quot;family&quot;:&quot;Arial&quot;,&quot;color&quot;:&quot;black&quot;},&quot;type&quot;:&quot;$&quot;}]"/>
    <we:property name="sidebarState" value="&quot;[true,true,false,true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37514</TotalTime>
  <Words>1786</Words>
  <Application>Microsoft Macintosh PowerPoint</Application>
  <PresentationFormat>On-screen Show (4:3)</PresentationFormat>
  <Paragraphs>173</Paragraphs>
  <Slides>21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6" baseType="lpstr">
      <vt:lpstr>Meiryo UI</vt:lpstr>
      <vt:lpstr>Arial</vt:lpstr>
      <vt:lpstr>Calibri</vt:lpstr>
      <vt:lpstr>Cambria Math</vt:lpstr>
      <vt:lpstr>Corbel</vt:lpstr>
      <vt:lpstr>Courier New</vt:lpstr>
      <vt:lpstr>Georgia</vt:lpstr>
      <vt:lpstr>Helvetica</vt:lpstr>
      <vt:lpstr>Lucida Grande</vt:lpstr>
      <vt:lpstr>Menlo</vt:lpstr>
      <vt:lpstr>News Gothic Std</vt:lpstr>
      <vt:lpstr>Times New Roman</vt:lpstr>
      <vt:lpstr>Wingdings</vt:lpstr>
      <vt:lpstr>Wingdings 2</vt:lpstr>
      <vt:lpstr>Module</vt:lpstr>
      <vt:lpstr>Lecture 3: Deep Learning, Recurrent Neural Networks       </vt:lpstr>
      <vt:lpstr>Recurrent Neural Networks</vt:lpstr>
      <vt:lpstr>Recurrent Neural Networks</vt:lpstr>
      <vt:lpstr>Recurrent Neural Networks</vt:lpstr>
      <vt:lpstr>Recurrent Neural Networks</vt:lpstr>
      <vt:lpstr>Simple Recurrent Neural Network Architecture</vt:lpstr>
      <vt:lpstr>RNN in Detail</vt:lpstr>
      <vt:lpstr>Outline </vt:lpstr>
      <vt:lpstr>RNN and IMDB Reviews</vt:lpstr>
      <vt:lpstr>Word Embedding</vt:lpstr>
      <vt:lpstr>RNN on IMDB Reviews</vt:lpstr>
      <vt:lpstr>Outline </vt:lpstr>
      <vt:lpstr>Time Series Forecasting</vt:lpstr>
      <vt:lpstr>New-York Stock Exchange Data</vt:lpstr>
      <vt:lpstr>Autocorrelation</vt:lpstr>
      <vt:lpstr>RNN Forecaster</vt:lpstr>
      <vt:lpstr>RNN Results for NYSE Data</vt:lpstr>
      <vt:lpstr>Autoregression  Forecaster</vt:lpstr>
      <vt:lpstr>Autoregression Results for NYSE Data</vt:lpstr>
      <vt:lpstr>Summary of RNNs</vt:lpstr>
      <vt:lpstr>When to Use Deep Learning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Yu, Dantong</cp:lastModifiedBy>
  <cp:revision>1624</cp:revision>
  <cp:lastPrinted>2012-02-27T09:05:25Z</cp:lastPrinted>
  <dcterms:created xsi:type="dcterms:W3CDTF">2009-06-12T17:14:38Z</dcterms:created>
  <dcterms:modified xsi:type="dcterms:W3CDTF">2026-07-02T23:56:25Z</dcterms:modified>
</cp:coreProperties>
</file>