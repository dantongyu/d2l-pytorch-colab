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61" r:id="rId5"/>
    <p:sldId id="262" r:id="rId6"/>
    <p:sldId id="267" r:id="rId7"/>
    <p:sldId id="296" r:id="rId8"/>
    <p:sldId id="273" r:id="rId9"/>
    <p:sldId id="297" r:id="rId10"/>
    <p:sldId id="277" r:id="rId11"/>
    <p:sldId id="299" r:id="rId12"/>
    <p:sldId id="278" r:id="rId13"/>
    <p:sldId id="291" r:id="rId14"/>
    <p:sldId id="293" r:id="rId15"/>
    <p:sldId id="282" r:id="rId16"/>
    <p:sldId id="294" r:id="rId17"/>
    <p:sldId id="284" r:id="rId18"/>
    <p:sldId id="295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/>
    <p:restoredTop sz="70674"/>
  </p:normalViewPr>
  <p:slideViewPr>
    <p:cSldViewPr snapToGrid="0" snapToObjects="1">
      <p:cViewPr varScale="1">
        <p:scale>
          <a:sx n="136" d="100"/>
          <a:sy n="13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03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— set the tone (~1 min).</a:t>
            </a:r>
          </a:p>
          <a:p>
            <a:endParaRPr/>
          </a:p>
          <a:p>
            <a:r>
              <a:t>Say: "Everything you're about to see happens in one place: the terminal — that black window with text. It looks intimidating, but you'll only ever type plain English into it."</a:t>
            </a:r>
          </a:p>
          <a:p>
            <a:endParaRPr/>
          </a:p>
          <a:p>
            <a:r>
              <a:t>Hook: "By the end of these slides you'll know enough to build a real game or website by just describing it."</a:t>
            </a:r>
          </a:p>
          <a:p>
            <a:endParaRPr/>
          </a:p>
          <a:p>
            <a:r>
              <a:t>👉 Point at the prompt `student@laptop:~$ claude` — explain that typing `claude` and hitting Enter starts a session. That's the whole barrier to entry.</a:t>
            </a:r>
          </a:p>
          <a:p>
            <a:endParaRPr/>
          </a:p>
          <a:p>
            <a:r>
              <a:t>Frame the audience: no coding experience assumed. Reassure anyone nervous.</a:t>
            </a:r>
          </a:p>
          <a:p>
            <a:endParaRPr/>
          </a:p>
          <a:p>
            <a:r>
              <a:t>→ Next: what this thing actually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WHAT IS IT — the one-sentence definition (~1.5 min).</a:t>
            </a:r>
          </a:p>
          <a:p>
            <a:endParaRPr dirty="0"/>
          </a:p>
          <a:p>
            <a:r>
              <a:rPr dirty="0"/>
              <a:t>Core line: "It's a coding partner you talk to in plain English." Repeat this — it's the single idea you want them to leave with.</a:t>
            </a:r>
          </a:p>
          <a:p>
            <a:endParaRPr dirty="0"/>
          </a:p>
          <a:p>
            <a:r>
              <a:rPr dirty="0"/>
              <a:t>Walk the three numbered points:</a:t>
            </a:r>
          </a:p>
          <a:p>
            <a:r>
              <a:rPr dirty="0"/>
              <a:t>• 01 Talk, don't memorize — contrast with the myth that coding means memorizing cryptic commands. You don't.</a:t>
            </a:r>
          </a:p>
          <a:p>
            <a:r>
              <a:rPr dirty="0"/>
              <a:t>• 02 It does the work — it reads files, writes real (not fake) code, runs it, and fixes its OWN mistakes. Emphasize "fixes its own mistakes" — that surprises people.</a:t>
            </a:r>
          </a:p>
          <a:p>
            <a:r>
              <a:rPr dirty="0"/>
              <a:t>• 03 Learns with you — it explains each step, so you understand, not just copy.</a:t>
            </a:r>
          </a:p>
          <a:p>
            <a:endParaRPr dirty="0"/>
          </a:p>
          <a:p>
            <a:r>
              <a:rPr dirty="0"/>
              <a:t>👉 Point at each number as you go so the room tracks the three-beat structure.</a:t>
            </a:r>
          </a:p>
          <a:p>
            <a:endParaRPr dirty="0"/>
          </a:p>
          <a:p>
            <a:r>
              <a:rPr dirty="0"/>
              <a:t>→ Next: the fun part — what you can actually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2400" dirty="0"/>
              <a:t>WHAT YOU CAN MAKE — inspire, don't lecture (~1.5 min).</a:t>
            </a:r>
          </a:p>
          <a:p>
            <a:endParaRPr sz="2400" dirty="0"/>
          </a:p>
          <a:p>
            <a:r>
              <a:rPr sz="2400" dirty="0"/>
              <a:t>Goal here is excitement, not detail. Read the four categories fast and let their imaginations run:</a:t>
            </a:r>
          </a:p>
          <a:p>
            <a:r>
              <a:rPr sz="2400" dirty="0"/>
              <a:t>• Websites &amp; apps — a personal site, or a tool for a club/sports team.</a:t>
            </a:r>
          </a:p>
          <a:p>
            <a:r>
              <a:rPr sz="2400" dirty="0"/>
              <a:t>• Games — maze, arcade, whatever they like.</a:t>
            </a:r>
          </a:p>
          <a:p>
            <a:r>
              <a:rPr sz="2400" dirty="0"/>
              <a:t>• Automations — scripts that do boring repetitive homework-adjacent tasks.</a:t>
            </a:r>
          </a:p>
          <a:p>
            <a:r>
              <a:rPr sz="2400" dirty="0"/>
              <a:t>• Data &amp; science — charts and number-crunching for a science-fair project.</a:t>
            </a:r>
          </a:p>
          <a:p>
            <a:endParaRPr sz="2400" dirty="0"/>
          </a:p>
          <a:p>
            <a:r>
              <a:rPr sz="2400" dirty="0"/>
              <a:t>Ask the room: "Which one would YOU build?" A quick hands-up keeps them engaged.</a:t>
            </a:r>
          </a:p>
          <a:p>
            <a:endParaRPr sz="2400" dirty="0"/>
          </a:p>
          <a:p>
            <a:r>
              <a:rPr sz="2400" dirty="0"/>
              <a:t>Tie-in: "We'll actually build a car race game together over the next few slides."</a:t>
            </a:r>
          </a:p>
          <a:p>
            <a:endParaRPr sz="2400" dirty="0"/>
          </a:p>
          <a:p>
            <a:r>
              <a:rPr sz="2400" dirty="0"/>
              <a:t>→ Next: the handful of commands that make it powerful.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SLASH COMMANDS OVERVIEW — the roadmap slide (~1.5 min).</a:t>
            </a:r>
          </a:p>
          <a:p>
            <a:endParaRPr/>
          </a:p>
          <a:p>
            <a:r>
              <a:t>This is a map of what's coming. Explain the concept of a "slash command": type `/` then a word to unlock a specialized behavior.</a:t>
            </a:r>
          </a:p>
          <a:p>
            <a:endParaRPr/>
          </a:p>
          <a:p>
            <a:r>
              <a:t>Introduce the three stars of the show — you'll spend most of the talk here:</a:t>
            </a:r>
          </a:p>
          <a:p>
            <a:r>
              <a:t>• /plan — see the roadmap before any code.</a:t>
            </a:r>
          </a:p>
          <a:p>
            <a:r>
              <a:t>• /workflow — bundle steps you repeat into one command.</a:t>
            </a:r>
          </a:p>
          <a:p>
            <a:r>
              <a:t>• /loop — keep fixing until the goal is met.</a:t>
            </a:r>
          </a:p>
          <a:p>
            <a:endParaRPr/>
          </a:p>
          <a:p>
            <a:r>
              <a:t>👉 Point at the closing line: "One project, all three: plan the game, automate the tests, loop until it wins." That's the through-line for the whole middle of the deck — call it out so they see where this is going.</a:t>
            </a:r>
          </a:p>
          <a:p>
            <a:endParaRPr/>
          </a:p>
          <a:p>
            <a:r>
              <a:t>→ Next: /plan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/PLAN — how it works (~1.5 min).</a:t>
            </a:r>
          </a:p>
          <a:p>
            <a:endParaRPr/>
          </a:p>
          <a:p>
            <a:r>
              <a:t>One-liner to say out loud: "Look before you leap — get the map, then travel."</a:t>
            </a:r>
          </a:p>
          <a:p>
            <a:endParaRPr/>
          </a:p>
          <a:p>
            <a:r>
              <a:t>Left side = WHEN and HOW. Don't read every bullet; summarize: use it before anything big or when you're unsure where to start. You type `/plan` + your goal, read the numbered steps, then say "go."</a:t>
            </a:r>
          </a:p>
          <a:p>
            <a:endParaRPr/>
          </a:p>
          <a:p>
            <a:r>
              <a:t>👉 Point at the terminal demo on the right — walk the number-guessing example line by line. Highlight that NOTHING is built until the user approves ("looks good, build it"). Control stays with the student.</a:t>
            </a:r>
          </a:p>
          <a:p>
            <a:endParaRPr/>
          </a:p>
          <a:p>
            <a:r>
              <a:t>Key reassurance: planning is free and fast — it's not "extra work," it saves work.</a:t>
            </a:r>
          </a:p>
          <a:p>
            <a:endParaRPr/>
          </a:p>
          <a:p>
            <a:r>
              <a:t>→ Next: /plan on a real project (the car game).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/PLAN IN ACTION — real use case, Day 1 (~1 min).</a:t>
            </a:r>
          </a:p>
          <a:p>
            <a:endParaRPr dirty="0"/>
          </a:p>
          <a:p>
            <a:r>
              <a:rPr dirty="0"/>
              <a:t>This is the payoff for the previous slide — same idea, concrete project.</a:t>
            </a:r>
          </a:p>
          <a:p>
            <a:endParaRPr dirty="0"/>
          </a:p>
          <a:p>
            <a:r>
              <a:rPr dirty="0"/>
              <a:t>Narrate the 3 steps: (1) describe the goal → (2) review/tweak the steps → (3) say "go."</a:t>
            </a:r>
          </a:p>
          <a:p>
            <a:endParaRPr dirty="0"/>
          </a:p>
          <a:p>
            <a:r>
              <a:rPr dirty="0"/>
              <a:t>👉 Point at the terminal: the student adds "engine sounds as step 5" BEFORE any code exists. That's the whole point — you shape the plan cheaply first.</a:t>
            </a:r>
          </a:p>
          <a:p>
            <a:endParaRPr dirty="0"/>
          </a:p>
          <a:p>
            <a:r>
              <a:rPr dirty="0"/>
              <a:t>Repeat the takeaway on screen: "You stay in control — nothing gets built until the plan looks right to you."</a:t>
            </a:r>
          </a:p>
          <a:p>
            <a:endParaRPr dirty="0"/>
          </a:p>
          <a:p>
            <a:r>
              <a:rPr dirty="0"/>
              <a:t>Pace note: this "in action" slide can go quickly since it mirrors the concept slide before it. Same pattern repeats for /workflow and /loop.</a:t>
            </a:r>
          </a:p>
          <a:p>
            <a:endParaRPr dirty="0"/>
          </a:p>
          <a:p>
            <a:r>
              <a:rPr dirty="0"/>
              <a:t>→ Next: /workflow.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/LOOP — how it works (~1.5 min).</a:t>
            </a:r>
          </a:p>
          <a:p>
            <a:endParaRPr/>
          </a:p>
          <a:p>
            <a:r>
              <a:t>One-liner: "Keep trying until it works — hands-free."</a:t>
            </a:r>
          </a:p>
          <a:p>
            <a:endParaRPr/>
          </a:p>
          <a:p>
            <a:r>
              <a:t>This is the one students find coolest, so give it energy. The idea: give Claude a GOAL or stop condition, and it repeats — checking and fixing its own work each round — until it's done.</a:t>
            </a:r>
          </a:p>
          <a:p>
            <a:endParaRPr/>
          </a:p>
          <a:p>
            <a:r>
              <a:t>👉 Point at the demo: "loop until all tests pass" → Round 1, Round 2, Round 3 → done. Emphasize it fixed itself between rounds without you retyping anything.</a:t>
            </a:r>
          </a:p>
          <a:p>
            <a:endParaRPr/>
          </a:p>
          <a:p>
            <a:r>
              <a:t>Important framing: you set the finish line ("until all tests pass"); it does the laps. That keeps it from running forever.</a:t>
            </a:r>
          </a:p>
          <a:p>
            <a:endParaRPr/>
          </a:p>
          <a:p>
            <a:r>
              <a:t>→ Next: /loop on the car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/LOOP IN ACTION — real use case, Day 3 (~1 min).</a:t>
            </a:r>
          </a:p>
          <a:p>
            <a:endParaRPr dirty="0"/>
          </a:p>
          <a:p>
            <a:r>
              <a:rPr dirty="0"/>
              <a:t>Story beat: Day 3, the game runs but it's glitchy. Give /loop a crisp goal — "run 3 clean laps" — and let it grind.</a:t>
            </a:r>
          </a:p>
          <a:p>
            <a:endParaRPr dirty="0"/>
          </a:p>
          <a:p>
            <a:r>
              <a:rPr dirty="0"/>
              <a:t>👉 Terminal walkthrough: Round 1 fixes a wall collision, Round 2 fixes stuck opponent AI, Round 3 hits 3 clean laps → stops. "The race finally races."</a:t>
            </a:r>
          </a:p>
          <a:p>
            <a:endParaRPr dirty="0"/>
          </a:p>
          <a:p>
            <a:r>
              <a:rPr dirty="0"/>
              <a:t>Callback: point out we've now used all three commands on ONE project — plan it (Day 1), automate tests (Day 2), loop to polish (Day 3). That was the promise on the overview slide.</a:t>
            </a:r>
          </a:p>
          <a:p>
            <a:endParaRPr dirty="0"/>
          </a:p>
          <a:p>
            <a:r>
              <a:rPr dirty="0"/>
              <a:t>Natural pause point — good spot to take questions before moving to the "power features" half.</a:t>
            </a:r>
          </a:p>
          <a:p>
            <a:endParaRPr dirty="0"/>
          </a:p>
          <a:p>
            <a:r>
              <a:rPr dirty="0"/>
              <a:t>→ Next: leveling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LEVEL UP — power features overview (~1.5 min).</a:t>
            </a:r>
          </a:p>
          <a:p>
            <a:endParaRPr dirty="0"/>
          </a:p>
          <a:p>
            <a:r>
              <a:rPr dirty="0"/>
              <a:t>Transition line: "Once the basics feel comfortable, these give Claude lasting memory of how you and your project work."</a:t>
            </a:r>
          </a:p>
          <a:p>
            <a:endParaRPr dirty="0"/>
          </a:p>
          <a:p>
            <a:r>
              <a:rPr dirty="0"/>
              <a:t>This is a preview grid — don't go deep, just name the four and note that the next slides cover the big ones:</a:t>
            </a:r>
          </a:p>
          <a:p>
            <a:r>
              <a:rPr dirty="0"/>
              <a:t>• </a:t>
            </a:r>
            <a:r>
              <a:rPr dirty="0" err="1"/>
              <a:t>CLAUDE.md</a:t>
            </a:r>
            <a:r>
              <a:rPr dirty="0"/>
              <a:t> — a file Claude reads every session (project memory).</a:t>
            </a:r>
          </a:p>
          <a:p>
            <a:r>
              <a:rPr dirty="0"/>
              <a:t>• Memory (#) — start a line with # to save a fact instantly.</a:t>
            </a:r>
          </a:p>
          <a:p>
            <a:r>
              <a:rPr dirty="0"/>
              <a:t>• Custom commands — save prompt recipes as your own /commands.</a:t>
            </a:r>
          </a:p>
          <a:p>
            <a:r>
              <a:rPr dirty="0"/>
              <a:t>• MCP connectors — wire Claude into GitHub, databases, and other tools.</a:t>
            </a:r>
          </a:p>
          <a:p>
            <a:endParaRPr dirty="0"/>
          </a:p>
          <a:p>
            <a:r>
              <a:rPr dirty="0"/>
              <a:t>👉 Point at "// project memory that persists" — that phrase is the theme of the next few slides.</a:t>
            </a:r>
          </a:p>
          <a:p>
            <a:endParaRPr dirty="0"/>
          </a:p>
          <a:p>
            <a:r>
              <a:rPr dirty="0"/>
              <a:t>Audience note: this half is more advanced. Tell students it's fine if it's aspirational — bookmark it for when they're building bigger things.</a:t>
            </a:r>
          </a:p>
          <a:p>
            <a:endParaRPr dirty="0"/>
          </a:p>
          <a:p>
            <a:r>
              <a:rPr dirty="0"/>
              <a:t>→ Next: </a:t>
            </a:r>
            <a:r>
              <a:rPr dirty="0" err="1"/>
              <a:t>CLAUDE.md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CLAUDE.md — the single most useful habit (~1.5 min).</a:t>
            </a:r>
          </a:p>
          <a:p>
            <a:endParaRPr/>
          </a:p>
          <a:p>
            <a:r>
              <a:t>Frame it strongly: "This is the #1 way to give Claude context. Without it, Claude starts from zero every session."</a:t>
            </a:r>
          </a:p>
          <a:p>
            <a:endParaRPr/>
          </a:p>
          <a:p>
            <a:r>
              <a:t>Explain the problem it solves: an AI forgets everything between sessions. CLAUDE.md is a plain text file Claude re-reads at the start of every session.</a:t>
            </a:r>
          </a:p>
          <a:p>
            <a:endParaRPr/>
          </a:p>
          <a:p>
            <a:r>
              <a:t>What goes in it: build/test commands, code conventions, architecture notes and "gotchas."</a:t>
            </a:r>
          </a:p>
          <a:p>
            <a:r>
              <a:t>Where it lives: repo root (shared with your team via git), sub-folders, or your personal ~/.claude one.</a:t>
            </a:r>
          </a:p>
          <a:p>
            <a:endParaRPr/>
          </a:p>
          <a:p>
            <a:r>
              <a:t>👉 Point at the demo `cat CLAUDE.md` — show it's just readable text: commands and conventions. Then "Loaded CLAUDE.md — context ready."</a:t>
            </a:r>
          </a:p>
          <a:p>
            <a:endParaRPr/>
          </a:p>
          <a:p>
            <a:r>
              <a:t>Tip to say aloud: run `/init` and it writes a starter file for you.</a:t>
            </a:r>
          </a:p>
          <a:p>
            <a:endParaRPr/>
          </a:p>
          <a:p>
            <a:r>
              <a:t>→ Next: WHY this works — the memory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CLAUDE.md</a:t>
            </a:r>
            <a:r>
              <a:rPr dirty="0"/>
              <a:t> + MEMORY — the why (~1.5 min).</a:t>
            </a:r>
          </a:p>
          <a:p>
            <a:endParaRPr dirty="0"/>
          </a:p>
          <a:p>
            <a:r>
              <a:rPr dirty="0"/>
              <a:t>This slide explains the mental model. Core sentence: "An LLM forgets everything between sessions — </a:t>
            </a:r>
            <a:r>
              <a:rPr dirty="0" err="1"/>
              <a:t>CLAUDE.md</a:t>
            </a:r>
            <a:r>
              <a:rPr dirty="0"/>
              <a:t> is the context it reloads every time."</a:t>
            </a:r>
          </a:p>
          <a:p>
            <a:endParaRPr dirty="0"/>
          </a:p>
          <a:p>
            <a:r>
              <a:rPr dirty="0"/>
              <a:t>Walk the 4-step cycle: (1) session starts → </a:t>
            </a:r>
            <a:r>
              <a:rPr dirty="0" err="1"/>
              <a:t>CLAUDE.md</a:t>
            </a:r>
            <a:r>
              <a:rPr dirty="0"/>
              <a:t> read in, (2) you teach it with #, (3) file updated, (4) session ends and the chat is forgotten — BUT the file persists, so next session reloads it.</a:t>
            </a:r>
          </a:p>
          <a:p>
            <a:endParaRPr dirty="0"/>
          </a:p>
          <a:p>
            <a:r>
              <a:rPr dirty="0"/>
              <a:t>👉 Contrast the two columns: WITHOUT (start from zero, repeat yourself, decisions lost) vs WITH (context pre-loaded, # adds facts, pick up where you left off).</a:t>
            </a:r>
          </a:p>
          <a:p>
            <a:endParaRPr dirty="0"/>
          </a:p>
          <a:p>
            <a:r>
              <a:rPr dirty="0"/>
              <a:t>This is a good "aha" slide — pause and let the without/with contrast land.</a:t>
            </a:r>
          </a:p>
          <a:p>
            <a:endParaRPr dirty="0"/>
          </a:p>
          <a:p>
            <a:r>
              <a:rPr dirty="0"/>
              <a:t>→ Next: how to actually save memories mid-session.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MEMORY (#) — teach it once (~1.5 min).</a:t>
            </a:r>
          </a:p>
          <a:p>
            <a:endParaRPr/>
          </a:p>
          <a:p>
            <a:r>
              <a:t>Practical companion to the last slide. The move: type `#` at the start of a line and Claude tucks that fact into a memory file it reloads next time.</a:t>
            </a:r>
          </a:p>
          <a:p>
            <a:endParaRPr/>
          </a:p>
          <a:p>
            <a:r>
              <a:t>When to use it: you catch yourself re-explaining a rule; you make a decision worth keeping; you want control over what's remembered.</a:t>
            </a:r>
          </a:p>
          <a:p>
            <a:endParaRPr/>
          </a:p>
          <a:p>
            <a:r>
              <a:t>Three save locations — worth naming clearly:</a:t>
            </a:r>
          </a:p>
          <a:p>
            <a:r>
              <a:t>• Project (./CLAUDE.md) — shared with the team via git.</a:t>
            </a:r>
          </a:p>
          <a:p>
            <a:r>
              <a:t>• User (~/.claude) — applies across all YOUR projects.</a:t>
            </a:r>
          </a:p>
          <a:p>
            <a:r>
              <a:t>• Local — just this machine, not committed.</a:t>
            </a:r>
          </a:p>
          <a:p>
            <a:endParaRPr/>
          </a:p>
          <a:p>
            <a:r>
              <a:t>👉 Point at the demo: "# always run prettier before commit" → saved to project memory. Then `/memory` lets you view/edit the files.</a:t>
            </a:r>
          </a:p>
          <a:p>
            <a:endParaRPr/>
          </a:p>
          <a:p>
            <a:r>
              <a:t>Takeaway line on screen: "Next session, Claude just knows."</a:t>
            </a:r>
          </a:p>
          <a:p>
            <a:endParaRPr/>
          </a:p>
          <a:p>
            <a:r>
              <a:t>→ Next: how Claude actually does things —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TOOLS — how Claude acts (~1.5 min).</a:t>
            </a:r>
          </a:p>
          <a:p>
            <a:endParaRPr/>
          </a:p>
          <a:p>
            <a:r>
              <a:t>Big idea: "Every action Claude takes goes through a tool." Some are built in; others plug in via MCP (next slide).</a:t>
            </a:r>
          </a:p>
          <a:p>
            <a:endParaRPr/>
          </a:p>
          <a:p>
            <a:r>
              <a:t>Two buckets:</a:t>
            </a:r>
          </a:p>
          <a:p>
            <a:r>
              <a:t>• Built-in — "hands on your computer": read/edit files, run commands &amp; tests &amp; git, search the codebase.</a:t>
            </a:r>
          </a:p>
          <a:p>
            <a:r>
              <a:t>• MCP — "hands on everything else": GitHub, databases, Slack, browsers.</a:t>
            </a:r>
          </a:p>
          <a:p>
            <a:endParaRPr/>
          </a:p>
          <a:p>
            <a:r>
              <a:t>👉 THE MOST IMPORTANT PART is the permission flow at the bottom: (1) Claude proposes → (2) you approve (once, or allowlist) → (3) it runs &amp; reports. Emphasize the safety line: "nothing runs until you say yes." Parents/teachers in the room care about this — say it clearly.</a:t>
            </a:r>
          </a:p>
          <a:p>
            <a:endParaRPr/>
          </a:p>
          <a:p>
            <a:r>
              <a:t>→ Next: a closer look at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MCP CONNECTORS — plug into real tools (~1.5 min).</a:t>
            </a:r>
          </a:p>
          <a:p>
            <a:endParaRPr/>
          </a:p>
          <a:p>
            <a:r>
              <a:t>Define it plainly: "MCP is an open standard that lets Claude read and act on outside systems — not just your files."</a:t>
            </a:r>
          </a:p>
          <a:p>
            <a:endParaRPr/>
          </a:p>
          <a:p>
            <a:r>
              <a:t>What you can connect: GitHub (read issues, open/review PRs), databases (query real data safely), plus Slack, browsers, APIs.</a:t>
            </a:r>
          </a:p>
          <a:p>
            <a:r>
              <a:t>How: `claude mcp add &lt;name&gt;` to connect, `claude mcp list` to see what's wired up, then just ask.</a:t>
            </a:r>
          </a:p>
          <a:p>
            <a:endParaRPr/>
          </a:p>
          <a:p>
            <a:r>
              <a:t>👉 Point at the demo: connect GitHub → "12 tools" → ask "list my open PRs" → it fetches them → "review #47" → posts 3 comments. That's Claude acting on a real project, not guessing.</a:t>
            </a:r>
          </a:p>
          <a:p>
            <a:endParaRPr/>
          </a:p>
          <a:p>
            <a:r>
              <a:t>Tip: share servers with your team via a `.mcp.json` in the repo.</a:t>
            </a:r>
          </a:p>
          <a:p>
            <a:endParaRPr/>
          </a:p>
          <a:p>
            <a:r>
              <a:t>Audience note: this is advanced/aspirational for most high schoolers — keep it light and exciting rather than detailed.</a:t>
            </a:r>
          </a:p>
          <a:p>
            <a:endParaRPr/>
          </a:p>
          <a:p>
            <a:r>
              <a:t>→ Next: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 — reusable playbooks (~1.5 min).</a:t>
            </a:r>
          </a:p>
          <a:p>
            <a:endParaRPr/>
          </a:p>
          <a:p>
            <a:r>
              <a:t>Definition: "A skill is a small folder of instructions (a SKILL.md) that teaches Claude one job — loaded whenever it's needed."</a:t>
            </a:r>
          </a:p>
          <a:p>
            <a:endParaRPr/>
          </a:p>
          <a:p>
            <a:r>
              <a:t>This slide is relatable for students because the examples are school-flavored:</a:t>
            </a:r>
          </a:p>
          <a:p>
            <a:r>
              <a:t>• /lab-report — writes up lab reports in your teacher's exact format.</a:t>
            </a:r>
          </a:p>
          <a:p>
            <a:r>
              <a:t>• /flashcards — turns notes into study cards before a test.</a:t>
            </a:r>
          </a:p>
          <a:p>
            <a:r>
              <a:t>• /review — checks code against your team's style rules.</a:t>
            </a:r>
          </a:p>
          <a:p>
            <a:r>
              <a:t>• /ship — runs release steps in order.</a:t>
            </a:r>
          </a:p>
          <a:p>
            <a:endParaRPr/>
          </a:p>
          <a:p>
            <a:r>
              <a:t>👉 Point at the first two (/lab-report, /flashcards) — those are the ones a high schooler would actually use tomorrow. Emphasize "same way, every time."</a:t>
            </a:r>
          </a:p>
          <a:p>
            <a:endParaRPr/>
          </a:p>
          <a:p>
            <a:r>
              <a:t>Distinguish from workflows if asked: a skill is a taught capability with instructions; a workflow is a saved sequence of steps. Both are reusable.</a:t>
            </a:r>
          </a:p>
          <a:p>
            <a:endParaRPr/>
          </a:p>
          <a:p>
            <a:r>
              <a:t>→ Next: how to try it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TO TRY IT — the call to action (~1.5 min, close strong).</a:t>
            </a:r>
          </a:p>
          <a:p>
            <a:endParaRPr dirty="0"/>
          </a:p>
          <a:p>
            <a:r>
              <a:rPr dirty="0"/>
              <a:t>This is where they leave motivated. Walk the three steps:</a:t>
            </a:r>
          </a:p>
          <a:p>
            <a:r>
              <a:rPr dirty="0"/>
              <a:t>• 01 Get set up — "Have a parent or teacher help you install from </a:t>
            </a:r>
            <a:r>
              <a:rPr dirty="0" err="1"/>
              <a:t>claude.ai</a:t>
            </a:r>
            <a:r>
              <a:rPr dirty="0"/>
              <a:t>/code." Say this out loud — setup needs an adult, and that's fine.</a:t>
            </a:r>
          </a:p>
          <a:p>
            <a:r>
              <a:rPr dirty="0"/>
              <a:t>• 02 Open the terminal — type `</a:t>
            </a:r>
            <a:r>
              <a:rPr dirty="0" err="1"/>
              <a:t>claude</a:t>
            </a:r>
            <a:r>
              <a:rPr dirty="0"/>
              <a:t>`, press Enter.</a:t>
            </a:r>
          </a:p>
          <a:p>
            <a:r>
              <a:rPr dirty="0"/>
              <a:t>• 03 Describe your idea — plain English, then watch it work.</a:t>
            </a:r>
          </a:p>
          <a:p>
            <a:endParaRPr dirty="0"/>
          </a:p>
          <a:p>
            <a:r>
              <a:rPr dirty="0"/>
              <a:t>👉 Point at the demo: "make a snake game in python" → created → "now let me play it" → running. That's the entire first experience — one sentence to a working game.</a:t>
            </a:r>
          </a:p>
          <a:p>
            <a:endParaRPr dirty="0"/>
          </a:p>
          <a:p>
            <a:r>
              <a:rPr dirty="0"/>
              <a:t>Closing line on screen — deliver it as your mic-drop: "Start small, stay curious — your first program is one sentence away."</a:t>
            </a:r>
          </a:p>
          <a:p>
            <a:endParaRPr dirty="0"/>
          </a:p>
          <a:p>
            <a:r>
              <a:rPr dirty="0"/>
              <a:t>Wrap-up: thank them, invite questions, and if relevant mention the summer program / how to follow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C9649B-ACF1-1F4F-9602-F84425776657}"/>
              </a:ext>
            </a:extLst>
          </p:cNvPr>
          <p:cNvSpPr/>
          <p:nvPr/>
        </p:nvSpPr>
        <p:spPr>
          <a:xfrm>
            <a:off x="0" y="62592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345930-641E-F74F-9E17-C6DA08E3D6C2}"/>
              </a:ext>
            </a:extLst>
          </p:cNvPr>
          <p:cNvSpPr/>
          <p:nvPr/>
        </p:nvSpPr>
        <p:spPr>
          <a:xfrm>
            <a:off x="1651000" y="1016000"/>
            <a:ext cx="8890000" cy="48260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269A42-E5C6-2E4A-8B7E-9E62964E3EAF}"/>
              </a:ext>
            </a:extLst>
          </p:cNvPr>
          <p:cNvSpPr/>
          <p:nvPr/>
        </p:nvSpPr>
        <p:spPr>
          <a:xfrm>
            <a:off x="1981200" y="1295400"/>
            <a:ext cx="165100" cy="1651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6B6864-BC55-E945-94F8-F05B0DBBE743}"/>
              </a:ext>
            </a:extLst>
          </p:cNvPr>
          <p:cNvSpPr/>
          <p:nvPr/>
        </p:nvSpPr>
        <p:spPr>
          <a:xfrm>
            <a:off x="2286000" y="1295400"/>
            <a:ext cx="165100" cy="1651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0169CD-1357-114A-8ED2-526E29BB6C2F}"/>
              </a:ext>
            </a:extLst>
          </p:cNvPr>
          <p:cNvSpPr/>
          <p:nvPr/>
        </p:nvSpPr>
        <p:spPr>
          <a:xfrm>
            <a:off x="2590800" y="1295400"/>
            <a:ext cx="165100" cy="1651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816C9C-C683-C74C-BF2B-2A2E8D92F5BA}"/>
              </a:ext>
            </a:extLst>
          </p:cNvPr>
          <p:cNvSpPr txBox="1"/>
          <p:nvPr/>
        </p:nvSpPr>
        <p:spPr>
          <a:xfrm>
            <a:off x="2108200" y="1905000"/>
            <a:ext cx="787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DC099-0770-5147-8C1D-DB698338C397}"/>
              </a:ext>
            </a:extLst>
          </p:cNvPr>
          <p:cNvSpPr txBox="1"/>
          <p:nvPr/>
        </p:nvSpPr>
        <p:spPr>
          <a:xfrm>
            <a:off x="2082800" y="2489200"/>
            <a:ext cx="8128000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</a:rPr>
              <a:t>Claude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B3960-E269-2846-B85B-A654CA36CC32}"/>
              </a:ext>
            </a:extLst>
          </p:cNvPr>
          <p:cNvSpPr/>
          <p:nvPr/>
        </p:nvSpPr>
        <p:spPr>
          <a:xfrm>
            <a:off x="2159000" y="3708400"/>
            <a:ext cx="2159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1D09E-E74B-AF40-B4DD-234691810598}"/>
              </a:ext>
            </a:extLst>
          </p:cNvPr>
          <p:cNvSpPr txBox="1"/>
          <p:nvPr/>
        </p:nvSpPr>
        <p:spPr>
          <a:xfrm>
            <a:off x="2108200" y="3962400"/>
            <a:ext cx="7874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>
                <a:solidFill>
                  <a:srgbClr val="C9CDD3"/>
                </a:solidFill>
              </a:rPr>
              <a:t>An AI that codes with you — right in your terminal.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7C5D3-9771-E549-A79C-7C24DA4234BA}"/>
              </a:ext>
            </a:extLst>
          </p:cNvPr>
          <p:cNvSpPr txBox="1"/>
          <p:nvPr/>
        </p:nvSpPr>
        <p:spPr>
          <a:xfrm>
            <a:off x="2108200" y="5029200"/>
            <a:ext cx="787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8B949E"/>
                </a:solidFill>
                <a:latin typeface="Consolas"/>
                <a:cs typeface="Consolas"/>
              </a:rPr>
              <a:t>// An intro for high school students</a:t>
            </a:r>
          </a:p>
        </p:txBody>
      </p:sp>
    </p:spTree>
    <p:extLst>
      <p:ext uri="{BB962C8B-B14F-4D97-AF65-F5344CB8AC3E}">
        <p14:creationId xmlns:p14="http://schemas.microsoft.com/office/powerpoint/2010/main" val="341811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F69BF-0325-D84C-ACF5-6B20A9E774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64E9D-97E2-AA46-945E-0389E3D58814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what is claude code?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EABCC-E2DF-CD47-84DA-3684924F0EE1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What is Claude Code?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3341B-99A1-3745-A5B6-A58EC2A1E166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A12DE-8676-A44C-AAC2-4BE9476F0499}"/>
              </a:ext>
            </a:extLst>
          </p:cNvPr>
          <p:cNvSpPr txBox="1"/>
          <p:nvPr/>
        </p:nvSpPr>
        <p:spPr>
          <a:xfrm>
            <a:off x="812800" y="2057400"/>
            <a:ext cx="10566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>
                <a:solidFill>
                  <a:srgbClr val="C9CDD3"/>
                </a:solidFill>
              </a:rPr>
              <a:t>Think of it as a coding partner you talk to in plain English. You describe what you want, and Claude Code writes, fixes, and explains the code for you.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50DB8B-B741-0E45-B888-0BF427F28759}"/>
              </a:ext>
            </a:extLst>
          </p:cNvPr>
          <p:cNvSpPr/>
          <p:nvPr/>
        </p:nvSpPr>
        <p:spPr>
          <a:xfrm>
            <a:off x="812800" y="3124200"/>
            <a:ext cx="3352800" cy="2667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754F6-F574-3046-927A-B079F25E283D}"/>
              </a:ext>
            </a:extLst>
          </p:cNvPr>
          <p:cNvSpPr txBox="1"/>
          <p:nvPr/>
        </p:nvSpPr>
        <p:spPr>
          <a:xfrm>
            <a:off x="1066800" y="3378200"/>
            <a:ext cx="76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4C371-72BE-DB48-9E04-1CE7C4DDE668}"/>
              </a:ext>
            </a:extLst>
          </p:cNvPr>
          <p:cNvSpPr txBox="1"/>
          <p:nvPr/>
        </p:nvSpPr>
        <p:spPr>
          <a:xfrm>
            <a:off x="1066800" y="3937000"/>
            <a:ext cx="284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Talk, don't memorize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58E4E-35D9-AD45-B930-2507149F1EE5}"/>
              </a:ext>
            </a:extLst>
          </p:cNvPr>
          <p:cNvSpPr txBox="1"/>
          <p:nvPr/>
        </p:nvSpPr>
        <p:spPr>
          <a:xfrm>
            <a:off x="1066800" y="4394200"/>
            <a:ext cx="28448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No need to memorize commands. Just ask for what you want in everyday words.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37EED-AB3D-6C40-89D8-A99A9222D652}"/>
              </a:ext>
            </a:extLst>
          </p:cNvPr>
          <p:cNvSpPr/>
          <p:nvPr/>
        </p:nvSpPr>
        <p:spPr>
          <a:xfrm>
            <a:off x="4419600" y="3124200"/>
            <a:ext cx="3352800" cy="2667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4F02A-9AD1-D446-966E-7956C3868641}"/>
              </a:ext>
            </a:extLst>
          </p:cNvPr>
          <p:cNvSpPr txBox="1"/>
          <p:nvPr/>
        </p:nvSpPr>
        <p:spPr>
          <a:xfrm>
            <a:off x="4673600" y="3378200"/>
            <a:ext cx="76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500F6-9576-674C-BA8A-7BBC1DA8FB1C}"/>
              </a:ext>
            </a:extLst>
          </p:cNvPr>
          <p:cNvSpPr txBox="1"/>
          <p:nvPr/>
        </p:nvSpPr>
        <p:spPr>
          <a:xfrm>
            <a:off x="4673600" y="3937000"/>
            <a:ext cx="284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It does the 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2F36EF-6063-514C-A0D6-FA1CF31179A0}"/>
              </a:ext>
            </a:extLst>
          </p:cNvPr>
          <p:cNvSpPr txBox="1"/>
          <p:nvPr/>
        </p:nvSpPr>
        <p:spPr>
          <a:xfrm>
            <a:off x="4673600" y="4394200"/>
            <a:ext cx="28448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Reads your files, writes real code, runs it, and fixes its own mistakes.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D89161C-590F-F34C-BC75-45D5EDE19169}"/>
              </a:ext>
            </a:extLst>
          </p:cNvPr>
          <p:cNvSpPr/>
          <p:nvPr/>
        </p:nvSpPr>
        <p:spPr>
          <a:xfrm>
            <a:off x="8026400" y="3124200"/>
            <a:ext cx="3352800" cy="2667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A20C2-4B5A-AD42-8879-ACB87B1B8200}"/>
              </a:ext>
            </a:extLst>
          </p:cNvPr>
          <p:cNvSpPr txBox="1"/>
          <p:nvPr/>
        </p:nvSpPr>
        <p:spPr>
          <a:xfrm>
            <a:off x="8280400" y="3378200"/>
            <a:ext cx="76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BBE2FB-607D-C247-93F6-0652524E90FA}"/>
              </a:ext>
            </a:extLst>
          </p:cNvPr>
          <p:cNvSpPr txBox="1"/>
          <p:nvPr/>
        </p:nvSpPr>
        <p:spPr>
          <a:xfrm>
            <a:off x="8280400" y="3937000"/>
            <a:ext cx="2844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Learns with you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70E156-77EC-3243-B811-5B427410C56F}"/>
              </a:ext>
            </a:extLst>
          </p:cNvPr>
          <p:cNvSpPr txBox="1"/>
          <p:nvPr/>
        </p:nvSpPr>
        <p:spPr>
          <a:xfrm>
            <a:off x="8280400" y="4394200"/>
            <a:ext cx="28448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Explains every step, so you actually understand what the code is doing.</a:t>
            </a:r>
          </a:p>
        </p:txBody>
      </p:sp>
    </p:spTree>
    <p:extLst>
      <p:ext uri="{BB962C8B-B14F-4D97-AF65-F5344CB8AC3E}">
        <p14:creationId xmlns:p14="http://schemas.microsoft.com/office/powerpoint/2010/main" val="47224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F4C9E7-91EF-4241-83CA-E67131E4A1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845F0-AFF5-6F4D-BE7A-635F52899A5F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 --build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69618-1959-8345-A672-7F40CFCAE686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What you can make with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52D34-3B9E-B449-88F3-0E3B570A935F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E78BC-1148-1149-BAB5-F7AD18BD46D3}"/>
              </a:ext>
            </a:extLst>
          </p:cNvPr>
          <p:cNvSpPr txBox="1"/>
          <p:nvPr/>
        </p:nvSpPr>
        <p:spPr>
          <a:xfrm>
            <a:off x="812800" y="2032000"/>
            <a:ext cx="1056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C9CDD3"/>
                </a:solidFill>
              </a:rPr>
              <a:t>No experience needed — describe an idea and start building today.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F9660E-E3EB-B145-A8CC-DDDCAD36BB5E}"/>
              </a:ext>
            </a:extLst>
          </p:cNvPr>
          <p:cNvSpPr/>
          <p:nvPr/>
        </p:nvSpPr>
        <p:spPr>
          <a:xfrm>
            <a:off x="812800" y="2667000"/>
            <a:ext cx="2590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4976B4-7767-4A4A-9263-468528D1DBDB}"/>
              </a:ext>
            </a:extLst>
          </p:cNvPr>
          <p:cNvSpPr/>
          <p:nvPr/>
        </p:nvSpPr>
        <p:spPr>
          <a:xfrm>
            <a:off x="1676400" y="2997200"/>
            <a:ext cx="863600" cy="863600"/>
          </a:xfrm>
          <a:prstGeom prst="ellipse">
            <a:avLst/>
          </a:prstGeom>
          <a:solidFill>
            <a:srgbClr val="2E2E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D897B-9CE1-D040-AFF6-F9574BF88E6D}"/>
              </a:ext>
            </a:extLst>
          </p:cNvPr>
          <p:cNvSpPr txBox="1"/>
          <p:nvPr/>
        </p:nvSpPr>
        <p:spPr>
          <a:xfrm>
            <a:off x="990600" y="40386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Websites &amp; apps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F1CD00-3176-B449-A3DE-5D0AD9E23C87}"/>
              </a:ext>
            </a:extLst>
          </p:cNvPr>
          <p:cNvSpPr txBox="1"/>
          <p:nvPr/>
        </p:nvSpPr>
        <p:spPr>
          <a:xfrm>
            <a:off x="1016000" y="44704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Build a personal site or a small app for a club or project.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4614A93-4E68-1649-8FFB-64E1C54547FB}"/>
              </a:ext>
            </a:extLst>
          </p:cNvPr>
          <p:cNvSpPr/>
          <p:nvPr/>
        </p:nvSpPr>
        <p:spPr>
          <a:xfrm>
            <a:off x="3606800" y="2667000"/>
            <a:ext cx="2590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CAC045-4DB4-3445-9D30-A4CB32D04176}"/>
              </a:ext>
            </a:extLst>
          </p:cNvPr>
          <p:cNvSpPr/>
          <p:nvPr/>
        </p:nvSpPr>
        <p:spPr>
          <a:xfrm>
            <a:off x="4470400" y="2997200"/>
            <a:ext cx="863600" cy="863600"/>
          </a:xfrm>
          <a:prstGeom prst="ellipse">
            <a:avLst/>
          </a:prstGeom>
          <a:solidFill>
            <a:srgbClr val="2E2E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42314-692C-EC46-BEC3-88A8100E1E68}"/>
              </a:ext>
            </a:extLst>
          </p:cNvPr>
          <p:cNvSpPr txBox="1"/>
          <p:nvPr/>
        </p:nvSpPr>
        <p:spPr>
          <a:xfrm>
            <a:off x="3784600" y="40386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Games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95771B-CC1E-8541-B22C-7841D5D8B686}"/>
              </a:ext>
            </a:extLst>
          </p:cNvPr>
          <p:cNvSpPr txBox="1"/>
          <p:nvPr/>
        </p:nvSpPr>
        <p:spPr>
          <a:xfrm>
            <a:off x="3810000" y="44704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Code your own game — from a maze to an arcade classic.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39FBA7B-0D47-FE42-BC7E-0B21672AB5E8}"/>
              </a:ext>
            </a:extLst>
          </p:cNvPr>
          <p:cNvSpPr/>
          <p:nvPr/>
        </p:nvSpPr>
        <p:spPr>
          <a:xfrm>
            <a:off x="6400800" y="2667000"/>
            <a:ext cx="2590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3B572B-C544-7641-B250-B40A0BD7E212}"/>
              </a:ext>
            </a:extLst>
          </p:cNvPr>
          <p:cNvSpPr/>
          <p:nvPr/>
        </p:nvSpPr>
        <p:spPr>
          <a:xfrm>
            <a:off x="7264400" y="2997200"/>
            <a:ext cx="863600" cy="863600"/>
          </a:xfrm>
          <a:prstGeom prst="ellipse">
            <a:avLst/>
          </a:prstGeom>
          <a:solidFill>
            <a:srgbClr val="2E2E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C1D95-C6E1-7F4B-A258-4DD3DBE11FD9}"/>
              </a:ext>
            </a:extLst>
          </p:cNvPr>
          <p:cNvSpPr txBox="1"/>
          <p:nvPr/>
        </p:nvSpPr>
        <p:spPr>
          <a:xfrm>
            <a:off x="6578600" y="40386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Automations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3B5B62-DD25-8F42-8EAB-4683C6DD8CD5}"/>
              </a:ext>
            </a:extLst>
          </p:cNvPr>
          <p:cNvSpPr txBox="1"/>
          <p:nvPr/>
        </p:nvSpPr>
        <p:spPr>
          <a:xfrm>
            <a:off x="6604000" y="44704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Write scripts that do boring, repetitive tasks for you.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7269403-908D-EB4F-8AE0-1670826E8045}"/>
              </a:ext>
            </a:extLst>
          </p:cNvPr>
          <p:cNvSpPr/>
          <p:nvPr/>
        </p:nvSpPr>
        <p:spPr>
          <a:xfrm>
            <a:off x="9194800" y="2667000"/>
            <a:ext cx="2590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625C24-2D2F-2F4F-A924-415154890674}"/>
              </a:ext>
            </a:extLst>
          </p:cNvPr>
          <p:cNvSpPr/>
          <p:nvPr/>
        </p:nvSpPr>
        <p:spPr>
          <a:xfrm>
            <a:off x="10058400" y="2997200"/>
            <a:ext cx="863600" cy="863600"/>
          </a:xfrm>
          <a:prstGeom prst="ellipse">
            <a:avLst/>
          </a:prstGeom>
          <a:solidFill>
            <a:srgbClr val="2E2E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706775-5290-874D-9E79-AE98161CBEA2}"/>
              </a:ext>
            </a:extLst>
          </p:cNvPr>
          <p:cNvSpPr txBox="1"/>
          <p:nvPr/>
        </p:nvSpPr>
        <p:spPr>
          <a:xfrm>
            <a:off x="9372600" y="403860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Data &amp; science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60AB39-B147-5D4A-B2CD-8EC410227D34}"/>
              </a:ext>
            </a:extLst>
          </p:cNvPr>
          <p:cNvSpPr txBox="1"/>
          <p:nvPr/>
        </p:nvSpPr>
        <p:spPr>
          <a:xfrm>
            <a:off x="9398000" y="4470400"/>
            <a:ext cx="2184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Crunch numbers and make charts for a science-fair project.</a:t>
            </a:r>
          </a:p>
        </p:txBody>
      </p:sp>
      <p:pic>
        <p:nvPicPr>
          <p:cNvPr id="23" name="Graphic 23" descr="Websites and app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3149600"/>
            <a:ext cx="558800" cy="558800"/>
          </a:xfrm>
          <a:prstGeom prst="rect">
            <a:avLst/>
          </a:prstGeom>
        </p:spPr>
      </p:pic>
      <p:pic>
        <p:nvPicPr>
          <p:cNvPr id="24" name="Graphic 24" descr="Gam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3149600"/>
            <a:ext cx="558800" cy="558800"/>
          </a:xfrm>
          <a:prstGeom prst="rect">
            <a:avLst/>
          </a:prstGeom>
        </p:spPr>
      </p:pic>
      <p:pic>
        <p:nvPicPr>
          <p:cNvPr id="25" name="Graphic 25" descr="Autom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6800" y="3149600"/>
            <a:ext cx="558800" cy="558800"/>
          </a:xfrm>
          <a:prstGeom prst="rect">
            <a:avLst/>
          </a:prstGeom>
        </p:spPr>
      </p:pic>
      <p:pic>
        <p:nvPicPr>
          <p:cNvPr id="26" name="Graphic 26" descr="Data and sci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10800" y="31496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5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B08DD7-BC81-D94C-98C1-8064E12A00E7}"/>
              </a:ext>
            </a:extLst>
          </p:cNvPr>
          <p:cNvSpPr/>
          <p:nvPr/>
        </p:nvSpPr>
        <p:spPr>
          <a:xfrm>
            <a:off x="0" y="24320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B3F62-A184-4B4B-A43F-8F0BDFB6CD56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 --help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D16D4-D138-0341-B059-A4DBA08593A3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Handy commands to know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7047A0-17EB-F845-BFA8-A5B65A917577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5DB856-607D-004E-9967-095A624ECEEE}"/>
              </a:ext>
            </a:extLst>
          </p:cNvPr>
          <p:cNvSpPr txBox="1"/>
          <p:nvPr/>
        </p:nvSpPr>
        <p:spPr>
          <a:xfrm>
            <a:off x="812800" y="2032000"/>
            <a:ext cx="1056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C9CDD3"/>
                </a:solidFill>
              </a:rPr>
              <a:t>Type a “slash command” to get more out of Claude Code — just start with a / and pick one.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872B0D-D8F5-0A47-9248-77394B370B3A}"/>
              </a:ext>
            </a:extLst>
          </p:cNvPr>
          <p:cNvSpPr/>
          <p:nvPr/>
        </p:nvSpPr>
        <p:spPr>
          <a:xfrm>
            <a:off x="812800" y="2565400"/>
            <a:ext cx="3352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724E5-136E-4D4D-B315-C1DC201E1223}"/>
              </a:ext>
            </a:extLst>
          </p:cNvPr>
          <p:cNvSpPr txBox="1"/>
          <p:nvPr/>
        </p:nvSpPr>
        <p:spPr>
          <a:xfrm>
            <a:off x="1066800" y="2819400"/>
            <a:ext cx="284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/plan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A8D246-1407-3540-8249-A26285822185}"/>
              </a:ext>
            </a:extLst>
          </p:cNvPr>
          <p:cNvSpPr txBox="1"/>
          <p:nvPr/>
        </p:nvSpPr>
        <p:spPr>
          <a:xfrm>
            <a:off x="1066800" y="3276600"/>
            <a:ext cx="284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See the roadmap first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8DADD-E256-514E-BD58-325C3DE6E803}"/>
              </a:ext>
            </a:extLst>
          </p:cNvPr>
          <p:cNvSpPr txBox="1"/>
          <p:nvPr/>
        </p:nvSpPr>
        <p:spPr>
          <a:xfrm>
            <a:off x="1066800" y="3683000"/>
            <a:ext cx="28448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Claude breaks a big task into clear, numbered steps before writing any code — so you always know what’s coming next.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0F633C-55C0-BF48-A2AA-D7630B8ABA95}"/>
              </a:ext>
            </a:extLst>
          </p:cNvPr>
          <p:cNvSpPr/>
          <p:nvPr/>
        </p:nvSpPr>
        <p:spPr>
          <a:xfrm>
            <a:off x="1016000" y="5257800"/>
            <a:ext cx="2946400" cy="5080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B188E3-10B4-4240-B0AC-D5D3BDA71F0C}"/>
              </a:ext>
            </a:extLst>
          </p:cNvPr>
          <p:cNvSpPr txBox="1"/>
          <p:nvPr/>
        </p:nvSpPr>
        <p:spPr>
          <a:xfrm>
            <a:off x="1143000" y="5359400"/>
            <a:ext cx="2692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r>
              <a:rPr lang="en-US" sz="1300" dirty="0">
                <a:solidFill>
                  <a:srgbClr val="7EE787"/>
                </a:solidFill>
                <a:latin typeface="Consolas"/>
                <a:cs typeface="Consolas"/>
              </a:rPr>
              <a:t>Try:  /plan a car race game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588322C-BDF9-2E44-9F04-3AD2DD0AD4EF}"/>
              </a:ext>
            </a:extLst>
          </p:cNvPr>
          <p:cNvSpPr/>
          <p:nvPr/>
        </p:nvSpPr>
        <p:spPr>
          <a:xfrm>
            <a:off x="4622800" y="5257800"/>
            <a:ext cx="2946400" cy="5080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0373F23-973F-B042-BC49-E483D8121644}"/>
              </a:ext>
            </a:extLst>
          </p:cNvPr>
          <p:cNvSpPr/>
          <p:nvPr/>
        </p:nvSpPr>
        <p:spPr>
          <a:xfrm>
            <a:off x="8026400" y="2565400"/>
            <a:ext cx="3352800" cy="3403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EABBEE-261C-874F-8159-CF85470C85F7}"/>
              </a:ext>
            </a:extLst>
          </p:cNvPr>
          <p:cNvSpPr txBox="1"/>
          <p:nvPr/>
        </p:nvSpPr>
        <p:spPr>
          <a:xfrm>
            <a:off x="8280400" y="2819400"/>
            <a:ext cx="284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D97757"/>
                </a:solidFill>
                <a:latin typeface="Consolas"/>
                <a:cs typeface="Consolas"/>
              </a:rPr>
              <a:t>/loop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DDEFAA-C008-1443-B56F-597B5FBBE76A}"/>
              </a:ext>
            </a:extLst>
          </p:cNvPr>
          <p:cNvSpPr txBox="1"/>
          <p:nvPr/>
        </p:nvSpPr>
        <p:spPr>
          <a:xfrm>
            <a:off x="8280400" y="3276600"/>
            <a:ext cx="284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Improve until it’s right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E76D31-0ECB-C046-9B6E-0C5B4E7FA197}"/>
              </a:ext>
            </a:extLst>
          </p:cNvPr>
          <p:cNvSpPr txBox="1"/>
          <p:nvPr/>
        </p:nvSpPr>
        <p:spPr>
          <a:xfrm>
            <a:off x="8280400" y="3683000"/>
            <a:ext cx="28448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Claude keeps repeating a task — checking and fixing its own work each round — until the goal is met.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B46E26D-01EB-B84A-A46F-C4162684C43F}"/>
              </a:ext>
            </a:extLst>
          </p:cNvPr>
          <p:cNvSpPr/>
          <p:nvPr/>
        </p:nvSpPr>
        <p:spPr>
          <a:xfrm>
            <a:off x="8229600" y="5257800"/>
            <a:ext cx="2946400" cy="5080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1A5CDF-3291-B84A-BB77-B4EDEE8C3DB8}"/>
              </a:ext>
            </a:extLst>
          </p:cNvPr>
          <p:cNvSpPr txBox="1"/>
          <p:nvPr/>
        </p:nvSpPr>
        <p:spPr>
          <a:xfrm>
            <a:off x="8356600" y="5359400"/>
            <a:ext cx="2692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r>
              <a:rPr lang="en-US" sz="1300" dirty="0">
                <a:solidFill>
                  <a:srgbClr val="7EE787"/>
                </a:solidFill>
                <a:latin typeface="Consolas"/>
                <a:cs typeface="Consolas"/>
              </a:rPr>
              <a:t>Try:  /loop until it races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E42BDC-8212-3A40-899E-67E221C8D98A}"/>
              </a:ext>
            </a:extLst>
          </p:cNvPr>
          <p:cNvSpPr txBox="1"/>
          <p:nvPr/>
        </p:nvSpPr>
        <p:spPr>
          <a:xfrm>
            <a:off x="812800" y="6273800"/>
            <a:ext cx="10566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8B949E"/>
                </a:solidFill>
                <a:latin typeface="Consolas"/>
                <a:cs typeface="Consolas"/>
              </a:rPr>
              <a:t>// One project, all three: plan the game, automate the tests, loop until it wins.</a:t>
            </a:r>
          </a:p>
        </p:txBody>
      </p:sp>
    </p:spTree>
    <p:extLst>
      <p:ext uri="{BB962C8B-B14F-4D97-AF65-F5344CB8AC3E}">
        <p14:creationId xmlns:p14="http://schemas.microsoft.com/office/powerpoint/2010/main" val="420793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00266-6D54-5E48-9589-CBCB1441D9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FA47B-4465-1647-9985-D652A9229758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6DC52-E6BB-9B4E-9722-A1FB73115988}"/>
              </a:ext>
            </a:extLst>
          </p:cNvPr>
          <p:cNvSpPr txBox="1"/>
          <p:nvPr/>
        </p:nvSpPr>
        <p:spPr>
          <a:xfrm>
            <a:off x="812800" y="939800"/>
            <a:ext cx="1981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F45A7-85CD-B143-902E-125CCACE087F}"/>
              </a:ext>
            </a:extLst>
          </p:cNvPr>
          <p:cNvSpPr txBox="1"/>
          <p:nvPr/>
        </p:nvSpPr>
        <p:spPr>
          <a:xfrm>
            <a:off x="28448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See the roadmap first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1A96CF-8B2E-8343-AC22-C6600FF5C73D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FC53F-C9D6-A142-8F0D-6A493171DDCB}"/>
              </a:ext>
            </a:extLst>
          </p:cNvPr>
          <p:cNvSpPr txBox="1"/>
          <p:nvPr/>
        </p:nvSpPr>
        <p:spPr>
          <a:xfrm>
            <a:off x="812800" y="21082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WHEN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BEAFF0-3663-5044-B68A-7889C67FB953}"/>
              </a:ext>
            </a:extLst>
          </p:cNvPr>
          <p:cNvSpPr txBox="1"/>
          <p:nvPr/>
        </p:nvSpPr>
        <p:spPr>
          <a:xfrm>
            <a:off x="812800" y="2438400"/>
            <a:ext cx="49530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Before starting anything big or unfamiliar
▸  When you’re not sure where to begin
▸  To sanity-check the approach before any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F4C29-4793-6948-B8EA-37B8D3EC14EB}"/>
              </a:ext>
            </a:extLst>
          </p:cNvPr>
          <p:cNvSpPr txBox="1"/>
          <p:nvPr/>
        </p:nvSpPr>
        <p:spPr>
          <a:xfrm>
            <a:off x="812800" y="37846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HOW TO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393C9-B355-8347-96CC-9F39215D6F06}"/>
              </a:ext>
            </a:extLst>
          </p:cNvPr>
          <p:cNvSpPr txBox="1"/>
          <p:nvPr/>
        </p:nvSpPr>
        <p:spPr>
          <a:xfrm>
            <a:off x="812800" y="4114800"/>
            <a:ext cx="4953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Type  /plan  followed by your goal
▸  Read the steps, then say “go” to build them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6BBC8AB-25DA-AC44-BD99-843D20F942D1}"/>
              </a:ext>
            </a:extLst>
          </p:cNvPr>
          <p:cNvSpPr/>
          <p:nvPr/>
        </p:nvSpPr>
        <p:spPr>
          <a:xfrm>
            <a:off x="812800" y="5207000"/>
            <a:ext cx="4953000" cy="736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9D37E-1F09-6143-9F2F-1357F5A85CC7}"/>
              </a:ext>
            </a:extLst>
          </p:cNvPr>
          <p:cNvSpPr txBox="1"/>
          <p:nvPr/>
        </p:nvSpPr>
        <p:spPr>
          <a:xfrm>
            <a:off x="1016000" y="53594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0A88F"/>
                </a:solidFill>
              </a:rPr>
              <a:t>In short: look before you leap — get the map, then travel.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0BC4DF1-02A9-C046-900E-0F5624C6F694}"/>
              </a:ext>
            </a:extLst>
          </p:cNvPr>
          <p:cNvSpPr/>
          <p:nvPr/>
        </p:nvSpPr>
        <p:spPr>
          <a:xfrm>
            <a:off x="6172200" y="2082800"/>
            <a:ext cx="5207000" cy="38100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2A6057-C215-C44F-A0B9-CA3052E08147}"/>
              </a:ext>
            </a:extLst>
          </p:cNvPr>
          <p:cNvSpPr/>
          <p:nvPr/>
        </p:nvSpPr>
        <p:spPr>
          <a:xfrm>
            <a:off x="6400800" y="2311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A57792-EFCA-C740-80D2-76B5D1A532A4}"/>
              </a:ext>
            </a:extLst>
          </p:cNvPr>
          <p:cNvSpPr/>
          <p:nvPr/>
        </p:nvSpPr>
        <p:spPr>
          <a:xfrm>
            <a:off x="6680200" y="2311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0B261B7-B852-1140-8E48-BF28005131F7}"/>
              </a:ext>
            </a:extLst>
          </p:cNvPr>
          <p:cNvSpPr/>
          <p:nvPr/>
        </p:nvSpPr>
        <p:spPr>
          <a:xfrm>
            <a:off x="6959600" y="2311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359F78-4D1B-DF45-8C26-58778328BB12}"/>
              </a:ext>
            </a:extLst>
          </p:cNvPr>
          <p:cNvSpPr txBox="1"/>
          <p:nvPr/>
        </p:nvSpPr>
        <p:spPr>
          <a:xfrm>
            <a:off x="6426200" y="2641600"/>
            <a:ext cx="4699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/plan build a number-guessing game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Plan: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1. Pick a secret random number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2. Ask the player to guess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3. Say “higher” or “lower”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4. Count how many tries it took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looks good, build it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Building step 1...</a:t>
            </a:r>
          </a:p>
        </p:txBody>
      </p:sp>
    </p:spTree>
    <p:extLst>
      <p:ext uri="{BB962C8B-B14F-4D97-AF65-F5344CB8AC3E}">
        <p14:creationId xmlns:p14="http://schemas.microsoft.com/office/powerpoint/2010/main" val="97560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DD7C21-F742-2E49-9430-2B508CDB29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6E2B4-8601-3743-AE3F-61B35B66BC4A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5F153-8E0D-FD45-8CDB-FA90801454B3}"/>
              </a:ext>
            </a:extLst>
          </p:cNvPr>
          <p:cNvSpPr txBox="1"/>
          <p:nvPr/>
        </p:nvSpPr>
        <p:spPr>
          <a:xfrm>
            <a:off x="812800" y="9398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8605F-3687-BF4A-B49A-2F6137895887}"/>
              </a:ext>
            </a:extLst>
          </p:cNvPr>
          <p:cNvSpPr txBox="1"/>
          <p:nvPr/>
        </p:nvSpPr>
        <p:spPr>
          <a:xfrm>
            <a:off x="26416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in action — a real use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A500AA-B33A-A140-8738-6FAD5B2E729B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5924A-526E-6049-B413-2273F9C0BDED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Day 1 of the car race app: turn the big idea into steps you approve before any code is written.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7D6771-8017-F742-A2CC-B3B393E9FC66}"/>
              </a:ext>
            </a:extLst>
          </p:cNvPr>
          <p:cNvSpPr/>
          <p:nvPr/>
        </p:nvSpPr>
        <p:spPr>
          <a:xfrm>
            <a:off x="812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937432-8BD5-0942-AC9B-B38062EDFBD6}"/>
              </a:ext>
            </a:extLst>
          </p:cNvPr>
          <p:cNvSpPr/>
          <p:nvPr/>
        </p:nvSpPr>
        <p:spPr>
          <a:xfrm>
            <a:off x="1016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5BE05-0AA8-0546-AE03-8B41816DBEBE}"/>
              </a:ext>
            </a:extLst>
          </p:cNvPr>
          <p:cNvSpPr txBox="1"/>
          <p:nvPr/>
        </p:nvSpPr>
        <p:spPr>
          <a:xfrm>
            <a:off x="1524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Describe the goal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07D0B-82D8-2C43-90B9-EA555566621E}"/>
              </a:ext>
            </a:extLst>
          </p:cNvPr>
          <p:cNvSpPr txBox="1"/>
          <p:nvPr/>
        </p:nvSpPr>
        <p:spPr>
          <a:xfrm>
            <a:off x="1524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“build a car race game”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1C40CD-8CE8-A94F-A98D-751EA4FE6050}"/>
              </a:ext>
            </a:extLst>
          </p:cNvPr>
          <p:cNvSpPr/>
          <p:nvPr/>
        </p:nvSpPr>
        <p:spPr>
          <a:xfrm>
            <a:off x="4495800" y="2489200"/>
            <a:ext cx="3175000" cy="990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2120A4-CE5F-F248-BD8F-5F8424BAEEE4}"/>
              </a:ext>
            </a:extLst>
          </p:cNvPr>
          <p:cNvSpPr/>
          <p:nvPr/>
        </p:nvSpPr>
        <p:spPr>
          <a:xfrm>
            <a:off x="4699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4DCFE0-A389-C549-8D8A-D4CBAEBF8A2D}"/>
              </a:ext>
            </a:extLst>
          </p:cNvPr>
          <p:cNvSpPr txBox="1"/>
          <p:nvPr/>
        </p:nvSpPr>
        <p:spPr>
          <a:xfrm>
            <a:off x="5207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Review the steps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3251B3-B943-7040-B315-8F28025BC69E}"/>
              </a:ext>
            </a:extLst>
          </p:cNvPr>
          <p:cNvSpPr txBox="1"/>
          <p:nvPr/>
        </p:nvSpPr>
        <p:spPr>
          <a:xfrm>
            <a:off x="5207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tweak before any code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20F936-776E-BB44-8F9E-A85F8BC71D59}"/>
              </a:ext>
            </a:extLst>
          </p:cNvPr>
          <p:cNvSpPr/>
          <p:nvPr/>
        </p:nvSpPr>
        <p:spPr>
          <a:xfrm>
            <a:off x="8178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05FEE1-E955-CF4C-9C7E-4CC97A975C4B}"/>
              </a:ext>
            </a:extLst>
          </p:cNvPr>
          <p:cNvSpPr/>
          <p:nvPr/>
        </p:nvSpPr>
        <p:spPr>
          <a:xfrm>
            <a:off x="8382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5D4E31-264E-104E-8E2A-3CB4FF6E50F0}"/>
              </a:ext>
            </a:extLst>
          </p:cNvPr>
          <p:cNvSpPr txBox="1"/>
          <p:nvPr/>
        </p:nvSpPr>
        <p:spPr>
          <a:xfrm>
            <a:off x="8890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Say “go”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854799-E351-8345-A557-05D9E126CBFB}"/>
              </a:ext>
            </a:extLst>
          </p:cNvPr>
          <p:cNvSpPr txBox="1"/>
          <p:nvPr/>
        </p:nvSpPr>
        <p:spPr>
          <a:xfrm>
            <a:off x="8890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build step by step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6542C48D-7625-7643-B1D4-BFA5BA1521A1}"/>
              </a:ext>
            </a:extLst>
          </p:cNvPr>
          <p:cNvSpPr/>
          <p:nvPr/>
        </p:nvSpPr>
        <p:spPr>
          <a:xfrm>
            <a:off x="4038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876DC99B-D242-EC4B-8798-3257ADC52FA3}"/>
              </a:ext>
            </a:extLst>
          </p:cNvPr>
          <p:cNvSpPr/>
          <p:nvPr/>
        </p:nvSpPr>
        <p:spPr>
          <a:xfrm>
            <a:off x="7721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5F8E8BC-470A-D445-B82A-AEF2C0CF5ABB}"/>
              </a:ext>
            </a:extLst>
          </p:cNvPr>
          <p:cNvSpPr/>
          <p:nvPr/>
        </p:nvSpPr>
        <p:spPr>
          <a:xfrm>
            <a:off x="1524000" y="3657600"/>
            <a:ext cx="9144000" cy="4318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DFA746-BE8A-E541-AFF6-A929FFE8BE1F}"/>
              </a:ext>
            </a:extLst>
          </p:cNvPr>
          <p:cNvSpPr txBox="1"/>
          <p:nvPr/>
        </p:nvSpPr>
        <p:spPr>
          <a:xfrm>
            <a:off x="1524000" y="3657600"/>
            <a:ext cx="9144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E0A88F"/>
                </a:solidFill>
              </a:rPr>
              <a:t>You stay in control — nothing gets built until the plan looks right to you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EF40974-339D-9C48-BB5D-1A41A8CD62E8}"/>
              </a:ext>
            </a:extLst>
          </p:cNvPr>
          <p:cNvSpPr/>
          <p:nvPr/>
        </p:nvSpPr>
        <p:spPr>
          <a:xfrm>
            <a:off x="812800" y="4267200"/>
            <a:ext cx="10566400" cy="21336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DF15890-EA8A-DB4A-B543-AB9E5D752813}"/>
              </a:ext>
            </a:extLst>
          </p:cNvPr>
          <p:cNvSpPr/>
          <p:nvPr/>
        </p:nvSpPr>
        <p:spPr>
          <a:xfrm>
            <a:off x="1041400" y="4470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B877A6-3E44-5A45-A85D-289E732A38FB}"/>
              </a:ext>
            </a:extLst>
          </p:cNvPr>
          <p:cNvSpPr/>
          <p:nvPr/>
        </p:nvSpPr>
        <p:spPr>
          <a:xfrm>
            <a:off x="1320800" y="4470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8CB0976-61CE-4745-896F-4FFD7157C301}"/>
              </a:ext>
            </a:extLst>
          </p:cNvPr>
          <p:cNvSpPr/>
          <p:nvPr/>
        </p:nvSpPr>
        <p:spPr>
          <a:xfrm>
            <a:off x="1600200" y="4470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80BADB-30AA-4D42-B5C5-8E233377AB6D}"/>
              </a:ext>
            </a:extLst>
          </p:cNvPr>
          <p:cNvSpPr txBox="1"/>
          <p:nvPr/>
        </p:nvSpPr>
        <p:spPr>
          <a:xfrm>
            <a:off x="1092200" y="4800600"/>
            <a:ext cx="100076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/plan a car race game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Proposed plan: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  1. Track   2. Car controls   3. Opponents   4. Laps &amp; winner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add engine sounds as step 5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Plan updated — reply “go” to start building step 1</a:t>
            </a:r>
          </a:p>
        </p:txBody>
      </p:sp>
    </p:spTree>
    <p:extLst>
      <p:ext uri="{BB962C8B-B14F-4D97-AF65-F5344CB8AC3E}">
        <p14:creationId xmlns:p14="http://schemas.microsoft.com/office/powerpoint/2010/main" val="25868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33AF5D-9376-654B-8398-8A7CC9201D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19D22-9C01-C247-93F6-026BDE6AB23A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6F059-7BF2-E14B-8ECC-95218010A10D}"/>
              </a:ext>
            </a:extLst>
          </p:cNvPr>
          <p:cNvSpPr txBox="1"/>
          <p:nvPr/>
        </p:nvSpPr>
        <p:spPr>
          <a:xfrm>
            <a:off x="812800" y="939800"/>
            <a:ext cx="1981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A772B-147F-B846-B1C8-4B8DEEE8710B}"/>
              </a:ext>
            </a:extLst>
          </p:cNvPr>
          <p:cNvSpPr txBox="1"/>
          <p:nvPr/>
        </p:nvSpPr>
        <p:spPr>
          <a:xfrm>
            <a:off x="28448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Improve until it’s right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3F843-E435-C845-B21D-B878DF852904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131C22-9FB4-6A44-815A-2354D625D73B}"/>
              </a:ext>
            </a:extLst>
          </p:cNvPr>
          <p:cNvSpPr txBox="1"/>
          <p:nvPr/>
        </p:nvSpPr>
        <p:spPr>
          <a:xfrm>
            <a:off x="812800" y="21082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WHEN TO 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98969-C147-7341-A75F-F04F16EE4E98}"/>
              </a:ext>
            </a:extLst>
          </p:cNvPr>
          <p:cNvSpPr txBox="1"/>
          <p:nvPr/>
        </p:nvSpPr>
        <p:spPr>
          <a:xfrm>
            <a:off x="812800" y="2438400"/>
            <a:ext cx="4953000" cy="1219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When the first try isn’t quite perfect
▸  For tasks that need repeating until a goal is met
▸  When you want Claude to keep fixing on its 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7F17D-DE08-614D-B8D2-276CE8B28D8F}"/>
              </a:ext>
            </a:extLst>
          </p:cNvPr>
          <p:cNvSpPr txBox="1"/>
          <p:nvPr/>
        </p:nvSpPr>
        <p:spPr>
          <a:xfrm>
            <a:off x="812800" y="37846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HOW TO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5EF658-4355-9C45-B7F9-4F5EC35EF363}"/>
              </a:ext>
            </a:extLst>
          </p:cNvPr>
          <p:cNvSpPr txBox="1"/>
          <p:nvPr/>
        </p:nvSpPr>
        <p:spPr>
          <a:xfrm>
            <a:off x="812800" y="4114800"/>
            <a:ext cx="4953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Type  /loop  with a goal or stop condition
▸  Claude repeats, checking each round until done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5F648A-8F0F-9A4F-9447-B14735726064}"/>
              </a:ext>
            </a:extLst>
          </p:cNvPr>
          <p:cNvSpPr/>
          <p:nvPr/>
        </p:nvSpPr>
        <p:spPr>
          <a:xfrm>
            <a:off x="812800" y="5207000"/>
            <a:ext cx="4953000" cy="736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344C89-7A07-4E47-AEB4-DC83A8AB0C47}"/>
              </a:ext>
            </a:extLst>
          </p:cNvPr>
          <p:cNvSpPr txBox="1"/>
          <p:nvPr/>
        </p:nvSpPr>
        <p:spPr>
          <a:xfrm>
            <a:off x="1016000" y="53594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E0A88F"/>
                </a:solidFill>
              </a:rPr>
              <a:t>In short: keep trying until it works — hands-free.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BE1832-5479-F84F-A55A-FFD3E2C93BE9}"/>
              </a:ext>
            </a:extLst>
          </p:cNvPr>
          <p:cNvSpPr/>
          <p:nvPr/>
        </p:nvSpPr>
        <p:spPr>
          <a:xfrm>
            <a:off x="6172200" y="2082800"/>
            <a:ext cx="5207000" cy="38100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63435A-0CAC-A341-969A-D18873B8544E}"/>
              </a:ext>
            </a:extLst>
          </p:cNvPr>
          <p:cNvSpPr/>
          <p:nvPr/>
        </p:nvSpPr>
        <p:spPr>
          <a:xfrm>
            <a:off x="6400800" y="2311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4FB8A6-9966-064B-8426-1A915DF28040}"/>
              </a:ext>
            </a:extLst>
          </p:cNvPr>
          <p:cNvSpPr/>
          <p:nvPr/>
        </p:nvSpPr>
        <p:spPr>
          <a:xfrm>
            <a:off x="6680200" y="2311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308F9E2-D865-CC44-9162-8D74BE4C321A}"/>
              </a:ext>
            </a:extLst>
          </p:cNvPr>
          <p:cNvSpPr/>
          <p:nvPr/>
        </p:nvSpPr>
        <p:spPr>
          <a:xfrm>
            <a:off x="6959600" y="2311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BEFDC0-7BDC-FC4B-87AE-A7A534F676B0}"/>
              </a:ext>
            </a:extLst>
          </p:cNvPr>
          <p:cNvSpPr txBox="1"/>
          <p:nvPr/>
        </p:nvSpPr>
        <p:spPr>
          <a:xfrm>
            <a:off x="6426200" y="2641600"/>
            <a:ext cx="4699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/loop until all tests pass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1: 2 tests failed → fixing...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2: 1 test failed → fixing...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3: all tests passed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Goal reached — stopping the loop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FFFFFF"/>
                </a:solidFill>
                <a:latin typeface="Consolas"/>
              </a:rPr>
              <a:t>Done!</a:t>
            </a:r>
          </a:p>
        </p:txBody>
      </p:sp>
    </p:spTree>
    <p:extLst>
      <p:ext uri="{BB962C8B-B14F-4D97-AF65-F5344CB8AC3E}">
        <p14:creationId xmlns:p14="http://schemas.microsoft.com/office/powerpoint/2010/main" val="36840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8356E1-5DA9-A74D-9090-B67BC3ADE5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294F9-0129-094B-88A1-0FB0C764753F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4C087-4C12-444A-ADC7-CAB7B5AD2499}"/>
              </a:ext>
            </a:extLst>
          </p:cNvPr>
          <p:cNvSpPr txBox="1"/>
          <p:nvPr/>
        </p:nvSpPr>
        <p:spPr>
          <a:xfrm>
            <a:off x="812800" y="9398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/loop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394B4-A1FB-D148-9F75-9A8267B435F3}"/>
              </a:ext>
            </a:extLst>
          </p:cNvPr>
          <p:cNvSpPr txBox="1"/>
          <p:nvPr/>
        </p:nvSpPr>
        <p:spPr>
          <a:xfrm>
            <a:off x="26416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in action — a real use 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68966-39C0-6345-A7D7-45E7F21E5A81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CC872-8829-7A47-966A-1EAC50EC038E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Day 3: the game runs but it’s glitchy — give /loop a clear goal and let it grind.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97071E-D89E-4C45-BCA2-AE119838894A}"/>
              </a:ext>
            </a:extLst>
          </p:cNvPr>
          <p:cNvSpPr/>
          <p:nvPr/>
        </p:nvSpPr>
        <p:spPr>
          <a:xfrm>
            <a:off x="812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74F0D4-9E9D-6C4E-8A8F-01D41E0FD07B}"/>
              </a:ext>
            </a:extLst>
          </p:cNvPr>
          <p:cNvSpPr/>
          <p:nvPr/>
        </p:nvSpPr>
        <p:spPr>
          <a:xfrm>
            <a:off x="1016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A6536-008D-AB49-ACF0-B93FE44D0921}"/>
              </a:ext>
            </a:extLst>
          </p:cNvPr>
          <p:cNvSpPr txBox="1"/>
          <p:nvPr/>
        </p:nvSpPr>
        <p:spPr>
          <a:xfrm>
            <a:off x="1524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Try a 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75705-68B6-A444-8E1D-31C2AB5F17E2}"/>
              </a:ext>
            </a:extLst>
          </p:cNvPr>
          <p:cNvSpPr txBox="1"/>
          <p:nvPr/>
        </p:nvSpPr>
        <p:spPr>
          <a:xfrm>
            <a:off x="1524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fix one glitch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0E3837-8686-FC46-B171-7E217457E8D4}"/>
              </a:ext>
            </a:extLst>
          </p:cNvPr>
          <p:cNvSpPr/>
          <p:nvPr/>
        </p:nvSpPr>
        <p:spPr>
          <a:xfrm>
            <a:off x="4495800" y="2489200"/>
            <a:ext cx="3175000" cy="990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D863B6-A304-2146-BF1A-AC09DA9AB10E}"/>
              </a:ext>
            </a:extLst>
          </p:cNvPr>
          <p:cNvSpPr/>
          <p:nvPr/>
        </p:nvSpPr>
        <p:spPr>
          <a:xfrm>
            <a:off x="4699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A6C9E-2BDA-4446-98FC-FC183CF5FB7D}"/>
              </a:ext>
            </a:extLst>
          </p:cNvPr>
          <p:cNvSpPr txBox="1"/>
          <p:nvPr/>
        </p:nvSpPr>
        <p:spPr>
          <a:xfrm>
            <a:off x="5207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Get feedback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45FAD-30AD-9A41-BEB6-7F706D36D045}"/>
              </a:ext>
            </a:extLst>
          </p:cNvPr>
          <p:cNvSpPr txBox="1"/>
          <p:nvPr/>
        </p:nvSpPr>
        <p:spPr>
          <a:xfrm>
            <a:off x="5207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play-test the race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AB3A4AB-4D99-D246-83AB-579BB5CE3960}"/>
              </a:ext>
            </a:extLst>
          </p:cNvPr>
          <p:cNvSpPr/>
          <p:nvPr/>
        </p:nvSpPr>
        <p:spPr>
          <a:xfrm>
            <a:off x="8178800" y="24892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8B2215D-E40C-F34A-A2FA-7A20B0B071F7}"/>
              </a:ext>
            </a:extLst>
          </p:cNvPr>
          <p:cNvSpPr/>
          <p:nvPr/>
        </p:nvSpPr>
        <p:spPr>
          <a:xfrm>
            <a:off x="8382000" y="27940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2306DE-5402-3A45-B938-2663F2BE3788}"/>
              </a:ext>
            </a:extLst>
          </p:cNvPr>
          <p:cNvSpPr txBox="1"/>
          <p:nvPr/>
        </p:nvSpPr>
        <p:spPr>
          <a:xfrm>
            <a:off x="8890000" y="2692400"/>
            <a:ext cx="2311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Check the goal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C5DADC-90C4-724D-BE28-E9AE90AC27C0}"/>
              </a:ext>
            </a:extLst>
          </p:cNvPr>
          <p:cNvSpPr txBox="1"/>
          <p:nvPr/>
        </p:nvSpPr>
        <p:spPr>
          <a:xfrm>
            <a:off x="8890000" y="3022600"/>
            <a:ext cx="2311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clean laps yet?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A2292E1A-023F-7642-96A8-22F8674CB8A1}"/>
              </a:ext>
            </a:extLst>
          </p:cNvPr>
          <p:cNvSpPr/>
          <p:nvPr/>
        </p:nvSpPr>
        <p:spPr>
          <a:xfrm>
            <a:off x="4038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5580F44-7F80-3F41-9FC3-9264DF5057EC}"/>
              </a:ext>
            </a:extLst>
          </p:cNvPr>
          <p:cNvSpPr/>
          <p:nvPr/>
        </p:nvSpPr>
        <p:spPr>
          <a:xfrm>
            <a:off x="7721600" y="28194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7428B8F1-9665-0E43-8137-119B6AD2D022}"/>
              </a:ext>
            </a:extLst>
          </p:cNvPr>
          <p:cNvSpPr/>
          <p:nvPr/>
        </p:nvSpPr>
        <p:spPr>
          <a:xfrm>
            <a:off x="1524000" y="3657600"/>
            <a:ext cx="9144000" cy="431800"/>
          </a:xfrm>
          <a:prstGeom prst="leftArrow">
            <a:avLst/>
          </a:prstGeom>
          <a:solidFill>
            <a:srgbClr val="212129"/>
          </a:solidFill>
          <a:ln w="15875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14EDB7-F7CF-8C4F-8E42-39CD41203062}"/>
              </a:ext>
            </a:extLst>
          </p:cNvPr>
          <p:cNvSpPr txBox="1"/>
          <p:nvPr/>
        </p:nvSpPr>
        <p:spPr>
          <a:xfrm>
            <a:off x="1524000" y="3657600"/>
            <a:ext cx="9144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Not yet? Loop again — keep going until the goal is met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25122C1-C115-3948-816D-640B7DCA337C}"/>
              </a:ext>
            </a:extLst>
          </p:cNvPr>
          <p:cNvSpPr/>
          <p:nvPr/>
        </p:nvSpPr>
        <p:spPr>
          <a:xfrm>
            <a:off x="812800" y="4267200"/>
            <a:ext cx="10566400" cy="21336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D16E6BD-0676-1540-8FCC-026908F91AC2}"/>
              </a:ext>
            </a:extLst>
          </p:cNvPr>
          <p:cNvSpPr/>
          <p:nvPr/>
        </p:nvSpPr>
        <p:spPr>
          <a:xfrm>
            <a:off x="1041400" y="44704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F6BE9D-FBB4-624C-AA1A-509EFEF5FD4B}"/>
              </a:ext>
            </a:extLst>
          </p:cNvPr>
          <p:cNvSpPr/>
          <p:nvPr/>
        </p:nvSpPr>
        <p:spPr>
          <a:xfrm>
            <a:off x="1320800" y="44704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D867A71-0D62-D148-AD89-33C3C661B14B}"/>
              </a:ext>
            </a:extLst>
          </p:cNvPr>
          <p:cNvSpPr/>
          <p:nvPr/>
        </p:nvSpPr>
        <p:spPr>
          <a:xfrm>
            <a:off x="1600200" y="44704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F825CE-927C-D146-BCE9-2B283F6DEBA8}"/>
              </a:ext>
            </a:extLst>
          </p:cNvPr>
          <p:cNvSpPr txBox="1"/>
          <p:nvPr/>
        </p:nvSpPr>
        <p:spPr>
          <a:xfrm>
            <a:off x="1092200" y="4800600"/>
            <a:ext cx="100076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E0A88F"/>
                </a:solidFill>
                <a:latin typeface="Consolas"/>
              </a:rPr>
              <a:t>&gt; /loop until the race runs 3 clean laps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1: car clips wall ✗  → fixing collision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C9CDD3"/>
                </a:solidFill>
                <a:latin typeface="Consolas"/>
              </a:rPr>
              <a:t>Round 2: opponent stuck ✗  → fixing AI path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Round 3: 3 clean laps ✓  goal met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7EE787"/>
                </a:solidFill>
                <a:latin typeface="Consolas"/>
              </a:rPr>
              <a:t>✓ Stopped — the race finally races</a:t>
            </a:r>
          </a:p>
        </p:txBody>
      </p:sp>
    </p:spTree>
    <p:extLst>
      <p:ext uri="{BB962C8B-B14F-4D97-AF65-F5344CB8AC3E}">
        <p14:creationId xmlns:p14="http://schemas.microsoft.com/office/powerpoint/2010/main" val="2125863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63FC60-1186-444C-A781-8A45B67F50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87A5FA-172B-464A-ACDC-EB1EBA58804F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 --pro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A58EA-28E0-584F-9566-C7D36B1DE37F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Level up: power features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DFECA-27CA-5C43-B2E7-3AD353CB87DC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D4D2E-8D5A-E242-84D0-B2C5BD287682}"/>
              </a:ext>
            </a:extLst>
          </p:cNvPr>
          <p:cNvSpPr txBox="1"/>
          <p:nvPr/>
        </p:nvSpPr>
        <p:spPr>
          <a:xfrm>
            <a:off x="812800" y="20320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Once you’re comfortable, these give Claude Code lasting context about how you and your project work.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1C01D3-E49E-E74F-B874-F0F29182BCD6}"/>
              </a:ext>
            </a:extLst>
          </p:cNvPr>
          <p:cNvSpPr/>
          <p:nvPr/>
        </p:nvSpPr>
        <p:spPr>
          <a:xfrm>
            <a:off x="812800" y="25146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D9EBE-2A0E-3844-9F87-1DE33D057CE7}"/>
              </a:ext>
            </a:extLst>
          </p:cNvPr>
          <p:cNvSpPr txBox="1"/>
          <p:nvPr/>
        </p:nvSpPr>
        <p:spPr>
          <a:xfrm>
            <a:off x="1066800" y="27178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CLAUDE.md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51AAB-7BD1-2D40-9B2A-CE7BE03054CF}"/>
              </a:ext>
            </a:extLst>
          </p:cNvPr>
          <p:cNvSpPr txBox="1"/>
          <p:nvPr/>
        </p:nvSpPr>
        <p:spPr>
          <a:xfrm>
            <a:off x="1066800" y="31242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C9CDD3"/>
                </a:solidFill>
              </a:rPr>
              <a:t>Drop this file in your repo and Claude reads it every session — conventions, key commands, architecture, and gotchas.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9F925A-B037-BE42-A99C-BE202CB73159}"/>
              </a:ext>
            </a:extLst>
          </p:cNvPr>
          <p:cNvSpPr/>
          <p:nvPr/>
        </p:nvSpPr>
        <p:spPr>
          <a:xfrm>
            <a:off x="1066800" y="39370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6BBF-9610-C349-8840-E195A083B2EC}"/>
              </a:ext>
            </a:extLst>
          </p:cNvPr>
          <p:cNvSpPr txBox="1"/>
          <p:nvPr/>
        </p:nvSpPr>
        <p:spPr>
          <a:xfrm>
            <a:off x="1193800" y="3962400"/>
            <a:ext cx="4521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// project memory that persists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EAE1D2-1A4B-5344-968F-AF8BBDDC55C8}"/>
              </a:ext>
            </a:extLst>
          </p:cNvPr>
          <p:cNvSpPr/>
          <p:nvPr/>
        </p:nvSpPr>
        <p:spPr>
          <a:xfrm>
            <a:off x="6502400" y="25146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E73BA-14B1-0242-9854-B2214A492A88}"/>
              </a:ext>
            </a:extLst>
          </p:cNvPr>
          <p:cNvSpPr txBox="1"/>
          <p:nvPr/>
        </p:nvSpPr>
        <p:spPr>
          <a:xfrm>
            <a:off x="6756400" y="27178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Memory  (#)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985E5-5C30-7C47-887A-023CCBAF9977}"/>
              </a:ext>
            </a:extLst>
          </p:cNvPr>
          <p:cNvSpPr txBox="1"/>
          <p:nvPr/>
        </p:nvSpPr>
        <p:spPr>
          <a:xfrm>
            <a:off x="6756400" y="31242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C9CDD3"/>
                </a:solidFill>
              </a:rPr>
              <a:t>Start a line with # to save a fact or rule straight into memory, so you never re-explain the same context again.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0B4EFB-7A12-2D40-89B3-615057FC9358}"/>
              </a:ext>
            </a:extLst>
          </p:cNvPr>
          <p:cNvSpPr/>
          <p:nvPr/>
        </p:nvSpPr>
        <p:spPr>
          <a:xfrm>
            <a:off x="6756400" y="39370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DB4214-1F47-A842-8704-A47D9FCF5FEA}"/>
              </a:ext>
            </a:extLst>
          </p:cNvPr>
          <p:cNvSpPr txBox="1"/>
          <p:nvPr/>
        </p:nvSpPr>
        <p:spPr>
          <a:xfrm>
            <a:off x="6883400" y="3962400"/>
            <a:ext cx="4521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/memory  to view &amp; edit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24B908D-71F8-6C4A-8B80-065A1FFB8E9E}"/>
              </a:ext>
            </a:extLst>
          </p:cNvPr>
          <p:cNvSpPr/>
          <p:nvPr/>
        </p:nvSpPr>
        <p:spPr>
          <a:xfrm>
            <a:off x="812800" y="46228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9444A6-CFF3-2D4C-9D39-8A4570D84CC4}"/>
              </a:ext>
            </a:extLst>
          </p:cNvPr>
          <p:cNvSpPr txBox="1"/>
          <p:nvPr/>
        </p:nvSpPr>
        <p:spPr>
          <a:xfrm>
            <a:off x="1066800" y="4826000"/>
            <a:ext cx="4775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Custom commands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6FB9A2-9E69-6242-A99E-67393D192868}"/>
              </a:ext>
            </a:extLst>
          </p:cNvPr>
          <p:cNvSpPr txBox="1"/>
          <p:nvPr/>
        </p:nvSpPr>
        <p:spPr>
          <a:xfrm>
            <a:off x="1066800" y="52324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Save prompt recipes as markdown in .claude/commands/ — they become /commands your whole team can reuse.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D61992-A435-FA48-A12B-9ADA3EAF9CAC}"/>
              </a:ext>
            </a:extLst>
          </p:cNvPr>
          <p:cNvSpPr/>
          <p:nvPr/>
        </p:nvSpPr>
        <p:spPr>
          <a:xfrm>
            <a:off x="1066800" y="60452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F86B4B-6669-084A-B980-76FD1543242C}"/>
              </a:ext>
            </a:extLst>
          </p:cNvPr>
          <p:cNvSpPr txBox="1"/>
          <p:nvPr/>
        </p:nvSpPr>
        <p:spPr>
          <a:xfrm>
            <a:off x="1193800" y="6070600"/>
            <a:ext cx="4521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.claude/commands/review.md → /review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6AAAD3A-B28A-624B-AF96-E7221B08E068}"/>
              </a:ext>
            </a:extLst>
          </p:cNvPr>
          <p:cNvSpPr/>
          <p:nvPr/>
        </p:nvSpPr>
        <p:spPr>
          <a:xfrm>
            <a:off x="6502400" y="46228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800FAC-D44D-534C-AB3E-579A03392024}"/>
              </a:ext>
            </a:extLst>
          </p:cNvPr>
          <p:cNvSpPr txBox="1"/>
          <p:nvPr/>
        </p:nvSpPr>
        <p:spPr>
          <a:xfrm>
            <a:off x="6350000" y="4800600"/>
            <a:ext cx="5888854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 dirty="0">
                <a:solidFill>
                  <a:srgbClr val="D97757"/>
                </a:solidFill>
                <a:latin typeface="Consolas"/>
                <a:cs typeface="Consolas"/>
              </a:rPr>
              <a:t>MCP (Model. Context Protocol) connectors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CD290C-A13A-1F4D-9730-36A95402B07D}"/>
              </a:ext>
            </a:extLst>
          </p:cNvPr>
          <p:cNvSpPr txBox="1"/>
          <p:nvPr/>
        </p:nvSpPr>
        <p:spPr>
          <a:xfrm>
            <a:off x="6756400" y="5232400"/>
            <a:ext cx="4775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C9CDD3"/>
                </a:solidFill>
              </a:rPr>
              <a:t>Wire Claude Code into GitHub, databases, and other tools via MCP so it acts on real project data, not guesses.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16553C6-73FF-0F4F-8FD9-075E366FAC51}"/>
              </a:ext>
            </a:extLst>
          </p:cNvPr>
          <p:cNvSpPr/>
          <p:nvPr/>
        </p:nvSpPr>
        <p:spPr>
          <a:xfrm>
            <a:off x="6756400" y="60452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2E3B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D8ADAF-3714-2D40-8D52-983F9AB0FF4E}"/>
              </a:ext>
            </a:extLst>
          </p:cNvPr>
          <p:cNvSpPr txBox="1"/>
          <p:nvPr/>
        </p:nvSpPr>
        <p:spPr>
          <a:xfrm>
            <a:off x="6883400" y="6070600"/>
            <a:ext cx="45212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claude mcp add &lt;tool&gt;</a:t>
            </a:r>
          </a:p>
        </p:txBody>
      </p:sp>
    </p:spTree>
    <p:extLst>
      <p:ext uri="{BB962C8B-B14F-4D97-AF65-F5344CB8AC3E}">
        <p14:creationId xmlns:p14="http://schemas.microsoft.com/office/powerpoint/2010/main" val="1918834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E1698C-DF44-7149-844B-7A3AB6C9EF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54084-0244-4C42-98ED-2B5BF37F0977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40E08-CC93-3D4C-BC94-15FCFA32CAF6}"/>
              </a:ext>
            </a:extLst>
          </p:cNvPr>
          <p:cNvSpPr txBox="1"/>
          <p:nvPr/>
        </p:nvSpPr>
        <p:spPr>
          <a:xfrm>
            <a:off x="812800" y="939800"/>
            <a:ext cx="381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CLAUDE.md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546B7-06FF-134C-8D2A-907C699AC7F0}"/>
              </a:ext>
            </a:extLst>
          </p:cNvPr>
          <p:cNvSpPr txBox="1"/>
          <p:nvPr/>
        </p:nvSpPr>
        <p:spPr>
          <a:xfrm>
            <a:off x="4648200" y="1092200"/>
            <a:ext cx="660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Your project’s long-term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F0A53-6FAB-7144-8E6E-0043791DDD17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F9002-6F39-2249-BFCD-6D7CB4A9C5E2}"/>
              </a:ext>
            </a:extLst>
          </p:cNvPr>
          <p:cNvSpPr txBox="1"/>
          <p:nvPr/>
        </p:nvSpPr>
        <p:spPr>
          <a:xfrm>
            <a:off x="812800" y="2032000"/>
            <a:ext cx="508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500" b="1" dirty="0">
                <a:solidFill>
                  <a:srgbClr val="FFFFFF"/>
                </a:solidFill>
              </a:rPr>
              <a:t>The #1 way to give the LLM context.</a:t>
            </a:r>
            <a:r>
              <a:rPr lang="en-US" sz="1500" dirty="0">
                <a:solidFill>
                  <a:srgbClr val="C9CDD3"/>
                </a:solidFill>
              </a:rPr>
              <a:t> Claude reads it at the start of every session — without it, Claude starts from zero.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06D47-7C2B-D44C-BD82-52BFBDC9BE8A}"/>
              </a:ext>
            </a:extLst>
          </p:cNvPr>
          <p:cNvSpPr txBox="1"/>
          <p:nvPr/>
        </p:nvSpPr>
        <p:spPr>
          <a:xfrm>
            <a:off x="812800" y="27178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WHAT TO PUT IN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47E4C-2648-3E42-B547-361A6D6D14DF}"/>
              </a:ext>
            </a:extLst>
          </p:cNvPr>
          <p:cNvSpPr txBox="1"/>
          <p:nvPr/>
        </p:nvSpPr>
        <p:spPr>
          <a:xfrm>
            <a:off x="812800" y="30480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Build &amp; test commands (npm test, make, etc.)
▸  Code conventions and style rules
▸  Architecture notes and “gotchas” to avoid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3F15A-2ADC-2144-BAB7-8796C12F1904}"/>
              </a:ext>
            </a:extLst>
          </p:cNvPr>
          <p:cNvSpPr txBox="1"/>
          <p:nvPr/>
        </p:nvSpPr>
        <p:spPr>
          <a:xfrm>
            <a:off x="812800" y="42672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WHERE IT LIVES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373465-86CD-3E4D-A900-F66752AC885B}"/>
              </a:ext>
            </a:extLst>
          </p:cNvPr>
          <p:cNvSpPr txBox="1"/>
          <p:nvPr/>
        </p:nvSpPr>
        <p:spPr>
          <a:xfrm>
            <a:off x="812800" y="45974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Repo root — shared with your team via git
▸  Sub-folders — extra context for that area
▸  ~/.claude/CLAUDE.md — your personal defaults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67D5E25-9FCE-7C46-A576-77891D54AC05}"/>
              </a:ext>
            </a:extLst>
          </p:cNvPr>
          <p:cNvSpPr/>
          <p:nvPr/>
        </p:nvSpPr>
        <p:spPr>
          <a:xfrm>
            <a:off x="812800" y="5791200"/>
            <a:ext cx="5080000" cy="508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C27B8D-ED67-8E43-B109-8F16E12AFF54}"/>
              </a:ext>
            </a:extLst>
          </p:cNvPr>
          <p:cNvSpPr txBox="1"/>
          <p:nvPr/>
        </p:nvSpPr>
        <p:spPr>
          <a:xfrm>
            <a:off x="990600" y="5892800"/>
            <a:ext cx="4724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Tip:  run  /init  to auto-generate a starter file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30C6C0-4686-3C4C-B74C-115F650BF15B}"/>
              </a:ext>
            </a:extLst>
          </p:cNvPr>
          <p:cNvSpPr/>
          <p:nvPr/>
        </p:nvSpPr>
        <p:spPr>
          <a:xfrm>
            <a:off x="6299200" y="2032000"/>
            <a:ext cx="5080000" cy="42672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413083-5FBD-F941-B64B-526117211A75}"/>
              </a:ext>
            </a:extLst>
          </p:cNvPr>
          <p:cNvSpPr/>
          <p:nvPr/>
        </p:nvSpPr>
        <p:spPr>
          <a:xfrm>
            <a:off x="6527800" y="22606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6EEDE4-1B20-E546-9B49-748E11990C74}"/>
              </a:ext>
            </a:extLst>
          </p:cNvPr>
          <p:cNvSpPr/>
          <p:nvPr/>
        </p:nvSpPr>
        <p:spPr>
          <a:xfrm>
            <a:off x="6807200" y="22606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44842B-F4C3-D141-A114-11958B1C4948}"/>
              </a:ext>
            </a:extLst>
          </p:cNvPr>
          <p:cNvSpPr/>
          <p:nvPr/>
        </p:nvSpPr>
        <p:spPr>
          <a:xfrm>
            <a:off x="7086600" y="22606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68CEA9-EFEF-9B45-B4C3-40867BF28197}"/>
              </a:ext>
            </a:extLst>
          </p:cNvPr>
          <p:cNvSpPr txBox="1"/>
          <p:nvPr/>
        </p:nvSpPr>
        <p:spPr>
          <a:xfrm>
            <a:off x="6553200" y="2590800"/>
            <a:ext cx="45720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cat CLAUDE.md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# Project: quiz-app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Consolas"/>
              </a:rPr>
              <a:t>## Commands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npm test     run unit tests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npm run dev  start local server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Consolas"/>
              </a:rPr>
              <a:t>## Conventions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TypeScript — never use “any”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Keep functions small &amp; pure</a:t>
            </a:r>
          </a:p>
          <a:p>
            <a:pPr>
              <a:lnSpc>
                <a:spcPts val="1800"/>
              </a:lnSpc>
            </a:pPr>
            <a:endParaRPr lang="en-US" sz="1300"/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Loaded CLAUDE.md — context ready</a:t>
            </a:r>
          </a:p>
        </p:txBody>
      </p:sp>
    </p:spTree>
    <p:extLst>
      <p:ext uri="{BB962C8B-B14F-4D97-AF65-F5344CB8AC3E}">
        <p14:creationId xmlns:p14="http://schemas.microsoft.com/office/powerpoint/2010/main" val="222031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09CB95-BA37-E94B-8E20-B839D2982D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97599-DFA6-494E-91E4-A85F77DAF013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B5600-AA28-AA42-A066-A80C195346B6}"/>
              </a:ext>
            </a:extLst>
          </p:cNvPr>
          <p:cNvSpPr txBox="1"/>
          <p:nvPr/>
        </p:nvSpPr>
        <p:spPr>
          <a:xfrm>
            <a:off x="812800" y="939800"/>
            <a:ext cx="596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CLAUDE.md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33A21-C908-C047-976E-14CE9EBC0EAE}"/>
              </a:ext>
            </a:extLst>
          </p:cNvPr>
          <p:cNvSpPr txBox="1"/>
          <p:nvPr/>
        </p:nvSpPr>
        <p:spPr>
          <a:xfrm>
            <a:off x="6934200" y="1092200"/>
            <a:ext cx="444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how Claude remembers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7E04FB-9418-9C43-9C71-7ABCE4DEE3FC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4BDC2-9066-A746-8D0C-CE294E894683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An LLM forgets everything between sessions — CLAUDE.md is the context it reloads every time.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E9BB4F-8C14-E745-B486-0ADC5FE4E725}"/>
              </a:ext>
            </a:extLst>
          </p:cNvPr>
          <p:cNvSpPr/>
          <p:nvPr/>
        </p:nvSpPr>
        <p:spPr>
          <a:xfrm>
            <a:off x="812800" y="2514600"/>
            <a:ext cx="2362200" cy="1117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325ED1-ED43-BC48-8AEF-C57C85D00B37}"/>
              </a:ext>
            </a:extLst>
          </p:cNvPr>
          <p:cNvSpPr/>
          <p:nvPr/>
        </p:nvSpPr>
        <p:spPr>
          <a:xfrm>
            <a:off x="965200" y="2717800"/>
            <a:ext cx="330200" cy="3302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7171D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24902-198D-B14A-B166-522123F3D608}"/>
              </a:ext>
            </a:extLst>
          </p:cNvPr>
          <p:cNvSpPr txBox="1"/>
          <p:nvPr/>
        </p:nvSpPr>
        <p:spPr>
          <a:xfrm>
            <a:off x="1397000" y="2692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Session starts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69851-97D2-A041-8F34-C65DF49B8B28}"/>
              </a:ext>
            </a:extLst>
          </p:cNvPr>
          <p:cNvSpPr txBox="1"/>
          <p:nvPr/>
        </p:nvSpPr>
        <p:spPr>
          <a:xfrm>
            <a:off x="1397000" y="3022600"/>
            <a:ext cx="165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CLAUDE.md is read in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B3505B-C325-9044-994C-4D5DE824E822}"/>
              </a:ext>
            </a:extLst>
          </p:cNvPr>
          <p:cNvSpPr/>
          <p:nvPr/>
        </p:nvSpPr>
        <p:spPr>
          <a:xfrm>
            <a:off x="3556000" y="2514600"/>
            <a:ext cx="2362200" cy="1117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45F030-857F-7345-ABD8-FB8396001BDB}"/>
              </a:ext>
            </a:extLst>
          </p:cNvPr>
          <p:cNvSpPr/>
          <p:nvPr/>
        </p:nvSpPr>
        <p:spPr>
          <a:xfrm>
            <a:off x="3708400" y="2717800"/>
            <a:ext cx="330200" cy="3302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7171D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9FBB9-2C94-0E40-BF78-7EACD6D21FEB}"/>
              </a:ext>
            </a:extLst>
          </p:cNvPr>
          <p:cNvSpPr txBox="1"/>
          <p:nvPr/>
        </p:nvSpPr>
        <p:spPr>
          <a:xfrm>
            <a:off x="4140200" y="2692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You teach 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59D240-2D19-864C-AD98-398C98CD5E22}"/>
              </a:ext>
            </a:extLst>
          </p:cNvPr>
          <p:cNvSpPr txBox="1"/>
          <p:nvPr/>
        </p:nvSpPr>
        <p:spPr>
          <a:xfrm>
            <a:off x="4140200" y="3022600"/>
            <a:ext cx="165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# saves new facts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2F2AA75-D2E9-DA4B-BFDE-AC086DBEEA81}"/>
              </a:ext>
            </a:extLst>
          </p:cNvPr>
          <p:cNvSpPr/>
          <p:nvPr/>
        </p:nvSpPr>
        <p:spPr>
          <a:xfrm>
            <a:off x="6299200" y="2514600"/>
            <a:ext cx="2362200" cy="1117600"/>
          </a:xfrm>
          <a:prstGeom prst="roundRect">
            <a:avLst/>
          </a:prstGeom>
          <a:solidFill>
            <a:srgbClr val="212129"/>
          </a:solidFill>
          <a:ln w="1905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BBC884-3300-DB44-A484-072D9DE0AE7F}"/>
              </a:ext>
            </a:extLst>
          </p:cNvPr>
          <p:cNvSpPr/>
          <p:nvPr/>
        </p:nvSpPr>
        <p:spPr>
          <a:xfrm>
            <a:off x="6451600" y="2717800"/>
            <a:ext cx="330200" cy="3302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7171D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EBFAC0-2EF5-9E47-A4D1-75BD5E495765}"/>
              </a:ext>
            </a:extLst>
          </p:cNvPr>
          <p:cNvSpPr txBox="1"/>
          <p:nvPr/>
        </p:nvSpPr>
        <p:spPr>
          <a:xfrm>
            <a:off x="6883400" y="2692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File updated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AE9385-40C6-424F-BC37-BFBFD0C956E3}"/>
              </a:ext>
            </a:extLst>
          </p:cNvPr>
          <p:cNvSpPr txBox="1"/>
          <p:nvPr/>
        </p:nvSpPr>
        <p:spPr>
          <a:xfrm>
            <a:off x="6883400" y="3022600"/>
            <a:ext cx="165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300" dirty="0">
                <a:solidFill>
                  <a:srgbClr val="8B949E"/>
                </a:solidFill>
              </a:rPr>
              <a:t>memory saved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6B3E48-5D7B-2243-9529-5269087F64F2}"/>
              </a:ext>
            </a:extLst>
          </p:cNvPr>
          <p:cNvSpPr/>
          <p:nvPr/>
        </p:nvSpPr>
        <p:spPr>
          <a:xfrm>
            <a:off x="9042400" y="2514600"/>
            <a:ext cx="2362200" cy="1117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2B93326-34F7-104D-B47C-4016C4C07A00}"/>
              </a:ext>
            </a:extLst>
          </p:cNvPr>
          <p:cNvSpPr/>
          <p:nvPr/>
        </p:nvSpPr>
        <p:spPr>
          <a:xfrm>
            <a:off x="9194800" y="2717800"/>
            <a:ext cx="330200" cy="3302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17171D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8DDAC0-14F8-904C-AB94-008E5D9C6262}"/>
              </a:ext>
            </a:extLst>
          </p:cNvPr>
          <p:cNvSpPr txBox="1"/>
          <p:nvPr/>
        </p:nvSpPr>
        <p:spPr>
          <a:xfrm>
            <a:off x="9626600" y="2692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Session ends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6A0709-3C9D-E241-AD1A-FD45E7DE074C}"/>
              </a:ext>
            </a:extLst>
          </p:cNvPr>
          <p:cNvSpPr txBox="1"/>
          <p:nvPr/>
        </p:nvSpPr>
        <p:spPr>
          <a:xfrm>
            <a:off x="9626600" y="3022600"/>
            <a:ext cx="165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the chat is forgotten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B1E57166-AF04-CA46-8705-A7F10F15B104}"/>
              </a:ext>
            </a:extLst>
          </p:cNvPr>
          <p:cNvSpPr/>
          <p:nvPr/>
        </p:nvSpPr>
        <p:spPr>
          <a:xfrm>
            <a:off x="3225800" y="2921000"/>
            <a:ext cx="304800" cy="3048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5C9E3C5-5916-D745-A90B-F8AB989DCBA0}"/>
              </a:ext>
            </a:extLst>
          </p:cNvPr>
          <p:cNvSpPr/>
          <p:nvPr/>
        </p:nvSpPr>
        <p:spPr>
          <a:xfrm>
            <a:off x="5969000" y="2921000"/>
            <a:ext cx="304800" cy="3048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3C603E61-35A0-5A42-A4EA-21A2011FA103}"/>
              </a:ext>
            </a:extLst>
          </p:cNvPr>
          <p:cNvSpPr/>
          <p:nvPr/>
        </p:nvSpPr>
        <p:spPr>
          <a:xfrm>
            <a:off x="8712200" y="2921000"/>
            <a:ext cx="304800" cy="3048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Left Arrow 26">
            <a:extLst>
              <a:ext uri="{FF2B5EF4-FFF2-40B4-BE49-F238E27FC236}">
                <a16:creationId xmlns:a16="http://schemas.microsoft.com/office/drawing/2014/main" id="{57F95AE6-0E47-4648-9FF1-6569B222D76B}"/>
              </a:ext>
            </a:extLst>
          </p:cNvPr>
          <p:cNvSpPr/>
          <p:nvPr/>
        </p:nvSpPr>
        <p:spPr>
          <a:xfrm>
            <a:off x="1524000" y="3835400"/>
            <a:ext cx="9144000" cy="431800"/>
          </a:xfrm>
          <a:prstGeom prst="leftArrow">
            <a:avLst/>
          </a:prstGeom>
          <a:solidFill>
            <a:srgbClr val="212129"/>
          </a:solidFill>
          <a:ln w="15875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255360-E0DC-4241-BD57-B378959F150A}"/>
              </a:ext>
            </a:extLst>
          </p:cNvPr>
          <p:cNvSpPr txBox="1"/>
          <p:nvPr/>
        </p:nvSpPr>
        <p:spPr>
          <a:xfrm>
            <a:off x="1524000" y="3835400"/>
            <a:ext cx="9144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Next session: the file is read again — nothing important is lost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7D7C6A0-AEF5-234F-B6EF-0C900C0F8F33}"/>
              </a:ext>
            </a:extLst>
          </p:cNvPr>
          <p:cNvSpPr/>
          <p:nvPr/>
        </p:nvSpPr>
        <p:spPr>
          <a:xfrm>
            <a:off x="812800" y="4521200"/>
            <a:ext cx="5156200" cy="1879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36987F-8C8E-0A4D-87E5-0719949EBD28}"/>
              </a:ext>
            </a:extLst>
          </p:cNvPr>
          <p:cNvSpPr txBox="1"/>
          <p:nvPr/>
        </p:nvSpPr>
        <p:spPr>
          <a:xfrm>
            <a:off x="1066800" y="47244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E06C75"/>
                </a:solidFill>
                <a:latin typeface="Consolas"/>
                <a:cs typeface="Consolas"/>
              </a:rPr>
              <a:t>WITHOUT CLAUDE.md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E69F81-98AD-6D4D-95D2-CB5408E6E92C}"/>
              </a:ext>
            </a:extLst>
          </p:cNvPr>
          <p:cNvSpPr txBox="1"/>
          <p:nvPr/>
        </p:nvSpPr>
        <p:spPr>
          <a:xfrm>
            <a:off x="1066800" y="5080000"/>
            <a:ext cx="46482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▸  Starts from zero every session
▸  You repeat the same explanations
▸  Old decisions get forgotten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0CC671B-E510-4749-A9EB-C13E2A22F373}"/>
              </a:ext>
            </a:extLst>
          </p:cNvPr>
          <p:cNvSpPr/>
          <p:nvPr/>
        </p:nvSpPr>
        <p:spPr>
          <a:xfrm>
            <a:off x="6223000" y="4521200"/>
            <a:ext cx="5156200" cy="1879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E60BD5-4F63-5B46-838D-CC722BE35F0A}"/>
              </a:ext>
            </a:extLst>
          </p:cNvPr>
          <p:cNvSpPr txBox="1"/>
          <p:nvPr/>
        </p:nvSpPr>
        <p:spPr>
          <a:xfrm>
            <a:off x="6477000" y="47244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7EE787"/>
                </a:solidFill>
                <a:latin typeface="Consolas"/>
                <a:cs typeface="Consolas"/>
              </a:rPr>
              <a:t>WITH CLAUDE.md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B05CD5-327A-1B42-AE6B-F21C89661909}"/>
              </a:ext>
            </a:extLst>
          </p:cNvPr>
          <p:cNvSpPr txBox="1"/>
          <p:nvPr/>
        </p:nvSpPr>
        <p:spPr>
          <a:xfrm>
            <a:off x="6477000" y="5080000"/>
            <a:ext cx="46482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▸  Context is loaded before you type
▸  # adds new facts as you work
▸  Picks up right where you left off</a:t>
            </a:r>
          </a:p>
        </p:txBody>
      </p:sp>
    </p:spTree>
    <p:extLst>
      <p:ext uri="{BB962C8B-B14F-4D97-AF65-F5344CB8AC3E}">
        <p14:creationId xmlns:p14="http://schemas.microsoft.com/office/powerpoint/2010/main" val="2322222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61DBDE-5AD2-464C-8BF1-FB0A981D49A0}"/>
              </a:ext>
            </a:extLst>
          </p:cNvPr>
          <p:cNvSpPr/>
          <p:nvPr/>
        </p:nvSpPr>
        <p:spPr>
          <a:xfrm>
            <a:off x="0" y="9427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C8AE6-85DB-4741-843D-4D000B490AF6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D4AAC-5DAA-B64D-9EAE-254650A6F396}"/>
              </a:ext>
            </a:extLst>
          </p:cNvPr>
          <p:cNvSpPr txBox="1"/>
          <p:nvPr/>
        </p:nvSpPr>
        <p:spPr>
          <a:xfrm>
            <a:off x="812800" y="939800"/>
            <a:ext cx="2184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88C91-AD16-E843-90A7-4030DD656B53}"/>
              </a:ext>
            </a:extLst>
          </p:cNvPr>
          <p:cNvSpPr txBox="1"/>
          <p:nvPr/>
        </p:nvSpPr>
        <p:spPr>
          <a:xfrm>
            <a:off x="3048000" y="1092200"/>
            <a:ext cx="812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Teach it once, remembered for good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3C320C-A2AD-B74C-9E95-D22F319671C9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6CE2D-EA7D-F742-8DB5-3DC37A3974FD}"/>
              </a:ext>
            </a:extLst>
          </p:cNvPr>
          <p:cNvSpPr txBox="1"/>
          <p:nvPr/>
        </p:nvSpPr>
        <p:spPr>
          <a:xfrm>
            <a:off x="812800" y="2032000"/>
            <a:ext cx="508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A fast way to save facts and rules mid-session. Type # and Claude tucks it into a memory file it reloads next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E003D-747A-844E-83B2-1736DBD51DF4}"/>
              </a:ext>
            </a:extLst>
          </p:cNvPr>
          <p:cNvSpPr txBox="1"/>
          <p:nvPr/>
        </p:nvSpPr>
        <p:spPr>
          <a:xfrm>
            <a:off x="812800" y="2717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WHEN TO 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514A9-D80E-E049-B4B0-684452449B64}"/>
              </a:ext>
            </a:extLst>
          </p:cNvPr>
          <p:cNvSpPr txBox="1"/>
          <p:nvPr/>
        </p:nvSpPr>
        <p:spPr>
          <a:xfrm>
            <a:off x="812800" y="30480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You catch yourself re-explaining the same rule
▸  You make a decision worth keeping
▸  You want control over what Claude remembers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0C6E6-C3BB-9C43-AFDA-FDE50A26D019}"/>
              </a:ext>
            </a:extLst>
          </p:cNvPr>
          <p:cNvSpPr txBox="1"/>
          <p:nvPr/>
        </p:nvSpPr>
        <p:spPr>
          <a:xfrm>
            <a:off x="812800" y="4267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THREE PLACES IT SAVES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37A8C-754C-004B-A498-2B798E6E481C}"/>
              </a:ext>
            </a:extLst>
          </p:cNvPr>
          <p:cNvSpPr txBox="1"/>
          <p:nvPr/>
        </p:nvSpPr>
        <p:spPr>
          <a:xfrm>
            <a:off x="812800" y="45974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Project  — ./CLAUDE.md, shared with the team
▸  User     — ~/.claude, across all your projects
▸  Local    — just this machine, not committed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FE9ED3-EBD0-C24F-9D4E-0B2CA7BD1C35}"/>
              </a:ext>
            </a:extLst>
          </p:cNvPr>
          <p:cNvSpPr/>
          <p:nvPr/>
        </p:nvSpPr>
        <p:spPr>
          <a:xfrm>
            <a:off x="812800" y="5791200"/>
            <a:ext cx="5080000" cy="508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828BD-987F-9346-AB77-8CFE8941086E}"/>
              </a:ext>
            </a:extLst>
          </p:cNvPr>
          <p:cNvSpPr txBox="1"/>
          <p:nvPr/>
        </p:nvSpPr>
        <p:spPr>
          <a:xfrm>
            <a:off x="990600" y="5892800"/>
            <a:ext cx="4724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Tip:  run  /memory  to view &amp; edit memory files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D02837-3CC7-1D48-84ED-9A5330C0AEB7}"/>
              </a:ext>
            </a:extLst>
          </p:cNvPr>
          <p:cNvSpPr/>
          <p:nvPr/>
        </p:nvSpPr>
        <p:spPr>
          <a:xfrm>
            <a:off x="6299200" y="2032000"/>
            <a:ext cx="5080000" cy="42672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1AE566-8E12-2F40-B7A6-30961627F5C3}"/>
              </a:ext>
            </a:extLst>
          </p:cNvPr>
          <p:cNvSpPr/>
          <p:nvPr/>
        </p:nvSpPr>
        <p:spPr>
          <a:xfrm>
            <a:off x="6527800" y="22606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BB57D5-E991-1D4C-B091-F9BC7B128F38}"/>
              </a:ext>
            </a:extLst>
          </p:cNvPr>
          <p:cNvSpPr/>
          <p:nvPr/>
        </p:nvSpPr>
        <p:spPr>
          <a:xfrm>
            <a:off x="6807200" y="22606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9471C7-128F-7149-B88A-03848A092009}"/>
              </a:ext>
            </a:extLst>
          </p:cNvPr>
          <p:cNvSpPr/>
          <p:nvPr/>
        </p:nvSpPr>
        <p:spPr>
          <a:xfrm>
            <a:off x="7086600" y="22606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714BCC-F66E-3446-83C8-AE561AEF2E11}"/>
              </a:ext>
            </a:extLst>
          </p:cNvPr>
          <p:cNvSpPr txBox="1"/>
          <p:nvPr/>
        </p:nvSpPr>
        <p:spPr>
          <a:xfrm>
            <a:off x="6553200" y="2590800"/>
            <a:ext cx="45720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E0A88F"/>
                </a:solidFill>
                <a:latin typeface="Consolas"/>
              </a:rPr>
              <a:t>&gt; # always run prettier before commit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Saved to project memory (CLAUDE.md)</a:t>
            </a:r>
          </a:p>
          <a:p>
            <a:pPr>
              <a:lnSpc>
                <a:spcPts val="1800"/>
              </a:lnSpc>
            </a:pPr>
            <a:endParaRPr lang="en-US" sz="1300"/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E0A88F"/>
                </a:solidFill>
                <a:latin typeface="Consolas"/>
              </a:rPr>
              <a:t>&gt; /memory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Consolas"/>
              </a:rPr>
              <a:t>Choose a memory to edit: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1. Project   ./CLAUDE.md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2. User      ~/.claude/CLAUDE.md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3. Local     ./.claude/local.md</a:t>
            </a:r>
          </a:p>
          <a:p>
            <a:pPr>
              <a:lnSpc>
                <a:spcPts val="1800"/>
              </a:lnSpc>
            </a:pPr>
            <a:endParaRPr lang="en-US" sz="1300"/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Next session, Claude just knows.</a:t>
            </a:r>
          </a:p>
        </p:txBody>
      </p:sp>
    </p:spTree>
    <p:extLst>
      <p:ext uri="{BB962C8B-B14F-4D97-AF65-F5344CB8AC3E}">
        <p14:creationId xmlns:p14="http://schemas.microsoft.com/office/powerpoint/2010/main" val="908681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2623C2-69EC-D142-94B6-906B5BFF55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BC714-475F-2A4C-A1C0-E6E805C69AB3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4ECA1-8C30-DA46-852F-B8BF8E059033}"/>
              </a:ext>
            </a:extLst>
          </p:cNvPr>
          <p:cNvSpPr txBox="1"/>
          <p:nvPr/>
        </p:nvSpPr>
        <p:spPr>
          <a:xfrm>
            <a:off x="812800" y="939800"/>
            <a:ext cx="16510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6ECB5-C104-3B43-AE35-F49A2753A539}"/>
              </a:ext>
            </a:extLst>
          </p:cNvPr>
          <p:cNvSpPr txBox="1"/>
          <p:nvPr/>
        </p:nvSpPr>
        <p:spPr>
          <a:xfrm>
            <a:off x="2667000" y="1092200"/>
            <a:ext cx="825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how Claude Code gets things done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3F175-A6F0-C648-927B-33D88A5E2360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4FC0B-3E2D-6742-81FC-49EB77BE6F56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Every action Claude takes goes through a tool — some are built in, the rest plug in through MCP.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968982-4601-9A49-A086-4DD7037C68A8}"/>
              </a:ext>
            </a:extLst>
          </p:cNvPr>
          <p:cNvSpPr/>
          <p:nvPr/>
        </p:nvSpPr>
        <p:spPr>
          <a:xfrm>
            <a:off x="812800" y="2489200"/>
            <a:ext cx="5156200" cy="1879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3577D-B526-7344-A28A-B4467B1D9DA8}"/>
              </a:ext>
            </a:extLst>
          </p:cNvPr>
          <p:cNvSpPr txBox="1"/>
          <p:nvPr/>
        </p:nvSpPr>
        <p:spPr>
          <a:xfrm>
            <a:off x="1066800" y="2692400"/>
            <a:ext cx="4648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7EE787"/>
                </a:solidFill>
                <a:latin typeface="Consolas"/>
                <a:cs typeface="Consolas"/>
              </a:rPr>
              <a:t>BUILT-IN TOOLS — hands on your computer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C8B10-34EF-7C4E-9F3F-B9FF23394CB6}"/>
              </a:ext>
            </a:extLst>
          </p:cNvPr>
          <p:cNvSpPr txBox="1"/>
          <p:nvPr/>
        </p:nvSpPr>
        <p:spPr>
          <a:xfrm>
            <a:off x="1066800" y="3048000"/>
            <a:ext cx="46482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▸  Read and edit your files
▸  Run commands, tests, and git
▸  Search your whole codebase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A3AFF1-8B3F-C145-AEA6-13039380AE9D}"/>
              </a:ext>
            </a:extLst>
          </p:cNvPr>
          <p:cNvSpPr/>
          <p:nvPr/>
        </p:nvSpPr>
        <p:spPr>
          <a:xfrm>
            <a:off x="6223000" y="2489200"/>
            <a:ext cx="5156200" cy="1879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50686-C3C4-6E4B-83B7-69CF23FF7950}"/>
              </a:ext>
            </a:extLst>
          </p:cNvPr>
          <p:cNvSpPr txBox="1"/>
          <p:nvPr/>
        </p:nvSpPr>
        <p:spPr>
          <a:xfrm>
            <a:off x="6477000" y="2692400"/>
            <a:ext cx="46482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MCP TOOLS — hands on everything else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327C7B-1220-F145-BC6A-F96A3AAC2F44}"/>
              </a:ext>
            </a:extLst>
          </p:cNvPr>
          <p:cNvSpPr txBox="1"/>
          <p:nvPr/>
        </p:nvSpPr>
        <p:spPr>
          <a:xfrm>
            <a:off x="6477000" y="3048000"/>
            <a:ext cx="46482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▸  GitHub, databases, Slack, browsers
▸  Added with:  claude mcp add
▸  Each server = a new set of tools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2782EE-1A5E-2B4F-918D-84584718CB65}"/>
              </a:ext>
            </a:extLst>
          </p:cNvPr>
          <p:cNvSpPr/>
          <p:nvPr/>
        </p:nvSpPr>
        <p:spPr>
          <a:xfrm>
            <a:off x="812800" y="47244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0A7947-52C6-954F-8F20-116862AC4535}"/>
              </a:ext>
            </a:extLst>
          </p:cNvPr>
          <p:cNvSpPr/>
          <p:nvPr/>
        </p:nvSpPr>
        <p:spPr>
          <a:xfrm>
            <a:off x="1016000" y="50292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04E644-6DF9-454B-8456-5E2FBEBA24EA}"/>
              </a:ext>
            </a:extLst>
          </p:cNvPr>
          <p:cNvSpPr txBox="1"/>
          <p:nvPr/>
        </p:nvSpPr>
        <p:spPr>
          <a:xfrm>
            <a:off x="1524000" y="4927600"/>
            <a:ext cx="231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Claude proposes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16A363-6020-A04E-B1B2-2895615BF1DC}"/>
              </a:ext>
            </a:extLst>
          </p:cNvPr>
          <p:cNvSpPr txBox="1"/>
          <p:nvPr/>
        </p:nvSpPr>
        <p:spPr>
          <a:xfrm>
            <a:off x="1524000" y="5257800"/>
            <a:ext cx="2311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“I’ll run npm test”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2D8D25-71F3-634F-825D-5EF247729E09}"/>
              </a:ext>
            </a:extLst>
          </p:cNvPr>
          <p:cNvSpPr/>
          <p:nvPr/>
        </p:nvSpPr>
        <p:spPr>
          <a:xfrm>
            <a:off x="4495800" y="47244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8F67F6-D645-9B4C-B8D8-AAABC840F8C7}"/>
              </a:ext>
            </a:extLst>
          </p:cNvPr>
          <p:cNvSpPr/>
          <p:nvPr/>
        </p:nvSpPr>
        <p:spPr>
          <a:xfrm>
            <a:off x="4699000" y="50292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335AE3-3B75-3A49-9511-1C80B5D631D5}"/>
              </a:ext>
            </a:extLst>
          </p:cNvPr>
          <p:cNvSpPr txBox="1"/>
          <p:nvPr/>
        </p:nvSpPr>
        <p:spPr>
          <a:xfrm>
            <a:off x="5207000" y="4927600"/>
            <a:ext cx="231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You approve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B9B158-7D77-DC42-98D2-113D1DD18B7B}"/>
              </a:ext>
            </a:extLst>
          </p:cNvPr>
          <p:cNvSpPr txBox="1"/>
          <p:nvPr/>
        </p:nvSpPr>
        <p:spPr>
          <a:xfrm>
            <a:off x="5207000" y="5257800"/>
            <a:ext cx="2311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once — or allowlist it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4B16FB5-EED4-BA4B-9780-FF35FEEABCD3}"/>
              </a:ext>
            </a:extLst>
          </p:cNvPr>
          <p:cNvSpPr/>
          <p:nvPr/>
        </p:nvSpPr>
        <p:spPr>
          <a:xfrm>
            <a:off x="8178800" y="4724400"/>
            <a:ext cx="3175000" cy="9906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8315FD7-5FF9-2149-A1AE-A55ED44179B4}"/>
              </a:ext>
            </a:extLst>
          </p:cNvPr>
          <p:cNvSpPr/>
          <p:nvPr/>
        </p:nvSpPr>
        <p:spPr>
          <a:xfrm>
            <a:off x="8382000" y="5029200"/>
            <a:ext cx="381000" cy="381000"/>
          </a:xfrm>
          <a:prstGeom prst="ellipse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7171D"/>
                </a:solidFill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E20E15-3679-D64A-BAF7-AF83F83C6542}"/>
              </a:ext>
            </a:extLst>
          </p:cNvPr>
          <p:cNvSpPr txBox="1"/>
          <p:nvPr/>
        </p:nvSpPr>
        <p:spPr>
          <a:xfrm>
            <a:off x="8890000" y="4927600"/>
            <a:ext cx="2311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It runs &amp; reports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DE5B3F-472A-234B-BB62-DE19EF87E08F}"/>
              </a:ext>
            </a:extLst>
          </p:cNvPr>
          <p:cNvSpPr txBox="1"/>
          <p:nvPr/>
        </p:nvSpPr>
        <p:spPr>
          <a:xfrm>
            <a:off x="8890000" y="5257800"/>
            <a:ext cx="23114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8B949E"/>
                </a:solidFill>
              </a:rPr>
              <a:t>results come back to chat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89138AE0-CEE6-B44D-94DD-37B236B69335}"/>
              </a:ext>
            </a:extLst>
          </p:cNvPr>
          <p:cNvSpPr/>
          <p:nvPr/>
        </p:nvSpPr>
        <p:spPr>
          <a:xfrm>
            <a:off x="4038600" y="50546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0587170-ED5F-DF4D-9C63-769D22E395F9}"/>
              </a:ext>
            </a:extLst>
          </p:cNvPr>
          <p:cNvSpPr/>
          <p:nvPr/>
        </p:nvSpPr>
        <p:spPr>
          <a:xfrm>
            <a:off x="7721600" y="5054600"/>
            <a:ext cx="406400" cy="330200"/>
          </a:xfrm>
          <a:prstGeom prst="rightArrow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297AE8-9937-AE4C-9B80-F884F256A56B}"/>
              </a:ext>
            </a:extLst>
          </p:cNvPr>
          <p:cNvSpPr txBox="1"/>
          <p:nvPr/>
        </p:nvSpPr>
        <p:spPr>
          <a:xfrm>
            <a:off x="812800" y="4394200"/>
            <a:ext cx="635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E0A88F"/>
                </a:solidFill>
                <a:latin typeface="Consolas"/>
                <a:cs typeface="Consolas"/>
              </a:rPr>
              <a:t>THE PERMISSION FLOW — same for both kinds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F4E349-A77A-504B-997C-D15F5B38EF30}"/>
              </a:ext>
            </a:extLst>
          </p:cNvPr>
          <p:cNvSpPr txBox="1"/>
          <p:nvPr/>
        </p:nvSpPr>
        <p:spPr>
          <a:xfrm>
            <a:off x="812800" y="5969000"/>
            <a:ext cx="105664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8B949E"/>
                </a:solidFill>
              </a:rPr>
              <a:t>You’re always in control: nothing runs until you say yes.</a:t>
            </a:r>
          </a:p>
        </p:txBody>
      </p:sp>
    </p:spTree>
    <p:extLst>
      <p:ext uri="{BB962C8B-B14F-4D97-AF65-F5344CB8AC3E}">
        <p14:creationId xmlns:p14="http://schemas.microsoft.com/office/powerpoint/2010/main" val="1626381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41EB41-036B-0E44-9686-69DF390841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317C0-29A0-4F43-A460-500C01802D91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5400A-47D5-D348-A122-A44F7A3F9EE1}"/>
              </a:ext>
            </a:extLst>
          </p:cNvPr>
          <p:cNvSpPr txBox="1"/>
          <p:nvPr/>
        </p:nvSpPr>
        <p:spPr>
          <a:xfrm>
            <a:off x="812800" y="939800"/>
            <a:ext cx="584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MCP connectors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57E43-418C-0643-A042-A9D4A26E688C}"/>
              </a:ext>
            </a:extLst>
          </p:cNvPr>
          <p:cNvSpPr txBox="1"/>
          <p:nvPr/>
        </p:nvSpPr>
        <p:spPr>
          <a:xfrm>
            <a:off x="6680200" y="1092200"/>
            <a:ext cx="457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Plug Claude into your tools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AC4A36-F63A-6745-B13A-3EEF344E2C9F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467A0-2A50-FE48-93E3-FF990B5F4767}"/>
              </a:ext>
            </a:extLst>
          </p:cNvPr>
          <p:cNvSpPr txBox="1"/>
          <p:nvPr/>
        </p:nvSpPr>
        <p:spPr>
          <a:xfrm>
            <a:off x="812800" y="2032000"/>
            <a:ext cx="508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MCP (Model Context Protocol) is an open standard that lets Claude Code read and act on outside systems — not just your files.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E5378-3D52-E74A-B9E4-7E05F615ADE6}"/>
              </a:ext>
            </a:extLst>
          </p:cNvPr>
          <p:cNvSpPr txBox="1"/>
          <p:nvPr/>
        </p:nvSpPr>
        <p:spPr>
          <a:xfrm>
            <a:off x="812800" y="2717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WHAT YOU CAN 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868FED-7279-BF4A-BC90-2369D7058EA7}"/>
              </a:ext>
            </a:extLst>
          </p:cNvPr>
          <p:cNvSpPr txBox="1"/>
          <p:nvPr/>
        </p:nvSpPr>
        <p:spPr>
          <a:xfrm>
            <a:off x="812800" y="30480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GitHub — read issues, open &amp; review PRs
▸  Databases — query real data safely
▸  Slack, browsers, APIs, and many more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7DAD7-5224-234E-B21F-6E65CBA9852B}"/>
              </a:ext>
            </a:extLst>
          </p:cNvPr>
          <p:cNvSpPr txBox="1"/>
          <p:nvPr/>
        </p:nvSpPr>
        <p:spPr>
          <a:xfrm>
            <a:off x="812800" y="4267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97757"/>
                </a:solidFill>
                <a:latin typeface="Consolas"/>
                <a:cs typeface="Consolas"/>
              </a:rPr>
              <a:t>HOW TO 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2AB97-A8FA-0C4C-A6E9-37161D68E7F5}"/>
              </a:ext>
            </a:extLst>
          </p:cNvPr>
          <p:cNvSpPr txBox="1"/>
          <p:nvPr/>
        </p:nvSpPr>
        <p:spPr>
          <a:xfrm>
            <a:off x="812800" y="4597400"/>
            <a:ext cx="508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▸  claude mcp add &lt;name&gt;  to connect a server
▸  claude mcp list  to see what’s wired up
▸  Then just ask — Claude calls the tools for you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B2E30D7-69B9-364D-9241-D81A0E8DB3BE}"/>
              </a:ext>
            </a:extLst>
          </p:cNvPr>
          <p:cNvSpPr/>
          <p:nvPr/>
        </p:nvSpPr>
        <p:spPr>
          <a:xfrm>
            <a:off x="812800" y="5791200"/>
            <a:ext cx="5080000" cy="508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5349AF-2DB7-7248-B486-566929848204}"/>
              </a:ext>
            </a:extLst>
          </p:cNvPr>
          <p:cNvSpPr txBox="1"/>
          <p:nvPr/>
        </p:nvSpPr>
        <p:spPr>
          <a:xfrm>
            <a:off x="990600" y="5892800"/>
            <a:ext cx="47244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Tip:  share servers via a .mcp.json in your repo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D5DFE0A-A4EF-554C-A71C-640D1B688F36}"/>
              </a:ext>
            </a:extLst>
          </p:cNvPr>
          <p:cNvSpPr/>
          <p:nvPr/>
        </p:nvSpPr>
        <p:spPr>
          <a:xfrm>
            <a:off x="6299200" y="2032000"/>
            <a:ext cx="5080000" cy="42672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56F2DB-EAA5-6E45-9B2E-BB9BAA04B452}"/>
              </a:ext>
            </a:extLst>
          </p:cNvPr>
          <p:cNvSpPr/>
          <p:nvPr/>
        </p:nvSpPr>
        <p:spPr>
          <a:xfrm>
            <a:off x="6527800" y="22606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1E1F52-A942-7145-BB4E-E0B0A269457C}"/>
              </a:ext>
            </a:extLst>
          </p:cNvPr>
          <p:cNvSpPr/>
          <p:nvPr/>
        </p:nvSpPr>
        <p:spPr>
          <a:xfrm>
            <a:off x="6807200" y="22606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97E387C-50B3-7042-9CE4-F807ACB9883E}"/>
              </a:ext>
            </a:extLst>
          </p:cNvPr>
          <p:cNvSpPr/>
          <p:nvPr/>
        </p:nvSpPr>
        <p:spPr>
          <a:xfrm>
            <a:off x="7086600" y="22606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86E523-90A1-A54C-94BC-394FF5D8015F}"/>
              </a:ext>
            </a:extLst>
          </p:cNvPr>
          <p:cNvSpPr txBox="1"/>
          <p:nvPr/>
        </p:nvSpPr>
        <p:spPr>
          <a:xfrm>
            <a:off x="6553200" y="2590800"/>
            <a:ext cx="45720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claude mcp add github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Connected: github (12 tools)</a:t>
            </a:r>
          </a:p>
          <a:p>
            <a:pPr>
              <a:lnSpc>
                <a:spcPts val="1800"/>
              </a:lnSpc>
            </a:pPr>
            <a:endParaRPr lang="en-US" sz="1300"/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E0A88F"/>
                </a:solidFill>
                <a:latin typeface="Consolas"/>
              </a:rPr>
              <a:t>&gt; list my open PRs in this repo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8B949E"/>
                </a:solidFill>
                <a:latin typeface="Consolas"/>
              </a:rPr>
              <a:t>github: fetching pull requests...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#42  Fix login bug      (2 files)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C9CDD3"/>
                </a:solidFill>
                <a:latin typeface="Consolas"/>
              </a:rPr>
              <a:t>  #47  Add dark mode      (5 files)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E0A88F"/>
                </a:solidFill>
                <a:latin typeface="Consolas"/>
              </a:rPr>
              <a:t>&gt; review #47 and leave comments</a:t>
            </a:r>
          </a:p>
          <a:p>
            <a:pPr>
              <a:lnSpc>
                <a:spcPts val="1800"/>
              </a:lnSpc>
            </a:pPr>
            <a:r>
              <a:rPr lang="en-US" sz="1300" dirty="0">
                <a:solidFill>
                  <a:srgbClr val="7EE787"/>
                </a:solidFill>
                <a:latin typeface="Consolas"/>
              </a:rPr>
              <a:t>✓ Posted 3 review comments</a:t>
            </a:r>
          </a:p>
        </p:txBody>
      </p:sp>
    </p:spTree>
    <p:extLst>
      <p:ext uri="{BB962C8B-B14F-4D97-AF65-F5344CB8AC3E}">
        <p14:creationId xmlns:p14="http://schemas.microsoft.com/office/powerpoint/2010/main" val="2895827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237E6-0871-CD47-9206-C8FD72D47E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B563B-F6C1-CA40-8F65-B706101EED29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D1CD9-3F4A-A447-8CFB-E61447288E8A}"/>
              </a:ext>
            </a:extLst>
          </p:cNvPr>
          <p:cNvSpPr txBox="1"/>
          <p:nvPr/>
        </p:nvSpPr>
        <p:spPr>
          <a:xfrm>
            <a:off x="812800" y="939800"/>
            <a:ext cx="1981200" cy="63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4000" b="1">
                <a:solidFill>
                  <a:srgbClr val="D97757"/>
                </a:solidFill>
                <a:latin typeface="Consolas"/>
                <a:cs typeface="Consolas"/>
              </a:rPr>
              <a:t>Skills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8D7DF-B96A-3146-A5D9-D4F83224D77E}"/>
              </a:ext>
            </a:extLst>
          </p:cNvPr>
          <p:cNvSpPr txBox="1"/>
          <p:nvPr/>
        </p:nvSpPr>
        <p:spPr>
          <a:xfrm>
            <a:off x="2997200" y="1092200"/>
            <a:ext cx="792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teach it a playbook once, reuse it forever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8ED07-80EE-3B41-9EDD-23DE4A131A43}"/>
              </a:ext>
            </a:extLst>
          </p:cNvPr>
          <p:cNvSpPr/>
          <p:nvPr/>
        </p:nvSpPr>
        <p:spPr>
          <a:xfrm>
            <a:off x="838200" y="16764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B7DF5-80FE-E145-A840-8728230F1CEB}"/>
              </a:ext>
            </a:extLst>
          </p:cNvPr>
          <p:cNvSpPr txBox="1"/>
          <p:nvPr/>
        </p:nvSpPr>
        <p:spPr>
          <a:xfrm>
            <a:off x="812800" y="2006600"/>
            <a:ext cx="105664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>
                <a:solidFill>
                  <a:srgbClr val="C9CDD3"/>
                </a:solidFill>
              </a:rPr>
              <a:t>A skill is a small folder of instructions (SKILL.md) that teaches Claude one job — loaded whenever it’s needed.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5DBF5B-8EA6-5B43-9C9C-2097BE5B1865}"/>
              </a:ext>
            </a:extLst>
          </p:cNvPr>
          <p:cNvSpPr/>
          <p:nvPr/>
        </p:nvSpPr>
        <p:spPr>
          <a:xfrm>
            <a:off x="812800" y="25146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1822C3-DE38-9C4C-A28D-F778BC6C4104}"/>
              </a:ext>
            </a:extLst>
          </p:cNvPr>
          <p:cNvSpPr txBox="1"/>
          <p:nvPr/>
        </p:nvSpPr>
        <p:spPr>
          <a:xfrm>
            <a:off x="1066800" y="2717800"/>
            <a:ext cx="4775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/lab-report  —  Lab-report writer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CF95E-9477-E647-8F18-CDB21E843E88}"/>
              </a:ext>
            </a:extLst>
          </p:cNvPr>
          <p:cNvSpPr txBox="1"/>
          <p:nvPr/>
        </p:nvSpPr>
        <p:spPr>
          <a:xfrm>
            <a:off x="1066800" y="3124200"/>
            <a:ext cx="477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Saves your teacher’s exact format — every write-up comes out right, first try.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6F26E2C-16E7-6141-B3A1-3636020DED95}"/>
              </a:ext>
            </a:extLst>
          </p:cNvPr>
          <p:cNvSpPr/>
          <p:nvPr/>
        </p:nvSpPr>
        <p:spPr>
          <a:xfrm>
            <a:off x="1066800" y="39370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3A8AC3-7A78-8A44-B783-9C17A88BDC28}"/>
              </a:ext>
            </a:extLst>
          </p:cNvPr>
          <p:cNvSpPr txBox="1"/>
          <p:nvPr/>
        </p:nvSpPr>
        <p:spPr>
          <a:xfrm>
            <a:off x="1193800" y="4013200"/>
            <a:ext cx="4521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/lab-report photosynthesis data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15FA3A8-3535-0F45-BC17-657004826FE8}"/>
              </a:ext>
            </a:extLst>
          </p:cNvPr>
          <p:cNvSpPr/>
          <p:nvPr/>
        </p:nvSpPr>
        <p:spPr>
          <a:xfrm>
            <a:off x="6502400" y="25146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462FB-EBBD-3F49-A6FF-FB7525F57839}"/>
              </a:ext>
            </a:extLst>
          </p:cNvPr>
          <p:cNvSpPr txBox="1"/>
          <p:nvPr/>
        </p:nvSpPr>
        <p:spPr>
          <a:xfrm>
            <a:off x="6756400" y="2717800"/>
            <a:ext cx="4775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/flashcards  —  Flashcard maker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20633-74E6-5240-BE5C-A0B01123B44B}"/>
              </a:ext>
            </a:extLst>
          </p:cNvPr>
          <p:cNvSpPr txBox="1"/>
          <p:nvPr/>
        </p:nvSpPr>
        <p:spPr>
          <a:xfrm>
            <a:off x="6756400" y="3124200"/>
            <a:ext cx="477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Turns any notes into study cards the same way, every time — great before a test.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05DA13-CA00-674D-8F96-067D7DD3394D}"/>
              </a:ext>
            </a:extLst>
          </p:cNvPr>
          <p:cNvSpPr/>
          <p:nvPr/>
        </p:nvSpPr>
        <p:spPr>
          <a:xfrm>
            <a:off x="6756400" y="39370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93C15-264F-8042-9B79-C4E7997CD320}"/>
              </a:ext>
            </a:extLst>
          </p:cNvPr>
          <p:cNvSpPr txBox="1"/>
          <p:nvPr/>
        </p:nvSpPr>
        <p:spPr>
          <a:xfrm>
            <a:off x="6883400" y="4013200"/>
            <a:ext cx="4521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/flashcards chapter 5 notes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B108EE-0AD1-BB41-8D3B-8F82450C459B}"/>
              </a:ext>
            </a:extLst>
          </p:cNvPr>
          <p:cNvSpPr/>
          <p:nvPr/>
        </p:nvSpPr>
        <p:spPr>
          <a:xfrm>
            <a:off x="812800" y="46228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93C609-CB17-484B-9A40-E74478DD9119}"/>
              </a:ext>
            </a:extLst>
          </p:cNvPr>
          <p:cNvSpPr txBox="1"/>
          <p:nvPr/>
        </p:nvSpPr>
        <p:spPr>
          <a:xfrm>
            <a:off x="1066800" y="4826000"/>
            <a:ext cx="4775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/review  —  Code reviewer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6B5661-4237-3D49-87C4-280D7A17F86B}"/>
              </a:ext>
            </a:extLst>
          </p:cNvPr>
          <p:cNvSpPr txBox="1"/>
          <p:nvPr/>
        </p:nvSpPr>
        <p:spPr>
          <a:xfrm>
            <a:off x="1066800" y="5232400"/>
            <a:ext cx="477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Checks code against your team’s style rules and checklist — like a senior dev on call.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E071E81-D4BF-1544-A5FC-8807952CDADD}"/>
              </a:ext>
            </a:extLst>
          </p:cNvPr>
          <p:cNvSpPr/>
          <p:nvPr/>
        </p:nvSpPr>
        <p:spPr>
          <a:xfrm>
            <a:off x="1066800" y="60452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6FC967-BDE5-C741-AF13-A523AAB4039D}"/>
              </a:ext>
            </a:extLst>
          </p:cNvPr>
          <p:cNvSpPr txBox="1"/>
          <p:nvPr/>
        </p:nvSpPr>
        <p:spPr>
          <a:xfrm>
            <a:off x="1193800" y="6121400"/>
            <a:ext cx="4521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/review src/game.py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DBDE243-D643-9D4B-9A5F-552C9B3D38D8}"/>
              </a:ext>
            </a:extLst>
          </p:cNvPr>
          <p:cNvSpPr/>
          <p:nvPr/>
        </p:nvSpPr>
        <p:spPr>
          <a:xfrm>
            <a:off x="6502400" y="4622800"/>
            <a:ext cx="5283200" cy="1905000"/>
          </a:xfrm>
          <a:prstGeom prst="roundRect">
            <a:avLst/>
          </a:prstGeom>
          <a:solidFill>
            <a:srgbClr val="212129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845A2E-E559-DB4C-9546-93B6A497E9E5}"/>
              </a:ext>
            </a:extLst>
          </p:cNvPr>
          <p:cNvSpPr txBox="1"/>
          <p:nvPr/>
        </p:nvSpPr>
        <p:spPr>
          <a:xfrm>
            <a:off x="6756400" y="4826000"/>
            <a:ext cx="4775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900" b="1">
                <a:solidFill>
                  <a:srgbClr val="D97757"/>
                </a:solidFill>
                <a:latin typeface="Consolas"/>
                <a:cs typeface="Consolas"/>
              </a:rPr>
              <a:t>/ship  —  Release checklist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502885-3E74-5947-A2DE-82022CCED884}"/>
              </a:ext>
            </a:extLst>
          </p:cNvPr>
          <p:cNvSpPr txBox="1"/>
          <p:nvPr/>
        </p:nvSpPr>
        <p:spPr>
          <a:xfrm>
            <a:off x="6756400" y="5232400"/>
            <a:ext cx="4775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9CDD3"/>
                </a:solidFill>
              </a:rPr>
              <a:t>Runs your ship steps in order: tests, changelog, version tag — nothing forgotten.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5463AFB-6054-2743-A4CA-F0A9AAD15F4E}"/>
              </a:ext>
            </a:extLst>
          </p:cNvPr>
          <p:cNvSpPr/>
          <p:nvPr/>
        </p:nvSpPr>
        <p:spPr>
          <a:xfrm>
            <a:off x="6756400" y="6045200"/>
            <a:ext cx="4775200" cy="355600"/>
          </a:xfrm>
          <a:prstGeom prst="roundRect">
            <a:avLst/>
          </a:prstGeom>
          <a:solidFill>
            <a:srgbClr val="17171D"/>
          </a:solidFill>
          <a:ln w="12700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D66C3D-C9CE-7246-A6AD-999B0D427B52}"/>
              </a:ext>
            </a:extLst>
          </p:cNvPr>
          <p:cNvSpPr txBox="1"/>
          <p:nvPr/>
        </p:nvSpPr>
        <p:spPr>
          <a:xfrm>
            <a:off x="6883400" y="6121400"/>
            <a:ext cx="4521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7EE787"/>
                </a:solidFill>
                <a:latin typeface="Consolas"/>
                <a:cs typeface="Consolas"/>
              </a:rPr>
              <a:t>Try:  /ship v1.2</a:t>
            </a:r>
          </a:p>
        </p:txBody>
      </p:sp>
    </p:spTree>
    <p:extLst>
      <p:ext uri="{BB962C8B-B14F-4D97-AF65-F5344CB8AC3E}">
        <p14:creationId xmlns:p14="http://schemas.microsoft.com/office/powerpoint/2010/main" val="3643349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4D581B-4192-D743-B993-6972C4FEBB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98B48-1DAE-7C4B-88B8-6E2683DF6A7A}"/>
              </a:ext>
            </a:extLst>
          </p:cNvPr>
          <p:cNvSpPr txBox="1"/>
          <p:nvPr/>
        </p:nvSpPr>
        <p:spPr>
          <a:xfrm>
            <a:off x="812800" y="5842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7EE787"/>
                </a:solidFill>
                <a:latin typeface="Consolas"/>
                <a:cs typeface="Consolas"/>
              </a:rPr>
              <a:t>student@laptop:~$ claude --start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E8AC0-8B1B-3946-88D4-68AF6D14B382}"/>
              </a:ext>
            </a:extLst>
          </p:cNvPr>
          <p:cNvSpPr txBox="1"/>
          <p:nvPr/>
        </p:nvSpPr>
        <p:spPr>
          <a:xfrm>
            <a:off x="812800" y="990600"/>
            <a:ext cx="105664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</a:rPr>
              <a:t>How to try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BAC87-7753-E449-81B8-F5C0BA90CD18}"/>
              </a:ext>
            </a:extLst>
          </p:cNvPr>
          <p:cNvSpPr/>
          <p:nvPr/>
        </p:nvSpPr>
        <p:spPr>
          <a:xfrm>
            <a:off x="838200" y="1752600"/>
            <a:ext cx="1524000" cy="63500"/>
          </a:xfrm>
          <a:prstGeom prst="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E92B75-9A43-B84C-83F7-F027E33E8998}"/>
              </a:ext>
            </a:extLst>
          </p:cNvPr>
          <p:cNvSpPr/>
          <p:nvPr/>
        </p:nvSpPr>
        <p:spPr>
          <a:xfrm>
            <a:off x="812800" y="2184400"/>
            <a:ext cx="685800" cy="685800"/>
          </a:xfrm>
          <a:prstGeom prst="round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7171D"/>
                </a:solidFill>
                <a:latin typeface="Consolas"/>
                <a:cs typeface="Consolas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2E4C1C-245B-F046-A2AA-A727655E6725}"/>
              </a:ext>
            </a:extLst>
          </p:cNvPr>
          <p:cNvSpPr txBox="1"/>
          <p:nvPr/>
        </p:nvSpPr>
        <p:spPr>
          <a:xfrm>
            <a:off x="1701800" y="220980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Get set 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A503C-E36D-3948-85FA-35C35E29D539}"/>
              </a:ext>
            </a:extLst>
          </p:cNvPr>
          <p:cNvSpPr txBox="1"/>
          <p:nvPr/>
        </p:nvSpPr>
        <p:spPr>
          <a:xfrm>
            <a:off x="1701800" y="2565400"/>
            <a:ext cx="419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Have a parent or teacher help you install it from claude.ai/code.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09CE69-E745-904E-8AB4-74EDB1DC1AAB}"/>
              </a:ext>
            </a:extLst>
          </p:cNvPr>
          <p:cNvSpPr/>
          <p:nvPr/>
        </p:nvSpPr>
        <p:spPr>
          <a:xfrm>
            <a:off x="812800" y="3556000"/>
            <a:ext cx="685800" cy="685800"/>
          </a:xfrm>
          <a:prstGeom prst="round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7171D"/>
                </a:solidFill>
                <a:latin typeface="Consolas"/>
                <a:cs typeface="Consola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66280-8994-CF41-B882-665A5F7017B6}"/>
              </a:ext>
            </a:extLst>
          </p:cNvPr>
          <p:cNvSpPr txBox="1"/>
          <p:nvPr/>
        </p:nvSpPr>
        <p:spPr>
          <a:xfrm>
            <a:off x="1701800" y="358140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Open the terminal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A9230-95CF-0C43-BE51-A7B81F9CEF56}"/>
              </a:ext>
            </a:extLst>
          </p:cNvPr>
          <p:cNvSpPr txBox="1"/>
          <p:nvPr/>
        </p:nvSpPr>
        <p:spPr>
          <a:xfrm>
            <a:off x="1701800" y="3937000"/>
            <a:ext cx="419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Type “claude” and press Enter to start a session.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FFC7181-3373-FA42-BC10-872D273A64B8}"/>
              </a:ext>
            </a:extLst>
          </p:cNvPr>
          <p:cNvSpPr/>
          <p:nvPr/>
        </p:nvSpPr>
        <p:spPr>
          <a:xfrm>
            <a:off x="812800" y="4927600"/>
            <a:ext cx="685800" cy="685800"/>
          </a:xfrm>
          <a:prstGeom prst="roundRect">
            <a:avLst/>
          </a:prstGeom>
          <a:solidFill>
            <a:srgbClr val="D977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7171D"/>
                </a:solidFill>
                <a:latin typeface="Consolas"/>
                <a:cs typeface="Consolas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59287-6112-704B-9F7D-91A7E2B0FDA1}"/>
              </a:ext>
            </a:extLst>
          </p:cNvPr>
          <p:cNvSpPr txBox="1"/>
          <p:nvPr/>
        </p:nvSpPr>
        <p:spPr>
          <a:xfrm>
            <a:off x="1701800" y="495300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Describe your idea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9D37B-0265-5149-9A40-DAD5617BE558}"/>
              </a:ext>
            </a:extLst>
          </p:cNvPr>
          <p:cNvSpPr txBox="1"/>
          <p:nvPr/>
        </p:nvSpPr>
        <p:spPr>
          <a:xfrm>
            <a:off x="1701800" y="5308600"/>
            <a:ext cx="419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C9CDD3"/>
                </a:solidFill>
              </a:rPr>
              <a:t>Tell it what to build in plain English — then watch it work.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F3EB0D0-4DBD-5B4B-96E7-C8FFAE884DA6}"/>
              </a:ext>
            </a:extLst>
          </p:cNvPr>
          <p:cNvSpPr/>
          <p:nvPr/>
        </p:nvSpPr>
        <p:spPr>
          <a:xfrm>
            <a:off x="6502400" y="2184400"/>
            <a:ext cx="4876800" cy="3759200"/>
          </a:xfrm>
          <a:prstGeom prst="roundRect">
            <a:avLst/>
          </a:prstGeom>
          <a:solidFill>
            <a:srgbClr val="212129"/>
          </a:solidFill>
          <a:ln w="15875" cap="flat" cmpd="sng" algn="ctr">
            <a:solidFill>
              <a:srgbClr val="3A3A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8263F2-B2B8-0449-82BE-5BD465694AC3}"/>
              </a:ext>
            </a:extLst>
          </p:cNvPr>
          <p:cNvSpPr/>
          <p:nvPr/>
        </p:nvSpPr>
        <p:spPr>
          <a:xfrm>
            <a:off x="6731000" y="2413000"/>
            <a:ext cx="152400" cy="152400"/>
          </a:xfrm>
          <a:prstGeom prst="ellipse">
            <a:avLst/>
          </a:prstGeom>
          <a:solidFill>
            <a:srgbClr val="FF5F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284E6C2-6C56-6645-B8AB-59851921643B}"/>
              </a:ext>
            </a:extLst>
          </p:cNvPr>
          <p:cNvSpPr/>
          <p:nvPr/>
        </p:nvSpPr>
        <p:spPr>
          <a:xfrm>
            <a:off x="7010400" y="2413000"/>
            <a:ext cx="152400" cy="152400"/>
          </a:xfrm>
          <a:prstGeom prst="ellipse">
            <a:avLst/>
          </a:prstGeom>
          <a:solidFill>
            <a:srgbClr val="FEBC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2D6FCC-6C7E-E848-B7B6-7B2212A5F28D}"/>
              </a:ext>
            </a:extLst>
          </p:cNvPr>
          <p:cNvSpPr/>
          <p:nvPr/>
        </p:nvSpPr>
        <p:spPr>
          <a:xfrm>
            <a:off x="7289800" y="2413000"/>
            <a:ext cx="152400" cy="152400"/>
          </a:xfrm>
          <a:prstGeom prst="ellipse">
            <a:avLst/>
          </a:prstGeom>
          <a:solidFill>
            <a:srgbClr val="28C8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61A2D-C813-E041-8C32-8183E599FC5E}"/>
              </a:ext>
            </a:extLst>
          </p:cNvPr>
          <p:cNvSpPr txBox="1"/>
          <p:nvPr/>
        </p:nvSpPr>
        <p:spPr>
          <a:xfrm>
            <a:off x="6756400" y="2794000"/>
            <a:ext cx="4368800" cy="294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7EE787"/>
                </a:solidFill>
                <a:latin typeface="Consolas"/>
              </a:rPr>
              <a:t>$ claude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E0A88F"/>
                </a:solidFill>
                <a:latin typeface="Consolas"/>
              </a:rPr>
              <a:t>&gt; make a snake game in python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7EE787"/>
                </a:solidFill>
                <a:latin typeface="Consolas"/>
              </a:rPr>
              <a:t>✓ Created snake.py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E0A88F"/>
                </a:solidFill>
                <a:latin typeface="Consolas"/>
              </a:rPr>
              <a:t>&gt; now let me play it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7EE787"/>
                </a:solidFill>
                <a:latin typeface="Consolas"/>
              </a:rPr>
              <a:t>✓ Running... have fun!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05FE5-4CBA-B640-9143-D6FCC9B7BFCC}"/>
              </a:ext>
            </a:extLst>
          </p:cNvPr>
          <p:cNvSpPr txBox="1"/>
          <p:nvPr/>
        </p:nvSpPr>
        <p:spPr>
          <a:xfrm>
            <a:off x="812800" y="6172200"/>
            <a:ext cx="1056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8B949E"/>
                </a:solidFill>
                <a:latin typeface="Consolas"/>
                <a:cs typeface="Consolas"/>
              </a:rPr>
              <a:t>// Start small, stay curious — your first program is one sentence away.</a:t>
            </a:r>
          </a:p>
        </p:txBody>
      </p:sp>
    </p:spTree>
    <p:extLst>
      <p:ext uri="{BB962C8B-B14F-4D97-AF65-F5344CB8AC3E}">
        <p14:creationId xmlns:p14="http://schemas.microsoft.com/office/powerpoint/2010/main" val="4030564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9895f4-da11-47cb-910d-2c41c693c492}">
  <we:reference id="WA200010725" version="1.0.0.1" store="en-US" storeType="OMEX"/>
  <we:alternateReferences/>
  <we:properties>
    <we:property name="Microsoft.Office.CampaignId" value="&quot;none&quot;"/>
    <we:property name="claude.fileId" value="&quot;2910508c-559e-4b8a-a374-6eda19acc45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3635</TotalTime>
  <Words>4555</Words>
  <Application>Microsoft Macintosh PowerPoint</Application>
  <PresentationFormat>Widescreen</PresentationFormat>
  <Paragraphs>458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Dantong Yu</cp:lastModifiedBy>
  <cp:revision>12</cp:revision>
  <dcterms:created xsi:type="dcterms:W3CDTF">2018-06-07T21:39:02Z</dcterms:created>
  <dcterms:modified xsi:type="dcterms:W3CDTF">2026-07-23T16:59:41Z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