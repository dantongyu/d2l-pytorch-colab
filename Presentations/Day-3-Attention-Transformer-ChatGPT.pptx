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85" r:id="rId2"/>
  </p:sldMasterIdLst>
  <p:notesMasterIdLst>
    <p:notesMasterId r:id="rId33"/>
  </p:notesMasterIdLst>
  <p:sldIdLst>
    <p:sldId id="2004" r:id="rId3"/>
    <p:sldId id="258" r:id="rId4"/>
    <p:sldId id="2000" r:id="rId5"/>
    <p:sldId id="259" r:id="rId6"/>
    <p:sldId id="260" r:id="rId7"/>
    <p:sldId id="2005" r:id="rId8"/>
    <p:sldId id="262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9" r:id="rId17"/>
    <p:sldId id="273" r:id="rId18"/>
    <p:sldId id="274" r:id="rId19"/>
    <p:sldId id="275" r:id="rId20"/>
    <p:sldId id="276" r:id="rId21"/>
    <p:sldId id="1990" r:id="rId22"/>
    <p:sldId id="1991" r:id="rId23"/>
    <p:sldId id="1928" r:id="rId24"/>
    <p:sldId id="1998" r:id="rId25"/>
    <p:sldId id="1999" r:id="rId26"/>
    <p:sldId id="630" r:id="rId27"/>
    <p:sldId id="1968" r:id="rId28"/>
    <p:sldId id="1969" r:id="rId29"/>
    <p:sldId id="1971" r:id="rId30"/>
    <p:sldId id="277" r:id="rId31"/>
    <p:sldId id="278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4"/>
    <p:restoredTop sz="94658"/>
  </p:normalViewPr>
  <p:slideViewPr>
    <p:cSldViewPr>
      <p:cViewPr varScale="1">
        <p:scale>
          <a:sx n="143" d="100"/>
          <a:sy n="143" d="100"/>
        </p:scale>
        <p:origin x="208" y="9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E50AEC6-6450-BEB4-831D-CE88E181EEE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817C4C1-DF1E-70FB-40E1-BDB79C11DDF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8BAA87E-5A30-6C93-5599-42D50DBB6A4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D27A78BB-5D01-B255-CF4B-D1B607035AD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FBFB64E-4ABE-503A-3575-B4001BC963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6979ECE-DFA4-E104-4473-964F1D7B33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7A6BA6-257E-AA4B-9A51-FFD96222AE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1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1" charset="0"/>
        <a:ea typeface="ＭＳ Ｐゴシック" pitchFamily="-112" charset="-128"/>
        <a:cs typeface="ＭＳ Ｐゴシック" pitchFamily="-112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1" charset="0"/>
        <a:ea typeface="ＭＳ Ｐゴシック" pitchFamily="-112" charset="-128"/>
        <a:cs typeface="ＭＳ Ｐゴシック" pitchFamily="-112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1" charset="0"/>
        <a:ea typeface="ＭＳ Ｐゴシック" pitchFamily="-112" charset="-128"/>
        <a:cs typeface="ＭＳ Ｐゴシック" pitchFamily="-112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1" charset="0"/>
        <a:ea typeface="ＭＳ Ｐゴシック" pitchFamily="-112" charset="-128"/>
        <a:cs typeface="ＭＳ Ｐゴシック" pitchFamily="-112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8147C37-E5E8-9963-9AFE-EF264B46A4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78CEE38-DF25-0F4C-AEF2-33DC7FE54254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11BD903-D6B0-3F06-E36F-34D1A76380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D5DC1892-6142-23CE-AE0F-354DB1ECB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D4404-C563-6B43-A824-459A163A637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70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But they differ on exactly which parameters get updated.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D4404-C563-6B43-A824-459A163A637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91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D59FB-464B-50E4-91F1-64BD21024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0282D-E7DB-6F04-5033-979A1C72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C1BE7-4C69-B651-8FA6-D7C48145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BC09F-3344-854B-9442-79F1EE6FD3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388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776DB-9829-7DD5-4A16-AFFA708C0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13607-682B-443A-AA64-9F99B01D2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664F6-E639-04CD-5217-8F6E766F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AA8C0-2B3C-0F43-B5AA-E1E490EE25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709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22FC1-443E-6954-03F8-0555C5EC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4CBD3-2BE9-D678-AB26-0FEB8CD7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6191E-4F02-13A1-E6EA-C2390E23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D03C1-9B81-0B43-BDA5-D5273512C8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942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F1ED20-1354-A5D2-8B73-5853E58D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B061F56-B648-0F06-1E80-179909F2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501FEF-4524-B990-BF15-7AAAD7E1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14DA78-E2FE-EF47-9633-94A66BDFDE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261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442AF6-7B08-BE61-9781-058A315F9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F25B2E5-88D8-1BED-785D-D99DE71F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DF7197A-07DE-A8C5-FA71-216523B3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7B5CED-FDE5-C846-B2EE-85FF54821C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84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43A69E0-E159-C7AC-FD8B-17569A94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A0E89AE-65BC-4E6E-B443-B382E2C8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FF3F308-C3F1-0476-0658-0E6BC339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3BCEB-E485-B245-B234-71B013D2F4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407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DE82E01-EFDC-3A55-9F77-18B0D36FE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718785-F445-25DB-366D-686400B6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CCE9F0-57F4-B696-08E6-59C5B773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8A2D7-983E-2847-8DFA-09708FFF7B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528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F3F9A48-C3EE-68F2-7E6E-5C8CEB87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BABF21D-9355-5146-CFD6-6BE14C09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61FBB-E638-358D-00C0-977E3DD4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5C6FBA-D2FA-B541-9823-7D0E316AF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722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EC28A08-2957-8D3E-E419-8DC595565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C7DBE5-D61E-1511-5757-0877B8BB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4797641-3035-A196-A9F6-737FD5D8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B3CCB-0C84-234C-A011-A60FB62772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295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EC5F0-F25C-6265-5F47-273849092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18147-E4F6-B42B-B2D2-FEA926A9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C8C4F-4461-25E8-0B16-24C6AC428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97A6C8-E9AE-8842-9DB7-E3EEBDCA01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99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9BCB8-87B6-2653-4D53-962B9F4C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7341C-2506-C028-F7A1-B1A3A91A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85642-01B8-7C89-EA70-104FB866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B0705-CA54-384A-9B5F-96C62A186C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0458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89530C6-457B-397F-CD77-3B74B9D9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0136" y="6400800"/>
            <a:ext cx="733864" cy="2743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584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FBFBCDA-B5CE-FE45-6F11-FBF8F53F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0136" y="6400800"/>
            <a:ext cx="733864" cy="2743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401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5654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235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75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276E0FB-F78B-88A4-C155-03C6B2FE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7818" y="6400800"/>
            <a:ext cx="733864" cy="2743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76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412714-5B1F-3336-0473-17FC2954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0136" y="6309042"/>
            <a:ext cx="733864" cy="274320"/>
          </a:xfrm>
        </p:spPr>
        <p:txBody>
          <a:bodyPr/>
          <a:lstStyle>
            <a:lvl1pPr>
              <a:defRPr sz="280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975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2C90537-366A-F077-225A-22193C5F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0136" y="6324600"/>
            <a:ext cx="733864" cy="274320"/>
          </a:xfrm>
        </p:spPr>
        <p:txBody>
          <a:bodyPr/>
          <a:lstStyle>
            <a:lvl1pPr>
              <a:defRPr sz="280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427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5697A5-B5D9-5703-8802-853857DB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0136" y="6324600"/>
            <a:ext cx="733864" cy="274320"/>
          </a:xfrm>
        </p:spPr>
        <p:txBody>
          <a:bodyPr/>
          <a:lstStyle>
            <a:lvl1pPr>
              <a:defRPr sz="280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5040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2943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61812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76108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1650" y="912813"/>
            <a:ext cx="1943100" cy="5183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2350" y="912813"/>
            <a:ext cx="5676900" cy="5183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47680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396394" y="2625603"/>
            <a:ext cx="7772401" cy="1240141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995937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Placeholder 2">
            <a:extLst>
              <a:ext uri="{FF2B5EF4-FFF2-40B4-BE49-F238E27FC236}">
                <a16:creationId xmlns:a16="http://schemas.microsoft.com/office/drawing/2014/main" id="{2F17B794-1B74-89D6-F3D5-350D71BE6C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FAAE0-EA46-BF1F-BB98-2CB0C0DB4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CBAB4-812C-CA14-6D71-C8D383B76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9514B-1411-4219-0EF9-F6FC32B58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1C374E2-DBFD-6841-8A7C-4AE15F0DD8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ヒラギノ角ゴ Pro W3" charset="0"/>
          <a:cs typeface="ヒラギノ角ゴ Pro W3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ヒラギノ角ゴ Pro W3" charset="0"/>
          <a:cs typeface="ヒラギノ角ゴ Pro W3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ヒラギノ角ゴ Pro W3" charset="0"/>
          <a:cs typeface="ヒラギノ角ゴ Pro W3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ヒラギノ角ゴ Pro W3" charset="0"/>
          <a:cs typeface="ヒラギノ角ゴ Pro W3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ヒラギノ角ゴ Pro W3" charset="0"/>
          <a:cs typeface="ヒラギノ角ゴ Pro W3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ヒラギノ角ゴ Pro W3" charset="0"/>
          <a:cs typeface="ヒラギノ角ゴ Pro W3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ヒラギノ角ゴ Pro W3" charset="0"/>
          <a:cs typeface="ヒラギノ角ゴ Pro W3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ヒラギノ角ゴ Pro W3" charset="0"/>
          <a:cs typeface="ヒラギノ角ゴ Pro W3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ヒラギノ角ゴ Pro W3" charset="0"/>
          <a:cs typeface="ヒラギノ角ゴ Pro W3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BE9F922-F936-BD3B-806B-CFCD26855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22350" y="912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80491C8-BD0F-CACE-CAD4-EB411CE21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2235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A685932E-15D3-9FC0-19DE-DB14C4B8DB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604000"/>
            <a:ext cx="9144000" cy="254000"/>
          </a:xfrm>
          <a:prstGeom prst="rect">
            <a:avLst/>
          </a:prstGeom>
          <a:gradFill rotWithShape="1">
            <a:gsLst>
              <a:gs pos="0">
                <a:srgbClr val="FFC145"/>
              </a:gs>
              <a:gs pos="50000">
                <a:srgbClr val="FF6B6B"/>
              </a:gs>
              <a:gs pos="100000">
                <a:srgbClr val="6C5CE7"/>
              </a:gs>
            </a:gsLst>
            <a:lin ang="0" scaled="1"/>
          </a:gra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3D394AD-D370-1F66-8BDC-7751E9CBF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0" y="6631000"/>
            <a:ext cx="660400" cy="200000"/>
          </a:xfrm>
          <a:prstGeom prst="rect">
            <a:avLst/>
          </a:prstGeom>
        </p:spPr>
        <p:txBody>
          <a:bodyPr anchor="ctr"/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00" name="Decorative Dot"/>
          <p:cNvSpPr/>
          <p:nvPr userDrawn="1"/>
        </p:nvSpPr>
        <p:spPr>
          <a:xfrm>
            <a:off x="8483600" y="101600"/>
            <a:ext cx="381000" cy="381000"/>
          </a:xfrm>
          <a:prstGeom prst="ellipse">
            <a:avLst/>
          </a:prstGeom>
          <a:solidFill>
            <a:srgbClr val="FFC1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Decorative Dot"/>
          <p:cNvSpPr/>
          <p:nvPr userDrawn="1"/>
        </p:nvSpPr>
        <p:spPr>
          <a:xfrm>
            <a:off x="8839200" y="381000"/>
            <a:ext cx="228600" cy="2286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Decorative Dot"/>
          <p:cNvSpPr/>
          <p:nvPr userDrawn="1"/>
        </p:nvSpPr>
        <p:spPr>
          <a:xfrm>
            <a:off x="101600" y="63500"/>
            <a:ext cx="254000" cy="2540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Decorative Dot"/>
          <p:cNvSpPr/>
          <p:nvPr userDrawn="1"/>
        </p:nvSpPr>
        <p:spPr>
          <a:xfrm>
            <a:off x="127000" y="6172200"/>
            <a:ext cx="355600" cy="3556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Decorative Dot"/>
          <p:cNvSpPr/>
          <p:nvPr userDrawn="1"/>
        </p:nvSpPr>
        <p:spPr>
          <a:xfrm>
            <a:off x="558800" y="6350000"/>
            <a:ext cx="177800" cy="177800"/>
          </a:xfrm>
          <a:prstGeom prst="ellipse">
            <a:avLst/>
          </a:prstGeom>
          <a:solidFill>
            <a:srgbClr val="FF9F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ITC Stone Sans Std Semibold" pitchFamily="-101" charset="0"/>
          <a:ea typeface="ＭＳ Ｐゴシック" pitchFamily="-112" charset="-128"/>
          <a:cs typeface="ＭＳ Ｐゴシック" pitchFamily="-112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ITC Stone Sans Std Semibold" pitchFamily="-101" charset="0"/>
          <a:ea typeface="ＭＳ Ｐゴシック" pitchFamily="-112" charset="-128"/>
          <a:cs typeface="ＭＳ Ｐゴシック" pitchFamily="-112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ITC Stone Sans Std Semibold" pitchFamily="-101" charset="0"/>
          <a:ea typeface="ＭＳ Ｐゴシック" pitchFamily="-112" charset="-128"/>
          <a:cs typeface="ＭＳ Ｐゴシック" pitchFamily="-112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ITC Stone Sans Std Semibold" pitchFamily="-101" charset="0"/>
          <a:ea typeface="ＭＳ Ｐゴシック" pitchFamily="-112" charset="-128"/>
          <a:cs typeface="ＭＳ Ｐゴシック" pitchFamily="-112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ITC Stone Sans Std Semibold" pitchFamily="-101" charset="0"/>
          <a:ea typeface="ＭＳ Ｐゴシック" pitchFamily="-112" charset="-128"/>
          <a:cs typeface="ＭＳ Ｐゴシック" pitchFamily="-11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ITC Stone Sans Std Semibold" pitchFamily="-101" charset="0"/>
          <a:ea typeface="ＭＳ Ｐゴシック" pitchFamily="-112" charset="-128"/>
          <a:cs typeface="ＭＳ Ｐゴシック" pitchFamily="-11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ITC Stone Sans Std Semibold" pitchFamily="-101" charset="0"/>
          <a:ea typeface="ＭＳ Ｐゴシック" pitchFamily="-112" charset="-128"/>
          <a:cs typeface="ＭＳ Ｐゴシック" pitchFamily="-11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ITC Stone Sans Std Semibold" pitchFamily="-101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b="1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 b="1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4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5CE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29D63E-AF89-1A63-174E-4792BB8950AA}"/>
              </a:ext>
            </a:extLst>
          </p:cNvPr>
          <p:cNvSpPr txBox="1">
            <a:spLocks/>
          </p:cNvSpPr>
          <p:nvPr/>
        </p:nvSpPr>
        <p:spPr bwMode="auto">
          <a:xfrm>
            <a:off x="990600" y="1371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ITC Stone Sans Std Semibold" pitchFamily="-101" charset="0"/>
                <a:ea typeface="ＭＳ Ｐゴシック" pitchFamily="-112" charset="-128"/>
                <a:cs typeface="ＭＳ Ｐゴシック" pitchFamily="-112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ITC Stone Sans Std Semibold" pitchFamily="-101" charset="0"/>
                <a:ea typeface="ＭＳ Ｐゴシック" pitchFamily="-112" charset="-128"/>
                <a:cs typeface="ＭＳ Ｐゴシック" pitchFamily="-112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ITC Stone Sans Std Semibold" pitchFamily="-101" charset="0"/>
                <a:ea typeface="ＭＳ Ｐゴシック" pitchFamily="-112" charset="-128"/>
                <a:cs typeface="ＭＳ Ｐゴシック" pitchFamily="-112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ITC Stone Sans Std Semibold" pitchFamily="-101" charset="0"/>
                <a:ea typeface="ＭＳ Ｐゴシック" pitchFamily="-112" charset="-128"/>
                <a:cs typeface="ＭＳ Ｐゴシック" pitchFamily="-112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ITC Stone Sans Std Semibold" pitchFamily="-101" charset="0"/>
                <a:ea typeface="ＭＳ Ｐゴシック" pitchFamily="-112" charset="-128"/>
                <a:cs typeface="ＭＳ Ｐゴシック" pitchFamily="-11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ITC Stone Sans Std Semibold" pitchFamily="-101" charset="0"/>
                <a:ea typeface="ＭＳ Ｐゴシック" pitchFamily="-112" charset="-128"/>
                <a:cs typeface="ＭＳ Ｐゴシック" pitchFamily="-11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ITC Stone Sans Std Semibold" pitchFamily="-101" charset="0"/>
                <a:ea typeface="ＭＳ Ｐゴシック" pitchFamily="-112" charset="-128"/>
                <a:cs typeface="ＭＳ Ｐゴシック" pitchFamily="-11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ITC Stone Sans Std Semibold" pitchFamily="-101" charset="0"/>
                <a:ea typeface="ＭＳ Ｐゴシック" pitchFamily="-112" charset="-128"/>
                <a:cs typeface="ＭＳ Ｐゴシック" pitchFamily="-112" charset="-128"/>
              </a:defRPr>
            </a:lvl9pPr>
          </a:lstStyle>
          <a:p>
            <a:pPr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Introduction to Attention, Transformer, and Large Language Models</a:t>
            </a:r>
          </a:p>
        </p:txBody>
      </p:sp>
      <p:sp>
        <p:nvSpPr>
          <p:cNvPr id="5" name="Slides Courtesy of Alex Smola and Mu Li">
            <a:extLst>
              <a:ext uri="{FF2B5EF4-FFF2-40B4-BE49-F238E27FC236}">
                <a16:creationId xmlns:a16="http://schemas.microsoft.com/office/drawing/2014/main" id="{400981D8-9E76-645A-A83D-703C6C7F95BA}"/>
              </a:ext>
            </a:extLst>
          </p:cNvPr>
          <p:cNvSpPr/>
          <p:nvPr/>
        </p:nvSpPr>
        <p:spPr>
          <a:xfrm>
            <a:off x="1524000" y="3302000"/>
            <a:ext cx="6598701" cy="96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spcBef>
                <a:spcPts val="900"/>
              </a:spcBef>
              <a:defRPr sz="2400" b="1">
                <a:solidFill>
                  <a:srgbClr val="535353"/>
                </a:solidFill>
              </a:defRPr>
            </a:lvl1pPr>
          </a:lstStyle>
          <a:p>
            <a:pPr algn="ctr">
              <a:buNone/>
            </a:pPr>
            <a:r>
              <a:rPr lang="en-US" sz="1600" dirty="0">
                <a:solidFill>
                  <a:srgbClr val="F4F1FF"/>
                </a:solidFill>
              </a:rPr>
              <a:t>Slides Courtesy of Alex Smola and Mu Li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DD96C35-F795-DF46-AFBB-F13EAD9B52B7}"/>
              </a:ext>
            </a:extLst>
          </p:cNvPr>
          <p:cNvSpPr/>
          <p:nvPr/>
        </p:nvSpPr>
        <p:spPr bwMode="auto">
          <a:xfrm>
            <a:off x="508000" y="508000"/>
            <a:ext cx="584200" cy="584200"/>
          </a:xfrm>
          <a:prstGeom prst="ellipse">
            <a:avLst/>
          </a:prstGeom>
          <a:solidFill>
            <a:srgbClr val="FFC14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1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95B433E-5B44-6046-A1AF-8EF67B9AF2C3}"/>
              </a:ext>
            </a:extLst>
          </p:cNvPr>
          <p:cNvSpPr/>
          <p:nvPr/>
        </p:nvSpPr>
        <p:spPr bwMode="auto">
          <a:xfrm>
            <a:off x="7874000" y="762000"/>
            <a:ext cx="431800" cy="431800"/>
          </a:xfrm>
          <a:prstGeom prst="ellipse">
            <a:avLst/>
          </a:prstGeom>
          <a:solidFill>
            <a:srgbClr val="FF6B6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1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A9CF39-6795-A04C-9823-E35425A1D8D0}"/>
              </a:ext>
            </a:extLst>
          </p:cNvPr>
          <p:cNvSpPr/>
          <p:nvPr/>
        </p:nvSpPr>
        <p:spPr bwMode="auto">
          <a:xfrm>
            <a:off x="8382000" y="2032000"/>
            <a:ext cx="279400" cy="279400"/>
          </a:xfrm>
          <a:prstGeom prst="ellipse">
            <a:avLst/>
          </a:prstGeom>
          <a:solidFill>
            <a:srgbClr val="4ECD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1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8083CC-990D-E044-85B5-6E1B84128721}"/>
              </a:ext>
            </a:extLst>
          </p:cNvPr>
          <p:cNvSpPr/>
          <p:nvPr/>
        </p:nvSpPr>
        <p:spPr bwMode="auto">
          <a:xfrm>
            <a:off x="381000" y="5842000"/>
            <a:ext cx="381000" cy="381000"/>
          </a:xfrm>
          <a:prstGeom prst="ellipse">
            <a:avLst/>
          </a:prstGeom>
          <a:solidFill>
            <a:srgbClr val="4ECD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1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92964F-2A8F-C249-A12D-9451D35715FA}"/>
              </a:ext>
            </a:extLst>
          </p:cNvPr>
          <p:cNvSpPr/>
          <p:nvPr/>
        </p:nvSpPr>
        <p:spPr bwMode="auto">
          <a:xfrm>
            <a:off x="1143000" y="6096000"/>
            <a:ext cx="228600" cy="228600"/>
          </a:xfrm>
          <a:prstGeom prst="ellipse">
            <a:avLst/>
          </a:prstGeom>
          <a:solidFill>
            <a:srgbClr val="FF9F4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1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164D1A-712A-DA49-A577-060D82372946}"/>
              </a:ext>
            </a:extLst>
          </p:cNvPr>
          <p:cNvSpPr/>
          <p:nvPr/>
        </p:nvSpPr>
        <p:spPr bwMode="auto">
          <a:xfrm>
            <a:off x="7620000" y="5969000"/>
            <a:ext cx="508000" cy="508000"/>
          </a:xfrm>
          <a:prstGeom prst="ellipse">
            <a:avLst/>
          </a:prstGeom>
          <a:solidFill>
            <a:srgbClr val="FFC14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01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10" name="Graphic 10" descr="Robot icon representing AI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1000" y="2286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74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mage" descr="Image"/>
          <p:cNvPicPr>
            <a:picLocks noChangeAspect="1"/>
          </p:cNvPicPr>
          <p:nvPr/>
        </p:nvPicPr>
        <p:blipFill>
          <a:blip r:embed="rId2"/>
          <a:srcRect l="6322"/>
          <a:stretch>
            <a:fillRect/>
          </a:stretch>
        </p:blipFill>
        <p:spPr>
          <a:xfrm>
            <a:off x="1013860" y="825336"/>
            <a:ext cx="8130140" cy="5207327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Attention</a:t>
            </a:r>
          </a:p>
        </p:txBody>
      </p:sp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A7D86E-4583-9286-48A7-2B649415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539778-8976-CD4B-6DA2-48C6742B3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Attention</a:t>
            </a:r>
          </a:p>
          <a:p>
            <a:r>
              <a:rPr lang="en-US" sz="2800" dirty="0"/>
              <a:t>Attention Layer</a:t>
            </a:r>
          </a:p>
          <a:p>
            <a:r>
              <a:rPr lang="en-US" sz="2800" dirty="0"/>
              <a:t>Transformer</a:t>
            </a:r>
          </a:p>
          <a:p>
            <a:r>
              <a:rPr lang="en-US" sz="2800" dirty="0"/>
              <a:t>Language Model</a:t>
            </a:r>
          </a:p>
          <a:p>
            <a:r>
              <a:rPr lang="en-US" sz="2800" dirty="0"/>
              <a:t>Language Model Prompt</a:t>
            </a:r>
          </a:p>
          <a:p>
            <a:r>
              <a:rPr lang="en-US" sz="2800" dirty="0"/>
              <a:t>Language Model Training</a:t>
            </a:r>
          </a:p>
          <a:p>
            <a:r>
              <a:rPr lang="en-US" sz="2800" dirty="0"/>
              <a:t>Language Model Fine-Tune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8C5E3-E9B9-D136-2750-D5192BA2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Motiv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Motivation</a:t>
            </a:r>
          </a:p>
        </p:txBody>
      </p:sp>
      <p:sp>
        <p:nvSpPr>
          <p:cNvPr id="145" name="Each generated token might be related to different source tokens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>
            <a:lvl1pPr marL="216568" indent="-216568" defTabSz="411479">
              <a:defRPr sz="2159"/>
            </a:lvl1pPr>
          </a:lstStyle>
          <a:p>
            <a:r>
              <a:rPr sz="3200" dirty="0"/>
              <a:t>Each generated token might be related to different source tokens</a:t>
            </a:r>
          </a:p>
        </p:txBody>
      </p:sp>
      <p:sp>
        <p:nvSpPr>
          <p:cNvPr id="146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4</a:t>
            </a:fld>
            <a:endParaRPr/>
          </a:p>
        </p:txBody>
      </p:sp>
      <p:pic>
        <p:nvPicPr>
          <p:cNvPr id="147" name="Image" descr="Image"/>
          <p:cNvPicPr>
            <a:picLocks noChangeAspect="1"/>
          </p:cNvPicPr>
          <p:nvPr/>
        </p:nvPicPr>
        <p:blipFill>
          <a:blip r:embed="rId2"/>
          <a:srcRect t="28043"/>
          <a:stretch>
            <a:fillRect/>
          </a:stretch>
        </p:blipFill>
        <p:spPr>
          <a:xfrm>
            <a:off x="886619" y="4046106"/>
            <a:ext cx="7370641" cy="1592694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Connection Line"/>
          <p:cNvSpPr/>
          <p:nvPr/>
        </p:nvSpPr>
        <p:spPr>
          <a:xfrm>
            <a:off x="1425525" y="4058807"/>
            <a:ext cx="2717586" cy="515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312" extrusionOk="0">
                <a:moveTo>
                  <a:pt x="0" y="16312"/>
                </a:moveTo>
                <a:cubicBezTo>
                  <a:pt x="4921" y="-3638"/>
                  <a:pt x="12121" y="-5288"/>
                  <a:pt x="21600" y="11363"/>
                </a:cubicBezTo>
              </a:path>
            </a:pathLst>
          </a:custGeom>
          <a:ln w="25400">
            <a:solidFill>
              <a:schemeClr val="accent1"/>
            </a:solidFill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52" name="Connection Line"/>
          <p:cNvSpPr/>
          <p:nvPr/>
        </p:nvSpPr>
        <p:spPr>
          <a:xfrm>
            <a:off x="2171611" y="3769138"/>
            <a:ext cx="3001947" cy="8157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32" extrusionOk="0">
                <a:moveTo>
                  <a:pt x="0" y="16232"/>
                </a:moveTo>
                <a:cubicBezTo>
                  <a:pt x="6228" y="-4444"/>
                  <a:pt x="13428" y="-5368"/>
                  <a:pt x="21600" y="13460"/>
                </a:cubicBezTo>
              </a:path>
            </a:pathLst>
          </a:custGeom>
          <a:ln w="25400">
            <a:solidFill>
              <a:schemeClr val="accent1"/>
            </a:solidFill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53" name="Connection Line"/>
          <p:cNvSpPr/>
          <p:nvPr/>
        </p:nvSpPr>
        <p:spPr>
          <a:xfrm>
            <a:off x="2931547" y="3743700"/>
            <a:ext cx="3915632" cy="846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68" extrusionOk="0">
                <a:moveTo>
                  <a:pt x="0" y="16268"/>
                </a:moveTo>
                <a:cubicBezTo>
                  <a:pt x="7254" y="-4017"/>
                  <a:pt x="14454" y="-5332"/>
                  <a:pt x="21600" y="12323"/>
                </a:cubicBezTo>
              </a:path>
            </a:pathLst>
          </a:custGeom>
          <a:ln w="25400">
            <a:solidFill>
              <a:schemeClr val="accent1"/>
            </a:solidFill>
            <a:tailEnd type="arrow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Attention Lay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4400" b="1" dirty="0"/>
              <a:t>Attention Layer</a:t>
            </a:r>
          </a:p>
        </p:txBody>
      </p:sp>
      <p:sp>
        <p:nvSpPr>
          <p:cNvPr id="156" name="An attention layer explicitly select related information…"/>
          <p:cNvSpPr txBox="1">
            <a:spLocks noGrp="1"/>
          </p:cNvSpPr>
          <p:nvPr>
            <p:ph idx="1"/>
          </p:nvPr>
        </p:nvSpPr>
        <p:spPr>
          <a:xfrm>
            <a:off x="308307" y="1830387"/>
            <a:ext cx="5149850" cy="4114800"/>
          </a:xfrm>
          <a:prstGeom prst="rect">
            <a:avLst/>
          </a:prstGeom>
        </p:spPr>
        <p:txBody>
          <a:bodyPr/>
          <a:lstStyle/>
          <a:p>
            <a:r>
              <a:rPr sz="2800" dirty="0"/>
              <a:t>An attention layer explicitly select related information</a:t>
            </a:r>
          </a:p>
          <a:p>
            <a:pPr lvl="1"/>
            <a:r>
              <a:rPr sz="2800" dirty="0"/>
              <a:t>Its memory consists of </a:t>
            </a:r>
            <a:br>
              <a:rPr sz="2800" dirty="0"/>
            </a:br>
            <a:r>
              <a:rPr sz="2800" dirty="0"/>
              <a:t>key-value pairs</a:t>
            </a:r>
          </a:p>
          <a:p>
            <a:pPr lvl="1"/>
            <a:r>
              <a:rPr sz="2800" dirty="0"/>
              <a:t>The output will be close </a:t>
            </a:r>
            <a:br>
              <a:rPr sz="2800" dirty="0"/>
            </a:br>
            <a:r>
              <a:rPr sz="2800" dirty="0"/>
              <a:t>to the values whose keys</a:t>
            </a:r>
            <a:br>
              <a:rPr sz="2800" dirty="0"/>
            </a:br>
            <a:r>
              <a:rPr sz="2800" dirty="0"/>
              <a:t>are similar to the quer</a:t>
            </a:r>
            <a:r>
              <a:rPr lang="en-US" sz="2800" dirty="0"/>
              <a:t>y</a:t>
            </a:r>
            <a:endParaRPr sz="2800" dirty="0"/>
          </a:p>
          <a:p>
            <a:r>
              <a:rPr sz="3000" dirty="0"/>
              <a:t>Direct DB operation is not differentiable </a:t>
            </a:r>
            <a:r>
              <a:rPr lang="en-US" sz="3000" dirty="0" err="1"/>
              <a:t>vv</a:t>
            </a:r>
            <a:endParaRPr sz="3000" dirty="0"/>
          </a:p>
        </p:txBody>
      </p:sp>
      <p:sp>
        <p:nvSpPr>
          <p:cNvPr id="157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5</a:t>
            </a:fld>
            <a:endParaRPr/>
          </a:p>
        </p:txBody>
      </p:sp>
      <p:pic>
        <p:nvPicPr>
          <p:cNvPr id="15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880647"/>
            <a:ext cx="3923213" cy="29215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D4CA-5D8A-24F9-5F2F-693905D3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Layer</a:t>
            </a:r>
          </a:p>
        </p:txBody>
      </p:sp>
      <p:sp>
        <p:nvSpPr>
          <p:cNvPr id="161" name="Assume query              and the memory  with…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2800" dirty="0"/>
              <a:t>Assume query              and</a:t>
            </a:r>
            <a:br>
              <a:rPr sz="2800" dirty="0"/>
            </a:br>
            <a:r>
              <a:rPr sz="2800" dirty="0"/>
              <a:t>the memory</a:t>
            </a:r>
            <a:br>
              <a:rPr sz="2800" dirty="0"/>
            </a:br>
            <a:r>
              <a:rPr sz="2800" dirty="0"/>
              <a:t>with</a:t>
            </a:r>
          </a:p>
          <a:p>
            <a:r>
              <a:rPr sz="2800" dirty="0"/>
              <a:t>Compute n scores                with</a:t>
            </a:r>
            <a:br>
              <a:rPr sz="2800" dirty="0"/>
            </a:br>
            <a:r>
              <a:rPr sz="2800" dirty="0"/>
              <a:t> </a:t>
            </a:r>
          </a:p>
          <a:p>
            <a:r>
              <a:rPr sz="2800" dirty="0"/>
              <a:t>Use softmax to obtain the</a:t>
            </a:r>
            <a:br>
              <a:rPr sz="2800" dirty="0"/>
            </a:br>
            <a:r>
              <a:rPr sz="2800" dirty="0"/>
              <a:t>attention weights</a:t>
            </a:r>
          </a:p>
          <a:p>
            <a:r>
              <a:rPr sz="2800" dirty="0"/>
              <a:t>The output is a weighted sum of values</a:t>
            </a:r>
          </a:p>
        </p:txBody>
      </p:sp>
      <p:sp>
        <p:nvSpPr>
          <p:cNvPr id="162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6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Equation"/>
              <p:cNvSpPr txBox="1"/>
              <p:nvPr/>
            </p:nvSpPr>
            <p:spPr>
              <a:xfrm>
                <a:off x="3962400" y="2057400"/>
                <a:ext cx="1148391" cy="38318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ar-AE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lang="ar-A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6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057400"/>
                <a:ext cx="1148391" cy="383182"/>
              </a:xfrm>
              <a:prstGeom prst="rect">
                <a:avLst/>
              </a:prstGeom>
              <a:blipFill>
                <a:blip r:embed="rId2"/>
                <a:stretch>
                  <a:fillRect l="-5495" b="-2666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4" name="Equation"/>
              <p:cNvSpPr txBox="1"/>
              <p:nvPr/>
            </p:nvSpPr>
            <p:spPr>
              <a:xfrm>
                <a:off x="3581400" y="2501900"/>
                <a:ext cx="2633863" cy="3693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),…,(</m:t>
                      </m:r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6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501900"/>
                <a:ext cx="2633863" cy="369332"/>
              </a:xfrm>
              <a:prstGeom prst="rect">
                <a:avLst/>
              </a:prstGeom>
              <a:blipFill>
                <a:blip r:embed="rId3"/>
                <a:stretch>
                  <a:fillRect l="-3365" r="-3365" b="-3225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Equation"/>
              <p:cNvSpPr txBox="1"/>
              <p:nvPr/>
            </p:nvSpPr>
            <p:spPr>
              <a:xfrm>
                <a:off x="2413000" y="2933700"/>
                <a:ext cx="1261051" cy="3758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6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0" y="2933700"/>
                <a:ext cx="1261051" cy="375872"/>
              </a:xfrm>
              <a:prstGeom prst="rect">
                <a:avLst/>
              </a:prstGeom>
              <a:blipFill>
                <a:blip r:embed="rId4"/>
                <a:stretch>
                  <a:fillRect l="-6000" b="-1612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Equation"/>
              <p:cNvSpPr txBox="1"/>
              <p:nvPr/>
            </p:nvSpPr>
            <p:spPr>
              <a:xfrm>
                <a:off x="3759200" y="2933700"/>
                <a:ext cx="1200329" cy="3758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6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200" y="2933700"/>
                <a:ext cx="1200329" cy="375872"/>
              </a:xfrm>
              <a:prstGeom prst="rect">
                <a:avLst/>
              </a:prstGeom>
              <a:blipFill>
                <a:blip r:embed="rId5"/>
                <a:stretch>
                  <a:fillRect l="-3158" b="-1612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Equation"/>
              <p:cNvSpPr txBox="1"/>
              <p:nvPr/>
            </p:nvSpPr>
            <p:spPr>
              <a:xfrm>
                <a:off x="4495800" y="3454400"/>
                <a:ext cx="1235723" cy="3693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6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454400"/>
                <a:ext cx="1235723" cy="369332"/>
              </a:xfrm>
              <a:prstGeom prst="rect">
                <a:avLst/>
              </a:prstGeom>
              <a:blipFill>
                <a:blip r:embed="rId6"/>
                <a:stretch>
                  <a:fillRect l="-3061" b="-1724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Equation"/>
              <p:cNvSpPr txBox="1"/>
              <p:nvPr/>
            </p:nvSpPr>
            <p:spPr>
              <a:xfrm>
                <a:off x="2628655" y="3895114"/>
                <a:ext cx="1804148" cy="3693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6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655" y="3895114"/>
                <a:ext cx="1804148" cy="369332"/>
              </a:xfrm>
              <a:prstGeom prst="rect">
                <a:avLst/>
              </a:prstGeom>
              <a:blipFill>
                <a:blip r:embed="rId7"/>
                <a:stretch>
                  <a:fillRect l="-699" r="-5594" b="-3666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Equation"/>
              <p:cNvSpPr txBox="1"/>
              <p:nvPr/>
            </p:nvSpPr>
            <p:spPr>
              <a:xfrm>
                <a:off x="4445000" y="4838700"/>
                <a:ext cx="4063998" cy="3693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6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4838700"/>
                <a:ext cx="4063998" cy="369332"/>
              </a:xfrm>
              <a:prstGeom prst="rect">
                <a:avLst/>
              </a:prstGeom>
              <a:blipFill>
                <a:blip r:embed="rId8"/>
                <a:stretch>
                  <a:fillRect l="-932" r="-1863" b="-3793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Equation"/>
              <p:cNvSpPr txBox="1"/>
              <p:nvPr/>
            </p:nvSpPr>
            <p:spPr>
              <a:xfrm>
                <a:off x="3810000" y="5816600"/>
                <a:ext cx="1550937" cy="70032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𝐨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7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5816600"/>
                <a:ext cx="1550937" cy="700320"/>
              </a:xfrm>
              <a:prstGeom prst="rect">
                <a:avLst/>
              </a:prstGeom>
              <a:blipFill>
                <a:blip r:embed="rId9"/>
                <a:stretch>
                  <a:fillRect l="-2459" r="-820" b="-1228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Vary α to get different attention layers, multi-head"/>
          <p:cNvSpPr/>
          <p:nvPr/>
        </p:nvSpPr>
        <p:spPr>
          <a:xfrm>
            <a:off x="7016968" y="2490958"/>
            <a:ext cx="2033589" cy="22871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672" y="0"/>
                </a:moveTo>
                <a:cubicBezTo>
                  <a:pt x="3163" y="0"/>
                  <a:pt x="2761" y="343"/>
                  <a:pt x="2698" y="780"/>
                </a:cubicBezTo>
                <a:lnTo>
                  <a:pt x="0" y="2571"/>
                </a:lnTo>
                <a:lnTo>
                  <a:pt x="2673" y="4351"/>
                </a:lnTo>
                <a:lnTo>
                  <a:pt x="2673" y="20712"/>
                </a:lnTo>
                <a:cubicBezTo>
                  <a:pt x="2673" y="21203"/>
                  <a:pt x="3120" y="21600"/>
                  <a:pt x="3672" y="21600"/>
                </a:cubicBezTo>
                <a:lnTo>
                  <a:pt x="20597" y="21600"/>
                </a:lnTo>
                <a:cubicBezTo>
                  <a:pt x="21149" y="21600"/>
                  <a:pt x="21600" y="21203"/>
                  <a:pt x="21600" y="20712"/>
                </a:cubicBezTo>
                <a:lnTo>
                  <a:pt x="21600" y="888"/>
                </a:lnTo>
                <a:cubicBezTo>
                  <a:pt x="21600" y="397"/>
                  <a:pt x="21149" y="0"/>
                  <a:pt x="20597" y="0"/>
                </a:cubicBezTo>
                <a:lnTo>
                  <a:pt x="3672" y="0"/>
                </a:lnTo>
                <a:close/>
              </a:path>
            </a:pathLst>
          </a:custGeom>
          <a:solidFill>
            <a:schemeClr val="accent2">
              <a:lumOff val="10931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spcBef>
                <a:spcPts val="900"/>
              </a:spcBef>
              <a:defRPr sz="22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    </a:t>
            </a:r>
            <a:r>
              <a:rPr dirty="0"/>
              <a:t>Vary α to get </a:t>
            </a:r>
            <a:r>
              <a:rPr lang="en-US" dirty="0"/>
              <a:t>       </a:t>
            </a:r>
          </a:p>
          <a:p>
            <a:r>
              <a:rPr lang="en-US" dirty="0"/>
              <a:t>    </a:t>
            </a:r>
            <a:r>
              <a:rPr dirty="0"/>
              <a:t>different</a:t>
            </a:r>
            <a:endParaRPr lang="en-US" dirty="0"/>
          </a:p>
          <a:p>
            <a:r>
              <a:rPr lang="en-US" dirty="0"/>
              <a:t>    </a:t>
            </a:r>
            <a:r>
              <a:rPr dirty="0"/>
              <a:t>attention</a:t>
            </a:r>
            <a:endParaRPr lang="en-US" dirty="0"/>
          </a:p>
          <a:p>
            <a:r>
              <a:rPr lang="en-US" dirty="0"/>
              <a:t>    </a:t>
            </a:r>
            <a:r>
              <a:rPr dirty="0"/>
              <a:t>layers, </a:t>
            </a:r>
            <a:endParaRPr lang="en-US" dirty="0"/>
          </a:p>
          <a:p>
            <a:r>
              <a:rPr lang="en-US" dirty="0"/>
              <a:t>    </a:t>
            </a:r>
            <a:r>
              <a:rPr dirty="0"/>
              <a:t>multi-head</a:t>
            </a:r>
          </a:p>
        </p:txBody>
      </p:sp>
    </p:spTree>
    <p:extLst>
      <p:ext uri="{BB962C8B-B14F-4D97-AF65-F5344CB8AC3E}">
        <p14:creationId xmlns:p14="http://schemas.microsoft.com/office/powerpoint/2010/main" val="81416436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Dot Product 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/>
              <a:t>Dot Product Attention</a:t>
            </a:r>
          </a:p>
        </p:txBody>
      </p:sp>
      <p:sp>
        <p:nvSpPr>
          <p:cNvPr id="174" name="Assume the query has the same length as values…"/>
          <p:cNvSpPr txBox="1">
            <a:spLocks noGrp="1"/>
          </p:cNvSpPr>
          <p:nvPr>
            <p:ph idx="1"/>
          </p:nvPr>
        </p:nvSpPr>
        <p:spPr>
          <a:xfrm>
            <a:off x="102235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r>
              <a:rPr sz="2800" dirty="0"/>
              <a:t>Assume the query has the same length as values</a:t>
            </a:r>
          </a:p>
          <a:p>
            <a:endParaRPr sz="2800" dirty="0"/>
          </a:p>
          <a:p>
            <a:endParaRPr sz="2800" dirty="0"/>
          </a:p>
          <a:p>
            <a:r>
              <a:rPr sz="2800" dirty="0"/>
              <a:t>Vectorized version</a:t>
            </a:r>
            <a:endParaRPr lang="en-US" sz="2800" dirty="0"/>
          </a:p>
          <a:p>
            <a:pPr lvl="1"/>
            <a:r>
              <a:rPr sz="2800" i="1" dirty="0"/>
              <a:t>m</a:t>
            </a:r>
            <a:r>
              <a:rPr sz="2800" dirty="0"/>
              <a:t> queries</a:t>
            </a:r>
            <a:r>
              <a:rPr lang="en-US" sz="2800" dirty="0"/>
              <a:t>  </a:t>
            </a:r>
            <a:r>
              <a:rPr sz="2800" dirty="0"/>
              <a:t>                 and </a:t>
            </a:r>
            <a:r>
              <a:rPr sz="2800" i="1" dirty="0"/>
              <a:t>n</a:t>
            </a:r>
            <a:r>
              <a:rPr sz="2800" dirty="0"/>
              <a:t> keys</a:t>
            </a:r>
            <a:r>
              <a:rPr lang="en-US" sz="2800" dirty="0"/>
              <a:t> </a:t>
            </a:r>
            <a:endParaRPr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Equation"/>
              <p:cNvSpPr txBox="1"/>
              <p:nvPr/>
            </p:nvSpPr>
            <p:spPr>
              <a:xfrm>
                <a:off x="2688323" y="2524334"/>
                <a:ext cx="1328954" cy="3758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7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323" y="2524334"/>
                <a:ext cx="1328954" cy="375872"/>
              </a:xfrm>
              <a:prstGeom prst="rect">
                <a:avLst/>
              </a:prstGeom>
              <a:blipFill>
                <a:blip r:embed="rId2"/>
                <a:stretch>
                  <a:fillRect l="-4717" r="-943" b="-2580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Equation"/>
              <p:cNvSpPr txBox="1"/>
              <p:nvPr/>
            </p:nvSpPr>
            <p:spPr>
              <a:xfrm>
                <a:off x="3352800" y="2875185"/>
                <a:ext cx="2671565" cy="42024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)=⟨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⟩/</m:t>
                      </m:r>
                      <m:rad>
                        <m:radPr>
                          <m:degHide m:val="on"/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ra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7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875185"/>
                <a:ext cx="2671565" cy="420243"/>
              </a:xfrm>
              <a:prstGeom prst="rect">
                <a:avLst/>
              </a:prstGeom>
              <a:blipFill>
                <a:blip r:embed="rId3"/>
                <a:stretch>
                  <a:fillRect l="-948" r="-1896" b="-2941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Equation"/>
              <p:cNvSpPr txBox="1"/>
              <p:nvPr/>
            </p:nvSpPr>
            <p:spPr>
              <a:xfrm>
                <a:off x="4688582" y="4074764"/>
                <a:ext cx="1433790" cy="3758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7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582" y="4074764"/>
                <a:ext cx="1433790" cy="375872"/>
              </a:xfrm>
              <a:prstGeom prst="rect">
                <a:avLst/>
              </a:prstGeom>
              <a:blipFill>
                <a:blip r:embed="rId4"/>
                <a:stretch>
                  <a:fillRect l="-6195" r="-885" b="-2903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Equation"/>
              <p:cNvSpPr txBox="1"/>
              <p:nvPr/>
            </p:nvSpPr>
            <p:spPr>
              <a:xfrm>
                <a:off x="6553200" y="4114800"/>
                <a:ext cx="1366464" cy="3758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𝐊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7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114800"/>
                <a:ext cx="1366464" cy="375872"/>
              </a:xfrm>
              <a:prstGeom prst="rect">
                <a:avLst/>
              </a:prstGeom>
              <a:blipFill>
                <a:blip r:embed="rId5"/>
                <a:stretch>
                  <a:fillRect l="-4630" r="-926" b="-1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Equation"/>
              <p:cNvSpPr txBox="1"/>
              <p:nvPr/>
            </p:nvSpPr>
            <p:spPr>
              <a:xfrm>
                <a:off x="3048000" y="5104257"/>
                <a:ext cx="2624628" cy="42024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𝐊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sSup>
                        <m:sSupPr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p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ra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8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104257"/>
                <a:ext cx="2624628" cy="420243"/>
              </a:xfrm>
              <a:prstGeom prst="rect">
                <a:avLst/>
              </a:prstGeom>
              <a:blipFill>
                <a:blip r:embed="rId6"/>
                <a:stretch>
                  <a:fillRect l="-966" r="-1932" b="-2941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3979-E494-D7C3-3FF2-856B4B55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2CDA5-8365-FFAC-25E0-29FDA5C70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184" name="d2l-en (1) (dragged).pdf" descr="d2l-en (1) (dragged)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85" y="1066800"/>
            <a:ext cx="8815907" cy="48433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eq2seq with 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Seq2seq with Attention</a:t>
            </a:r>
          </a:p>
        </p:txBody>
      </p:sp>
      <p:sp>
        <p:nvSpPr>
          <p:cNvPr id="1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Model Archit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Model Architecture</a:t>
            </a:r>
          </a:p>
        </p:txBody>
      </p:sp>
      <p:sp>
        <p:nvSpPr>
          <p:cNvPr id="200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10</a:t>
            </a:fld>
            <a:endParaRPr/>
          </a:p>
        </p:txBody>
      </p:sp>
      <p:sp>
        <p:nvSpPr>
          <p:cNvPr id="199" name="Each decode step might pay attention to particular encoder steps.…"/>
          <p:cNvSpPr txBox="1">
            <a:spLocks noGrp="1"/>
          </p:cNvSpPr>
          <p:nvPr>
            <p:ph type="body" idx="4294967295"/>
          </p:nvPr>
        </p:nvSpPr>
        <p:spPr>
          <a:xfrm>
            <a:off x="0" y="1830388"/>
            <a:ext cx="7772400" cy="4114800"/>
          </a:xfrm>
          <a:prstGeom prst="rect">
            <a:avLst/>
          </a:prstGeom>
        </p:spPr>
        <p:txBody>
          <a:bodyPr/>
          <a:lstStyle/>
          <a:p>
            <a:r>
              <a:rPr dirty="0"/>
              <a:t>Each decode step might pay attention to particular encoder steps.</a:t>
            </a:r>
          </a:p>
          <a:p>
            <a:r>
              <a:rPr dirty="0"/>
              <a:t>Add an additional attention layer to use encoder’s outputs as memory</a:t>
            </a:r>
          </a:p>
          <a:p>
            <a:r>
              <a:rPr dirty="0"/>
              <a:t>The attention output is used as the decoder’s input</a:t>
            </a:r>
          </a:p>
        </p:txBody>
      </p:sp>
      <p:pic>
        <p:nvPicPr>
          <p:cNvPr id="20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61" y="3973928"/>
            <a:ext cx="5455682" cy="20648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ncoder/Decoder Details"/>
          <p:cNvSpPr txBox="1">
            <a:spLocks noGrp="1"/>
          </p:cNvSpPr>
          <p:nvPr>
            <p:ph type="title"/>
          </p:nvPr>
        </p:nvSpPr>
        <p:spPr>
          <a:xfrm>
            <a:off x="838200" y="403225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dirty="0"/>
              <a:t>Encoder/Decoder Details</a:t>
            </a:r>
          </a:p>
        </p:txBody>
      </p:sp>
      <p:sp>
        <p:nvSpPr>
          <p:cNvPr id="204" name="We run through encoder, and save all states into Attention heads,…"/>
          <p:cNvSpPr txBox="1">
            <a:spLocks noGrp="1"/>
          </p:cNvSpPr>
          <p:nvPr>
            <p:ph idx="1"/>
          </p:nvPr>
        </p:nvSpPr>
        <p:spPr>
          <a:xfrm>
            <a:off x="533400" y="1600200"/>
            <a:ext cx="4800600" cy="4114800"/>
          </a:xfrm>
          <a:prstGeom prst="rect">
            <a:avLst/>
          </a:prstGeom>
        </p:spPr>
        <p:txBody>
          <a:bodyPr/>
          <a:lstStyle/>
          <a:p>
            <a:pPr marL="226193" indent="-226193" defTabSz="429768">
              <a:defRPr sz="2256"/>
            </a:pPr>
            <a:r>
              <a:rPr dirty="0"/>
              <a:t>We run through encoder, and save all states into Attention heads,</a:t>
            </a:r>
          </a:p>
          <a:p>
            <a:pPr marL="226193" indent="-226193" defTabSz="429768">
              <a:defRPr sz="2256"/>
            </a:pPr>
            <a:r>
              <a:rPr dirty="0"/>
              <a:t>Decoder h_{t-1} fetches attention</a:t>
            </a:r>
          </a:p>
          <a:p>
            <a:pPr marL="226193" indent="-226193" defTabSz="429768">
              <a:defRPr sz="2256"/>
            </a:pPr>
            <a:r>
              <a:rPr dirty="0"/>
              <a:t>The output of the last recurrent layer in the encoder is used</a:t>
            </a:r>
          </a:p>
          <a:p>
            <a:pPr marL="226193" indent="-226193" defTabSz="429768">
              <a:defRPr sz="2256"/>
            </a:pPr>
            <a:r>
              <a:rPr dirty="0"/>
              <a:t>The attention output is then concatenated with the embedding of decoder input and fed into the first recurrent layer in the decoder</a:t>
            </a:r>
          </a:p>
        </p:txBody>
      </p:sp>
      <p:sp>
        <p:nvSpPr>
          <p:cNvPr id="205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11</a:t>
            </a:fld>
            <a:endParaRPr dirty="0"/>
          </a:p>
        </p:txBody>
      </p:sp>
      <p:pic>
        <p:nvPicPr>
          <p:cNvPr id="20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564" y="1708150"/>
            <a:ext cx="3704417" cy="29995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ransform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Transformer</a:t>
            </a:r>
          </a:p>
        </p:txBody>
      </p:sp>
      <p:sp>
        <p:nvSpPr>
          <p:cNvPr id="2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rcRect l="12457" r="10392"/>
          <a:stretch>
            <a:fillRect/>
          </a:stretch>
        </p:blipFill>
        <p:spPr>
          <a:xfrm>
            <a:off x="4404480" y="857251"/>
            <a:ext cx="4728805" cy="5143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elf-attention"/>
          <p:cNvSpPr txBox="1">
            <a:spLocks noGrp="1"/>
          </p:cNvSpPr>
          <p:nvPr>
            <p:ph type="title"/>
          </p:nvPr>
        </p:nvSpPr>
        <p:spPr>
          <a:xfrm>
            <a:off x="838200" y="415721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dirty="0"/>
              <a:t>Self-attention</a:t>
            </a:r>
          </a:p>
        </p:txBody>
      </p:sp>
      <p:sp>
        <p:nvSpPr>
          <p:cNvPr id="213" name="To generate n outputs with n inputs, we can copy each input into a key, a value and a query…"/>
          <p:cNvSpPr txBox="1">
            <a:spLocks noGrp="1"/>
          </p:cNvSpPr>
          <p:nvPr>
            <p:ph idx="1"/>
          </p:nvPr>
        </p:nvSpPr>
        <p:spPr>
          <a:xfrm>
            <a:off x="609600" y="1981200"/>
            <a:ext cx="4616450" cy="4114800"/>
          </a:xfrm>
          <a:prstGeom prst="rect">
            <a:avLst/>
          </a:prstGeom>
        </p:spPr>
        <p:txBody>
          <a:bodyPr/>
          <a:lstStyle/>
          <a:p>
            <a:pPr marL="175661" indent="-175661" defTabSz="333756">
              <a:spcBef>
                <a:spcPts val="400"/>
              </a:spcBef>
              <a:defRPr sz="1752"/>
            </a:pPr>
            <a:r>
              <a:rPr sz="2000" dirty="0"/>
              <a:t>To generate </a:t>
            </a:r>
            <a:r>
              <a:rPr sz="2000" i="1" dirty="0"/>
              <a:t>n </a:t>
            </a:r>
            <a:r>
              <a:rPr sz="2000" dirty="0"/>
              <a:t>outputs with</a:t>
            </a:r>
            <a:r>
              <a:rPr sz="2000" i="1" dirty="0"/>
              <a:t> n </a:t>
            </a:r>
            <a:r>
              <a:rPr sz="2000" dirty="0"/>
              <a:t>inputs, we can copy each input into a key, a value and a query </a:t>
            </a:r>
          </a:p>
          <a:p>
            <a:pPr marL="175661" indent="-175661" defTabSz="333756">
              <a:spcBef>
                <a:spcPts val="400"/>
              </a:spcBef>
              <a:defRPr sz="1752"/>
            </a:pPr>
            <a:r>
              <a:rPr sz="2000" dirty="0"/>
              <a:t>No sequential information is preserved</a:t>
            </a:r>
          </a:p>
          <a:p>
            <a:pPr marL="175661" indent="-175661" defTabSz="333756">
              <a:spcBef>
                <a:spcPts val="400"/>
              </a:spcBef>
              <a:defRPr sz="1752"/>
            </a:pPr>
            <a:r>
              <a:rPr sz="2000" dirty="0"/>
              <a:t>All outputs run in parallel (advantage)</a:t>
            </a:r>
          </a:p>
          <a:p>
            <a:pPr marL="175661" indent="-175661" defTabSz="333756">
              <a:spcBef>
                <a:spcPts val="400"/>
              </a:spcBef>
              <a:defRPr sz="1752"/>
            </a:pPr>
            <a:r>
              <a:rPr sz="2000" dirty="0"/>
              <a:t>If you permute the input sequence, the output will be permuted, but values do not change. </a:t>
            </a:r>
          </a:p>
          <a:p>
            <a:pPr marL="175661" indent="-175661" defTabSz="333756">
              <a:spcBef>
                <a:spcPts val="400"/>
              </a:spcBef>
              <a:defRPr sz="1752"/>
            </a:pPr>
            <a:r>
              <a:rPr sz="2000" dirty="0"/>
              <a:t>Must recover the sequential information.</a:t>
            </a:r>
          </a:p>
        </p:txBody>
      </p:sp>
      <p:sp>
        <p:nvSpPr>
          <p:cNvPr id="214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13</a:t>
            </a:fld>
            <a:endParaRPr/>
          </a:p>
        </p:txBody>
      </p:sp>
      <p:pic>
        <p:nvPicPr>
          <p:cNvPr id="21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67" y="2279242"/>
            <a:ext cx="3977616" cy="25229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ransformer Architecture"/>
          <p:cNvSpPr txBox="1">
            <a:spLocks noGrp="1"/>
          </p:cNvSpPr>
          <p:nvPr>
            <p:ph type="title"/>
          </p:nvPr>
        </p:nvSpPr>
        <p:spPr>
          <a:xfrm>
            <a:off x="268572" y="273093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dirty="0"/>
              <a:t>Transformer Architecture</a:t>
            </a:r>
          </a:p>
        </p:txBody>
      </p:sp>
      <p:sp>
        <p:nvSpPr>
          <p:cNvPr id="218" name="It’s an encoder-decoder arch…"/>
          <p:cNvSpPr txBox="1">
            <a:spLocks noGrp="1"/>
          </p:cNvSpPr>
          <p:nvPr>
            <p:ph idx="1"/>
          </p:nvPr>
        </p:nvSpPr>
        <p:spPr>
          <a:xfrm>
            <a:off x="79493" y="4404580"/>
            <a:ext cx="4393200" cy="4114800"/>
          </a:xfrm>
          <a:prstGeom prst="rect">
            <a:avLst/>
          </a:prstGeom>
        </p:spPr>
        <p:txBody>
          <a:bodyPr/>
          <a:lstStyle/>
          <a:p>
            <a:r>
              <a:rPr dirty="0"/>
              <a:t>It’s an encoder-decoder arch</a:t>
            </a:r>
          </a:p>
          <a:p>
            <a:r>
              <a:rPr dirty="0"/>
              <a:t>Differ from seq2seq with </a:t>
            </a:r>
            <a:br>
              <a:rPr dirty="0"/>
            </a:br>
            <a:r>
              <a:rPr dirty="0"/>
              <a:t>attention in three places</a:t>
            </a:r>
          </a:p>
        </p:txBody>
      </p:sp>
      <p:sp>
        <p:nvSpPr>
          <p:cNvPr id="219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14</a:t>
            </a:fld>
            <a:endParaRPr dirty="0"/>
          </a:p>
        </p:txBody>
      </p:sp>
      <p:sp>
        <p:nvSpPr>
          <p:cNvPr id="220" name="Transformer block"/>
          <p:cNvSpPr/>
          <p:nvPr/>
        </p:nvSpPr>
        <p:spPr>
          <a:xfrm>
            <a:off x="2276093" y="2899568"/>
            <a:ext cx="2280554" cy="910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57" y="0"/>
                </a:moveTo>
                <a:cubicBezTo>
                  <a:pt x="473" y="0"/>
                  <a:pt x="0" y="1643"/>
                  <a:pt x="0" y="3676"/>
                </a:cubicBezTo>
                <a:lnTo>
                  <a:pt x="0" y="17924"/>
                </a:lnTo>
                <a:cubicBezTo>
                  <a:pt x="0" y="19957"/>
                  <a:pt x="473" y="21600"/>
                  <a:pt x="1057" y="21600"/>
                </a:cubicBezTo>
                <a:lnTo>
                  <a:pt x="16652" y="21600"/>
                </a:lnTo>
                <a:cubicBezTo>
                  <a:pt x="17047" y="21600"/>
                  <a:pt x="17378" y="20814"/>
                  <a:pt x="17560" y="19699"/>
                </a:cubicBezTo>
                <a:lnTo>
                  <a:pt x="21600" y="14311"/>
                </a:lnTo>
                <a:lnTo>
                  <a:pt x="17709" y="9127"/>
                </a:lnTo>
                <a:lnTo>
                  <a:pt x="17709" y="3676"/>
                </a:lnTo>
                <a:cubicBezTo>
                  <a:pt x="17709" y="1643"/>
                  <a:pt x="17237" y="0"/>
                  <a:pt x="16652" y="0"/>
                </a:cubicBezTo>
                <a:lnTo>
                  <a:pt x="1057" y="0"/>
                </a:lnTo>
                <a:close/>
              </a:path>
            </a:pathLst>
          </a:custGeom>
          <a:solidFill>
            <a:schemeClr val="accent2">
              <a:lumOff val="10931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spcBef>
                <a:spcPts val="900"/>
              </a:spcBef>
              <a:defRPr>
                <a:solidFill>
                  <a:srgbClr val="FFFFFF"/>
                </a:solidFill>
              </a:defRPr>
            </a:lvl1pPr>
          </a:lstStyle>
          <a:p>
            <a:r>
              <a:rPr dirty="0"/>
              <a:t>Transformer block</a:t>
            </a:r>
          </a:p>
        </p:txBody>
      </p:sp>
      <p:sp>
        <p:nvSpPr>
          <p:cNvPr id="221" name="Pass to every one in n blocks"/>
          <p:cNvSpPr/>
          <p:nvPr/>
        </p:nvSpPr>
        <p:spPr>
          <a:xfrm>
            <a:off x="4123396" y="1091401"/>
            <a:ext cx="2197538" cy="17784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7" y="0"/>
                </a:moveTo>
                <a:cubicBezTo>
                  <a:pt x="576" y="0"/>
                  <a:pt x="0" y="691"/>
                  <a:pt x="0" y="1544"/>
                </a:cubicBezTo>
                <a:lnTo>
                  <a:pt x="0" y="14449"/>
                </a:lnTo>
                <a:cubicBezTo>
                  <a:pt x="0" y="15302"/>
                  <a:pt x="576" y="15999"/>
                  <a:pt x="1287" y="15999"/>
                </a:cubicBezTo>
                <a:lnTo>
                  <a:pt x="19104" y="15999"/>
                </a:lnTo>
                <a:lnTo>
                  <a:pt x="20135" y="21600"/>
                </a:lnTo>
                <a:lnTo>
                  <a:pt x="21270" y="15461"/>
                </a:lnTo>
                <a:cubicBezTo>
                  <a:pt x="21469" y="15189"/>
                  <a:pt x="21600" y="14840"/>
                  <a:pt x="21600" y="14449"/>
                </a:cubicBezTo>
                <a:lnTo>
                  <a:pt x="21600" y="1544"/>
                </a:lnTo>
                <a:cubicBezTo>
                  <a:pt x="21600" y="691"/>
                  <a:pt x="21024" y="0"/>
                  <a:pt x="20313" y="0"/>
                </a:cubicBezTo>
                <a:lnTo>
                  <a:pt x="1287" y="0"/>
                </a:lnTo>
                <a:close/>
              </a:path>
            </a:pathLst>
          </a:custGeom>
          <a:solidFill>
            <a:schemeClr val="accent2">
              <a:lumOff val="10931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spcBef>
                <a:spcPts val="900"/>
              </a:spcBef>
              <a:defRPr>
                <a:solidFill>
                  <a:srgbClr val="FFFFFF"/>
                </a:solidFill>
              </a:defRPr>
            </a:lvl1pPr>
          </a:lstStyle>
          <a:p>
            <a:r>
              <a:t>Pass to every one in n blocks</a:t>
            </a:r>
          </a:p>
        </p:txBody>
      </p:sp>
      <p:sp>
        <p:nvSpPr>
          <p:cNvPr id="222" name="Sequential information"/>
          <p:cNvSpPr/>
          <p:nvPr/>
        </p:nvSpPr>
        <p:spPr>
          <a:xfrm>
            <a:off x="7338498" y="3501514"/>
            <a:ext cx="1827652" cy="14158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50" y="0"/>
                </a:moveTo>
                <a:cubicBezTo>
                  <a:pt x="5265" y="0"/>
                  <a:pt x="4790" y="845"/>
                  <a:pt x="4790" y="1886"/>
                </a:cubicBezTo>
                <a:lnTo>
                  <a:pt x="4790" y="11664"/>
                </a:lnTo>
                <a:lnTo>
                  <a:pt x="0" y="21600"/>
                </a:lnTo>
                <a:lnTo>
                  <a:pt x="15212" y="17785"/>
                </a:lnTo>
                <a:lnTo>
                  <a:pt x="20539" y="17785"/>
                </a:lnTo>
                <a:cubicBezTo>
                  <a:pt x="21125" y="17785"/>
                  <a:pt x="21600" y="16949"/>
                  <a:pt x="21600" y="15908"/>
                </a:cubicBezTo>
                <a:lnTo>
                  <a:pt x="21600" y="1886"/>
                </a:lnTo>
                <a:cubicBezTo>
                  <a:pt x="21600" y="845"/>
                  <a:pt x="21125" y="0"/>
                  <a:pt x="20539" y="0"/>
                </a:cubicBezTo>
                <a:lnTo>
                  <a:pt x="5850" y="0"/>
                </a:lnTo>
                <a:close/>
              </a:path>
            </a:pathLst>
          </a:custGeom>
          <a:solidFill>
            <a:schemeClr val="accent2">
              <a:lumOff val="10931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spcBef>
                <a:spcPts val="900"/>
              </a:spcBef>
              <a:defRPr>
                <a:solidFill>
                  <a:srgbClr val="FFFFFF"/>
                </a:solidFill>
              </a:defRPr>
            </a:lvl1pPr>
          </a:lstStyle>
          <a:p>
            <a:r>
              <a:rPr lang="en-US" sz="2000" dirty="0"/>
              <a:t>      Sequential</a:t>
            </a:r>
          </a:p>
          <a:p>
            <a:r>
              <a:rPr lang="en-US" sz="2000" dirty="0"/>
              <a:t>      information</a:t>
            </a:r>
          </a:p>
        </p:txBody>
      </p:sp>
      <p:pic>
        <p:nvPicPr>
          <p:cNvPr id="223" name="d2l-en (1) (dragged).pdf" descr="d2l-en (1) (dragged)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367" y="1330297"/>
            <a:ext cx="3856229" cy="47141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 animBg="1" advAuto="0"/>
      <p:bldP spid="221" grpId="0" animBg="1" advAuto="0"/>
      <p:bldP spid="222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065A-E1C0-1CAA-087C-E29F0B9EC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7772400" cy="1143000"/>
          </a:xfrm>
        </p:spPr>
        <p:txBody>
          <a:bodyPr/>
          <a:lstStyle/>
          <a:p>
            <a:r>
              <a:rPr lang="en-US" dirty="0"/>
              <a:t>Multi-Head 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FADB3-A947-736B-9E19-CC3750C7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38886-EEDC-6EA0-8EB3-F9A017EBE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47800"/>
            <a:ext cx="4114800" cy="208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E9FD4D-4D8D-B751-50BE-E23200E7D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73480"/>
            <a:ext cx="2988129" cy="411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7C5A61-DC2F-9BC1-F5EA-901EECE12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4038600"/>
            <a:ext cx="48260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19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osition-wise Feed-Forward Networks"/>
          <p:cNvSpPr txBox="1">
            <a:spLocks noGrp="1"/>
          </p:cNvSpPr>
          <p:nvPr>
            <p:ph type="title"/>
          </p:nvPr>
        </p:nvSpPr>
        <p:spPr>
          <a:xfrm>
            <a:off x="304800" y="342326"/>
            <a:ext cx="9144000" cy="1143000"/>
          </a:xfrm>
          <a:prstGeom prst="rect">
            <a:avLst/>
          </a:prstGeom>
        </p:spPr>
        <p:txBody>
          <a:bodyPr/>
          <a:lstStyle/>
          <a:p>
            <a:r>
              <a:rPr dirty="0"/>
              <a:t>Position-wise Feed-Forward Networks</a:t>
            </a:r>
          </a:p>
        </p:txBody>
      </p:sp>
      <p:sp>
        <p:nvSpPr>
          <p:cNvPr id="238" name="Reshape input (batch, seq len, fea size) into (batch * seq len, fea size)…"/>
          <p:cNvSpPr txBox="1">
            <a:spLocks noGrp="1"/>
          </p:cNvSpPr>
          <p:nvPr>
            <p:ph idx="1"/>
          </p:nvPr>
        </p:nvSpPr>
        <p:spPr>
          <a:xfrm>
            <a:off x="685800" y="1621070"/>
            <a:ext cx="5073650" cy="4114800"/>
          </a:xfrm>
          <a:prstGeom prst="rect">
            <a:avLst/>
          </a:prstGeom>
        </p:spPr>
        <p:txBody>
          <a:bodyPr/>
          <a:lstStyle/>
          <a:p>
            <a:r>
              <a:rPr sz="2800" dirty="0"/>
              <a:t>Reshape input (batch, seq </a:t>
            </a:r>
            <a:r>
              <a:rPr sz="2800" dirty="0" err="1"/>
              <a:t>len</a:t>
            </a:r>
            <a:r>
              <a:rPr sz="2800" dirty="0"/>
              <a:t>, </a:t>
            </a:r>
            <a:r>
              <a:rPr sz="2800" dirty="0" err="1"/>
              <a:t>fea</a:t>
            </a:r>
            <a:r>
              <a:rPr sz="2800" dirty="0"/>
              <a:t> size) into (batch * seq </a:t>
            </a:r>
            <a:r>
              <a:rPr sz="2800" dirty="0" err="1"/>
              <a:t>len</a:t>
            </a:r>
            <a:r>
              <a:rPr sz="2800" dirty="0"/>
              <a:t>, </a:t>
            </a:r>
            <a:r>
              <a:rPr sz="2800" dirty="0" err="1"/>
              <a:t>fea</a:t>
            </a:r>
            <a:r>
              <a:rPr sz="2800" dirty="0"/>
              <a:t> size)</a:t>
            </a:r>
          </a:p>
          <a:p>
            <a:r>
              <a:rPr sz="2800" dirty="0"/>
              <a:t>Apply a two layer MLP</a:t>
            </a:r>
          </a:p>
          <a:p>
            <a:r>
              <a:rPr sz="2800" dirty="0"/>
              <a:t>Reshape back into 3-D</a:t>
            </a:r>
          </a:p>
          <a:p>
            <a:r>
              <a:rPr sz="2800" dirty="0"/>
              <a:t>Equals to apply two (1,1) conv layers </a:t>
            </a:r>
          </a:p>
        </p:txBody>
      </p:sp>
      <p:sp>
        <p:nvSpPr>
          <p:cNvPr id="239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16</a:t>
            </a:fld>
            <a:endParaRPr/>
          </a:p>
        </p:txBody>
      </p:sp>
      <p:pic>
        <p:nvPicPr>
          <p:cNvPr id="240" name="Image" descr="Image"/>
          <p:cNvPicPr>
            <a:picLocks noChangeAspect="1"/>
          </p:cNvPicPr>
          <p:nvPr/>
        </p:nvPicPr>
        <p:blipFill>
          <a:blip r:embed="rId2"/>
          <a:srcRect l="50608" r="3337"/>
          <a:stretch>
            <a:fillRect/>
          </a:stretch>
        </p:blipFill>
        <p:spPr>
          <a:xfrm>
            <a:off x="6486573" y="1621070"/>
            <a:ext cx="2314143" cy="3209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6F82D8-4E31-17C6-778D-665C46822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144" y="2132451"/>
            <a:ext cx="19050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Add and Norm"/>
          <p:cNvSpPr txBox="1">
            <a:spLocks noGrp="1"/>
          </p:cNvSpPr>
          <p:nvPr>
            <p:ph type="title"/>
          </p:nvPr>
        </p:nvSpPr>
        <p:spPr>
          <a:xfrm>
            <a:off x="533400" y="424465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Add and Norm</a:t>
            </a:r>
          </a:p>
        </p:txBody>
      </p:sp>
      <p:sp>
        <p:nvSpPr>
          <p:cNvPr id="246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17</a:t>
            </a:fld>
            <a:endParaRPr/>
          </a:p>
        </p:txBody>
      </p:sp>
      <p:sp>
        <p:nvSpPr>
          <p:cNvPr id="245" name="Layer norm is similar to batch norm…"/>
          <p:cNvSpPr txBox="1">
            <a:spLocks noGrp="1"/>
          </p:cNvSpPr>
          <p:nvPr>
            <p:ph type="body" sz="half" idx="4294967295"/>
          </p:nvPr>
        </p:nvSpPr>
        <p:spPr>
          <a:xfrm>
            <a:off x="308983" y="1631865"/>
            <a:ext cx="4152900" cy="3552825"/>
          </a:xfrm>
          <a:prstGeom prst="rect">
            <a:avLst/>
          </a:prstGeom>
        </p:spPr>
        <p:txBody>
          <a:bodyPr/>
          <a:lstStyle/>
          <a:p>
            <a:r>
              <a:rPr dirty="0"/>
              <a:t>Layer norm is similar to batch norm </a:t>
            </a:r>
          </a:p>
          <a:p>
            <a:r>
              <a:rPr dirty="0"/>
              <a:t>But the mean and variances are calculated along the last dimension</a:t>
            </a:r>
            <a:endParaRPr lang="en-US" dirty="0"/>
          </a:p>
          <a:p>
            <a:r>
              <a:rPr dirty="0" err="1">
                <a:latin typeface="Menlo Regular"/>
                <a:ea typeface="Menlo Regular"/>
                <a:cs typeface="Menlo Regular"/>
                <a:sym typeface="Menlo Regular"/>
              </a:rPr>
              <a:t>X.mean</a:t>
            </a:r>
            <a:r>
              <a:rPr dirty="0">
                <a:latin typeface="Menlo Regular"/>
                <a:ea typeface="Menlo Regular"/>
                <a:cs typeface="Menlo Regular"/>
                <a:sym typeface="Menlo Regular"/>
              </a:rPr>
              <a:t>(axis=-1)</a:t>
            </a:r>
            <a:r>
              <a:rPr dirty="0"/>
              <a:t>instead of the first batch dimension in batch norm </a:t>
            </a:r>
            <a:r>
              <a:rPr dirty="0" err="1">
                <a:latin typeface="Menlo Regular"/>
                <a:ea typeface="Menlo Regular"/>
                <a:cs typeface="Menlo Regular"/>
                <a:sym typeface="Menlo Regular"/>
              </a:rPr>
              <a:t>X.mean</a:t>
            </a:r>
            <a:r>
              <a:rPr dirty="0">
                <a:latin typeface="Menlo Regular"/>
                <a:ea typeface="Menlo Regular"/>
                <a:cs typeface="Menlo Regular"/>
                <a:sym typeface="Menlo Regular"/>
              </a:rPr>
              <a:t>(axis=0)</a:t>
            </a:r>
          </a:p>
        </p:txBody>
      </p:sp>
      <p:pic>
        <p:nvPicPr>
          <p:cNvPr id="247" name="Image" descr="Image"/>
          <p:cNvPicPr>
            <a:picLocks noChangeAspect="1"/>
          </p:cNvPicPr>
          <p:nvPr/>
        </p:nvPicPr>
        <p:blipFill>
          <a:blip r:embed="rId2"/>
          <a:srcRect l="50608" r="3337"/>
          <a:stretch>
            <a:fillRect/>
          </a:stretch>
        </p:blipFill>
        <p:spPr>
          <a:xfrm>
            <a:off x="6574900" y="1631866"/>
            <a:ext cx="2561458" cy="35528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892" y="1869770"/>
            <a:ext cx="1687874" cy="2011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AF1DAB0-B4A9-E462-B670-3A914B625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277" y="1869770"/>
            <a:ext cx="2136704" cy="1869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ositional Encoding"/>
          <p:cNvSpPr txBox="1">
            <a:spLocks noGrp="1"/>
          </p:cNvSpPr>
          <p:nvPr>
            <p:ph type="title"/>
          </p:nvPr>
        </p:nvSpPr>
        <p:spPr>
          <a:xfrm>
            <a:off x="404832" y="438265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dirty="0"/>
              <a:t>Positional Encoding</a:t>
            </a:r>
          </a:p>
        </p:txBody>
      </p:sp>
      <p:sp>
        <p:nvSpPr>
          <p:cNvPr id="256" name="Assume embedding output  with shape (seq len, embed dim)…"/>
          <p:cNvSpPr txBox="1">
            <a:spLocks noGrp="1"/>
          </p:cNvSpPr>
          <p:nvPr>
            <p:ph idx="1"/>
          </p:nvPr>
        </p:nvSpPr>
        <p:spPr>
          <a:xfrm>
            <a:off x="349250" y="1362976"/>
            <a:ext cx="7772400" cy="4114800"/>
          </a:xfrm>
          <a:prstGeom prst="rect">
            <a:avLst/>
          </a:prstGeom>
        </p:spPr>
        <p:txBody>
          <a:bodyPr/>
          <a:lstStyle/>
          <a:p>
            <a:r>
              <a:rPr dirty="0"/>
              <a:t>Assume embedding output </a:t>
            </a:r>
            <a:br>
              <a:rPr dirty="0"/>
            </a:br>
            <a:r>
              <a:rPr dirty="0"/>
              <a:t>with shape (seq </a:t>
            </a:r>
            <a:r>
              <a:rPr dirty="0" err="1"/>
              <a:t>len</a:t>
            </a:r>
            <a:r>
              <a:rPr dirty="0"/>
              <a:t>, embed dim)</a:t>
            </a:r>
          </a:p>
          <a:p>
            <a:r>
              <a:rPr dirty="0"/>
              <a:t>Create                </a:t>
            </a:r>
            <a:r>
              <a:rPr lang="en-US" dirty="0"/>
              <a:t>   </a:t>
            </a:r>
            <a:r>
              <a:rPr dirty="0"/>
              <a:t>with 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Output </a:t>
            </a:r>
            <a:r>
              <a:rPr i="1" dirty="0"/>
              <a:t>X + P</a:t>
            </a:r>
          </a:p>
        </p:txBody>
      </p:sp>
      <p:sp>
        <p:nvSpPr>
          <p:cNvPr id="257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18</a:t>
            </a:fld>
            <a:endParaRPr/>
          </a:p>
        </p:txBody>
      </p:sp>
      <p:pic>
        <p:nvPicPr>
          <p:cNvPr id="258" name="Image" descr="Image"/>
          <p:cNvPicPr>
            <a:picLocks noChangeAspect="1"/>
          </p:cNvPicPr>
          <p:nvPr/>
        </p:nvPicPr>
        <p:blipFill>
          <a:blip r:embed="rId2"/>
          <a:srcRect l="50608" r="3337"/>
          <a:stretch>
            <a:fillRect/>
          </a:stretch>
        </p:blipFill>
        <p:spPr>
          <a:xfrm>
            <a:off x="6822214" y="1631866"/>
            <a:ext cx="2314143" cy="3209791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Equation"/>
              <p:cNvSpPr txBox="1"/>
              <p:nvPr/>
            </p:nvSpPr>
            <p:spPr>
              <a:xfrm>
                <a:off x="4291032" y="1380224"/>
                <a:ext cx="1187569" cy="34464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sz="2200" dirty="0"/>
              </a:p>
            </p:txBody>
          </p:sp>
        </mc:Choice>
        <mc:Fallback xmlns="">
          <p:sp>
            <p:nvSpPr>
              <p:cNvPr id="26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032" y="1380224"/>
                <a:ext cx="1187569" cy="344646"/>
              </a:xfrm>
              <a:prstGeom prst="rect">
                <a:avLst/>
              </a:prstGeom>
              <a:blipFill>
                <a:blip r:embed="rId3"/>
                <a:stretch>
                  <a:fillRect l="-4211" r="-1053" b="-1071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Equation"/>
              <p:cNvSpPr txBox="1"/>
              <p:nvPr/>
            </p:nvSpPr>
            <p:spPr>
              <a:xfrm>
                <a:off x="1892084" y="2169954"/>
                <a:ext cx="1179554" cy="34464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sz="2200" dirty="0"/>
              </a:p>
            </p:txBody>
          </p:sp>
        </mc:Choice>
        <mc:Fallback xmlns="">
          <p:sp>
            <p:nvSpPr>
              <p:cNvPr id="26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084" y="2169954"/>
                <a:ext cx="1179554" cy="344646"/>
              </a:xfrm>
              <a:prstGeom prst="rect">
                <a:avLst/>
              </a:prstGeom>
              <a:blipFill>
                <a:blip r:embed="rId4"/>
                <a:stretch>
                  <a:fillRect l="-4255" r="-1064" b="-689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Equation"/>
              <p:cNvSpPr txBox="1"/>
              <p:nvPr/>
            </p:nvSpPr>
            <p:spPr>
              <a:xfrm>
                <a:off x="853070" y="2770456"/>
                <a:ext cx="2546659" cy="80817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sSup>
                            <m:sSup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10000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num>
                                <m:den>
                                  <m:r>
                                    <a:rPr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200" dirty="0"/>
              </a:p>
            </p:txBody>
          </p:sp>
        </mc:Choice>
        <mc:Fallback xmlns="">
          <p:sp>
            <p:nvSpPr>
              <p:cNvPr id="26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70" y="2770456"/>
                <a:ext cx="2546659" cy="808170"/>
              </a:xfrm>
              <a:prstGeom prst="rect">
                <a:avLst/>
              </a:prstGeom>
              <a:blipFill>
                <a:blip r:embed="rId5"/>
                <a:stretch>
                  <a:fillRect l="-1990" t="-1538" r="-3483" b="-1076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Equation"/>
              <p:cNvSpPr txBox="1"/>
              <p:nvPr/>
            </p:nvSpPr>
            <p:spPr>
              <a:xfrm>
                <a:off x="3640019" y="2770456"/>
                <a:ext cx="2852832" cy="80817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sSup>
                            <m:sSup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10000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num>
                                <m:den>
                                  <m:r>
                                    <a:rPr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200" dirty="0"/>
              </a:p>
            </p:txBody>
          </p:sp>
        </mc:Choice>
        <mc:Fallback xmlns="">
          <p:sp>
            <p:nvSpPr>
              <p:cNvPr id="26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019" y="2770456"/>
                <a:ext cx="2852832" cy="808170"/>
              </a:xfrm>
              <a:prstGeom prst="rect">
                <a:avLst/>
              </a:prstGeom>
              <a:blipFill>
                <a:blip r:embed="rId6"/>
                <a:stretch>
                  <a:fillRect l="-1327" t="-1538" r="-2655" b="-1076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5" name="d2l-en (2) (dragged).pdf" descr="d2l-en (2) (dragged).pd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1861" y="3934970"/>
            <a:ext cx="4360425" cy="20748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5E641B-FC8C-B91F-E12B-ED3AF30044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5154" y="3952244"/>
            <a:ext cx="1930400" cy="393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redic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Predicting</a:t>
            </a:r>
          </a:p>
        </p:txBody>
      </p:sp>
      <p:sp>
        <p:nvSpPr>
          <p:cNvPr id="268" name="Predict at time t:…"/>
          <p:cNvSpPr txBox="1">
            <a:spLocks noGrp="1"/>
          </p:cNvSpPr>
          <p:nvPr>
            <p:ph idx="1"/>
          </p:nvPr>
        </p:nvSpPr>
        <p:spPr>
          <a:xfrm>
            <a:off x="879593" y="1830387"/>
            <a:ext cx="4835407" cy="4114800"/>
          </a:xfrm>
          <a:prstGeom prst="rect">
            <a:avLst/>
          </a:prstGeom>
        </p:spPr>
        <p:txBody>
          <a:bodyPr/>
          <a:lstStyle/>
          <a:p>
            <a:r>
              <a:rPr dirty="0"/>
              <a:t>Predict at time </a:t>
            </a:r>
            <a:r>
              <a:rPr i="1" dirty="0"/>
              <a:t>t</a:t>
            </a:r>
            <a:r>
              <a:rPr dirty="0"/>
              <a:t>:</a:t>
            </a:r>
          </a:p>
          <a:p>
            <a:pPr lvl="1"/>
            <a:r>
              <a:rPr dirty="0"/>
              <a:t>Inputs of previous times as keys and values</a:t>
            </a:r>
          </a:p>
          <a:p>
            <a:pPr lvl="1"/>
            <a:r>
              <a:rPr dirty="0"/>
              <a:t>Input at time </a:t>
            </a:r>
            <a:r>
              <a:rPr i="1" dirty="0"/>
              <a:t>t </a:t>
            </a:r>
            <a:r>
              <a:rPr dirty="0"/>
              <a:t>as query, as well as key and value, to predict output</a:t>
            </a:r>
          </a:p>
        </p:txBody>
      </p:sp>
      <p:sp>
        <p:nvSpPr>
          <p:cNvPr id="269" name="Slide Number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47474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fld id="{86CB4B4D-7CA3-9044-876B-883B54F8677D}" type="slidenum">
              <a:rPr lang="en-US" smtClean="0"/>
              <a:pPr/>
              <a:t>19</a:t>
            </a:fld>
            <a:endParaRPr dirty="0"/>
          </a:p>
        </p:txBody>
      </p:sp>
      <p:pic>
        <p:nvPicPr>
          <p:cNvPr id="27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793" y="2438980"/>
            <a:ext cx="4186944" cy="22451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09D9-6B4D-CC8A-39DC-F4C1ED1F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03108"/>
            <a:ext cx="8229600" cy="1143000"/>
          </a:xfrm>
        </p:spPr>
        <p:txBody>
          <a:bodyPr/>
          <a:lstStyle/>
          <a:p>
            <a:r>
              <a:rPr lang="en-US" dirty="0"/>
              <a:t>What is a large language model?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9F69B2-DCE5-3A1D-66CB-2C7F95BD3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2350" y="2663565"/>
            <a:ext cx="7772400" cy="27500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E14DC9-E5FD-7D70-D9EB-AB82384B61CF}"/>
              </a:ext>
            </a:extLst>
          </p:cNvPr>
          <p:cNvSpPr txBox="1"/>
          <p:nvPr/>
        </p:nvSpPr>
        <p:spPr>
          <a:xfrm>
            <a:off x="1063228" y="1771650"/>
            <a:ext cx="762357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 neural network with:</a:t>
            </a:r>
          </a:p>
          <a:p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	Input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: a context or prefix, </a:t>
            </a:r>
          </a:p>
          <a:p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	Output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: a distribution over possible next words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0510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2B85F-A104-AABB-AB18-EBA5DE902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9D62-E8B6-6CD3-3A03-FFD7128D8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53" y="485814"/>
            <a:ext cx="7772400" cy="1143000"/>
          </a:xfrm>
        </p:spPr>
        <p:txBody>
          <a:bodyPr/>
          <a:lstStyle/>
          <a:p>
            <a:r>
              <a:rPr lang="en-US" dirty="0"/>
              <a:t>LLMs can generate!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AB9F04-8970-65D4-E3C7-3B466DE09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8812" y="1981200"/>
            <a:ext cx="6559475" cy="41148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5237A5-A869-B874-4BD9-80A357871A1B}"/>
              </a:ext>
            </a:extLst>
          </p:cNvPr>
          <p:cNvSpPr txBox="1"/>
          <p:nvPr/>
        </p:nvSpPr>
        <p:spPr>
          <a:xfrm>
            <a:off x="609600" y="1276427"/>
            <a:ext cx="8337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model that gives a probability distribution over next words can generate by repeatedly sampling from the distribution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557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E112-7E49-BE15-2626-45D5F112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Three architectures for 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F1146-912F-376B-1180-2D9E612D4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513" y="3887787"/>
            <a:ext cx="7772400" cy="4114800"/>
          </a:xfrm>
        </p:spPr>
        <p:txBody>
          <a:bodyPr>
            <a:normAutofit/>
          </a:bodyPr>
          <a:lstStyle/>
          <a:p>
            <a:r>
              <a:rPr lang="en-US" sz="2400" dirty="0"/>
              <a:t>Decoders.         Encoders	   Encoder-decoders</a:t>
            </a:r>
          </a:p>
          <a:p>
            <a:r>
              <a:rPr lang="en-US" sz="2400" dirty="0"/>
              <a:t>GPT, Claude,    BERT family,  Flan-T5, Whisper</a:t>
            </a:r>
          </a:p>
          <a:p>
            <a:r>
              <a:rPr lang="en-US" sz="2400" dirty="0"/>
              <a:t>Llama		</a:t>
            </a:r>
            <a:r>
              <a:rPr lang="en-US" sz="2400" dirty="0" err="1"/>
              <a:t>HuBERT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AC094E-0B5E-DC50-03D9-A8F2C6DE6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345"/>
          <a:stretch>
            <a:fillRect/>
          </a:stretch>
        </p:blipFill>
        <p:spPr>
          <a:xfrm>
            <a:off x="822960" y="1693222"/>
            <a:ext cx="7729442" cy="202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25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F40764-4E30-4B5B-9257-73407649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1433F-3D6C-05AE-6832-309251718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Prompt: a text string that a user issues to a language model to get the model to do something useful by conditional generation</a:t>
            </a:r>
          </a:p>
          <a:p>
            <a:r>
              <a:rPr lang="en-US" sz="2400" dirty="0"/>
              <a:t>Prompt engineering: the process of finding effective prompts for a task.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642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86025-88DA-97EF-EC52-5719FFF9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397E-F27E-DB66-9C54-B92665624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question: </a:t>
            </a:r>
          </a:p>
          <a:p>
            <a:r>
              <a:rPr lang="en-US" dirty="0">
                <a:solidFill>
                  <a:srgbClr val="061CFF"/>
                </a:solidFill>
                <a:latin typeface="Lucida Sans Typewriter" panose="020B0509030504030204" pitchFamily="49" charset="77"/>
              </a:rPr>
              <a:t>	What is a transformer network?</a:t>
            </a:r>
          </a:p>
          <a:p>
            <a:r>
              <a:rPr lang="en-US" dirty="0"/>
              <a:t>Perhaps structured:</a:t>
            </a:r>
          </a:p>
          <a:p>
            <a:r>
              <a:rPr lang="en-US" dirty="0">
                <a:solidFill>
                  <a:srgbClr val="061CFF"/>
                </a:solidFill>
                <a:latin typeface="Lucida Sans Typewriter" panose="020B0509030504030204" pitchFamily="49" charset="77"/>
              </a:rPr>
              <a:t> Q: What is a transformer network? A:</a:t>
            </a:r>
          </a:p>
          <a:p>
            <a:r>
              <a:rPr lang="en-US" dirty="0"/>
              <a:t>Or an instruction: </a:t>
            </a:r>
          </a:p>
          <a:p>
            <a:r>
              <a:rPr lang="en-US" dirty="0">
                <a:solidFill>
                  <a:srgbClr val="061CFF"/>
                </a:solidFill>
                <a:latin typeface="Lucida Sans Typewriter" panose="020B0509030504030204" pitchFamily="49" charset="77"/>
              </a:rPr>
              <a:t>  Translate the following sentence into Hindi: ‘Chop the garlic finely’.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993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2912D-A118-5079-D10E-E43439FE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stages of training in LLMs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D05179-7BB4-A051-E78B-47E0586F7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333" y="1981200"/>
            <a:ext cx="7402434" cy="4114800"/>
          </a:xfrm>
        </p:spPr>
      </p:pic>
    </p:spTree>
    <p:extLst>
      <p:ext uri="{BB962C8B-B14F-4D97-AF65-F5344CB8AC3E}">
        <p14:creationId xmlns:p14="http://schemas.microsoft.com/office/powerpoint/2010/main" val="2810230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8FD22D-0739-073B-9509-049B413F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Finetuning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E8FDCB9-9E55-0161-E9E4-867FF12FB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2350" y="2621093"/>
            <a:ext cx="7772400" cy="2835014"/>
          </a:xfrm>
        </p:spPr>
      </p:pic>
    </p:spTree>
    <p:extLst>
      <p:ext uri="{BB962C8B-B14F-4D97-AF65-F5344CB8AC3E}">
        <p14:creationId xmlns:p14="http://schemas.microsoft.com/office/powerpoint/2010/main" val="29661324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3E10A-8A37-F564-2228-4E0A38F18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r>
              <a:rPr lang="en-US" dirty="0"/>
              <a:t>"Finetuning"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556F0-57C3-BD56-1EE0-9184B820D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We'll discuss 1 here, and 3 in later lectures</a:t>
            </a:r>
          </a:p>
          <a:p>
            <a:r>
              <a:rPr lang="en-US" sz="27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all four cases, finetuning means:</a:t>
            </a:r>
          </a:p>
          <a:p>
            <a:r>
              <a:rPr lang="en-US" sz="27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taking a pretrained model and further adapting some or all of its parameters to some new data</a:t>
            </a:r>
          </a:p>
          <a:p>
            <a:endParaRPr lang="en-US" sz="27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6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29A8-3BFD-DD43-B193-219D4F718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1. Finetuning as "continued pretraining" on new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CC8EB-0073-A23C-71C8-C2AD3F43C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Further train all the parameters of model on new data</a:t>
            </a:r>
          </a:p>
          <a:p>
            <a:pPr marL="640534" lvl="1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the same method (word prediction) and loss function (cross-entropy loss) as for pretraining.</a:t>
            </a:r>
          </a:p>
          <a:p>
            <a:pPr marL="640534" lvl="1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if the new data were at the tail end of the pretraining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Hence sometimes called continued pretraining</a:t>
            </a:r>
            <a:endParaRPr lang="en-US" dirty="0">
              <a:solidFill>
                <a:srgbClr val="000000"/>
              </a:solidFill>
              <a:effectLst/>
              <a:latin typeface="Monaco" pitchFamily="2" charset="77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70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Vision Transform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Vision Transformer</a:t>
            </a:r>
          </a:p>
        </p:txBody>
      </p:sp>
      <p:sp>
        <p:nvSpPr>
          <p:cNvPr id="2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pic>
        <p:nvPicPr>
          <p:cNvPr id="274" name="Screenshot 2024-07-01 at 5.53.46 PM.png" descr="Screenshot 2024-07-01 at 5.53.46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48" y="857250"/>
            <a:ext cx="3301054" cy="5143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pic>
        <p:nvPicPr>
          <p:cNvPr id="277" name="Screenshot 2024-07-01 at 5.25.12 PM.png" descr="Screenshot 2024-07-01 at 5.25.1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09" y="882062"/>
            <a:ext cx="7447486" cy="5868431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Model Architecture"/>
          <p:cNvSpPr txBox="1"/>
          <p:nvPr/>
        </p:nvSpPr>
        <p:spPr>
          <a:xfrm>
            <a:off x="609600" y="386695"/>
            <a:ext cx="8205305" cy="545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defRPr sz="2800" b="1">
                <a:solidFill>
                  <a:srgbClr val="000000"/>
                </a:solidFill>
              </a:defRPr>
            </a:lvl1pPr>
          </a:lstStyle>
          <a:p>
            <a:r>
              <a:rPr dirty="0"/>
              <a:t>Model Architecture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lank Presentation [1783549280014]">
  <a:themeElements>
    <a:clrScheme name="Blank Presentation 1">
      <a:dk1>
        <a:srgbClr val="2D2A4A"/>
      </a:dk1>
      <a:lt1>
        <a:srgbClr val="FFFFFF"/>
      </a:lt1>
      <a:dk2>
        <a:srgbClr val="3D2B6B"/>
      </a:dk2>
      <a:lt2>
        <a:srgbClr val="F4F1FF"/>
      </a:lt2>
      <a:accent1>
        <a:srgbClr val="FF6B6B"/>
      </a:accent1>
      <a:accent2>
        <a:srgbClr val="FFC145"/>
      </a:accent2>
      <a:accent3>
        <a:srgbClr val="4ECDC4"/>
      </a:accent3>
      <a:accent4>
        <a:srgbClr val="6C5CE7"/>
      </a:accent4>
      <a:accent5>
        <a:srgbClr val="FF9F45"/>
      </a:accent5>
      <a:accent6>
        <a:srgbClr val="7BED9F"/>
      </a:accent6>
      <a:hlink>
        <a:srgbClr val="6C5CE7"/>
      </a:hlink>
      <a:folHlink>
        <a:srgbClr val="FF6B9D"/>
      </a:folHlink>
    </a:clrScheme>
    <a:fontScheme name="Blank Presentation">
      <a:majorFont>
        <a:latin typeface="Century Gothic"/>
        <a:ea typeface="ＭＳ Ｐゴシック"/>
        <a:cs typeface="ＭＳ Ｐゴシック"/>
      </a:majorFont>
      <a:minorFont>
        <a:latin typeface="Trebuchet M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1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1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CF1E21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E4ABAB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EDDA6D-66DB-724B-B444-DD79AF9BF1E2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1306e5a8-04b2-4fd4-b414-595209b35fe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874</Words>
  <Application>Microsoft Macintosh PowerPoint</Application>
  <PresentationFormat>On-screen Show (4:3)</PresentationFormat>
  <Paragraphs>153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Calibri</vt:lpstr>
      <vt:lpstr>Cambria Math</vt:lpstr>
      <vt:lpstr>Century Gothic</vt:lpstr>
      <vt:lpstr>ITC Stone Sans Std Semibold</vt:lpstr>
      <vt:lpstr>Lucida Sans Typewriter</vt:lpstr>
      <vt:lpstr>Menlo Regular</vt:lpstr>
      <vt:lpstr>Monaco</vt:lpstr>
      <vt:lpstr>Trebuchet MS</vt:lpstr>
      <vt:lpstr>Office Theme</vt:lpstr>
      <vt:lpstr>Blank Presentation [1783549280014]</vt:lpstr>
      <vt:lpstr>PowerPoint Presentation</vt:lpstr>
      <vt:lpstr>Attention</vt:lpstr>
      <vt:lpstr>Outline </vt:lpstr>
      <vt:lpstr>Motivation</vt:lpstr>
      <vt:lpstr>Attention Layer</vt:lpstr>
      <vt:lpstr>Attention Layer</vt:lpstr>
      <vt:lpstr>Dot Product Attention</vt:lpstr>
      <vt:lpstr>PowerPoint Presentation</vt:lpstr>
      <vt:lpstr>Seq2seq with Attention</vt:lpstr>
      <vt:lpstr>Model Architecture</vt:lpstr>
      <vt:lpstr>Encoder/Decoder Details</vt:lpstr>
      <vt:lpstr>Transformer</vt:lpstr>
      <vt:lpstr>Self-attention</vt:lpstr>
      <vt:lpstr>Transformer Architecture</vt:lpstr>
      <vt:lpstr>Multi-Head Attention</vt:lpstr>
      <vt:lpstr>Position-wise Feed-Forward Networks</vt:lpstr>
      <vt:lpstr>Add and Norm</vt:lpstr>
      <vt:lpstr>Positional Encoding</vt:lpstr>
      <vt:lpstr>Predicting</vt:lpstr>
      <vt:lpstr>What is a large language model?</vt:lpstr>
      <vt:lpstr>LLMs can generate! </vt:lpstr>
      <vt:lpstr>Three architectures for large language models</vt:lpstr>
      <vt:lpstr>Prompt</vt:lpstr>
      <vt:lpstr>Prompts</vt:lpstr>
      <vt:lpstr>Three stages of training in LLMs</vt:lpstr>
      <vt:lpstr>Finetuning</vt:lpstr>
      <vt:lpstr>"Finetuning" means</vt:lpstr>
      <vt:lpstr>1. Finetuning as "continued pretraining" on new data</vt:lpstr>
      <vt:lpstr>Vision Transformer</vt:lpstr>
      <vt:lpstr>PowerPoint Presentation</vt:lpstr>
    </vt:vector>
  </TitlesOfParts>
  <Company>Foundry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 Manier</dc:creator>
  <cp:lastModifiedBy>Yu, Dantong</cp:lastModifiedBy>
  <cp:revision>58</cp:revision>
  <dcterms:created xsi:type="dcterms:W3CDTF">2014-02-18T17:37:52Z</dcterms:created>
  <dcterms:modified xsi:type="dcterms:W3CDTF">2026-07-09T04:11:17Z</dcterms:modified>
</cp:coreProperties>
</file>