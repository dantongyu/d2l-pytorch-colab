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tif" ContentType="image/ti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Override1.xml" ContentType="application/vnd.openxmlformats-officedocument.themeOverr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  <p:sldMasterId id="2147483660" r:id="rId2"/>
  </p:sldMasterIdLst>
  <p:notesMasterIdLst>
    <p:notesMasterId r:id="rId34"/>
  </p:notesMasterIdLst>
  <p:sldIdLst>
    <p:sldId id="256" r:id="rId3"/>
    <p:sldId id="258" r:id="rId4"/>
    <p:sldId id="2000" r:id="rId5"/>
    <p:sldId id="259" r:id="rId6"/>
    <p:sldId id="260" r:id="rId7"/>
    <p:sldId id="261" r:id="rId8"/>
    <p:sldId id="262" r:id="rId9"/>
    <p:sldId id="263" r:id="rId10"/>
    <p:sldId id="264" r:id="rId11"/>
    <p:sldId id="266" r:id="rId12"/>
    <p:sldId id="267" r:id="rId13"/>
    <p:sldId id="268" r:id="rId14"/>
    <p:sldId id="269" r:id="rId15"/>
    <p:sldId id="270" r:id="rId16"/>
    <p:sldId id="271" r:id="rId17"/>
    <p:sldId id="279" r:id="rId18"/>
    <p:sldId id="273" r:id="rId19"/>
    <p:sldId id="274" r:id="rId20"/>
    <p:sldId id="275" r:id="rId21"/>
    <p:sldId id="276" r:id="rId22"/>
    <p:sldId id="1990" r:id="rId23"/>
    <p:sldId id="1991" r:id="rId24"/>
    <p:sldId id="1928" r:id="rId25"/>
    <p:sldId id="1998" r:id="rId26"/>
    <p:sldId id="1999" r:id="rId27"/>
    <p:sldId id="630" r:id="rId28"/>
    <p:sldId id="1968" r:id="rId29"/>
    <p:sldId id="1969" r:id="rId30"/>
    <p:sldId id="1971" r:id="rId31"/>
    <p:sldId id="277" r:id="rId32"/>
    <p:sldId id="278" r:id="rId33"/>
  </p:sldIdLst>
  <p:sldSz cx="9144000" cy="6858000" type="screen4x3"/>
  <p:notesSz cx="6858000" cy="91440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24"/>
  </p:normalViewPr>
  <p:slideViewPr>
    <p:cSldViewPr>
      <p:cViewPr varScale="1">
        <p:scale>
          <a:sx n="220" d="100"/>
          <a:sy n="220" d="100"/>
        </p:scale>
        <p:origin x="688" y="19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theme" Target="theme/theme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viewProps" Target="view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presProps" Target="presProps.xml"/><Relationship Id="rId8" Type="http://schemas.openxmlformats.org/officeDocument/2006/relationships/slide" Target="slides/slide6.xml"/><Relationship Id="rId3" Type="http://schemas.openxmlformats.org/officeDocument/2006/relationships/slide" Target="slides/slid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2E50AEC6-6450-BEB4-831D-CE88E181EEE6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>
                <a:latin typeface="Arial" charset="0"/>
                <a:ea typeface="ＭＳ Ｐゴシック" charset="0"/>
                <a:cs typeface="ＭＳ Ｐゴシック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9817C4C1-DF1E-70FB-40E1-BDB79C11DDFA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88620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Arial" charset="0"/>
                <a:ea typeface="ＭＳ Ｐゴシック" charset="0"/>
                <a:cs typeface="ＭＳ Ｐゴシック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076" name="Rectangle 4">
            <a:extLst>
              <a:ext uri="{FF2B5EF4-FFF2-40B4-BE49-F238E27FC236}">
                <a16:creationId xmlns:a16="http://schemas.microsoft.com/office/drawing/2014/main" id="{D8BAA87E-5A30-6C93-5599-42D50DBB6A4E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9" name="Rectangle 5">
            <a:extLst>
              <a:ext uri="{FF2B5EF4-FFF2-40B4-BE49-F238E27FC236}">
                <a16:creationId xmlns:a16="http://schemas.microsoft.com/office/drawing/2014/main" id="{D27A78BB-5D01-B255-CF4B-D1B607035AD1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150" name="Rectangle 6">
            <a:extLst>
              <a:ext uri="{FF2B5EF4-FFF2-40B4-BE49-F238E27FC236}">
                <a16:creationId xmlns:a16="http://schemas.microsoft.com/office/drawing/2014/main" id="{6FBFB64E-4ABE-503A-3575-B4001BC9631C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>
                <a:latin typeface="Arial" charset="0"/>
                <a:ea typeface="ＭＳ Ｐゴシック" charset="0"/>
                <a:cs typeface="ＭＳ Ｐゴシック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151" name="Rectangle 7">
            <a:extLst>
              <a:ext uri="{FF2B5EF4-FFF2-40B4-BE49-F238E27FC236}">
                <a16:creationId xmlns:a16="http://schemas.microsoft.com/office/drawing/2014/main" id="{96979ECE-DFA4-E104-4473-964F1D7B33F8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pPr>
              <a:defRPr/>
            </a:pPr>
            <a:fld id="{657A6BA6-257E-AA4B-9A51-FFD96222AE67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-101" charset="0"/>
        <a:ea typeface="ＭＳ Ｐゴシック" pitchFamily="-112" charset="-128"/>
        <a:cs typeface="ＭＳ Ｐゴシック" pitchFamily="-112" charset="-128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-101" charset="0"/>
        <a:ea typeface="ＭＳ Ｐゴシック" pitchFamily="-112" charset="-128"/>
        <a:cs typeface="ＭＳ Ｐゴシック" pitchFamily="-112" charset="-128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-101" charset="0"/>
        <a:ea typeface="ＭＳ Ｐゴシック" pitchFamily="-112" charset="-128"/>
        <a:cs typeface="ＭＳ Ｐゴシック" pitchFamily="-112" charset="-128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-101" charset="0"/>
        <a:ea typeface="ＭＳ Ｐゴシック" pitchFamily="-112" charset="-128"/>
        <a:cs typeface="ＭＳ Ｐゴシック" pitchFamily="-112" charset="-128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-101" charset="0"/>
        <a:ea typeface="ＭＳ Ｐゴシック" pitchFamily="-112" charset="-128"/>
        <a:cs typeface="ＭＳ Ｐゴシック" pitchFamily="-112" charset="-128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7">
            <a:extLst>
              <a:ext uri="{FF2B5EF4-FFF2-40B4-BE49-F238E27FC236}">
                <a16:creationId xmlns:a16="http://schemas.microsoft.com/office/drawing/2014/main" id="{F8147C37-E5E8-9963-9AFE-EF264B46A42A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778CEE38-DF25-0F4C-AEF2-33DC7FE54254}" type="slidenum">
              <a:rPr lang="en-US" altLang="en-US" sz="1200" smtClean="0"/>
              <a:pPr/>
              <a:t>1</a:t>
            </a:fld>
            <a:endParaRPr lang="en-US" altLang="en-US" sz="1200"/>
          </a:p>
        </p:txBody>
      </p:sp>
      <p:sp>
        <p:nvSpPr>
          <p:cNvPr id="5123" name="Rectangle 2">
            <a:extLst>
              <a:ext uri="{FF2B5EF4-FFF2-40B4-BE49-F238E27FC236}">
                <a16:creationId xmlns:a16="http://schemas.microsoft.com/office/drawing/2014/main" id="{111BD903-D6B0-3F06-E36F-34D1A763800E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124" name="Rectangle 3">
            <a:extLst>
              <a:ext uri="{FF2B5EF4-FFF2-40B4-BE49-F238E27FC236}">
                <a16:creationId xmlns:a16="http://schemas.microsoft.com/office/drawing/2014/main" id="{D5DC1892-6142-23CE-AE0F-354DB1ECB20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en-US"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D4404-C563-6B43-A824-459A163A6375}" type="slidenum">
              <a:rPr lang="en-US" smtClean="0"/>
              <a:pPr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257064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solidFill>
                  <a:srgbClr val="000000"/>
                </a:solidFill>
                <a:effectLst/>
                <a:latin typeface="Monaco" pitchFamily="2" charset="77"/>
              </a:rPr>
              <a:t>But they differ on exactly which parameters get updated.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D4404-C563-6B43-A824-459A163A6375}" type="slidenum">
              <a:rPr lang="en-US" smtClean="0"/>
              <a:pPr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279106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>
            <a:lvl1pPr>
              <a:defRPr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889530C6-457B-397F-CD77-3B74B9D9D4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410136" y="6400800"/>
            <a:ext cx="733864" cy="274320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</a:lstStyle>
          <a:p>
            <a:fld id="{19B12225-5612-419B-A8D5-4B8EEE4C217E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405846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b="1"/>
            </a:lvl1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EFBFBCDA-B5CE-FE45-6F11-FBF8F53F91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410136" y="6400800"/>
            <a:ext cx="733864" cy="274320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</a:lstStyle>
          <a:p>
            <a:fld id="{19B12225-5612-419B-A8D5-4B8EEE4C217E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54011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6156542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22350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984750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B276E0FB-F78B-88A4-C155-03C6B2FE26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427818" y="6400800"/>
            <a:ext cx="733864" cy="274320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</a:lstStyle>
          <a:p>
            <a:fld id="{19B12225-5612-419B-A8D5-4B8EEE4C217E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305768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E3412714-5B1F-3336-0473-17FC2954F3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410136" y="6309042"/>
            <a:ext cx="733864" cy="274320"/>
          </a:xfrm>
        </p:spPr>
        <p:txBody>
          <a:bodyPr/>
          <a:lstStyle>
            <a:lvl1pPr>
              <a:defRPr sz="2800"/>
            </a:lvl1pPr>
          </a:lstStyle>
          <a:p>
            <a:fld id="{19B12225-5612-419B-A8D5-4B8EEE4C217E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29754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82C90537-366A-F077-225A-22193C5FF0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410136" y="6324600"/>
            <a:ext cx="733864" cy="274320"/>
          </a:xfrm>
        </p:spPr>
        <p:txBody>
          <a:bodyPr/>
          <a:lstStyle>
            <a:lvl1pPr>
              <a:defRPr sz="2800"/>
            </a:lvl1pPr>
          </a:lstStyle>
          <a:p>
            <a:fld id="{19B12225-5612-419B-A8D5-4B8EEE4C217E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2427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395697A5-B5D9-5703-8802-853857DB1E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410136" y="6324600"/>
            <a:ext cx="733864" cy="274320"/>
          </a:xfrm>
        </p:spPr>
        <p:txBody>
          <a:bodyPr/>
          <a:lstStyle>
            <a:lvl1pPr>
              <a:defRPr sz="2800"/>
            </a:lvl1pPr>
          </a:lstStyle>
          <a:p>
            <a:fld id="{19B12225-5612-419B-A8D5-4B8EEE4C217E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025040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5729433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826181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7376108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851650" y="912813"/>
            <a:ext cx="1943100" cy="5183187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22350" y="912813"/>
            <a:ext cx="5676900" cy="518318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2476809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Section Head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Title Text"/>
          <p:cNvSpPr txBox="1">
            <a:spLocks noGrp="1"/>
          </p:cNvSpPr>
          <p:nvPr>
            <p:ph type="title"/>
          </p:nvPr>
        </p:nvSpPr>
        <p:spPr>
          <a:xfrm>
            <a:off x="396394" y="2625603"/>
            <a:ext cx="7772401" cy="1240141"/>
          </a:xfrm>
          <a:prstGeom prst="rect">
            <a:avLst/>
          </a:prstGeom>
        </p:spPr>
        <p:txBody>
          <a:bodyPr anchor="ctr"/>
          <a:lstStyle>
            <a:lvl1pPr>
              <a:defRPr sz="4000"/>
            </a:lvl1pPr>
          </a:lstStyle>
          <a:p>
            <a:r>
              <a:t>Title Text</a:t>
            </a:r>
          </a:p>
        </p:txBody>
      </p:sp>
      <p:sp>
        <p:nvSpPr>
          <p:cNvPr id="4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159959371"/>
      </p:ext>
    </p:extLst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2D59FB-464B-50E4-91F1-64BD21024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50282D-E7DB-6F04-5033-979A1C72FF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EC1BE7-4C69-B651-8FA6-D7C4814528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32BC09F-3344-854B-9442-79F1EE6FD34D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06388866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E776DB-9829-7DD5-4A16-AFFA708C08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013607-682B-443A-AA64-9F99B01D23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0664F6-E639-04CD-5217-8F6E766F34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0CAA8C0-2B3C-0F43-B5AA-E1E490EE2587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87709937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E22FC1-443E-6954-03F8-0555C5ECCB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84CBD3-2BE9-D678-AB26-0FEB8CD7B3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F6191E-4F02-13A1-E6EA-C2390E23D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74D03C1-9B81-0B43-BDA5-D5273512C85A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02942484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AFF1ED20-1354-A5D2-8B73-5853E58DF5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4B061F56-B648-0F06-1E80-179909F2E0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B8501FEF-4524-B990-BF15-7AAAD7E1CD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814DA78-E2FE-EF47-9633-94A66BDFDEF4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54826122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57442AF6-7B08-BE61-9781-058A315F96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AF25B2E5-88D8-1BED-785D-D99DE71FE7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CDF7197A-07DE-A8C5-FA71-216523B3F4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F7B5CED-FDE5-C846-B2EE-85FF54821C74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5568413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A43A69E0-E159-C7AC-FD8B-17569A94D5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DA0E89AE-65BC-4E6E-B443-B382E2C8F7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6FF3F308-C3F1-0476-0658-0E6BC339EE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3F3BCEB-E485-B245-B234-71B013D2F497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14407590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>
            <a:extLst>
              <a:ext uri="{FF2B5EF4-FFF2-40B4-BE49-F238E27FC236}">
                <a16:creationId xmlns:a16="http://schemas.microsoft.com/office/drawing/2014/main" id="{8DE82E01-EFDC-3A55-9F77-18B0D36FE9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1A718785-F445-25DB-366D-686400B689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90CCE9F0-57F4-B696-08E6-59C5B77301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A78A2D7-983E-2847-8DFA-09708FFF7BF9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49528947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5F3F9A48-C3EE-68F2-7E6E-5C8CEB871A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FBABF21D-9355-5146-CFD6-6BE14C09B2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F2D61FBB-E638-358D-00C0-977E3DD46D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A5C6FBA-D2FA-B541-9823-7D0E316AF5AD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8872255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DEC28A08-2957-8D3E-E419-8DC595565B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7DC7DBE5-D61E-1511-5757-0877B8BB13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F4797641-3035-A196-A9F6-737FD5D8BE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ACB3CCB-0C84-234C-A011-A60FB627723F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17295361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8EC5F0-F25C-6265-5F47-2738490921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A18147-E4F6-B42B-B2D2-FEA926A9E9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2C8C4F-4461-25E8-0B16-24C6AC428F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597A6C8-E9AE-8842-9DB7-E3EEBDCA019A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87199597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69BCB8-87B6-2653-4D53-962B9F4C72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D7341C-2506-C028-F7A1-B1A3A91A13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285642-01B8-7C89-EA70-104FB8662A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CCB0705-CA54-384A-9B5F-96C62A186C1E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1004586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emf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ABE9F922-F936-BD3B-806B-CFCD2685543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1022350" y="912813"/>
            <a:ext cx="77724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title style</a:t>
            </a:r>
          </a:p>
        </p:txBody>
      </p:sp>
      <p:sp>
        <p:nvSpPr>
          <p:cNvPr id="1027" name="Rectangle 3">
            <a:extLst>
              <a:ext uri="{FF2B5EF4-FFF2-40B4-BE49-F238E27FC236}">
                <a16:creationId xmlns:a16="http://schemas.microsoft.com/office/drawing/2014/main" id="{780491C8-BD0F-CACE-CAD4-EB411CE2177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1022350" y="1981200"/>
            <a:ext cx="7772400" cy="411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text styles</a:t>
            </a:r>
          </a:p>
          <a:p>
            <a:pPr lvl="1"/>
            <a:r>
              <a:rPr lang="en-US" altLang="en-US" dirty="0"/>
              <a:t>Second level</a:t>
            </a:r>
          </a:p>
          <a:p>
            <a:pPr lvl="2"/>
            <a:r>
              <a:rPr lang="en-US" altLang="en-US" dirty="0"/>
              <a:t>Third level</a:t>
            </a:r>
          </a:p>
          <a:p>
            <a:pPr lvl="3"/>
            <a:r>
              <a:rPr lang="en-US" altLang="en-US" dirty="0"/>
              <a:t>Fourth level</a:t>
            </a:r>
          </a:p>
          <a:p>
            <a:pPr lvl="4"/>
            <a:r>
              <a:rPr lang="en-US" altLang="en-US" dirty="0"/>
              <a:t>Fifth level</a:t>
            </a:r>
          </a:p>
        </p:txBody>
      </p:sp>
      <p:sp>
        <p:nvSpPr>
          <p:cNvPr id="1028" name="Rectangle 5">
            <a:extLst>
              <a:ext uri="{FF2B5EF4-FFF2-40B4-BE49-F238E27FC236}">
                <a16:creationId xmlns:a16="http://schemas.microsoft.com/office/drawing/2014/main" id="{A685932E-15D3-9FC0-19DE-DB14C4B8DB0D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6073775"/>
            <a:ext cx="9144000" cy="795338"/>
          </a:xfrm>
          <a:prstGeom prst="rect">
            <a:avLst/>
          </a:prstGeom>
          <a:solidFill>
            <a:srgbClr val="C80000"/>
          </a:solidFill>
          <a:ln>
            <a:noFill/>
          </a:ln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>
              <a:defRPr/>
            </a:pPr>
            <a:endParaRPr lang="en-US" altLang="en-US"/>
          </a:p>
        </p:txBody>
      </p:sp>
      <p:pic>
        <p:nvPicPr>
          <p:cNvPr id="1029" name="Picture 7" descr="NJIT_C_SD3_ko.eps">
            <a:extLst>
              <a:ext uri="{FF2B5EF4-FFF2-40B4-BE49-F238E27FC236}">
                <a16:creationId xmlns:a16="http://schemas.microsoft.com/office/drawing/2014/main" id="{DED53CDE-A4D7-780E-AA06-AEF3ABA83589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350" y="6149975"/>
            <a:ext cx="2438400" cy="6461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93D394AD-D370-1F66-8BDC-7751E9CBFB1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382000" y="6345396"/>
            <a:ext cx="868582" cy="450692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</a:lstStyle>
          <a:p>
            <a:fld id="{19B12225-5612-419B-A8D5-4B8EEE4C217E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84" r:id="rId12"/>
  </p:sldLayoutIdLst>
  <p:hf hd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800" b="1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800">
          <a:solidFill>
            <a:schemeClr val="tx2"/>
          </a:solidFill>
          <a:latin typeface="ITC Stone Sans Std Semibold" pitchFamily="-101" charset="0"/>
          <a:ea typeface="ＭＳ Ｐゴシック" pitchFamily="-112" charset="-128"/>
          <a:cs typeface="ＭＳ Ｐゴシック" pitchFamily="-112" charset="-128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800">
          <a:solidFill>
            <a:schemeClr val="tx2"/>
          </a:solidFill>
          <a:latin typeface="ITC Stone Sans Std Semibold" pitchFamily="-101" charset="0"/>
          <a:ea typeface="ＭＳ Ｐゴシック" pitchFamily="-112" charset="-128"/>
          <a:cs typeface="ＭＳ Ｐゴシック" pitchFamily="-112" charset="-128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800">
          <a:solidFill>
            <a:schemeClr val="tx2"/>
          </a:solidFill>
          <a:latin typeface="ITC Stone Sans Std Semibold" pitchFamily="-101" charset="0"/>
          <a:ea typeface="ＭＳ Ｐゴシック" pitchFamily="-112" charset="-128"/>
          <a:cs typeface="ＭＳ Ｐゴシック" pitchFamily="-112" charset="-128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800">
          <a:solidFill>
            <a:schemeClr val="tx2"/>
          </a:solidFill>
          <a:latin typeface="ITC Stone Sans Std Semibold" pitchFamily="-101" charset="0"/>
          <a:ea typeface="ＭＳ Ｐゴシック" pitchFamily="-112" charset="-128"/>
          <a:cs typeface="ＭＳ Ｐゴシック" pitchFamily="-112" charset="-128"/>
        </a:defRPr>
      </a:lvl5pPr>
      <a:lvl6pPr marL="457200" algn="l" rtl="0" fontAlgn="base">
        <a:spcBef>
          <a:spcPct val="0"/>
        </a:spcBef>
        <a:spcAft>
          <a:spcPct val="0"/>
        </a:spcAft>
        <a:defRPr sz="3800">
          <a:solidFill>
            <a:schemeClr val="tx2"/>
          </a:solidFill>
          <a:latin typeface="ITC Stone Sans Std Semibold" pitchFamily="-101" charset="0"/>
          <a:ea typeface="ＭＳ Ｐゴシック" pitchFamily="-112" charset="-128"/>
          <a:cs typeface="ＭＳ Ｐゴシック" pitchFamily="-112" charset="-128"/>
        </a:defRPr>
      </a:lvl6pPr>
      <a:lvl7pPr marL="914400" algn="l" rtl="0" fontAlgn="base">
        <a:spcBef>
          <a:spcPct val="0"/>
        </a:spcBef>
        <a:spcAft>
          <a:spcPct val="0"/>
        </a:spcAft>
        <a:defRPr sz="3800">
          <a:solidFill>
            <a:schemeClr val="tx2"/>
          </a:solidFill>
          <a:latin typeface="ITC Stone Sans Std Semibold" pitchFamily="-101" charset="0"/>
          <a:ea typeface="ＭＳ Ｐゴシック" pitchFamily="-112" charset="-128"/>
          <a:cs typeface="ＭＳ Ｐゴシック" pitchFamily="-112" charset="-128"/>
        </a:defRPr>
      </a:lvl7pPr>
      <a:lvl8pPr marL="1371600" algn="l" rtl="0" fontAlgn="base">
        <a:spcBef>
          <a:spcPct val="0"/>
        </a:spcBef>
        <a:spcAft>
          <a:spcPct val="0"/>
        </a:spcAft>
        <a:defRPr sz="3800">
          <a:solidFill>
            <a:schemeClr val="tx2"/>
          </a:solidFill>
          <a:latin typeface="ITC Stone Sans Std Semibold" pitchFamily="-101" charset="0"/>
          <a:ea typeface="ＭＳ Ｐゴシック" pitchFamily="-112" charset="-128"/>
          <a:cs typeface="ＭＳ Ｐゴシック" pitchFamily="-112" charset="-128"/>
        </a:defRPr>
      </a:lvl8pPr>
      <a:lvl9pPr marL="1828800" algn="l" rtl="0" fontAlgn="base">
        <a:spcBef>
          <a:spcPct val="0"/>
        </a:spcBef>
        <a:spcAft>
          <a:spcPct val="0"/>
        </a:spcAft>
        <a:defRPr sz="3800">
          <a:solidFill>
            <a:schemeClr val="tx2"/>
          </a:solidFill>
          <a:latin typeface="ITC Stone Sans Std Semibold" pitchFamily="-101" charset="0"/>
          <a:ea typeface="ＭＳ Ｐゴシック" pitchFamily="-112" charset="-128"/>
          <a:cs typeface="ＭＳ Ｐゴシック" pitchFamily="-112" charset="-128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200" b="1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000" b="1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b="1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1600" b="1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1400" b="1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14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14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14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14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Text Placeholder 2">
            <a:extLst>
              <a:ext uri="{FF2B5EF4-FFF2-40B4-BE49-F238E27FC236}">
                <a16:creationId xmlns:a16="http://schemas.microsoft.com/office/drawing/2014/main" id="{2F17B794-1B74-89D6-F3D5-350D71BE6CB1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txt styles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  <a:p>
            <a:pPr lvl="4"/>
            <a:r>
              <a:rPr lang="en-US" alt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AFAAE0-EA46-BF1F-BB98-2CB0C0DB4DA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Arial" pitchFamily="34" charset="0"/>
                <a:ea typeface="ＭＳ Ｐゴシック" pitchFamily="34" charset="-128"/>
              </a:defRPr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ACBAB4-812C-CA14-6D71-C8D383B764F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ctr">
              <a:defRPr sz="1200">
                <a:solidFill>
                  <a:srgbClr val="898989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39514B-1411-4219-0EF9-F6FC32B58B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</a:defRPr>
            </a:lvl1pPr>
          </a:lstStyle>
          <a:p>
            <a:pPr>
              <a:defRPr/>
            </a:pPr>
            <a:fld id="{81C374E2-DBFD-6841-8A7C-4AE15F0DD8E5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2" r:id="rId1"/>
    <p:sldLayoutId id="2147483673" r:id="rId2"/>
    <p:sldLayoutId id="2147483674" r:id="rId3"/>
    <p:sldLayoutId id="2147483675" r:id="rId4"/>
    <p:sldLayoutId id="2147483676" r:id="rId5"/>
    <p:sldLayoutId id="2147483677" r:id="rId6"/>
    <p:sldLayoutId id="2147483678" r:id="rId7"/>
    <p:sldLayoutId id="2147483679" r:id="rId8"/>
    <p:sldLayoutId id="2147483680" r:id="rId9"/>
    <p:sldLayoutId id="2147483681" r:id="rId10"/>
    <p:sldLayoutId id="2147483682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ヒラギノ角ゴ Pro W3" charset="0"/>
          <a:cs typeface="ヒラギノ角ゴ Pro W3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charset="0"/>
          <a:ea typeface="ヒラギノ角ゴ Pro W3" charset="0"/>
          <a:cs typeface="ヒラギノ角ゴ Pro W3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charset="0"/>
          <a:ea typeface="ヒラギノ角ゴ Pro W3" charset="0"/>
          <a:cs typeface="ヒラギノ角ゴ Pro W3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charset="0"/>
          <a:ea typeface="ヒラギノ角ゴ Pro W3" charset="0"/>
          <a:cs typeface="ヒラギノ角ゴ Pro W3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charset="0"/>
          <a:ea typeface="ヒラギノ角ゴ Pro W3" charset="0"/>
          <a:cs typeface="ヒラギノ角ゴ Pro W3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charset="0"/>
          <a:ea typeface="ヒラギノ角ゴ Pro W3" charset="0"/>
          <a:cs typeface="ヒラギノ角ゴ Pro W3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charset="0"/>
          <a:ea typeface="ヒラギノ角ゴ Pro W3" charset="0"/>
          <a:cs typeface="ヒラギノ角ゴ Pro W3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charset="0"/>
          <a:ea typeface="ヒラギノ角ゴ Pro W3" charset="0"/>
          <a:cs typeface="ヒラギノ角ゴ Pro W3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charset="0"/>
          <a:ea typeface="ヒラギノ角ゴ Pro W3" charset="0"/>
          <a:cs typeface="ヒラギノ角ゴ Pro W3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ヒラギノ角ゴ Pro W3" charset="0"/>
          <a:cs typeface="ヒラギノ角ゴ Pro W3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ヒラギノ角ゴ Pro W3" charset="0"/>
          <a:cs typeface="ヒラギノ角ゴ Pro W3" charset="0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ヒラギノ角ゴ Pro W3" charset="0"/>
          <a:cs typeface="ヒラギノ角ゴ Pro W3" charset="0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ヒラギノ角ゴ Pro W3" charset="0"/>
          <a:cs typeface="ヒラギノ角ゴ Pro W3" charset="0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ヒラギノ角ゴ Pro W3" charset="0"/>
          <a:cs typeface="ヒラギノ角ゴ Pro W3" charset="0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themeOverride" Target="../theme/themeOverride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tif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Relationship Id="rId9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3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3" Type="http://schemas.openxmlformats.org/officeDocument/2006/relationships/image" Target="../media/image34.png"/><Relationship Id="rId7" Type="http://schemas.openxmlformats.org/officeDocument/2006/relationships/image" Target="../media/image38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emf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emf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e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emf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emf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1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ext Box 4">
            <a:extLst>
              <a:ext uri="{FF2B5EF4-FFF2-40B4-BE49-F238E27FC236}">
                <a16:creationId xmlns:a16="http://schemas.microsoft.com/office/drawing/2014/main" id="{E3673347-7002-7307-F439-75776DBF089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5400" y="1066800"/>
            <a:ext cx="63246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2200">
                <a:solidFill>
                  <a:schemeClr val="tx1"/>
                </a:solidFill>
                <a:latin typeface="ITC Stone Sans Std Semibold" pitchFamily="-101" charset="0"/>
                <a:ea typeface="ＭＳ Ｐゴシック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ITC Stone Sans Std Semibold" pitchFamily="-101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>
                <a:solidFill>
                  <a:schemeClr val="tx1"/>
                </a:solidFill>
                <a:latin typeface="ITC Stone Sans Std Semibold" pitchFamily="-101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ITC Stone Sans Std Semibold" pitchFamily="-101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ITC Stone Sans Std Semibold" pitchFamily="-101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ITC Stone Sans Std Semibold" pitchFamily="-101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ITC Stone Sans Std Semibold" pitchFamily="-101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ITC Stone Sans Std Semibold" pitchFamily="-101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ITC Stone Sans Std Semibold" pitchFamily="-101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50000"/>
              </a:spcBef>
              <a:buFontTx/>
              <a:buNone/>
            </a:pPr>
            <a:endParaRPr lang="en-US" altLang="en-US" sz="2400">
              <a:latin typeface="Arial" panose="020B0604020202020204" pitchFamily="34" charset="0"/>
            </a:endParaRPr>
          </a:p>
        </p:txBody>
      </p:sp>
      <p:sp>
        <p:nvSpPr>
          <p:cNvPr id="4099" name="Text Box 6">
            <a:extLst>
              <a:ext uri="{FF2B5EF4-FFF2-40B4-BE49-F238E27FC236}">
                <a16:creationId xmlns:a16="http://schemas.microsoft.com/office/drawing/2014/main" id="{47CC9149-1476-A191-3C3C-81D7620092B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1371600"/>
            <a:ext cx="91440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2200">
                <a:solidFill>
                  <a:schemeClr val="tx1"/>
                </a:solidFill>
                <a:latin typeface="ITC Stone Sans Std Semibold" pitchFamily="-101" charset="0"/>
                <a:ea typeface="ＭＳ Ｐゴシック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ITC Stone Sans Std Semibold" pitchFamily="-101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>
                <a:solidFill>
                  <a:schemeClr val="tx1"/>
                </a:solidFill>
                <a:latin typeface="ITC Stone Sans Std Semibold" pitchFamily="-101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ITC Stone Sans Std Semibold" pitchFamily="-101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ITC Stone Sans Std Semibold" pitchFamily="-101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ITC Stone Sans Std Semibold" pitchFamily="-101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ITC Stone Sans Std Semibold" pitchFamily="-101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ITC Stone Sans Std Semibold" pitchFamily="-101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ITC Stone Sans Std Semibold" pitchFamily="-101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50000"/>
              </a:spcBef>
              <a:buFontTx/>
              <a:buNone/>
            </a:pPr>
            <a:endParaRPr lang="en-US" altLang="en-US" sz="2400">
              <a:latin typeface="Arial" panose="020B0604020202020204" pitchFamily="34" charset="0"/>
            </a:endParaRPr>
          </a:p>
        </p:txBody>
      </p:sp>
      <p:sp>
        <p:nvSpPr>
          <p:cNvPr id="4100" name="Text Box 8">
            <a:extLst>
              <a:ext uri="{FF2B5EF4-FFF2-40B4-BE49-F238E27FC236}">
                <a16:creationId xmlns:a16="http://schemas.microsoft.com/office/drawing/2014/main" id="{A57CD770-15F0-F7AC-9869-394109F1106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1066800"/>
            <a:ext cx="91440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2200">
                <a:solidFill>
                  <a:schemeClr val="tx1"/>
                </a:solidFill>
                <a:latin typeface="ITC Stone Sans Std Semibold" pitchFamily="-101" charset="0"/>
                <a:ea typeface="ＭＳ Ｐゴシック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ITC Stone Sans Std Semibold" pitchFamily="-101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>
                <a:solidFill>
                  <a:schemeClr val="tx1"/>
                </a:solidFill>
                <a:latin typeface="ITC Stone Sans Std Semibold" pitchFamily="-101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ITC Stone Sans Std Semibold" pitchFamily="-101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ITC Stone Sans Std Semibold" pitchFamily="-101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ITC Stone Sans Std Semibold" pitchFamily="-101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ITC Stone Sans Std Semibold" pitchFamily="-101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ITC Stone Sans Std Semibold" pitchFamily="-101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ITC Stone Sans Std Semibold" pitchFamily="-101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50000"/>
              </a:spcBef>
              <a:buFontTx/>
              <a:buNone/>
            </a:pPr>
            <a:endParaRPr lang="en-US" altLang="en-US" sz="2400">
              <a:latin typeface="Arial" panose="020B0604020202020204" pitchFamily="34" charset="0"/>
            </a:endParaRPr>
          </a:p>
        </p:txBody>
      </p:sp>
      <p:sp>
        <p:nvSpPr>
          <p:cNvPr id="4101" name="Text Box 10">
            <a:extLst>
              <a:ext uri="{FF2B5EF4-FFF2-40B4-BE49-F238E27FC236}">
                <a16:creationId xmlns:a16="http://schemas.microsoft.com/office/drawing/2014/main" id="{23D7D4A0-A31F-5919-D4D7-9992BD4BAD6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1524000"/>
            <a:ext cx="91440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2200">
                <a:solidFill>
                  <a:schemeClr val="tx1"/>
                </a:solidFill>
                <a:latin typeface="ITC Stone Sans Std Semibold" pitchFamily="-101" charset="0"/>
                <a:ea typeface="ＭＳ Ｐゴシック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ITC Stone Sans Std Semibold" pitchFamily="-101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>
                <a:solidFill>
                  <a:schemeClr val="tx1"/>
                </a:solidFill>
                <a:latin typeface="ITC Stone Sans Std Semibold" pitchFamily="-101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ITC Stone Sans Std Semibold" pitchFamily="-101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1400">
                <a:solidFill>
                  <a:schemeClr val="tx1"/>
                </a:solidFill>
                <a:latin typeface="ITC Stone Sans Std Semibold" pitchFamily="-101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ITC Stone Sans Std Semibold" pitchFamily="-101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ITC Stone Sans Std Semibold" pitchFamily="-101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ITC Stone Sans Std Semibold" pitchFamily="-101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400">
                <a:solidFill>
                  <a:schemeClr val="tx1"/>
                </a:solidFill>
                <a:latin typeface="ITC Stone Sans Std Semibold" pitchFamily="-101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50000"/>
              </a:spcBef>
              <a:buFontTx/>
              <a:buNone/>
            </a:pPr>
            <a:endParaRPr lang="en-US" altLang="en-US" sz="2400">
              <a:latin typeface="Arial" panose="020B0604020202020204" pitchFamily="34" charset="0"/>
            </a:endParaRPr>
          </a:p>
        </p:txBody>
      </p:sp>
      <p:pic>
        <p:nvPicPr>
          <p:cNvPr id="4102" name="Picture 8" descr="Splash-screen-background.png">
            <a:extLst>
              <a:ext uri="{FF2B5EF4-FFF2-40B4-BE49-F238E27FC236}">
                <a16:creationId xmlns:a16="http://schemas.microsoft.com/office/drawing/2014/main" id="{B4E215EF-7115-6CD2-4311-1B86D6DEB21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81757" y="304800"/>
            <a:ext cx="9307513" cy="7251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8629D63E-AF89-1A63-174E-4792BB8950AA}"/>
              </a:ext>
            </a:extLst>
          </p:cNvPr>
          <p:cNvSpPr txBox="1">
            <a:spLocks/>
          </p:cNvSpPr>
          <p:nvPr/>
        </p:nvSpPr>
        <p:spPr bwMode="auto">
          <a:xfrm>
            <a:off x="990600" y="1371600"/>
            <a:ext cx="77724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3800" b="1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3800">
                <a:solidFill>
                  <a:schemeClr val="tx2"/>
                </a:solidFill>
                <a:latin typeface="ITC Stone Sans Std Semibold" pitchFamily="-101" charset="0"/>
                <a:ea typeface="ＭＳ Ｐゴシック" pitchFamily="-112" charset="-128"/>
                <a:cs typeface="ＭＳ Ｐゴシック" pitchFamily="-112" charset="-128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3800">
                <a:solidFill>
                  <a:schemeClr val="tx2"/>
                </a:solidFill>
                <a:latin typeface="ITC Stone Sans Std Semibold" pitchFamily="-101" charset="0"/>
                <a:ea typeface="ＭＳ Ｐゴシック" pitchFamily="-112" charset="-128"/>
                <a:cs typeface="ＭＳ Ｐゴシック" pitchFamily="-112" charset="-128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3800">
                <a:solidFill>
                  <a:schemeClr val="tx2"/>
                </a:solidFill>
                <a:latin typeface="ITC Stone Sans Std Semibold" pitchFamily="-101" charset="0"/>
                <a:ea typeface="ＭＳ Ｐゴシック" pitchFamily="-112" charset="-128"/>
                <a:cs typeface="ＭＳ Ｐゴシック" pitchFamily="-112" charset="-128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3800">
                <a:solidFill>
                  <a:schemeClr val="tx2"/>
                </a:solidFill>
                <a:latin typeface="ITC Stone Sans Std Semibold" pitchFamily="-101" charset="0"/>
                <a:ea typeface="ＭＳ Ｐゴシック" pitchFamily="-112" charset="-128"/>
                <a:cs typeface="ＭＳ Ｐゴシック" pitchFamily="-112" charset="-128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3800">
                <a:solidFill>
                  <a:schemeClr val="tx2"/>
                </a:solidFill>
                <a:latin typeface="ITC Stone Sans Std Semibold" pitchFamily="-101" charset="0"/>
                <a:ea typeface="ＭＳ Ｐゴシック" pitchFamily="-112" charset="-128"/>
                <a:cs typeface="ＭＳ Ｐゴシック" pitchFamily="-112" charset="-128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3800">
                <a:solidFill>
                  <a:schemeClr val="tx2"/>
                </a:solidFill>
                <a:latin typeface="ITC Stone Sans Std Semibold" pitchFamily="-101" charset="0"/>
                <a:ea typeface="ＭＳ Ｐゴシック" pitchFamily="-112" charset="-128"/>
                <a:cs typeface="ＭＳ Ｐゴシック" pitchFamily="-112" charset="-128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3800">
                <a:solidFill>
                  <a:schemeClr val="tx2"/>
                </a:solidFill>
                <a:latin typeface="ITC Stone Sans Std Semibold" pitchFamily="-101" charset="0"/>
                <a:ea typeface="ＭＳ Ｐゴシック" pitchFamily="-112" charset="-128"/>
                <a:cs typeface="ＭＳ Ｐゴシック" pitchFamily="-112" charset="-128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3800">
                <a:solidFill>
                  <a:schemeClr val="tx2"/>
                </a:solidFill>
                <a:latin typeface="ITC Stone Sans Std Semibold" pitchFamily="-101" charset="0"/>
                <a:ea typeface="ＭＳ Ｐゴシック" pitchFamily="-112" charset="-128"/>
                <a:cs typeface="ＭＳ Ｐゴシック" pitchFamily="-112" charset="-128"/>
              </a:defRPr>
            </a:lvl9pPr>
          </a:lstStyle>
          <a:p>
            <a:pPr algn="ctr" defTabSz="242315">
              <a:defRPr sz="2120" b="1">
                <a:solidFill>
                  <a:srgbClr val="4D4D4C"/>
                </a:solidFill>
              </a:defRPr>
            </a:pPr>
            <a:r>
              <a:rPr lang="en-US" sz="3600" kern="0" dirty="0">
                <a:solidFill>
                  <a:schemeClr val="bg2">
                    <a:lumMod val="20000"/>
                    <a:lumOff val="80000"/>
                  </a:schemeClr>
                </a:solidFill>
              </a:rPr>
              <a:t>Introduction to Attention, Transformer, and Large Language Models</a:t>
            </a:r>
            <a:br>
              <a:rPr lang="en-US" sz="3600" kern="0" dirty="0">
                <a:solidFill>
                  <a:schemeClr val="bg2">
                    <a:lumMod val="20000"/>
                    <a:lumOff val="80000"/>
                  </a:schemeClr>
                </a:solidFill>
              </a:rPr>
            </a:br>
            <a:endParaRPr lang="en-US" sz="3600" kern="0" dirty="0">
              <a:solidFill>
                <a:schemeClr val="bg2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5" name="Slides Courtesy of Alex Smola and Mu Li">
            <a:extLst>
              <a:ext uri="{FF2B5EF4-FFF2-40B4-BE49-F238E27FC236}">
                <a16:creationId xmlns:a16="http://schemas.microsoft.com/office/drawing/2014/main" id="{400981D8-9E76-645A-A83D-703C6C7F95BA}"/>
              </a:ext>
            </a:extLst>
          </p:cNvPr>
          <p:cNvSpPr/>
          <p:nvPr/>
        </p:nvSpPr>
        <p:spPr>
          <a:xfrm>
            <a:off x="1524000" y="5486400"/>
            <a:ext cx="6598701" cy="9603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normAutofit/>
          </a:bodyPr>
          <a:lstStyle>
            <a:lvl1pPr>
              <a:spcBef>
                <a:spcPts val="900"/>
              </a:spcBef>
              <a:defRPr sz="2400" b="1">
                <a:solidFill>
                  <a:srgbClr val="535353"/>
                </a:solidFill>
              </a:defRPr>
            </a:lvl1pPr>
          </a:lstStyle>
          <a:p>
            <a:r>
              <a:rPr dirty="0">
                <a:solidFill>
                  <a:schemeClr val="bg2">
                    <a:lumMod val="20000"/>
                    <a:lumOff val="80000"/>
                  </a:schemeClr>
                </a:solidFill>
              </a:rPr>
              <a:t>Slides Courtesy of Alex Smola and Mu Li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Image" descr="Image"/>
          <p:cNvPicPr>
            <a:picLocks noChangeAspect="1"/>
          </p:cNvPicPr>
          <p:nvPr/>
        </p:nvPicPr>
        <p:blipFill>
          <a:blip r:embed="rId2"/>
          <a:srcRect l="6322"/>
          <a:stretch>
            <a:fillRect/>
          </a:stretch>
        </p:blipFill>
        <p:spPr>
          <a:xfrm>
            <a:off x="1013860" y="825336"/>
            <a:ext cx="8130140" cy="5207327"/>
          </a:xfrm>
          <a:prstGeom prst="rect">
            <a:avLst/>
          </a:prstGeom>
          <a:ln w="12700">
            <a:miter lim="400000"/>
          </a:ln>
        </p:spPr>
      </p:pic>
      <p:sp>
        <p:nvSpPr>
          <p:cNvPr id="141" name="Attention"/>
          <p:cNvSpPr txBox="1">
            <a:spLocks noGrp="1"/>
          </p:cNvSpPr>
          <p:nvPr>
            <p:ph type="title"/>
          </p:nvPr>
        </p:nvSpPr>
        <p:spPr>
          <a:xfrm>
            <a:off x="228600" y="64269"/>
            <a:ext cx="7772401" cy="1240141"/>
          </a:xfrm>
          <a:prstGeom prst="rect">
            <a:avLst/>
          </a:prstGeom>
        </p:spPr>
        <p:txBody>
          <a:bodyPr/>
          <a:lstStyle/>
          <a:p>
            <a:r>
              <a:rPr dirty="0"/>
              <a:t>Attention</a:t>
            </a:r>
          </a:p>
        </p:txBody>
      </p:sp>
      <p:sp>
        <p:nvSpPr>
          <p:cNvPr id="142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8534400" y="6400800"/>
            <a:ext cx="729054" cy="264255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2</a:t>
            </a:fld>
            <a:endParaRPr dirty="0"/>
          </a:p>
        </p:txBody>
      </p:sp>
    </p:spTree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2A7D86E-4583-9286-48A7-2B64941546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838200"/>
            <a:ext cx="7772400" cy="1143000"/>
          </a:xfrm>
        </p:spPr>
        <p:txBody>
          <a:bodyPr/>
          <a:lstStyle/>
          <a:p>
            <a:r>
              <a:rPr lang="en-US" dirty="0"/>
              <a:t>Outline	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1539778-8976-CD4B-6DA2-48C6742B39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/>
              <a:t>Attention</a:t>
            </a:r>
          </a:p>
          <a:p>
            <a:r>
              <a:rPr lang="en-US" sz="2800" dirty="0"/>
              <a:t>Attention Layer</a:t>
            </a:r>
          </a:p>
          <a:p>
            <a:r>
              <a:rPr lang="en-US" sz="2800" dirty="0"/>
              <a:t>Transformer</a:t>
            </a:r>
          </a:p>
          <a:p>
            <a:r>
              <a:rPr lang="en-US" sz="2800" dirty="0"/>
              <a:t>Language Model</a:t>
            </a:r>
          </a:p>
          <a:p>
            <a:r>
              <a:rPr lang="en-US" sz="2800" dirty="0"/>
              <a:t>Language Model Prompt</a:t>
            </a:r>
          </a:p>
          <a:p>
            <a:r>
              <a:rPr lang="en-US" sz="2800" dirty="0"/>
              <a:t>Language Model Training</a:t>
            </a:r>
          </a:p>
          <a:p>
            <a:r>
              <a:rPr lang="en-US" sz="2800" dirty="0"/>
              <a:t>Language Model Fine-Tune</a:t>
            </a:r>
          </a:p>
          <a:p>
            <a:pPr marL="0" indent="0">
              <a:buNone/>
            </a:pPr>
            <a:endParaRPr lang="en-US" sz="2800" dirty="0"/>
          </a:p>
          <a:p>
            <a:endParaRPr lang="en-US" sz="2800" dirty="0"/>
          </a:p>
          <a:p>
            <a:endParaRPr lang="en-US" sz="28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9A8C5E3-E9B9-D136-2750-D5192BA27A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9004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Motivation"/>
          <p:cNvSpPr txBox="1">
            <a:spLocks noGrp="1"/>
          </p:cNvSpPr>
          <p:nvPr>
            <p:ph type="title"/>
          </p:nvPr>
        </p:nvSpPr>
        <p:spPr>
          <a:xfrm>
            <a:off x="479605" y="430462"/>
            <a:ext cx="7772400" cy="1143000"/>
          </a:xfrm>
          <a:prstGeom prst="rect">
            <a:avLst/>
          </a:prstGeom>
        </p:spPr>
        <p:txBody>
          <a:bodyPr/>
          <a:lstStyle/>
          <a:p>
            <a:r>
              <a:rPr dirty="0"/>
              <a:t>Motivation</a:t>
            </a:r>
          </a:p>
        </p:txBody>
      </p:sp>
      <p:sp>
        <p:nvSpPr>
          <p:cNvPr id="145" name="Each generated token might be related to different source tokens"/>
          <p:cNvSpPr txBox="1">
            <a:spLocks noGrp="1"/>
          </p:cNvSpPr>
          <p:nvPr>
            <p:ph idx="1"/>
          </p:nvPr>
        </p:nvSpPr>
        <p:spPr>
          <a:xfrm>
            <a:off x="685739" y="1467061"/>
            <a:ext cx="7772400" cy="4114800"/>
          </a:xfrm>
          <a:prstGeom prst="rect">
            <a:avLst/>
          </a:prstGeom>
        </p:spPr>
        <p:txBody>
          <a:bodyPr/>
          <a:lstStyle>
            <a:lvl1pPr marL="216568" indent="-216568" defTabSz="411479">
              <a:defRPr sz="2159"/>
            </a:lvl1pPr>
          </a:lstStyle>
          <a:p>
            <a:r>
              <a:rPr sz="3200" dirty="0"/>
              <a:t>Each generated token might be related to different source tokens</a:t>
            </a:r>
          </a:p>
        </p:txBody>
      </p:sp>
      <p:sp>
        <p:nvSpPr>
          <p:cNvPr id="146" name="Slide Number"/>
          <p:cNvSpPr txBox="1"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9" rIns="45719" anchor="ctr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r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474746"/>
                </a:solidFill>
                <a:effectLst/>
                <a:uFillTx/>
                <a:latin typeface="+mj-lt"/>
                <a:ea typeface="+mj-ea"/>
                <a:cs typeface="+mj-cs"/>
                <a:sym typeface="Arial"/>
              </a:defRPr>
            </a:lvl1pPr>
            <a:lvl2pPr marL="0" marR="0" indent="45720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474746"/>
                </a:solidFill>
                <a:effectLst/>
                <a:uFillTx/>
                <a:latin typeface="+mj-lt"/>
                <a:ea typeface="+mj-ea"/>
                <a:cs typeface="+mj-cs"/>
                <a:sym typeface="Arial"/>
              </a:defRPr>
            </a:lvl2pPr>
            <a:lvl3pPr marL="0" marR="0" indent="91440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474746"/>
                </a:solidFill>
                <a:effectLst/>
                <a:uFillTx/>
                <a:latin typeface="+mj-lt"/>
                <a:ea typeface="+mj-ea"/>
                <a:cs typeface="+mj-cs"/>
                <a:sym typeface="Arial"/>
              </a:defRPr>
            </a:lvl3pPr>
            <a:lvl4pPr marL="0" marR="0" indent="137160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474746"/>
                </a:solidFill>
                <a:effectLst/>
                <a:uFillTx/>
                <a:latin typeface="+mj-lt"/>
                <a:ea typeface="+mj-ea"/>
                <a:cs typeface="+mj-cs"/>
                <a:sym typeface="Arial"/>
              </a:defRPr>
            </a:lvl4pPr>
            <a:lvl5pPr marL="0" marR="0" indent="182880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474746"/>
                </a:solidFill>
                <a:effectLst/>
                <a:uFillTx/>
                <a:latin typeface="+mj-lt"/>
                <a:ea typeface="+mj-ea"/>
                <a:cs typeface="+mj-cs"/>
                <a:sym typeface="Arial"/>
              </a:defRPr>
            </a:lvl5pPr>
            <a:lvl6pPr marL="0" marR="0" indent="228600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474746"/>
                </a:solidFill>
                <a:effectLst/>
                <a:uFillTx/>
                <a:latin typeface="+mj-lt"/>
                <a:ea typeface="+mj-ea"/>
                <a:cs typeface="+mj-cs"/>
                <a:sym typeface="Arial"/>
              </a:defRPr>
            </a:lvl6pPr>
            <a:lvl7pPr marL="0" marR="0" indent="274320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474746"/>
                </a:solidFill>
                <a:effectLst/>
                <a:uFillTx/>
                <a:latin typeface="+mj-lt"/>
                <a:ea typeface="+mj-ea"/>
                <a:cs typeface="+mj-cs"/>
                <a:sym typeface="Arial"/>
              </a:defRPr>
            </a:lvl7pPr>
            <a:lvl8pPr marL="0" marR="0" indent="320040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474746"/>
                </a:solidFill>
                <a:effectLst/>
                <a:uFillTx/>
                <a:latin typeface="+mj-lt"/>
                <a:ea typeface="+mj-ea"/>
                <a:cs typeface="+mj-cs"/>
                <a:sym typeface="Arial"/>
              </a:defRPr>
            </a:lvl8pPr>
            <a:lvl9pPr marL="0" marR="0" indent="365760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474746"/>
                </a:solidFill>
                <a:effectLst/>
                <a:uFillTx/>
                <a:latin typeface="+mj-lt"/>
                <a:ea typeface="+mj-ea"/>
                <a:cs typeface="+mj-cs"/>
                <a:sym typeface="Arial"/>
              </a:defRPr>
            </a:lvl9pPr>
          </a:lstStyle>
          <a:p>
            <a:fld id="{86CB4B4D-7CA3-9044-876B-883B54F8677D}" type="slidenum">
              <a:rPr lang="en-US" smtClean="0"/>
              <a:pPr/>
              <a:t>4</a:t>
            </a:fld>
            <a:endParaRPr/>
          </a:p>
        </p:txBody>
      </p:sp>
      <p:pic>
        <p:nvPicPr>
          <p:cNvPr id="147" name="Image" descr="Image"/>
          <p:cNvPicPr>
            <a:picLocks noChangeAspect="1"/>
          </p:cNvPicPr>
          <p:nvPr/>
        </p:nvPicPr>
        <p:blipFill>
          <a:blip r:embed="rId2"/>
          <a:srcRect t="28043"/>
          <a:stretch>
            <a:fillRect/>
          </a:stretch>
        </p:blipFill>
        <p:spPr>
          <a:xfrm>
            <a:off x="886619" y="2985718"/>
            <a:ext cx="7370641" cy="1592694"/>
          </a:xfrm>
          <a:prstGeom prst="rect">
            <a:avLst/>
          </a:prstGeom>
          <a:ln w="12700">
            <a:miter lim="400000"/>
          </a:ln>
        </p:spPr>
      </p:pic>
      <p:sp>
        <p:nvSpPr>
          <p:cNvPr id="151" name="Connection Line"/>
          <p:cNvSpPr/>
          <p:nvPr/>
        </p:nvSpPr>
        <p:spPr>
          <a:xfrm>
            <a:off x="1425525" y="2998419"/>
            <a:ext cx="2717586" cy="51504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312" extrusionOk="0">
                <a:moveTo>
                  <a:pt x="0" y="16312"/>
                </a:moveTo>
                <a:cubicBezTo>
                  <a:pt x="4921" y="-3638"/>
                  <a:pt x="12121" y="-5288"/>
                  <a:pt x="21600" y="11363"/>
                </a:cubicBezTo>
              </a:path>
            </a:pathLst>
          </a:custGeom>
          <a:ln w="25400">
            <a:solidFill>
              <a:schemeClr val="accent1"/>
            </a:solidFill>
            <a:tailEnd type="arrow"/>
          </a:ln>
        </p:spPr>
        <p:txBody>
          <a:bodyPr/>
          <a:lstStyle/>
          <a:p>
            <a:endParaRPr/>
          </a:p>
        </p:txBody>
      </p:sp>
      <p:sp>
        <p:nvSpPr>
          <p:cNvPr id="152" name="Connection Line"/>
          <p:cNvSpPr/>
          <p:nvPr/>
        </p:nvSpPr>
        <p:spPr>
          <a:xfrm>
            <a:off x="2171611" y="2708750"/>
            <a:ext cx="3001947" cy="8157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32" extrusionOk="0">
                <a:moveTo>
                  <a:pt x="0" y="16232"/>
                </a:moveTo>
                <a:cubicBezTo>
                  <a:pt x="6228" y="-4444"/>
                  <a:pt x="13428" y="-5368"/>
                  <a:pt x="21600" y="13460"/>
                </a:cubicBezTo>
              </a:path>
            </a:pathLst>
          </a:custGeom>
          <a:ln w="25400">
            <a:solidFill>
              <a:schemeClr val="accent1"/>
            </a:solidFill>
            <a:tailEnd type="arrow"/>
          </a:ln>
        </p:spPr>
        <p:txBody>
          <a:bodyPr/>
          <a:lstStyle/>
          <a:p>
            <a:endParaRPr/>
          </a:p>
        </p:txBody>
      </p:sp>
      <p:sp>
        <p:nvSpPr>
          <p:cNvPr id="153" name="Connection Line"/>
          <p:cNvSpPr/>
          <p:nvPr/>
        </p:nvSpPr>
        <p:spPr>
          <a:xfrm>
            <a:off x="2931547" y="2683312"/>
            <a:ext cx="3915632" cy="84650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68" extrusionOk="0">
                <a:moveTo>
                  <a:pt x="0" y="16268"/>
                </a:moveTo>
                <a:cubicBezTo>
                  <a:pt x="7254" y="-4017"/>
                  <a:pt x="14454" y="-5332"/>
                  <a:pt x="21600" y="12323"/>
                </a:cubicBezTo>
              </a:path>
            </a:pathLst>
          </a:custGeom>
          <a:ln w="25400">
            <a:solidFill>
              <a:schemeClr val="accent1"/>
            </a:solidFill>
            <a:tailEnd type="arrow"/>
          </a:ln>
        </p:spPr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Attention Layer"/>
          <p:cNvSpPr txBox="1">
            <a:spLocks noGrp="1"/>
          </p:cNvSpPr>
          <p:nvPr>
            <p:ph type="title"/>
          </p:nvPr>
        </p:nvSpPr>
        <p:spPr>
          <a:xfrm>
            <a:off x="533400" y="486103"/>
            <a:ext cx="7772400" cy="1143000"/>
          </a:xfrm>
          <a:prstGeom prst="rect">
            <a:avLst/>
          </a:prstGeom>
        </p:spPr>
        <p:txBody>
          <a:bodyPr/>
          <a:lstStyle/>
          <a:p>
            <a:r>
              <a:rPr sz="4400" b="1" dirty="0"/>
              <a:t>Attention Layer</a:t>
            </a:r>
          </a:p>
        </p:txBody>
      </p:sp>
      <p:sp>
        <p:nvSpPr>
          <p:cNvPr id="156" name="An attention layer explicitly select related information…"/>
          <p:cNvSpPr txBox="1">
            <a:spLocks noGrp="1"/>
          </p:cNvSpPr>
          <p:nvPr>
            <p:ph idx="1"/>
          </p:nvPr>
        </p:nvSpPr>
        <p:spPr>
          <a:xfrm>
            <a:off x="533400" y="1665889"/>
            <a:ext cx="5247114" cy="4114800"/>
          </a:xfrm>
          <a:prstGeom prst="rect">
            <a:avLst/>
          </a:prstGeom>
        </p:spPr>
        <p:txBody>
          <a:bodyPr/>
          <a:lstStyle/>
          <a:p>
            <a:r>
              <a:rPr sz="2800" dirty="0"/>
              <a:t>An attention layer explicitly select related information</a:t>
            </a:r>
          </a:p>
          <a:p>
            <a:pPr lvl="1"/>
            <a:r>
              <a:rPr sz="2800" dirty="0"/>
              <a:t>Its memory consists of </a:t>
            </a:r>
            <a:br>
              <a:rPr sz="2800" dirty="0"/>
            </a:br>
            <a:r>
              <a:rPr sz="2800" dirty="0"/>
              <a:t>key-value pairs</a:t>
            </a:r>
          </a:p>
          <a:p>
            <a:pPr lvl="1"/>
            <a:r>
              <a:rPr sz="2800" dirty="0"/>
              <a:t>The output will be close </a:t>
            </a:r>
            <a:br>
              <a:rPr sz="2800" dirty="0"/>
            </a:br>
            <a:r>
              <a:rPr sz="2800" dirty="0"/>
              <a:t>to the values whose keys</a:t>
            </a:r>
            <a:br>
              <a:rPr sz="2800" dirty="0"/>
            </a:br>
            <a:r>
              <a:rPr sz="2800" dirty="0"/>
              <a:t>are similar to the quer</a:t>
            </a:r>
            <a:r>
              <a:rPr lang="en-US" sz="2800" dirty="0"/>
              <a:t>y</a:t>
            </a:r>
            <a:endParaRPr sz="2800" dirty="0"/>
          </a:p>
          <a:p>
            <a:r>
              <a:rPr sz="3000" dirty="0"/>
              <a:t>Direct DB operation is not differentiable </a:t>
            </a:r>
          </a:p>
        </p:txBody>
      </p:sp>
      <p:sp>
        <p:nvSpPr>
          <p:cNvPr id="157" name="Slide Number"/>
          <p:cNvSpPr txBox="1"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9" rIns="45719" anchor="ctr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r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474746"/>
                </a:solidFill>
                <a:effectLst/>
                <a:uFillTx/>
                <a:latin typeface="+mj-lt"/>
                <a:ea typeface="+mj-ea"/>
                <a:cs typeface="+mj-cs"/>
                <a:sym typeface="Arial"/>
              </a:defRPr>
            </a:lvl1pPr>
            <a:lvl2pPr marL="0" marR="0" indent="45720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474746"/>
                </a:solidFill>
                <a:effectLst/>
                <a:uFillTx/>
                <a:latin typeface="+mj-lt"/>
                <a:ea typeface="+mj-ea"/>
                <a:cs typeface="+mj-cs"/>
                <a:sym typeface="Arial"/>
              </a:defRPr>
            </a:lvl2pPr>
            <a:lvl3pPr marL="0" marR="0" indent="91440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474746"/>
                </a:solidFill>
                <a:effectLst/>
                <a:uFillTx/>
                <a:latin typeface="+mj-lt"/>
                <a:ea typeface="+mj-ea"/>
                <a:cs typeface="+mj-cs"/>
                <a:sym typeface="Arial"/>
              </a:defRPr>
            </a:lvl3pPr>
            <a:lvl4pPr marL="0" marR="0" indent="137160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474746"/>
                </a:solidFill>
                <a:effectLst/>
                <a:uFillTx/>
                <a:latin typeface="+mj-lt"/>
                <a:ea typeface="+mj-ea"/>
                <a:cs typeface="+mj-cs"/>
                <a:sym typeface="Arial"/>
              </a:defRPr>
            </a:lvl4pPr>
            <a:lvl5pPr marL="0" marR="0" indent="182880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474746"/>
                </a:solidFill>
                <a:effectLst/>
                <a:uFillTx/>
                <a:latin typeface="+mj-lt"/>
                <a:ea typeface="+mj-ea"/>
                <a:cs typeface="+mj-cs"/>
                <a:sym typeface="Arial"/>
              </a:defRPr>
            </a:lvl5pPr>
            <a:lvl6pPr marL="0" marR="0" indent="228600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474746"/>
                </a:solidFill>
                <a:effectLst/>
                <a:uFillTx/>
                <a:latin typeface="+mj-lt"/>
                <a:ea typeface="+mj-ea"/>
                <a:cs typeface="+mj-cs"/>
                <a:sym typeface="Arial"/>
              </a:defRPr>
            </a:lvl6pPr>
            <a:lvl7pPr marL="0" marR="0" indent="274320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474746"/>
                </a:solidFill>
                <a:effectLst/>
                <a:uFillTx/>
                <a:latin typeface="+mj-lt"/>
                <a:ea typeface="+mj-ea"/>
                <a:cs typeface="+mj-cs"/>
                <a:sym typeface="Arial"/>
              </a:defRPr>
            </a:lvl7pPr>
            <a:lvl8pPr marL="0" marR="0" indent="320040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474746"/>
                </a:solidFill>
                <a:effectLst/>
                <a:uFillTx/>
                <a:latin typeface="+mj-lt"/>
                <a:ea typeface="+mj-ea"/>
                <a:cs typeface="+mj-cs"/>
                <a:sym typeface="Arial"/>
              </a:defRPr>
            </a:lvl8pPr>
            <a:lvl9pPr marL="0" marR="0" indent="365760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474746"/>
                </a:solidFill>
                <a:effectLst/>
                <a:uFillTx/>
                <a:latin typeface="+mj-lt"/>
                <a:ea typeface="+mj-ea"/>
                <a:cs typeface="+mj-cs"/>
                <a:sym typeface="Arial"/>
              </a:defRPr>
            </a:lvl9pPr>
          </a:lstStyle>
          <a:p>
            <a:fld id="{86CB4B4D-7CA3-9044-876B-883B54F8677D}" type="slidenum">
              <a:rPr lang="en-US" smtClean="0"/>
              <a:pPr/>
              <a:t>5</a:t>
            </a:fld>
            <a:endParaRPr/>
          </a:p>
        </p:txBody>
      </p:sp>
      <p:pic>
        <p:nvPicPr>
          <p:cNvPr id="158" name="Image" descr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20787" y="1968229"/>
            <a:ext cx="3923213" cy="2921541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C0D4CA-5D8A-24F9-5F2F-693905D32D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2890" y="340691"/>
            <a:ext cx="7772400" cy="1143000"/>
          </a:xfrm>
        </p:spPr>
        <p:txBody>
          <a:bodyPr/>
          <a:lstStyle/>
          <a:p>
            <a:r>
              <a:rPr lang="en-US" dirty="0"/>
              <a:t>Attention Layer</a:t>
            </a:r>
          </a:p>
        </p:txBody>
      </p:sp>
      <p:sp>
        <p:nvSpPr>
          <p:cNvPr id="161" name="Assume query              and the memory  with…"/>
          <p:cNvSpPr txBox="1">
            <a:spLocks noGrp="1"/>
          </p:cNvSpPr>
          <p:nvPr>
            <p:ph idx="1"/>
          </p:nvPr>
        </p:nvSpPr>
        <p:spPr>
          <a:xfrm>
            <a:off x="264347" y="1371600"/>
            <a:ext cx="6950352" cy="4579444"/>
          </a:xfrm>
          <a:prstGeom prst="rect">
            <a:avLst/>
          </a:prstGeom>
        </p:spPr>
        <p:txBody>
          <a:bodyPr/>
          <a:lstStyle/>
          <a:p>
            <a:r>
              <a:rPr sz="2800" dirty="0"/>
              <a:t>Assume query              and the memory </a:t>
            </a:r>
            <a:br>
              <a:rPr sz="2800" dirty="0"/>
            </a:br>
            <a:r>
              <a:rPr sz="2800" dirty="0"/>
              <a:t>with </a:t>
            </a:r>
          </a:p>
          <a:p>
            <a:r>
              <a:rPr sz="2800" dirty="0"/>
              <a:t>Compute n scores                with </a:t>
            </a:r>
          </a:p>
          <a:p>
            <a:r>
              <a:rPr sz="2800" dirty="0"/>
              <a:t>Use </a:t>
            </a:r>
            <a:r>
              <a:rPr sz="2800" dirty="0" err="1"/>
              <a:t>softmax</a:t>
            </a:r>
            <a:r>
              <a:rPr sz="2800" dirty="0"/>
              <a:t> to obtain the attention weights</a:t>
            </a:r>
          </a:p>
          <a:p>
            <a:pPr>
              <a:lnSpc>
                <a:spcPct val="150000"/>
              </a:lnSpc>
            </a:pPr>
            <a:endParaRPr sz="2800" dirty="0"/>
          </a:p>
          <a:p>
            <a:r>
              <a:rPr sz="2800" dirty="0"/>
              <a:t>The output is a weighted sum of values</a:t>
            </a:r>
          </a:p>
        </p:txBody>
      </p:sp>
      <p:sp>
        <p:nvSpPr>
          <p:cNvPr id="162" name="Slide Number"/>
          <p:cNvSpPr txBox="1"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9" rIns="45719" anchor="ctr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r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474746"/>
                </a:solidFill>
                <a:effectLst/>
                <a:uFillTx/>
                <a:latin typeface="+mj-lt"/>
                <a:ea typeface="+mj-ea"/>
                <a:cs typeface="+mj-cs"/>
                <a:sym typeface="Arial"/>
              </a:defRPr>
            </a:lvl1pPr>
            <a:lvl2pPr marL="0" marR="0" indent="45720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474746"/>
                </a:solidFill>
                <a:effectLst/>
                <a:uFillTx/>
                <a:latin typeface="+mj-lt"/>
                <a:ea typeface="+mj-ea"/>
                <a:cs typeface="+mj-cs"/>
                <a:sym typeface="Arial"/>
              </a:defRPr>
            </a:lvl2pPr>
            <a:lvl3pPr marL="0" marR="0" indent="91440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474746"/>
                </a:solidFill>
                <a:effectLst/>
                <a:uFillTx/>
                <a:latin typeface="+mj-lt"/>
                <a:ea typeface="+mj-ea"/>
                <a:cs typeface="+mj-cs"/>
                <a:sym typeface="Arial"/>
              </a:defRPr>
            </a:lvl3pPr>
            <a:lvl4pPr marL="0" marR="0" indent="137160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474746"/>
                </a:solidFill>
                <a:effectLst/>
                <a:uFillTx/>
                <a:latin typeface="+mj-lt"/>
                <a:ea typeface="+mj-ea"/>
                <a:cs typeface="+mj-cs"/>
                <a:sym typeface="Arial"/>
              </a:defRPr>
            </a:lvl4pPr>
            <a:lvl5pPr marL="0" marR="0" indent="182880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474746"/>
                </a:solidFill>
                <a:effectLst/>
                <a:uFillTx/>
                <a:latin typeface="+mj-lt"/>
                <a:ea typeface="+mj-ea"/>
                <a:cs typeface="+mj-cs"/>
                <a:sym typeface="Arial"/>
              </a:defRPr>
            </a:lvl5pPr>
            <a:lvl6pPr marL="0" marR="0" indent="228600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474746"/>
                </a:solidFill>
                <a:effectLst/>
                <a:uFillTx/>
                <a:latin typeface="+mj-lt"/>
                <a:ea typeface="+mj-ea"/>
                <a:cs typeface="+mj-cs"/>
                <a:sym typeface="Arial"/>
              </a:defRPr>
            </a:lvl6pPr>
            <a:lvl7pPr marL="0" marR="0" indent="274320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474746"/>
                </a:solidFill>
                <a:effectLst/>
                <a:uFillTx/>
                <a:latin typeface="+mj-lt"/>
                <a:ea typeface="+mj-ea"/>
                <a:cs typeface="+mj-cs"/>
                <a:sym typeface="Arial"/>
              </a:defRPr>
            </a:lvl7pPr>
            <a:lvl8pPr marL="0" marR="0" indent="320040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474746"/>
                </a:solidFill>
                <a:effectLst/>
                <a:uFillTx/>
                <a:latin typeface="+mj-lt"/>
                <a:ea typeface="+mj-ea"/>
                <a:cs typeface="+mj-cs"/>
                <a:sym typeface="Arial"/>
              </a:defRPr>
            </a:lvl8pPr>
            <a:lvl9pPr marL="0" marR="0" indent="365760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474746"/>
                </a:solidFill>
                <a:effectLst/>
                <a:uFillTx/>
                <a:latin typeface="+mj-lt"/>
                <a:ea typeface="+mj-ea"/>
                <a:cs typeface="+mj-cs"/>
                <a:sym typeface="Arial"/>
              </a:defRPr>
            </a:lvl9pPr>
          </a:lstStyle>
          <a:p>
            <a:fld id="{86CB4B4D-7CA3-9044-876B-883B54F8677D}" type="slidenum">
              <a:rPr lang="en-US" smtClean="0"/>
              <a:pPr/>
              <a:t>6</a:t>
            </a:fld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3" name="Equation"/>
              <p:cNvSpPr txBox="1"/>
              <p:nvPr/>
            </p:nvSpPr>
            <p:spPr>
              <a:xfrm>
                <a:off x="2727307" y="1446190"/>
                <a:ext cx="1148391" cy="383182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latinLnBrk="1">
                  <a:defRPr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ar-AE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𝐪</m:t>
                      </m:r>
                      <m:r>
                        <a:rPr lang="ar-AE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ar-AE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sSub>
                            <m:sSubPr>
                              <m:ctrlPr>
                                <a:rPr lang="ar-AE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ar-AE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sub>
                          </m:sSub>
                        </m:sup>
                      </m:sSup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163" name="Equation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27307" y="1446190"/>
                <a:ext cx="1148391" cy="383182"/>
              </a:xfrm>
              <a:prstGeom prst="rect">
                <a:avLst/>
              </a:prstGeom>
              <a:blipFill>
                <a:blip r:embed="rId2"/>
                <a:stretch>
                  <a:fillRect l="-5435" b="-25806"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4" name="Equation"/>
              <p:cNvSpPr txBox="1"/>
              <p:nvPr/>
            </p:nvSpPr>
            <p:spPr>
              <a:xfrm>
                <a:off x="6416694" y="1437172"/>
                <a:ext cx="2633863" cy="369332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latinLnBrk="1">
                  <a:defRPr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𝐤</m:t>
                          </m:r>
                        </m:e>
                        <m:sub>
                          <m:r>
                            <a:rPr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𝐯</m:t>
                          </m:r>
                        </m:e>
                        <m:sub>
                          <m:r>
                            <a:rPr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),…,(</m:t>
                      </m:r>
                      <m:sSub>
                        <m:sSubPr>
                          <m:ctrlPr>
                            <a:rPr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𝐤</m:t>
                          </m:r>
                        </m:e>
                        <m:sub>
                          <m:r>
                            <a:rPr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𝐯</m:t>
                          </m:r>
                        </m:e>
                        <m:sub>
                          <m:r>
                            <a:rPr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164" name="Equation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16694" y="1437172"/>
                <a:ext cx="2633863" cy="369332"/>
              </a:xfrm>
              <a:prstGeom prst="rect">
                <a:avLst/>
              </a:prstGeom>
              <a:blipFill>
                <a:blip r:embed="rId3"/>
                <a:stretch>
                  <a:fillRect l="-3365" r="-3365" b="-33333"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5" name="Equation"/>
              <p:cNvSpPr txBox="1"/>
              <p:nvPr/>
            </p:nvSpPr>
            <p:spPr>
              <a:xfrm>
                <a:off x="1363988" y="1886178"/>
                <a:ext cx="1261051" cy="375872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latinLnBrk="1">
                  <a:defRPr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𝐤</m:t>
                          </m:r>
                        </m:e>
                        <m:sub>
                          <m:r>
                            <a:rPr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sSub>
                            <m:sSubPr>
                              <m:ctrlPr>
                                <a:rPr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sup>
                      </m:sSup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165" name="Equation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63988" y="1886178"/>
                <a:ext cx="1261051" cy="375872"/>
              </a:xfrm>
              <a:prstGeom prst="rect">
                <a:avLst/>
              </a:prstGeom>
              <a:blipFill>
                <a:blip r:embed="rId4"/>
                <a:stretch>
                  <a:fillRect l="-5000" b="-16129"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6" name="Equation"/>
              <p:cNvSpPr txBox="1"/>
              <p:nvPr/>
            </p:nvSpPr>
            <p:spPr>
              <a:xfrm>
                <a:off x="2701337" y="1876790"/>
                <a:ext cx="1200329" cy="375872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latinLnBrk="1">
                  <a:defRPr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𝐯</m:t>
                          </m:r>
                        </m:e>
                        <m:sub>
                          <m:r>
                            <a:rPr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sSub>
                            <m:sSubPr>
                              <m:ctrlPr>
                                <a:rPr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sub>
                          </m:sSub>
                        </m:sup>
                      </m:sSup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166" name="Equation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01337" y="1876790"/>
                <a:ext cx="1200329" cy="375872"/>
              </a:xfrm>
              <a:prstGeom prst="rect">
                <a:avLst/>
              </a:prstGeom>
              <a:blipFill>
                <a:blip r:embed="rId5"/>
                <a:stretch>
                  <a:fillRect l="-2083" b="-16129"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7" name="Equation"/>
              <p:cNvSpPr txBox="1"/>
              <p:nvPr/>
            </p:nvSpPr>
            <p:spPr>
              <a:xfrm>
                <a:off x="3309384" y="2366726"/>
                <a:ext cx="1235723" cy="369332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latinLnBrk="1">
                  <a:defRPr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,…,</m:t>
                      </m:r>
                      <m:sSub>
                        <m:sSubPr>
                          <m:ctrlPr>
                            <a:rPr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167" name="Equation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09384" y="2366726"/>
                <a:ext cx="1235723" cy="369332"/>
              </a:xfrm>
              <a:prstGeom prst="rect">
                <a:avLst/>
              </a:prstGeom>
              <a:blipFill>
                <a:blip r:embed="rId6"/>
                <a:stretch>
                  <a:fillRect l="-2020" b="-13333"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8" name="Equation"/>
              <p:cNvSpPr txBox="1"/>
              <p:nvPr/>
            </p:nvSpPr>
            <p:spPr>
              <a:xfrm>
                <a:off x="5263200" y="2356435"/>
                <a:ext cx="1804148" cy="369332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latinLnBrk="1">
                  <a:defRPr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𝐪</m:t>
                      </m:r>
                      <m:r>
                        <a:rPr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𝐤</m:t>
                          </m:r>
                        </m:e>
                        <m:sub>
                          <m:r>
                            <a:rPr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168" name="Equation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63200" y="2356435"/>
                <a:ext cx="1804148" cy="369332"/>
              </a:xfrm>
              <a:prstGeom prst="rect">
                <a:avLst/>
              </a:prstGeom>
              <a:blipFill>
                <a:blip r:embed="rId7"/>
                <a:stretch>
                  <a:fillRect l="-1399" r="-4895" b="-33333"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9" name="Equation"/>
              <p:cNvSpPr txBox="1"/>
              <p:nvPr/>
            </p:nvSpPr>
            <p:spPr>
              <a:xfrm>
                <a:off x="2267091" y="3582998"/>
                <a:ext cx="4063998" cy="369332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latinLnBrk="1">
                  <a:defRPr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,…,</m:t>
                      </m:r>
                      <m:sSub>
                        <m:sSubPr>
                          <m:ctrlPr>
                            <a:rPr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softmax</m:t>
                      </m:r>
                      <m:r>
                        <a:rPr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,…,</m:t>
                      </m:r>
                      <m:sSub>
                        <m:sSubPr>
                          <m:ctrlPr>
                            <a:rPr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169" name="Equation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67091" y="3582998"/>
                <a:ext cx="4063998" cy="369332"/>
              </a:xfrm>
              <a:prstGeom prst="rect">
                <a:avLst/>
              </a:prstGeom>
              <a:blipFill>
                <a:blip r:embed="rId8"/>
                <a:stretch>
                  <a:fillRect l="-1246" r="-1869" b="-33333"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0" name="Equation"/>
              <p:cNvSpPr txBox="1"/>
              <p:nvPr/>
            </p:nvSpPr>
            <p:spPr>
              <a:xfrm>
                <a:off x="3309384" y="5136240"/>
                <a:ext cx="1550937" cy="700320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latinLnBrk="1">
                  <a:defRPr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𝐨</m:t>
                      </m:r>
                      <m:r>
                        <a:rPr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limUpp>
                        <m:limUppPr>
                          <m:ctrlPr>
                            <a:rPr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limUppPr>
                        <m:e>
                          <m:limLow>
                            <m:limLowPr>
                              <m:ctrlPr>
                                <a:rPr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a:rPr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∑</m:t>
                              </m:r>
                            </m:e>
                            <m:lim>
                              <m:r>
                                <a:rPr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lim>
                          </m:limLow>
                        </m:e>
                        <m:lim>
                          <m:r>
                            <a:rPr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lim>
                      </m:limUpp>
                      <m:sSub>
                        <m:sSubPr>
                          <m:ctrlPr>
                            <a:rPr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sSub>
                        <m:sSubPr>
                          <m:ctrlPr>
                            <a:rPr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𝐯</m:t>
                          </m:r>
                        </m:e>
                        <m:sub>
                          <m:r>
                            <a:rPr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170" name="Equation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09384" y="5136240"/>
                <a:ext cx="1550937" cy="700320"/>
              </a:xfrm>
              <a:prstGeom prst="rect">
                <a:avLst/>
              </a:prstGeom>
              <a:blipFill>
                <a:blip r:embed="rId9"/>
                <a:stretch>
                  <a:fillRect l="-1626" r="-813" b="-12500"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1" name="Vary α to get different attention layers, multi-head"/>
          <p:cNvSpPr/>
          <p:nvPr/>
        </p:nvSpPr>
        <p:spPr>
          <a:xfrm>
            <a:off x="7016968" y="2490958"/>
            <a:ext cx="2033589" cy="228719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672" y="0"/>
                </a:moveTo>
                <a:cubicBezTo>
                  <a:pt x="3163" y="0"/>
                  <a:pt x="2761" y="343"/>
                  <a:pt x="2698" y="780"/>
                </a:cubicBezTo>
                <a:lnTo>
                  <a:pt x="0" y="2571"/>
                </a:lnTo>
                <a:lnTo>
                  <a:pt x="2673" y="4351"/>
                </a:lnTo>
                <a:lnTo>
                  <a:pt x="2673" y="20712"/>
                </a:lnTo>
                <a:cubicBezTo>
                  <a:pt x="2673" y="21203"/>
                  <a:pt x="3120" y="21600"/>
                  <a:pt x="3672" y="21600"/>
                </a:cubicBezTo>
                <a:lnTo>
                  <a:pt x="20597" y="21600"/>
                </a:lnTo>
                <a:cubicBezTo>
                  <a:pt x="21149" y="21600"/>
                  <a:pt x="21600" y="21203"/>
                  <a:pt x="21600" y="20712"/>
                </a:cubicBezTo>
                <a:lnTo>
                  <a:pt x="21600" y="888"/>
                </a:lnTo>
                <a:cubicBezTo>
                  <a:pt x="21600" y="397"/>
                  <a:pt x="21149" y="0"/>
                  <a:pt x="20597" y="0"/>
                </a:cubicBezTo>
                <a:lnTo>
                  <a:pt x="3672" y="0"/>
                </a:lnTo>
                <a:close/>
              </a:path>
            </a:pathLst>
          </a:custGeom>
          <a:solidFill>
            <a:schemeClr val="accent2">
              <a:lumOff val="10931"/>
            </a:schemeClr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/>
          <a:lstStyle>
            <a:lvl1pPr>
              <a:spcBef>
                <a:spcPts val="900"/>
              </a:spcBef>
              <a:defRPr sz="22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    </a:t>
            </a:r>
            <a:r>
              <a:rPr dirty="0"/>
              <a:t>Vary α to get </a:t>
            </a:r>
            <a:r>
              <a:rPr lang="en-US" dirty="0"/>
              <a:t>       </a:t>
            </a:r>
          </a:p>
          <a:p>
            <a:r>
              <a:rPr lang="en-US" dirty="0"/>
              <a:t>    </a:t>
            </a:r>
            <a:r>
              <a:rPr dirty="0"/>
              <a:t>different</a:t>
            </a:r>
            <a:endParaRPr lang="en-US" dirty="0"/>
          </a:p>
          <a:p>
            <a:r>
              <a:rPr lang="en-US" dirty="0"/>
              <a:t>    </a:t>
            </a:r>
            <a:r>
              <a:rPr dirty="0"/>
              <a:t>attention</a:t>
            </a:r>
            <a:endParaRPr lang="en-US" dirty="0"/>
          </a:p>
          <a:p>
            <a:r>
              <a:rPr lang="en-US" dirty="0"/>
              <a:t>    </a:t>
            </a:r>
            <a:r>
              <a:rPr dirty="0"/>
              <a:t>layers, </a:t>
            </a:r>
            <a:endParaRPr lang="en-US" dirty="0"/>
          </a:p>
          <a:p>
            <a:r>
              <a:rPr lang="en-US" dirty="0"/>
              <a:t>    </a:t>
            </a:r>
            <a:r>
              <a:rPr dirty="0"/>
              <a:t>multi-head</a:t>
            </a:r>
          </a:p>
        </p:txBody>
      </p:sp>
    </p:spTree>
  </p:cSld>
  <p:clrMapOvr>
    <a:masterClrMapping/>
  </p:clrMapOvr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1" grpId="0" animBg="1" advAuto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Dot Product Attention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b="1" dirty="0"/>
              <a:t>Dot Product Attention</a:t>
            </a:r>
          </a:p>
        </p:txBody>
      </p:sp>
      <p:sp>
        <p:nvSpPr>
          <p:cNvPr id="174" name="Assume the query has the same length as values…"/>
          <p:cNvSpPr txBox="1">
            <a:spLocks noGrp="1"/>
          </p:cNvSpPr>
          <p:nvPr>
            <p:ph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sz="2800" dirty="0"/>
              <a:t>Assume the query has the same length as values</a:t>
            </a:r>
          </a:p>
          <a:p>
            <a:endParaRPr sz="2800" dirty="0"/>
          </a:p>
          <a:p>
            <a:endParaRPr sz="2800" dirty="0"/>
          </a:p>
          <a:p>
            <a:r>
              <a:rPr sz="2800" dirty="0"/>
              <a:t>Vectorized version</a:t>
            </a:r>
            <a:endParaRPr lang="en-US" sz="2800" dirty="0"/>
          </a:p>
          <a:p>
            <a:pPr lvl="1"/>
            <a:r>
              <a:rPr sz="2800" i="1" dirty="0"/>
              <a:t>m</a:t>
            </a:r>
            <a:r>
              <a:rPr sz="2800" dirty="0"/>
              <a:t> queries</a:t>
            </a:r>
            <a:r>
              <a:rPr lang="en-US" sz="2800" dirty="0"/>
              <a:t>  </a:t>
            </a:r>
            <a:r>
              <a:rPr sz="2800" dirty="0"/>
              <a:t>                 and </a:t>
            </a:r>
            <a:r>
              <a:rPr sz="2800" i="1" dirty="0"/>
              <a:t>n</a:t>
            </a:r>
            <a:r>
              <a:rPr sz="2800" dirty="0"/>
              <a:t> keys</a:t>
            </a:r>
            <a:r>
              <a:rPr lang="en-US" sz="2800" dirty="0"/>
              <a:t> </a:t>
            </a:r>
            <a:endParaRPr sz="2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6" name="Equation"/>
              <p:cNvSpPr txBox="1"/>
              <p:nvPr/>
            </p:nvSpPr>
            <p:spPr>
              <a:xfrm>
                <a:off x="1392089" y="2623810"/>
                <a:ext cx="1328954" cy="375872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latinLnBrk="1">
                  <a:defRPr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𝐪</m:t>
                      </m:r>
                      <m:r>
                        <a:rPr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𝐤</m:t>
                      </m:r>
                      <m:r>
                        <a:rPr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sup>
                      </m:sSup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176" name="Equation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92089" y="2623810"/>
                <a:ext cx="1328954" cy="375872"/>
              </a:xfrm>
              <a:prstGeom prst="rect">
                <a:avLst/>
              </a:prstGeom>
              <a:blipFill>
                <a:blip r:embed="rId2"/>
                <a:stretch>
                  <a:fillRect l="-4717" r="-943" b="-25806"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7" name="Equation"/>
              <p:cNvSpPr txBox="1"/>
              <p:nvPr/>
            </p:nvSpPr>
            <p:spPr>
              <a:xfrm>
                <a:off x="3352800" y="2875185"/>
                <a:ext cx="2671565" cy="420243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latinLnBrk="1">
                  <a:defRPr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𝐪</m:t>
                      </m:r>
                      <m:r>
                        <a:rPr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𝐤</m:t>
                      </m:r>
                      <m:r>
                        <a:rPr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)=⟨</m:t>
                      </m:r>
                      <m:r>
                        <a:rPr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𝐪</m:t>
                      </m:r>
                      <m:r>
                        <a:rPr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𝐤</m:t>
                      </m:r>
                      <m:r>
                        <a:rPr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⟩/</m:t>
                      </m:r>
                      <m:rad>
                        <m:radPr>
                          <m:degHide m:val="on"/>
                          <m:ctrlPr>
                            <a:rPr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</m:rad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177" name="Equation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52800" y="2875185"/>
                <a:ext cx="2671565" cy="420243"/>
              </a:xfrm>
              <a:prstGeom prst="rect">
                <a:avLst/>
              </a:prstGeom>
              <a:blipFill>
                <a:blip r:embed="rId3"/>
                <a:stretch>
                  <a:fillRect l="-948" r="-1896" b="-29412"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8" name="Equation"/>
              <p:cNvSpPr txBox="1"/>
              <p:nvPr/>
            </p:nvSpPr>
            <p:spPr>
              <a:xfrm>
                <a:off x="3352800" y="4114800"/>
                <a:ext cx="1433790" cy="375872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latinLnBrk="1">
                  <a:defRPr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𝐐</m:t>
                      </m:r>
                      <m:r>
                        <a:rPr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×</m:t>
                          </m:r>
                          <m:r>
                            <a:rPr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sup>
                      </m:sSup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178" name="Equation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52800" y="4114800"/>
                <a:ext cx="1433790" cy="375872"/>
              </a:xfrm>
              <a:prstGeom prst="rect">
                <a:avLst/>
              </a:prstGeom>
              <a:blipFill>
                <a:blip r:embed="rId4"/>
                <a:stretch>
                  <a:fillRect l="-6195" r="-885" b="-30000"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9" name="Equation"/>
              <p:cNvSpPr txBox="1"/>
              <p:nvPr/>
            </p:nvSpPr>
            <p:spPr>
              <a:xfrm>
                <a:off x="6553200" y="4114800"/>
                <a:ext cx="1366464" cy="375872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latinLnBrk="1">
                  <a:defRPr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𝐊</m:t>
                      </m:r>
                      <m:r>
                        <a:rPr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×</m:t>
                          </m:r>
                          <m:r>
                            <a:rPr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sup>
                      </m:sSup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179" name="Equation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53200" y="4114800"/>
                <a:ext cx="1366464" cy="375872"/>
              </a:xfrm>
              <a:prstGeom prst="rect">
                <a:avLst/>
              </a:prstGeom>
              <a:blipFill>
                <a:blip r:embed="rId5"/>
                <a:stretch>
                  <a:fillRect l="-4630" r="-926" b="-10000"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0" name="Equation"/>
              <p:cNvSpPr txBox="1"/>
              <p:nvPr/>
            </p:nvSpPr>
            <p:spPr>
              <a:xfrm>
                <a:off x="3124200" y="4796893"/>
                <a:ext cx="2624628" cy="420243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latinLnBrk="1">
                  <a:defRPr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𝐐</m:t>
                      </m:r>
                      <m:r>
                        <a:rPr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𝐊</m:t>
                      </m:r>
                      <m:r>
                        <a:rPr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𝐐</m:t>
                      </m:r>
                      <m:sSup>
                        <m:sSupPr>
                          <m:ctrlPr>
                            <a:rPr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𝐊</m:t>
                          </m:r>
                        </m:e>
                        <m:sup>
                          <m:r>
                            <a:rPr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/</m:t>
                      </m:r>
                      <m:rad>
                        <m:radPr>
                          <m:degHide m:val="on"/>
                          <m:ctrlPr>
                            <a:rPr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</m:rad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180" name="Equation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24200" y="4796893"/>
                <a:ext cx="2624628" cy="420243"/>
              </a:xfrm>
              <a:prstGeom prst="rect">
                <a:avLst/>
              </a:prstGeom>
              <a:blipFill>
                <a:blip r:embed="rId6"/>
                <a:stretch>
                  <a:fillRect l="-966" r="-1932" b="-29412"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Slide Number"/>
          <p:cNvSpPr txBox="1"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8</a:t>
            </a:fld>
            <a:endParaRPr/>
          </a:p>
        </p:txBody>
      </p:sp>
      <p:pic>
        <p:nvPicPr>
          <p:cNvPr id="184" name="d2l-en (1) (dragged).pdf" descr="d2l-en (1) (dragged)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3285" y="1066800"/>
            <a:ext cx="8815907" cy="4843381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Multilayer Perception Attention"/>
          <p:cNvSpPr txBox="1">
            <a:spLocks noGrp="1"/>
          </p:cNvSpPr>
          <p:nvPr>
            <p:ph type="title"/>
          </p:nvPr>
        </p:nvSpPr>
        <p:spPr>
          <a:xfrm>
            <a:off x="685800" y="730318"/>
            <a:ext cx="7772400" cy="1143000"/>
          </a:xfrm>
          <a:prstGeom prst="rect">
            <a:avLst/>
          </a:prstGeom>
        </p:spPr>
        <p:txBody>
          <a:bodyPr/>
          <a:lstStyle/>
          <a:p>
            <a:r>
              <a:rPr dirty="0"/>
              <a:t>Multilayer Perception Attention</a:t>
            </a:r>
          </a:p>
        </p:txBody>
      </p:sp>
      <p:sp>
        <p:nvSpPr>
          <p:cNvPr id="187" name="Learnable parameters…"/>
          <p:cNvSpPr txBox="1">
            <a:spLocks noGrp="1"/>
          </p:cNvSpPr>
          <p:nvPr>
            <p:ph idx="1"/>
          </p:nvPr>
        </p:nvSpPr>
        <p:spPr>
          <a:xfrm>
            <a:off x="461858" y="1752600"/>
            <a:ext cx="7772400" cy="4114800"/>
          </a:xfrm>
          <a:prstGeom prst="rect">
            <a:avLst/>
          </a:prstGeom>
        </p:spPr>
        <p:txBody>
          <a:bodyPr/>
          <a:lstStyle/>
          <a:p>
            <a:r>
              <a:rPr sz="2800"/>
              <a:t>Learnable parameters </a:t>
            </a:r>
          </a:p>
          <a:p>
            <a:endParaRPr sz="2800"/>
          </a:p>
          <a:p>
            <a:endParaRPr sz="2800"/>
          </a:p>
          <a:p>
            <a:r>
              <a:rPr sz="2800"/>
              <a:t>Equals to concatenate the key and query, and then feed into a single hidden-layer perception with hidden size ℎ and output size 1</a:t>
            </a:r>
          </a:p>
        </p:txBody>
      </p:sp>
      <p:sp>
        <p:nvSpPr>
          <p:cNvPr id="188" name="Slide Number"/>
          <p:cNvSpPr txBox="1"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9" rIns="45719" anchor="ctr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r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474746"/>
                </a:solidFill>
                <a:effectLst/>
                <a:uFillTx/>
                <a:latin typeface="+mj-lt"/>
                <a:ea typeface="+mj-ea"/>
                <a:cs typeface="+mj-cs"/>
                <a:sym typeface="Arial"/>
              </a:defRPr>
            </a:lvl1pPr>
            <a:lvl2pPr marL="0" marR="0" indent="45720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474746"/>
                </a:solidFill>
                <a:effectLst/>
                <a:uFillTx/>
                <a:latin typeface="+mj-lt"/>
                <a:ea typeface="+mj-ea"/>
                <a:cs typeface="+mj-cs"/>
                <a:sym typeface="Arial"/>
              </a:defRPr>
            </a:lvl2pPr>
            <a:lvl3pPr marL="0" marR="0" indent="91440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474746"/>
                </a:solidFill>
                <a:effectLst/>
                <a:uFillTx/>
                <a:latin typeface="+mj-lt"/>
                <a:ea typeface="+mj-ea"/>
                <a:cs typeface="+mj-cs"/>
                <a:sym typeface="Arial"/>
              </a:defRPr>
            </a:lvl3pPr>
            <a:lvl4pPr marL="0" marR="0" indent="137160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474746"/>
                </a:solidFill>
                <a:effectLst/>
                <a:uFillTx/>
                <a:latin typeface="+mj-lt"/>
                <a:ea typeface="+mj-ea"/>
                <a:cs typeface="+mj-cs"/>
                <a:sym typeface="Arial"/>
              </a:defRPr>
            </a:lvl4pPr>
            <a:lvl5pPr marL="0" marR="0" indent="182880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474746"/>
                </a:solidFill>
                <a:effectLst/>
                <a:uFillTx/>
                <a:latin typeface="+mj-lt"/>
                <a:ea typeface="+mj-ea"/>
                <a:cs typeface="+mj-cs"/>
                <a:sym typeface="Arial"/>
              </a:defRPr>
            </a:lvl5pPr>
            <a:lvl6pPr marL="0" marR="0" indent="228600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474746"/>
                </a:solidFill>
                <a:effectLst/>
                <a:uFillTx/>
                <a:latin typeface="+mj-lt"/>
                <a:ea typeface="+mj-ea"/>
                <a:cs typeface="+mj-cs"/>
                <a:sym typeface="Arial"/>
              </a:defRPr>
            </a:lvl6pPr>
            <a:lvl7pPr marL="0" marR="0" indent="274320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474746"/>
                </a:solidFill>
                <a:effectLst/>
                <a:uFillTx/>
                <a:latin typeface="+mj-lt"/>
                <a:ea typeface="+mj-ea"/>
                <a:cs typeface="+mj-cs"/>
                <a:sym typeface="Arial"/>
              </a:defRPr>
            </a:lvl7pPr>
            <a:lvl8pPr marL="0" marR="0" indent="320040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474746"/>
                </a:solidFill>
                <a:effectLst/>
                <a:uFillTx/>
                <a:latin typeface="+mj-lt"/>
                <a:ea typeface="+mj-ea"/>
                <a:cs typeface="+mj-cs"/>
                <a:sym typeface="Arial"/>
              </a:defRPr>
            </a:lvl8pPr>
            <a:lvl9pPr marL="0" marR="0" indent="365760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474746"/>
                </a:solidFill>
                <a:effectLst/>
                <a:uFillTx/>
                <a:latin typeface="+mj-lt"/>
                <a:ea typeface="+mj-ea"/>
                <a:cs typeface="+mj-cs"/>
                <a:sym typeface="Arial"/>
              </a:defRPr>
            </a:lvl9pPr>
          </a:lstStyle>
          <a:p>
            <a:fld id="{86CB4B4D-7CA3-9044-876B-883B54F8677D}" type="slidenum">
              <a:rPr lang="en-US" smtClean="0"/>
              <a:pPr/>
              <a:t>9</a:t>
            </a:fld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9" name="Equation"/>
              <p:cNvSpPr txBox="1"/>
              <p:nvPr/>
            </p:nvSpPr>
            <p:spPr>
              <a:xfrm>
                <a:off x="4147707" y="1815024"/>
                <a:ext cx="5010346" cy="420243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latinLnBrk="1">
                  <a:defRPr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𝐖</m:t>
                          </m:r>
                        </m:e>
                        <m:sub>
                          <m:r>
                            <a:rPr lang="ar-AE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ar-AE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ar-AE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ar-AE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ar-AE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×</m:t>
                          </m:r>
                          <m:sSub>
                            <m:sSubPr>
                              <m:ctrlPr>
                                <a:rPr lang="ar-AE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ar-AE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sup>
                      </m:sSup>
                      <m:r>
                        <a:rPr lang="ar-AE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ar-AE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𝐖</m:t>
                          </m:r>
                        </m:e>
                        <m:sub>
                          <m:r>
                            <a:rPr lang="ar-AE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  <m:r>
                        <a:rPr lang="ar-AE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ar-AE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ar-AE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ar-AE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×</m:t>
                          </m:r>
                          <m:sSub>
                            <m:sSubPr>
                              <m:ctrlPr>
                                <a:rPr lang="ar-AE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ar-AE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sub>
                          </m:sSub>
                        </m:sup>
                      </m:sSup>
                      <m:r>
                        <a:rPr lang="ar-AE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nor/>
                        </m:rP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and</m:t>
                      </m:r>
                      <m:r>
                        <a:rPr lang="en-US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𝐯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ar-AE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ar-AE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sup>
                      </m:sSup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189" name="Equation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47707" y="1815024"/>
                <a:ext cx="5010346" cy="420243"/>
              </a:xfrm>
              <a:prstGeom prst="rect">
                <a:avLst/>
              </a:prstGeom>
              <a:blipFill>
                <a:blip r:embed="rId2"/>
                <a:stretch>
                  <a:fillRect l="-759" b="-26471"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0" name="Equation"/>
              <p:cNvSpPr txBox="1"/>
              <p:nvPr/>
            </p:nvSpPr>
            <p:spPr>
              <a:xfrm>
                <a:off x="2551086" y="2597218"/>
                <a:ext cx="4206344" cy="405496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latinLnBrk="1">
                  <a:defRPr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𝐤</m:t>
                      </m:r>
                      <m:r>
                        <a:rPr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𝐪</m:t>
                      </m:r>
                      <m:r>
                        <a:rPr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sSup>
                        <m:sSupPr>
                          <m:ctrlPr>
                            <a:rPr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𝐯</m:t>
                          </m:r>
                        </m:e>
                        <m:sup>
                          <m:r>
                            <a:rPr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m:rPr>
                          <m:sty m:val="p"/>
                        </m:rPr>
                        <a:rPr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tanh</m:t>
                      </m:r>
                      <m:r>
                        <a:rPr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𝐖</m:t>
                          </m:r>
                        </m:e>
                        <m:sub>
                          <m:r>
                            <a:rPr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𝐤</m:t>
                      </m:r>
                      <m:r>
                        <a:rPr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𝐖</m:t>
                          </m:r>
                        </m:e>
                        <m:sub>
                          <m:r>
                            <a:rPr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  <m:r>
                        <a:rPr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𝐪</m:t>
                      </m:r>
                      <m:r>
                        <a:rPr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90" name="Equation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1086" y="2597218"/>
                <a:ext cx="4206344" cy="405496"/>
              </a:xfrm>
              <a:prstGeom prst="rect">
                <a:avLst/>
              </a:prstGeom>
              <a:blipFill>
                <a:blip r:embed="rId3"/>
                <a:stretch>
                  <a:fillRect r="-1802" b="-21212"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Seq2seq with Attention"/>
          <p:cNvSpPr txBox="1">
            <a:spLocks noGrp="1"/>
          </p:cNvSpPr>
          <p:nvPr>
            <p:ph type="title"/>
          </p:nvPr>
        </p:nvSpPr>
        <p:spPr>
          <a:xfrm>
            <a:off x="447193" y="2438445"/>
            <a:ext cx="3903624" cy="1981110"/>
          </a:xfrm>
          <a:prstGeom prst="rect">
            <a:avLst/>
          </a:prstGeom>
        </p:spPr>
        <p:txBody>
          <a:bodyPr/>
          <a:lstStyle/>
          <a:p>
            <a:r>
              <a:t>Seq2seq with Attention</a:t>
            </a:r>
          </a:p>
        </p:txBody>
      </p:sp>
      <p:sp>
        <p:nvSpPr>
          <p:cNvPr id="196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10</a:t>
            </a:fld>
            <a:endParaRPr/>
          </a:p>
        </p:txBody>
      </p:sp>
    </p:spTree>
  </p:cSld>
  <p:clrMapOvr>
    <a:masterClrMapping/>
  </p:clrMapOvr>
  <p:transition spd="med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Model Architecture"/>
          <p:cNvSpPr txBox="1">
            <a:spLocks noGrp="1"/>
          </p:cNvSpPr>
          <p:nvPr>
            <p:ph type="title"/>
          </p:nvPr>
        </p:nvSpPr>
        <p:spPr>
          <a:xfrm>
            <a:off x="457200" y="593821"/>
            <a:ext cx="7772400" cy="1143000"/>
          </a:xfrm>
          <a:prstGeom prst="rect">
            <a:avLst/>
          </a:prstGeom>
        </p:spPr>
        <p:txBody>
          <a:bodyPr/>
          <a:lstStyle/>
          <a:p>
            <a:r>
              <a:rPr dirty="0"/>
              <a:t>Model Architecture</a:t>
            </a:r>
          </a:p>
        </p:txBody>
      </p:sp>
      <p:sp>
        <p:nvSpPr>
          <p:cNvPr id="200" name="Slide Number"/>
          <p:cNvSpPr txBox="1"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9" rIns="45719" anchor="ctr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r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474746"/>
                </a:solidFill>
                <a:effectLst/>
                <a:uFillTx/>
                <a:latin typeface="+mj-lt"/>
                <a:ea typeface="+mj-ea"/>
                <a:cs typeface="+mj-cs"/>
                <a:sym typeface="Arial"/>
              </a:defRPr>
            </a:lvl1pPr>
            <a:lvl2pPr marL="0" marR="0" indent="45720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474746"/>
                </a:solidFill>
                <a:effectLst/>
                <a:uFillTx/>
                <a:latin typeface="+mj-lt"/>
                <a:ea typeface="+mj-ea"/>
                <a:cs typeface="+mj-cs"/>
                <a:sym typeface="Arial"/>
              </a:defRPr>
            </a:lvl2pPr>
            <a:lvl3pPr marL="0" marR="0" indent="91440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474746"/>
                </a:solidFill>
                <a:effectLst/>
                <a:uFillTx/>
                <a:latin typeface="+mj-lt"/>
                <a:ea typeface="+mj-ea"/>
                <a:cs typeface="+mj-cs"/>
                <a:sym typeface="Arial"/>
              </a:defRPr>
            </a:lvl3pPr>
            <a:lvl4pPr marL="0" marR="0" indent="137160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474746"/>
                </a:solidFill>
                <a:effectLst/>
                <a:uFillTx/>
                <a:latin typeface="+mj-lt"/>
                <a:ea typeface="+mj-ea"/>
                <a:cs typeface="+mj-cs"/>
                <a:sym typeface="Arial"/>
              </a:defRPr>
            </a:lvl4pPr>
            <a:lvl5pPr marL="0" marR="0" indent="182880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474746"/>
                </a:solidFill>
                <a:effectLst/>
                <a:uFillTx/>
                <a:latin typeface="+mj-lt"/>
                <a:ea typeface="+mj-ea"/>
                <a:cs typeface="+mj-cs"/>
                <a:sym typeface="Arial"/>
              </a:defRPr>
            </a:lvl5pPr>
            <a:lvl6pPr marL="0" marR="0" indent="228600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474746"/>
                </a:solidFill>
                <a:effectLst/>
                <a:uFillTx/>
                <a:latin typeface="+mj-lt"/>
                <a:ea typeface="+mj-ea"/>
                <a:cs typeface="+mj-cs"/>
                <a:sym typeface="Arial"/>
              </a:defRPr>
            </a:lvl6pPr>
            <a:lvl7pPr marL="0" marR="0" indent="274320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474746"/>
                </a:solidFill>
                <a:effectLst/>
                <a:uFillTx/>
                <a:latin typeface="+mj-lt"/>
                <a:ea typeface="+mj-ea"/>
                <a:cs typeface="+mj-cs"/>
                <a:sym typeface="Arial"/>
              </a:defRPr>
            </a:lvl7pPr>
            <a:lvl8pPr marL="0" marR="0" indent="320040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474746"/>
                </a:solidFill>
                <a:effectLst/>
                <a:uFillTx/>
                <a:latin typeface="+mj-lt"/>
                <a:ea typeface="+mj-ea"/>
                <a:cs typeface="+mj-cs"/>
                <a:sym typeface="Arial"/>
              </a:defRPr>
            </a:lvl8pPr>
            <a:lvl9pPr marL="0" marR="0" indent="365760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474746"/>
                </a:solidFill>
                <a:effectLst/>
                <a:uFillTx/>
                <a:latin typeface="+mj-lt"/>
                <a:ea typeface="+mj-ea"/>
                <a:cs typeface="+mj-cs"/>
                <a:sym typeface="Arial"/>
              </a:defRPr>
            </a:lvl9pPr>
          </a:lstStyle>
          <a:p>
            <a:fld id="{86CB4B4D-7CA3-9044-876B-883B54F8677D}" type="slidenum">
              <a:rPr lang="en-US" smtClean="0"/>
              <a:pPr/>
              <a:t>11</a:t>
            </a:fld>
            <a:endParaRPr/>
          </a:p>
        </p:txBody>
      </p:sp>
      <p:sp>
        <p:nvSpPr>
          <p:cNvPr id="199" name="Each decode step might pay attention to particular encoder steps.…"/>
          <p:cNvSpPr txBox="1">
            <a:spLocks noGrp="1"/>
          </p:cNvSpPr>
          <p:nvPr>
            <p:ph type="body" idx="4294967295"/>
          </p:nvPr>
        </p:nvSpPr>
        <p:spPr>
          <a:xfrm>
            <a:off x="685800" y="1830387"/>
            <a:ext cx="7772400" cy="4114800"/>
          </a:xfrm>
          <a:prstGeom prst="rect">
            <a:avLst/>
          </a:prstGeom>
        </p:spPr>
        <p:txBody>
          <a:bodyPr/>
          <a:lstStyle/>
          <a:p>
            <a:r>
              <a:rPr dirty="0"/>
              <a:t>Each decode step might pay attention to particular encoder steps.</a:t>
            </a:r>
          </a:p>
          <a:p>
            <a:r>
              <a:rPr dirty="0"/>
              <a:t>Add an additional attention layer to use encoder’s outputs as memory</a:t>
            </a:r>
          </a:p>
          <a:p>
            <a:r>
              <a:rPr dirty="0"/>
              <a:t>The attention output is used as the decoder’s input</a:t>
            </a:r>
          </a:p>
        </p:txBody>
      </p:sp>
      <p:pic>
        <p:nvPicPr>
          <p:cNvPr id="201" name="Image" descr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3961" y="3973928"/>
            <a:ext cx="5455682" cy="2064825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Encoder/Decoder Details"/>
          <p:cNvSpPr txBox="1">
            <a:spLocks noGrp="1"/>
          </p:cNvSpPr>
          <p:nvPr>
            <p:ph type="title"/>
          </p:nvPr>
        </p:nvSpPr>
        <p:spPr>
          <a:xfrm>
            <a:off x="616715" y="565150"/>
            <a:ext cx="7772400" cy="1143000"/>
          </a:xfrm>
          <a:prstGeom prst="rect">
            <a:avLst/>
          </a:prstGeom>
        </p:spPr>
        <p:txBody>
          <a:bodyPr/>
          <a:lstStyle/>
          <a:p>
            <a:r>
              <a:rPr dirty="0"/>
              <a:t>Encoder/Decoder Details</a:t>
            </a:r>
          </a:p>
        </p:txBody>
      </p:sp>
      <p:sp>
        <p:nvSpPr>
          <p:cNvPr id="204" name="We run through encoder, and save all states into Attention heads,…"/>
          <p:cNvSpPr txBox="1">
            <a:spLocks noGrp="1"/>
          </p:cNvSpPr>
          <p:nvPr>
            <p:ph idx="1"/>
          </p:nvPr>
        </p:nvSpPr>
        <p:spPr>
          <a:xfrm>
            <a:off x="474815" y="1700267"/>
            <a:ext cx="4692650" cy="4114800"/>
          </a:xfrm>
          <a:prstGeom prst="rect">
            <a:avLst/>
          </a:prstGeom>
        </p:spPr>
        <p:txBody>
          <a:bodyPr/>
          <a:lstStyle/>
          <a:p>
            <a:pPr marL="226193" indent="-226193" defTabSz="429768">
              <a:defRPr sz="2256"/>
            </a:pPr>
            <a:r>
              <a:rPr dirty="0"/>
              <a:t>We run through encoder, and save all states into Attention heads,</a:t>
            </a:r>
          </a:p>
          <a:p>
            <a:pPr marL="226193" indent="-226193" defTabSz="429768">
              <a:defRPr sz="2256"/>
            </a:pPr>
            <a:r>
              <a:rPr dirty="0"/>
              <a:t>Decoder h_{t-1} fetches attention</a:t>
            </a:r>
          </a:p>
          <a:p>
            <a:pPr marL="226193" indent="-226193" defTabSz="429768">
              <a:defRPr sz="2256"/>
            </a:pPr>
            <a:r>
              <a:rPr dirty="0"/>
              <a:t>The output of the last recurrent layer in the encoder is used</a:t>
            </a:r>
          </a:p>
          <a:p>
            <a:pPr marL="226193" indent="-226193" defTabSz="429768">
              <a:defRPr sz="2256"/>
            </a:pPr>
            <a:r>
              <a:rPr dirty="0"/>
              <a:t>The attention output is then concatenated with the embedding of decoder input and fed into the first recurrent layer in the decoder</a:t>
            </a:r>
          </a:p>
        </p:txBody>
      </p:sp>
      <p:sp>
        <p:nvSpPr>
          <p:cNvPr id="205" name="Slide Number"/>
          <p:cNvSpPr txBox="1"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9" rIns="45719" anchor="ctr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r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474746"/>
                </a:solidFill>
                <a:effectLst/>
                <a:uFillTx/>
                <a:latin typeface="+mj-lt"/>
                <a:ea typeface="+mj-ea"/>
                <a:cs typeface="+mj-cs"/>
                <a:sym typeface="Arial"/>
              </a:defRPr>
            </a:lvl1pPr>
            <a:lvl2pPr marL="0" marR="0" indent="45720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474746"/>
                </a:solidFill>
                <a:effectLst/>
                <a:uFillTx/>
                <a:latin typeface="+mj-lt"/>
                <a:ea typeface="+mj-ea"/>
                <a:cs typeface="+mj-cs"/>
                <a:sym typeface="Arial"/>
              </a:defRPr>
            </a:lvl2pPr>
            <a:lvl3pPr marL="0" marR="0" indent="91440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474746"/>
                </a:solidFill>
                <a:effectLst/>
                <a:uFillTx/>
                <a:latin typeface="+mj-lt"/>
                <a:ea typeface="+mj-ea"/>
                <a:cs typeface="+mj-cs"/>
                <a:sym typeface="Arial"/>
              </a:defRPr>
            </a:lvl3pPr>
            <a:lvl4pPr marL="0" marR="0" indent="137160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474746"/>
                </a:solidFill>
                <a:effectLst/>
                <a:uFillTx/>
                <a:latin typeface="+mj-lt"/>
                <a:ea typeface="+mj-ea"/>
                <a:cs typeface="+mj-cs"/>
                <a:sym typeface="Arial"/>
              </a:defRPr>
            </a:lvl4pPr>
            <a:lvl5pPr marL="0" marR="0" indent="182880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474746"/>
                </a:solidFill>
                <a:effectLst/>
                <a:uFillTx/>
                <a:latin typeface="+mj-lt"/>
                <a:ea typeface="+mj-ea"/>
                <a:cs typeface="+mj-cs"/>
                <a:sym typeface="Arial"/>
              </a:defRPr>
            </a:lvl5pPr>
            <a:lvl6pPr marL="0" marR="0" indent="228600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474746"/>
                </a:solidFill>
                <a:effectLst/>
                <a:uFillTx/>
                <a:latin typeface="+mj-lt"/>
                <a:ea typeface="+mj-ea"/>
                <a:cs typeface="+mj-cs"/>
                <a:sym typeface="Arial"/>
              </a:defRPr>
            </a:lvl6pPr>
            <a:lvl7pPr marL="0" marR="0" indent="274320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474746"/>
                </a:solidFill>
                <a:effectLst/>
                <a:uFillTx/>
                <a:latin typeface="+mj-lt"/>
                <a:ea typeface="+mj-ea"/>
                <a:cs typeface="+mj-cs"/>
                <a:sym typeface="Arial"/>
              </a:defRPr>
            </a:lvl7pPr>
            <a:lvl8pPr marL="0" marR="0" indent="320040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474746"/>
                </a:solidFill>
                <a:effectLst/>
                <a:uFillTx/>
                <a:latin typeface="+mj-lt"/>
                <a:ea typeface="+mj-ea"/>
                <a:cs typeface="+mj-cs"/>
                <a:sym typeface="Arial"/>
              </a:defRPr>
            </a:lvl8pPr>
            <a:lvl9pPr marL="0" marR="0" indent="365760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474746"/>
                </a:solidFill>
                <a:effectLst/>
                <a:uFillTx/>
                <a:latin typeface="+mj-lt"/>
                <a:ea typeface="+mj-ea"/>
                <a:cs typeface="+mj-cs"/>
                <a:sym typeface="Arial"/>
              </a:defRPr>
            </a:lvl9pPr>
          </a:lstStyle>
          <a:p>
            <a:fld id="{86CB4B4D-7CA3-9044-876B-883B54F8677D}" type="slidenum">
              <a:rPr lang="en-US" smtClean="0"/>
              <a:pPr/>
              <a:t>12</a:t>
            </a:fld>
            <a:endParaRPr dirty="0"/>
          </a:p>
        </p:txBody>
      </p:sp>
      <p:pic>
        <p:nvPicPr>
          <p:cNvPr id="206" name="Image" descr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5564" y="1708150"/>
            <a:ext cx="3704417" cy="2999594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Transforme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Transformer</a:t>
            </a:r>
          </a:p>
        </p:txBody>
      </p:sp>
      <p:sp>
        <p:nvSpPr>
          <p:cNvPr id="209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13</a:t>
            </a:fld>
            <a:endParaRPr/>
          </a:p>
        </p:txBody>
      </p:sp>
      <p:pic>
        <p:nvPicPr>
          <p:cNvPr id="210" name="Image" descr="Image"/>
          <p:cNvPicPr>
            <a:picLocks noChangeAspect="1"/>
          </p:cNvPicPr>
          <p:nvPr/>
        </p:nvPicPr>
        <p:blipFill>
          <a:blip r:embed="rId2"/>
          <a:srcRect l="12457" r="10392"/>
          <a:stretch>
            <a:fillRect/>
          </a:stretch>
        </p:blipFill>
        <p:spPr>
          <a:xfrm>
            <a:off x="4404480" y="857251"/>
            <a:ext cx="4728805" cy="5143501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Self-attention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Self-attention</a:t>
            </a:r>
          </a:p>
        </p:txBody>
      </p:sp>
      <p:sp>
        <p:nvSpPr>
          <p:cNvPr id="213" name="To generate n outputs with n inputs, we can copy each input into a key, a value and a query…"/>
          <p:cNvSpPr txBox="1">
            <a:spLocks noGrp="1"/>
          </p:cNvSpPr>
          <p:nvPr>
            <p:ph idx="1"/>
          </p:nvPr>
        </p:nvSpPr>
        <p:spPr>
          <a:xfrm>
            <a:off x="333484" y="1986455"/>
            <a:ext cx="4768850" cy="4114800"/>
          </a:xfrm>
          <a:prstGeom prst="rect">
            <a:avLst/>
          </a:prstGeom>
        </p:spPr>
        <p:txBody>
          <a:bodyPr/>
          <a:lstStyle/>
          <a:p>
            <a:pPr marL="175661" indent="-175661" defTabSz="333756">
              <a:spcBef>
                <a:spcPts val="400"/>
              </a:spcBef>
              <a:defRPr sz="1752"/>
            </a:pPr>
            <a:r>
              <a:rPr sz="2000" dirty="0"/>
              <a:t>To generate </a:t>
            </a:r>
            <a:r>
              <a:rPr sz="2000" i="1" dirty="0"/>
              <a:t>n </a:t>
            </a:r>
            <a:r>
              <a:rPr sz="2000" dirty="0"/>
              <a:t>outputs with</a:t>
            </a:r>
            <a:r>
              <a:rPr sz="2000" i="1" dirty="0"/>
              <a:t> n </a:t>
            </a:r>
            <a:r>
              <a:rPr sz="2000" dirty="0"/>
              <a:t>inputs, we can copy each input into a key, a value and a query </a:t>
            </a:r>
          </a:p>
          <a:p>
            <a:pPr marL="175661" indent="-175661" defTabSz="333756">
              <a:spcBef>
                <a:spcPts val="400"/>
              </a:spcBef>
              <a:defRPr sz="1752"/>
            </a:pPr>
            <a:r>
              <a:rPr sz="2000" dirty="0"/>
              <a:t>No sequential information is preserved</a:t>
            </a:r>
          </a:p>
          <a:p>
            <a:pPr marL="175661" indent="-175661" defTabSz="333756">
              <a:spcBef>
                <a:spcPts val="400"/>
              </a:spcBef>
              <a:defRPr sz="1752"/>
            </a:pPr>
            <a:r>
              <a:rPr sz="2000" dirty="0"/>
              <a:t>All outputs run in parallel (advantage)</a:t>
            </a:r>
          </a:p>
          <a:p>
            <a:pPr marL="175661" indent="-175661" defTabSz="333756">
              <a:spcBef>
                <a:spcPts val="400"/>
              </a:spcBef>
              <a:defRPr sz="1752"/>
            </a:pPr>
            <a:r>
              <a:rPr sz="2000" dirty="0"/>
              <a:t>If you permute the input sequence, the output will be permuted, but values do not change. </a:t>
            </a:r>
          </a:p>
          <a:p>
            <a:pPr marL="175661" indent="-175661" defTabSz="333756">
              <a:spcBef>
                <a:spcPts val="400"/>
              </a:spcBef>
              <a:defRPr sz="1752"/>
            </a:pPr>
            <a:r>
              <a:rPr sz="2000" dirty="0"/>
              <a:t>Must recover the sequential information.</a:t>
            </a:r>
          </a:p>
        </p:txBody>
      </p:sp>
      <p:sp>
        <p:nvSpPr>
          <p:cNvPr id="214" name="Slide Number"/>
          <p:cNvSpPr txBox="1"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9" rIns="45719" anchor="ctr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r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474746"/>
                </a:solidFill>
                <a:effectLst/>
                <a:uFillTx/>
                <a:latin typeface="+mj-lt"/>
                <a:ea typeface="+mj-ea"/>
                <a:cs typeface="+mj-cs"/>
                <a:sym typeface="Arial"/>
              </a:defRPr>
            </a:lvl1pPr>
            <a:lvl2pPr marL="0" marR="0" indent="45720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474746"/>
                </a:solidFill>
                <a:effectLst/>
                <a:uFillTx/>
                <a:latin typeface="+mj-lt"/>
                <a:ea typeface="+mj-ea"/>
                <a:cs typeface="+mj-cs"/>
                <a:sym typeface="Arial"/>
              </a:defRPr>
            </a:lvl2pPr>
            <a:lvl3pPr marL="0" marR="0" indent="91440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474746"/>
                </a:solidFill>
                <a:effectLst/>
                <a:uFillTx/>
                <a:latin typeface="+mj-lt"/>
                <a:ea typeface="+mj-ea"/>
                <a:cs typeface="+mj-cs"/>
                <a:sym typeface="Arial"/>
              </a:defRPr>
            </a:lvl3pPr>
            <a:lvl4pPr marL="0" marR="0" indent="137160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474746"/>
                </a:solidFill>
                <a:effectLst/>
                <a:uFillTx/>
                <a:latin typeface="+mj-lt"/>
                <a:ea typeface="+mj-ea"/>
                <a:cs typeface="+mj-cs"/>
                <a:sym typeface="Arial"/>
              </a:defRPr>
            </a:lvl4pPr>
            <a:lvl5pPr marL="0" marR="0" indent="182880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474746"/>
                </a:solidFill>
                <a:effectLst/>
                <a:uFillTx/>
                <a:latin typeface="+mj-lt"/>
                <a:ea typeface="+mj-ea"/>
                <a:cs typeface="+mj-cs"/>
                <a:sym typeface="Arial"/>
              </a:defRPr>
            </a:lvl5pPr>
            <a:lvl6pPr marL="0" marR="0" indent="228600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474746"/>
                </a:solidFill>
                <a:effectLst/>
                <a:uFillTx/>
                <a:latin typeface="+mj-lt"/>
                <a:ea typeface="+mj-ea"/>
                <a:cs typeface="+mj-cs"/>
                <a:sym typeface="Arial"/>
              </a:defRPr>
            </a:lvl6pPr>
            <a:lvl7pPr marL="0" marR="0" indent="274320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474746"/>
                </a:solidFill>
                <a:effectLst/>
                <a:uFillTx/>
                <a:latin typeface="+mj-lt"/>
                <a:ea typeface="+mj-ea"/>
                <a:cs typeface="+mj-cs"/>
                <a:sym typeface="Arial"/>
              </a:defRPr>
            </a:lvl7pPr>
            <a:lvl8pPr marL="0" marR="0" indent="320040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474746"/>
                </a:solidFill>
                <a:effectLst/>
                <a:uFillTx/>
                <a:latin typeface="+mj-lt"/>
                <a:ea typeface="+mj-ea"/>
                <a:cs typeface="+mj-cs"/>
                <a:sym typeface="Arial"/>
              </a:defRPr>
            </a:lvl8pPr>
            <a:lvl9pPr marL="0" marR="0" indent="365760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474746"/>
                </a:solidFill>
                <a:effectLst/>
                <a:uFillTx/>
                <a:latin typeface="+mj-lt"/>
                <a:ea typeface="+mj-ea"/>
                <a:cs typeface="+mj-cs"/>
                <a:sym typeface="Arial"/>
              </a:defRPr>
            </a:lvl9pPr>
          </a:lstStyle>
          <a:p>
            <a:fld id="{86CB4B4D-7CA3-9044-876B-883B54F8677D}" type="slidenum">
              <a:rPr lang="en-US" smtClean="0"/>
              <a:pPr/>
              <a:t>14</a:t>
            </a:fld>
            <a:endParaRPr/>
          </a:p>
        </p:txBody>
      </p:sp>
      <p:pic>
        <p:nvPicPr>
          <p:cNvPr id="215" name="Image" descr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0667" y="2279242"/>
            <a:ext cx="3977616" cy="2522946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Transformer Architecture"/>
          <p:cNvSpPr txBox="1">
            <a:spLocks noGrp="1"/>
          </p:cNvSpPr>
          <p:nvPr>
            <p:ph type="title"/>
          </p:nvPr>
        </p:nvSpPr>
        <p:spPr>
          <a:xfrm>
            <a:off x="237196" y="485735"/>
            <a:ext cx="7772400" cy="1143000"/>
          </a:xfrm>
          <a:prstGeom prst="rect">
            <a:avLst/>
          </a:prstGeom>
        </p:spPr>
        <p:txBody>
          <a:bodyPr/>
          <a:lstStyle/>
          <a:p>
            <a:r>
              <a:rPr dirty="0"/>
              <a:t>Transformer Architecture</a:t>
            </a:r>
          </a:p>
        </p:txBody>
      </p:sp>
      <p:sp>
        <p:nvSpPr>
          <p:cNvPr id="218" name="It’s an encoder-decoder arch…"/>
          <p:cNvSpPr txBox="1">
            <a:spLocks noGrp="1"/>
          </p:cNvSpPr>
          <p:nvPr>
            <p:ph type="body" idx="1"/>
          </p:nvPr>
        </p:nvSpPr>
        <p:spPr>
          <a:xfrm>
            <a:off x="252962" y="1652036"/>
            <a:ext cx="8205304" cy="3553928"/>
          </a:xfrm>
          <a:prstGeom prst="rect">
            <a:avLst/>
          </a:prstGeom>
        </p:spPr>
        <p:txBody>
          <a:bodyPr/>
          <a:lstStyle/>
          <a:p>
            <a:r>
              <a:t>It’s an encoder-decoder arch</a:t>
            </a:r>
          </a:p>
          <a:p>
            <a:r>
              <a:t>Differ from seq2seq with </a:t>
            </a:r>
            <a:br/>
            <a:r>
              <a:t>attention in three places</a:t>
            </a:r>
          </a:p>
        </p:txBody>
      </p:sp>
      <p:sp>
        <p:nvSpPr>
          <p:cNvPr id="219" name="Slide Number"/>
          <p:cNvSpPr txBox="1">
            <a:spLocks noGrp="1"/>
          </p:cNvSpPr>
          <p:nvPr>
            <p:ph type="sldNum" sz="quarter" idx="12"/>
          </p:nvPr>
        </p:nvSpPr>
        <p:spPr>
          <a:xfrm>
            <a:off x="8501618" y="6400800"/>
            <a:ext cx="457201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9" rIns="45719" anchor="ctr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r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474746"/>
                </a:solidFill>
                <a:effectLst/>
                <a:uFillTx/>
                <a:latin typeface="+mj-lt"/>
                <a:ea typeface="+mj-ea"/>
                <a:cs typeface="+mj-cs"/>
                <a:sym typeface="Arial"/>
              </a:defRPr>
            </a:lvl1pPr>
            <a:lvl2pPr marL="0" marR="0" indent="45720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474746"/>
                </a:solidFill>
                <a:effectLst/>
                <a:uFillTx/>
                <a:latin typeface="+mj-lt"/>
                <a:ea typeface="+mj-ea"/>
                <a:cs typeface="+mj-cs"/>
                <a:sym typeface="Arial"/>
              </a:defRPr>
            </a:lvl2pPr>
            <a:lvl3pPr marL="0" marR="0" indent="91440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474746"/>
                </a:solidFill>
                <a:effectLst/>
                <a:uFillTx/>
                <a:latin typeface="+mj-lt"/>
                <a:ea typeface="+mj-ea"/>
                <a:cs typeface="+mj-cs"/>
                <a:sym typeface="Arial"/>
              </a:defRPr>
            </a:lvl3pPr>
            <a:lvl4pPr marL="0" marR="0" indent="137160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474746"/>
                </a:solidFill>
                <a:effectLst/>
                <a:uFillTx/>
                <a:latin typeface="+mj-lt"/>
                <a:ea typeface="+mj-ea"/>
                <a:cs typeface="+mj-cs"/>
                <a:sym typeface="Arial"/>
              </a:defRPr>
            </a:lvl4pPr>
            <a:lvl5pPr marL="0" marR="0" indent="182880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474746"/>
                </a:solidFill>
                <a:effectLst/>
                <a:uFillTx/>
                <a:latin typeface="+mj-lt"/>
                <a:ea typeface="+mj-ea"/>
                <a:cs typeface="+mj-cs"/>
                <a:sym typeface="Arial"/>
              </a:defRPr>
            </a:lvl5pPr>
            <a:lvl6pPr marL="0" marR="0" indent="228600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474746"/>
                </a:solidFill>
                <a:effectLst/>
                <a:uFillTx/>
                <a:latin typeface="+mj-lt"/>
                <a:ea typeface="+mj-ea"/>
                <a:cs typeface="+mj-cs"/>
                <a:sym typeface="Arial"/>
              </a:defRPr>
            </a:lvl6pPr>
            <a:lvl7pPr marL="0" marR="0" indent="274320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474746"/>
                </a:solidFill>
                <a:effectLst/>
                <a:uFillTx/>
                <a:latin typeface="+mj-lt"/>
                <a:ea typeface="+mj-ea"/>
                <a:cs typeface="+mj-cs"/>
                <a:sym typeface="Arial"/>
              </a:defRPr>
            </a:lvl7pPr>
            <a:lvl8pPr marL="0" marR="0" indent="320040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474746"/>
                </a:solidFill>
                <a:effectLst/>
                <a:uFillTx/>
                <a:latin typeface="+mj-lt"/>
                <a:ea typeface="+mj-ea"/>
                <a:cs typeface="+mj-cs"/>
                <a:sym typeface="Arial"/>
              </a:defRPr>
            </a:lvl8pPr>
            <a:lvl9pPr marL="0" marR="0" indent="365760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474746"/>
                </a:solidFill>
                <a:effectLst/>
                <a:uFillTx/>
                <a:latin typeface="+mj-lt"/>
                <a:ea typeface="+mj-ea"/>
                <a:cs typeface="+mj-cs"/>
                <a:sym typeface="Arial"/>
              </a:defRPr>
            </a:lvl9pPr>
          </a:lstStyle>
          <a:p>
            <a:fld id="{86CB4B4D-7CA3-9044-876B-883B54F8677D}" type="slidenum">
              <a:rPr lang="en-US" smtClean="0"/>
              <a:pPr/>
              <a:t>15</a:t>
            </a:fld>
            <a:endParaRPr dirty="0"/>
          </a:p>
        </p:txBody>
      </p:sp>
      <p:sp>
        <p:nvSpPr>
          <p:cNvPr id="220" name="Transformer block"/>
          <p:cNvSpPr/>
          <p:nvPr/>
        </p:nvSpPr>
        <p:spPr>
          <a:xfrm>
            <a:off x="2276093" y="2899568"/>
            <a:ext cx="2280554" cy="91043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57" y="0"/>
                </a:moveTo>
                <a:cubicBezTo>
                  <a:pt x="473" y="0"/>
                  <a:pt x="0" y="1643"/>
                  <a:pt x="0" y="3676"/>
                </a:cubicBezTo>
                <a:lnTo>
                  <a:pt x="0" y="17924"/>
                </a:lnTo>
                <a:cubicBezTo>
                  <a:pt x="0" y="19957"/>
                  <a:pt x="473" y="21600"/>
                  <a:pt x="1057" y="21600"/>
                </a:cubicBezTo>
                <a:lnTo>
                  <a:pt x="16652" y="21600"/>
                </a:lnTo>
                <a:cubicBezTo>
                  <a:pt x="17047" y="21600"/>
                  <a:pt x="17378" y="20814"/>
                  <a:pt x="17560" y="19699"/>
                </a:cubicBezTo>
                <a:lnTo>
                  <a:pt x="21600" y="14311"/>
                </a:lnTo>
                <a:lnTo>
                  <a:pt x="17709" y="9127"/>
                </a:lnTo>
                <a:lnTo>
                  <a:pt x="17709" y="3676"/>
                </a:lnTo>
                <a:cubicBezTo>
                  <a:pt x="17709" y="1643"/>
                  <a:pt x="17237" y="0"/>
                  <a:pt x="16652" y="0"/>
                </a:cubicBezTo>
                <a:lnTo>
                  <a:pt x="1057" y="0"/>
                </a:lnTo>
                <a:close/>
              </a:path>
            </a:pathLst>
          </a:custGeom>
          <a:solidFill>
            <a:schemeClr val="accent2">
              <a:lumOff val="10931"/>
            </a:schemeClr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/>
          <a:lstStyle>
            <a:lvl1pPr>
              <a:spcBef>
                <a:spcPts val="900"/>
              </a:spcBef>
              <a:defRPr>
                <a:solidFill>
                  <a:srgbClr val="FFFFFF"/>
                </a:solidFill>
              </a:defRPr>
            </a:lvl1pPr>
          </a:lstStyle>
          <a:p>
            <a:r>
              <a:rPr dirty="0"/>
              <a:t>Transformer block</a:t>
            </a:r>
          </a:p>
        </p:txBody>
      </p:sp>
      <p:sp>
        <p:nvSpPr>
          <p:cNvPr id="221" name="Pass to every one in n blocks"/>
          <p:cNvSpPr/>
          <p:nvPr/>
        </p:nvSpPr>
        <p:spPr>
          <a:xfrm>
            <a:off x="4123396" y="1091401"/>
            <a:ext cx="2197538" cy="177845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287" y="0"/>
                </a:moveTo>
                <a:cubicBezTo>
                  <a:pt x="576" y="0"/>
                  <a:pt x="0" y="691"/>
                  <a:pt x="0" y="1544"/>
                </a:cubicBezTo>
                <a:lnTo>
                  <a:pt x="0" y="14449"/>
                </a:lnTo>
                <a:cubicBezTo>
                  <a:pt x="0" y="15302"/>
                  <a:pt x="576" y="15999"/>
                  <a:pt x="1287" y="15999"/>
                </a:cubicBezTo>
                <a:lnTo>
                  <a:pt x="19104" y="15999"/>
                </a:lnTo>
                <a:lnTo>
                  <a:pt x="20135" y="21600"/>
                </a:lnTo>
                <a:lnTo>
                  <a:pt x="21270" y="15461"/>
                </a:lnTo>
                <a:cubicBezTo>
                  <a:pt x="21469" y="15189"/>
                  <a:pt x="21600" y="14840"/>
                  <a:pt x="21600" y="14449"/>
                </a:cubicBezTo>
                <a:lnTo>
                  <a:pt x="21600" y="1544"/>
                </a:lnTo>
                <a:cubicBezTo>
                  <a:pt x="21600" y="691"/>
                  <a:pt x="21024" y="0"/>
                  <a:pt x="20313" y="0"/>
                </a:cubicBezTo>
                <a:lnTo>
                  <a:pt x="1287" y="0"/>
                </a:lnTo>
                <a:close/>
              </a:path>
            </a:pathLst>
          </a:custGeom>
          <a:solidFill>
            <a:schemeClr val="accent2">
              <a:lumOff val="10931"/>
            </a:schemeClr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/>
          <a:lstStyle>
            <a:lvl1pPr>
              <a:spcBef>
                <a:spcPts val="900"/>
              </a:spcBef>
              <a:defRPr>
                <a:solidFill>
                  <a:srgbClr val="FFFFFF"/>
                </a:solidFill>
              </a:defRPr>
            </a:lvl1pPr>
          </a:lstStyle>
          <a:p>
            <a:r>
              <a:t>Pass to every one in n blocks</a:t>
            </a:r>
          </a:p>
        </p:txBody>
      </p:sp>
      <p:sp>
        <p:nvSpPr>
          <p:cNvPr id="222" name="Sequential information"/>
          <p:cNvSpPr/>
          <p:nvPr/>
        </p:nvSpPr>
        <p:spPr>
          <a:xfrm>
            <a:off x="7338498" y="3501514"/>
            <a:ext cx="1827652" cy="14158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5850" y="0"/>
                </a:moveTo>
                <a:cubicBezTo>
                  <a:pt x="5265" y="0"/>
                  <a:pt x="4790" y="845"/>
                  <a:pt x="4790" y="1886"/>
                </a:cubicBezTo>
                <a:lnTo>
                  <a:pt x="4790" y="11664"/>
                </a:lnTo>
                <a:lnTo>
                  <a:pt x="0" y="21600"/>
                </a:lnTo>
                <a:lnTo>
                  <a:pt x="15212" y="17785"/>
                </a:lnTo>
                <a:lnTo>
                  <a:pt x="20539" y="17785"/>
                </a:lnTo>
                <a:cubicBezTo>
                  <a:pt x="21125" y="17785"/>
                  <a:pt x="21600" y="16949"/>
                  <a:pt x="21600" y="15908"/>
                </a:cubicBezTo>
                <a:lnTo>
                  <a:pt x="21600" y="1886"/>
                </a:lnTo>
                <a:cubicBezTo>
                  <a:pt x="21600" y="845"/>
                  <a:pt x="21125" y="0"/>
                  <a:pt x="20539" y="0"/>
                </a:cubicBezTo>
                <a:lnTo>
                  <a:pt x="5850" y="0"/>
                </a:lnTo>
                <a:close/>
              </a:path>
            </a:pathLst>
          </a:custGeom>
          <a:solidFill>
            <a:schemeClr val="accent2">
              <a:lumOff val="10931"/>
            </a:schemeClr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/>
          <a:lstStyle>
            <a:lvl1pPr>
              <a:spcBef>
                <a:spcPts val="900"/>
              </a:spcBef>
              <a:defRPr>
                <a:solidFill>
                  <a:srgbClr val="FFFFFF"/>
                </a:solidFill>
              </a:defRPr>
            </a:lvl1pPr>
          </a:lstStyle>
          <a:p>
            <a:r>
              <a:rPr lang="en-US" sz="2000" dirty="0"/>
              <a:t>      Sequential</a:t>
            </a:r>
          </a:p>
          <a:p>
            <a:r>
              <a:rPr lang="en-US" sz="2000" dirty="0"/>
              <a:t>      information</a:t>
            </a:r>
          </a:p>
        </p:txBody>
      </p:sp>
      <p:pic>
        <p:nvPicPr>
          <p:cNvPr id="223" name="d2l-en (1) (dragged).pdf" descr="d2l-en (1) (dragged)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53367" y="1330297"/>
            <a:ext cx="3856229" cy="4714199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0" grpId="0" animBg="1" advAuto="0"/>
      <p:bldP spid="221" grpId="0" animBg="1" advAuto="0"/>
      <p:bldP spid="222" grpId="0" animBg="1" advAuto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59065A-E1C0-1CAA-087C-E29F0B9EC9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7736" y="499241"/>
            <a:ext cx="7772400" cy="1143000"/>
          </a:xfrm>
        </p:spPr>
        <p:txBody>
          <a:bodyPr/>
          <a:lstStyle/>
          <a:p>
            <a:r>
              <a:rPr lang="en-US" dirty="0"/>
              <a:t>Multi-Head Attention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2FADB3-A947-736B-9E19-CC3750C7F7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B12225-5612-419B-A8D5-4B8EEE4C217E}" type="slidenum">
              <a:rPr lang="en-US" smtClean="0"/>
              <a:pPr/>
              <a:t>16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9338886-EEDC-6EA0-8EB3-F9A017EBE0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0600" y="1447800"/>
            <a:ext cx="4114800" cy="208280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3DE9FD4D-4D8D-B751-50BE-E23200E7D6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0" y="1173480"/>
            <a:ext cx="2988129" cy="411480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4A7C5A61-DC2F-9BC1-F5EA-901EECE125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" y="4038600"/>
            <a:ext cx="4826000" cy="1765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551917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Position-wise Feed-Forward Networks"/>
          <p:cNvSpPr txBox="1">
            <a:spLocks noGrp="1"/>
          </p:cNvSpPr>
          <p:nvPr>
            <p:ph type="title"/>
          </p:nvPr>
        </p:nvSpPr>
        <p:spPr>
          <a:xfrm>
            <a:off x="436880" y="441284"/>
            <a:ext cx="8476298" cy="1143000"/>
          </a:xfrm>
          <a:prstGeom prst="rect">
            <a:avLst/>
          </a:prstGeom>
        </p:spPr>
        <p:txBody>
          <a:bodyPr/>
          <a:lstStyle/>
          <a:p>
            <a:r>
              <a:rPr dirty="0"/>
              <a:t>Position-wise Feed-Forward Networks</a:t>
            </a:r>
          </a:p>
        </p:txBody>
      </p:sp>
      <p:sp>
        <p:nvSpPr>
          <p:cNvPr id="238" name="Reshape input (batch, seq len, fea size) into (batch * seq len, fea size)…"/>
          <p:cNvSpPr txBox="1">
            <a:spLocks noGrp="1"/>
          </p:cNvSpPr>
          <p:nvPr>
            <p:ph idx="1"/>
          </p:nvPr>
        </p:nvSpPr>
        <p:spPr>
          <a:xfrm>
            <a:off x="811730" y="1752600"/>
            <a:ext cx="5257800" cy="4114800"/>
          </a:xfrm>
          <a:prstGeom prst="rect">
            <a:avLst/>
          </a:prstGeom>
        </p:spPr>
        <p:txBody>
          <a:bodyPr/>
          <a:lstStyle/>
          <a:p>
            <a:r>
              <a:rPr sz="2800" dirty="0"/>
              <a:t>Reshape input (batch, seq </a:t>
            </a:r>
            <a:r>
              <a:rPr sz="2800" dirty="0" err="1"/>
              <a:t>len</a:t>
            </a:r>
            <a:r>
              <a:rPr sz="2800" dirty="0"/>
              <a:t>, </a:t>
            </a:r>
            <a:r>
              <a:rPr sz="2800" dirty="0" err="1"/>
              <a:t>fea</a:t>
            </a:r>
            <a:r>
              <a:rPr sz="2800" dirty="0"/>
              <a:t> size) into (batch * seq </a:t>
            </a:r>
            <a:r>
              <a:rPr sz="2800" dirty="0" err="1"/>
              <a:t>len</a:t>
            </a:r>
            <a:r>
              <a:rPr sz="2800" dirty="0"/>
              <a:t>, </a:t>
            </a:r>
            <a:r>
              <a:rPr sz="2800" dirty="0" err="1"/>
              <a:t>fea</a:t>
            </a:r>
            <a:r>
              <a:rPr sz="2800" dirty="0"/>
              <a:t> size)</a:t>
            </a:r>
          </a:p>
          <a:p>
            <a:r>
              <a:rPr sz="2800" dirty="0"/>
              <a:t>Apply a two layer MLP</a:t>
            </a:r>
          </a:p>
          <a:p>
            <a:r>
              <a:rPr sz="2800" dirty="0"/>
              <a:t>Reshape back into 3-D</a:t>
            </a:r>
          </a:p>
          <a:p>
            <a:r>
              <a:rPr sz="2800" dirty="0"/>
              <a:t>Equals to apply two (1,1) conv layers </a:t>
            </a:r>
          </a:p>
        </p:txBody>
      </p:sp>
      <p:sp>
        <p:nvSpPr>
          <p:cNvPr id="239" name="Slide Number"/>
          <p:cNvSpPr txBox="1"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9" rIns="45719" anchor="ctr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r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474746"/>
                </a:solidFill>
                <a:effectLst/>
                <a:uFillTx/>
                <a:latin typeface="+mj-lt"/>
                <a:ea typeface="+mj-ea"/>
                <a:cs typeface="+mj-cs"/>
                <a:sym typeface="Arial"/>
              </a:defRPr>
            </a:lvl1pPr>
            <a:lvl2pPr marL="0" marR="0" indent="45720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474746"/>
                </a:solidFill>
                <a:effectLst/>
                <a:uFillTx/>
                <a:latin typeface="+mj-lt"/>
                <a:ea typeface="+mj-ea"/>
                <a:cs typeface="+mj-cs"/>
                <a:sym typeface="Arial"/>
              </a:defRPr>
            </a:lvl2pPr>
            <a:lvl3pPr marL="0" marR="0" indent="91440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474746"/>
                </a:solidFill>
                <a:effectLst/>
                <a:uFillTx/>
                <a:latin typeface="+mj-lt"/>
                <a:ea typeface="+mj-ea"/>
                <a:cs typeface="+mj-cs"/>
                <a:sym typeface="Arial"/>
              </a:defRPr>
            </a:lvl3pPr>
            <a:lvl4pPr marL="0" marR="0" indent="137160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474746"/>
                </a:solidFill>
                <a:effectLst/>
                <a:uFillTx/>
                <a:latin typeface="+mj-lt"/>
                <a:ea typeface="+mj-ea"/>
                <a:cs typeface="+mj-cs"/>
                <a:sym typeface="Arial"/>
              </a:defRPr>
            </a:lvl4pPr>
            <a:lvl5pPr marL="0" marR="0" indent="182880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474746"/>
                </a:solidFill>
                <a:effectLst/>
                <a:uFillTx/>
                <a:latin typeface="+mj-lt"/>
                <a:ea typeface="+mj-ea"/>
                <a:cs typeface="+mj-cs"/>
                <a:sym typeface="Arial"/>
              </a:defRPr>
            </a:lvl5pPr>
            <a:lvl6pPr marL="0" marR="0" indent="228600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474746"/>
                </a:solidFill>
                <a:effectLst/>
                <a:uFillTx/>
                <a:latin typeface="+mj-lt"/>
                <a:ea typeface="+mj-ea"/>
                <a:cs typeface="+mj-cs"/>
                <a:sym typeface="Arial"/>
              </a:defRPr>
            </a:lvl6pPr>
            <a:lvl7pPr marL="0" marR="0" indent="274320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474746"/>
                </a:solidFill>
                <a:effectLst/>
                <a:uFillTx/>
                <a:latin typeface="+mj-lt"/>
                <a:ea typeface="+mj-ea"/>
                <a:cs typeface="+mj-cs"/>
                <a:sym typeface="Arial"/>
              </a:defRPr>
            </a:lvl7pPr>
            <a:lvl8pPr marL="0" marR="0" indent="320040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474746"/>
                </a:solidFill>
                <a:effectLst/>
                <a:uFillTx/>
                <a:latin typeface="+mj-lt"/>
                <a:ea typeface="+mj-ea"/>
                <a:cs typeface="+mj-cs"/>
                <a:sym typeface="Arial"/>
              </a:defRPr>
            </a:lvl8pPr>
            <a:lvl9pPr marL="0" marR="0" indent="365760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474746"/>
                </a:solidFill>
                <a:effectLst/>
                <a:uFillTx/>
                <a:latin typeface="+mj-lt"/>
                <a:ea typeface="+mj-ea"/>
                <a:cs typeface="+mj-cs"/>
                <a:sym typeface="Arial"/>
              </a:defRPr>
            </a:lvl9pPr>
          </a:lstStyle>
          <a:p>
            <a:fld id="{86CB4B4D-7CA3-9044-876B-883B54F8677D}" type="slidenum">
              <a:rPr lang="en-US" smtClean="0"/>
              <a:pPr/>
              <a:t>17</a:t>
            </a:fld>
            <a:endParaRPr/>
          </a:p>
        </p:txBody>
      </p:sp>
      <p:pic>
        <p:nvPicPr>
          <p:cNvPr id="240" name="Image" descr="Image"/>
          <p:cNvPicPr>
            <a:picLocks noChangeAspect="1"/>
          </p:cNvPicPr>
          <p:nvPr/>
        </p:nvPicPr>
        <p:blipFill>
          <a:blip r:embed="rId2"/>
          <a:srcRect l="50608" r="3337"/>
          <a:stretch>
            <a:fillRect/>
          </a:stretch>
        </p:blipFill>
        <p:spPr>
          <a:xfrm>
            <a:off x="6486573" y="1621070"/>
            <a:ext cx="2314143" cy="3209791"/>
          </a:xfrm>
          <a:prstGeom prst="rect">
            <a:avLst/>
          </a:prstGeom>
          <a:ln w="12700">
            <a:miter lim="400000"/>
          </a:ln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9E6F82D8-4E31-17C6-778D-665C468223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1144" y="2132451"/>
            <a:ext cx="1905000" cy="11303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Add and Norm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Add and Norm</a:t>
            </a:r>
          </a:p>
        </p:txBody>
      </p:sp>
      <p:sp>
        <p:nvSpPr>
          <p:cNvPr id="246" name="Slide Number"/>
          <p:cNvSpPr txBox="1"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9" rIns="45719" anchor="ctr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r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474746"/>
                </a:solidFill>
                <a:effectLst/>
                <a:uFillTx/>
                <a:latin typeface="+mj-lt"/>
                <a:ea typeface="+mj-ea"/>
                <a:cs typeface="+mj-cs"/>
                <a:sym typeface="Arial"/>
              </a:defRPr>
            </a:lvl1pPr>
            <a:lvl2pPr marL="0" marR="0" indent="45720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474746"/>
                </a:solidFill>
                <a:effectLst/>
                <a:uFillTx/>
                <a:latin typeface="+mj-lt"/>
                <a:ea typeface="+mj-ea"/>
                <a:cs typeface="+mj-cs"/>
                <a:sym typeface="Arial"/>
              </a:defRPr>
            </a:lvl2pPr>
            <a:lvl3pPr marL="0" marR="0" indent="91440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474746"/>
                </a:solidFill>
                <a:effectLst/>
                <a:uFillTx/>
                <a:latin typeface="+mj-lt"/>
                <a:ea typeface="+mj-ea"/>
                <a:cs typeface="+mj-cs"/>
                <a:sym typeface="Arial"/>
              </a:defRPr>
            </a:lvl3pPr>
            <a:lvl4pPr marL="0" marR="0" indent="137160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474746"/>
                </a:solidFill>
                <a:effectLst/>
                <a:uFillTx/>
                <a:latin typeface="+mj-lt"/>
                <a:ea typeface="+mj-ea"/>
                <a:cs typeface="+mj-cs"/>
                <a:sym typeface="Arial"/>
              </a:defRPr>
            </a:lvl4pPr>
            <a:lvl5pPr marL="0" marR="0" indent="182880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474746"/>
                </a:solidFill>
                <a:effectLst/>
                <a:uFillTx/>
                <a:latin typeface="+mj-lt"/>
                <a:ea typeface="+mj-ea"/>
                <a:cs typeface="+mj-cs"/>
                <a:sym typeface="Arial"/>
              </a:defRPr>
            </a:lvl5pPr>
            <a:lvl6pPr marL="0" marR="0" indent="228600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474746"/>
                </a:solidFill>
                <a:effectLst/>
                <a:uFillTx/>
                <a:latin typeface="+mj-lt"/>
                <a:ea typeface="+mj-ea"/>
                <a:cs typeface="+mj-cs"/>
                <a:sym typeface="Arial"/>
              </a:defRPr>
            </a:lvl6pPr>
            <a:lvl7pPr marL="0" marR="0" indent="274320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474746"/>
                </a:solidFill>
                <a:effectLst/>
                <a:uFillTx/>
                <a:latin typeface="+mj-lt"/>
                <a:ea typeface="+mj-ea"/>
                <a:cs typeface="+mj-cs"/>
                <a:sym typeface="Arial"/>
              </a:defRPr>
            </a:lvl7pPr>
            <a:lvl8pPr marL="0" marR="0" indent="320040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474746"/>
                </a:solidFill>
                <a:effectLst/>
                <a:uFillTx/>
                <a:latin typeface="+mj-lt"/>
                <a:ea typeface="+mj-ea"/>
                <a:cs typeface="+mj-cs"/>
                <a:sym typeface="Arial"/>
              </a:defRPr>
            </a:lvl8pPr>
            <a:lvl9pPr marL="0" marR="0" indent="365760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474746"/>
                </a:solidFill>
                <a:effectLst/>
                <a:uFillTx/>
                <a:latin typeface="+mj-lt"/>
                <a:ea typeface="+mj-ea"/>
                <a:cs typeface="+mj-cs"/>
                <a:sym typeface="Arial"/>
              </a:defRPr>
            </a:lvl9pPr>
          </a:lstStyle>
          <a:p>
            <a:fld id="{86CB4B4D-7CA3-9044-876B-883B54F8677D}" type="slidenum">
              <a:rPr lang="en-US" smtClean="0"/>
              <a:pPr/>
              <a:t>18</a:t>
            </a:fld>
            <a:endParaRPr/>
          </a:p>
        </p:txBody>
      </p:sp>
      <p:sp>
        <p:nvSpPr>
          <p:cNvPr id="245" name="Layer norm is similar to batch norm…"/>
          <p:cNvSpPr txBox="1">
            <a:spLocks noGrp="1"/>
          </p:cNvSpPr>
          <p:nvPr>
            <p:ph type="body" sz="half" idx="4294967295"/>
          </p:nvPr>
        </p:nvSpPr>
        <p:spPr>
          <a:xfrm>
            <a:off x="319385" y="1869770"/>
            <a:ext cx="4152900" cy="3552825"/>
          </a:xfrm>
          <a:prstGeom prst="rect">
            <a:avLst/>
          </a:prstGeom>
        </p:spPr>
        <p:txBody>
          <a:bodyPr/>
          <a:lstStyle/>
          <a:p>
            <a:r>
              <a:rPr dirty="0"/>
              <a:t>Layer norm is similar to batch norm </a:t>
            </a:r>
          </a:p>
          <a:p>
            <a:r>
              <a:rPr dirty="0"/>
              <a:t>But the mean and variances are calculated along the last dimension</a:t>
            </a:r>
            <a:endParaRPr lang="en-US" dirty="0"/>
          </a:p>
          <a:p>
            <a:r>
              <a:rPr dirty="0" err="1">
                <a:latin typeface="Menlo Regular"/>
                <a:ea typeface="Menlo Regular"/>
                <a:cs typeface="Menlo Regular"/>
                <a:sym typeface="Menlo Regular"/>
              </a:rPr>
              <a:t>X.mean</a:t>
            </a:r>
            <a:r>
              <a:rPr dirty="0">
                <a:latin typeface="Menlo Regular"/>
                <a:ea typeface="Menlo Regular"/>
                <a:cs typeface="Menlo Regular"/>
                <a:sym typeface="Menlo Regular"/>
              </a:rPr>
              <a:t>(axis=-1)</a:t>
            </a:r>
            <a:r>
              <a:rPr dirty="0"/>
              <a:t>instead of the first batch dimension in batch norm </a:t>
            </a:r>
            <a:r>
              <a:rPr dirty="0" err="1">
                <a:latin typeface="Menlo Regular"/>
                <a:ea typeface="Menlo Regular"/>
                <a:cs typeface="Menlo Regular"/>
                <a:sym typeface="Menlo Regular"/>
              </a:rPr>
              <a:t>X.mean</a:t>
            </a:r>
            <a:r>
              <a:rPr dirty="0">
                <a:latin typeface="Menlo Regular"/>
                <a:ea typeface="Menlo Regular"/>
                <a:cs typeface="Menlo Regular"/>
                <a:sym typeface="Menlo Regular"/>
              </a:rPr>
              <a:t>(axis=0)</a:t>
            </a:r>
          </a:p>
        </p:txBody>
      </p:sp>
      <p:pic>
        <p:nvPicPr>
          <p:cNvPr id="247" name="Image" descr="Image"/>
          <p:cNvPicPr>
            <a:picLocks noChangeAspect="1"/>
          </p:cNvPicPr>
          <p:nvPr/>
        </p:nvPicPr>
        <p:blipFill>
          <a:blip r:embed="rId2"/>
          <a:srcRect l="50608" r="3337"/>
          <a:stretch>
            <a:fillRect/>
          </a:stretch>
        </p:blipFill>
        <p:spPr>
          <a:xfrm>
            <a:off x="6574900" y="1631866"/>
            <a:ext cx="2561458" cy="3552825"/>
          </a:xfrm>
          <a:prstGeom prst="rect">
            <a:avLst/>
          </a:prstGeom>
          <a:ln w="12700">
            <a:miter lim="400000"/>
          </a:ln>
        </p:spPr>
      </p:pic>
      <p:pic>
        <p:nvPicPr>
          <p:cNvPr id="253" name="Image" descr="Imag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3892" y="1869770"/>
            <a:ext cx="1687874" cy="2011576"/>
          </a:xfrm>
          <a:prstGeom prst="rect">
            <a:avLst/>
          </a:prstGeom>
          <a:ln w="12700">
            <a:miter lim="400000"/>
          </a:ln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DAF1DAB0-B4A9-E462-B670-3A914B6259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7277" y="1869770"/>
            <a:ext cx="2136704" cy="1869616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Positional Encoding"/>
          <p:cNvSpPr txBox="1">
            <a:spLocks noGrp="1"/>
          </p:cNvSpPr>
          <p:nvPr>
            <p:ph type="title"/>
          </p:nvPr>
        </p:nvSpPr>
        <p:spPr>
          <a:xfrm>
            <a:off x="490507" y="367013"/>
            <a:ext cx="7772400" cy="1143000"/>
          </a:xfrm>
          <a:prstGeom prst="rect">
            <a:avLst/>
          </a:prstGeom>
        </p:spPr>
        <p:txBody>
          <a:bodyPr/>
          <a:lstStyle/>
          <a:p>
            <a:r>
              <a:t>Positional Encoding</a:t>
            </a:r>
          </a:p>
        </p:txBody>
      </p:sp>
      <p:sp>
        <p:nvSpPr>
          <p:cNvPr id="256" name="Assume embedding output  with shape (seq len, embed dim)…"/>
          <p:cNvSpPr txBox="1">
            <a:spLocks noGrp="1"/>
          </p:cNvSpPr>
          <p:nvPr>
            <p:ph idx="1"/>
          </p:nvPr>
        </p:nvSpPr>
        <p:spPr>
          <a:xfrm>
            <a:off x="637736" y="1371600"/>
            <a:ext cx="7772400" cy="4114800"/>
          </a:xfrm>
          <a:prstGeom prst="rect">
            <a:avLst/>
          </a:prstGeom>
        </p:spPr>
        <p:txBody>
          <a:bodyPr/>
          <a:lstStyle/>
          <a:p>
            <a:r>
              <a:rPr dirty="0"/>
              <a:t>Assume embedding output </a:t>
            </a:r>
            <a:br>
              <a:rPr dirty="0"/>
            </a:br>
            <a:r>
              <a:rPr dirty="0"/>
              <a:t>with shape (seq </a:t>
            </a:r>
            <a:r>
              <a:rPr dirty="0" err="1"/>
              <a:t>len</a:t>
            </a:r>
            <a:r>
              <a:rPr dirty="0"/>
              <a:t>, embed dim)</a:t>
            </a:r>
          </a:p>
          <a:p>
            <a:r>
              <a:rPr dirty="0"/>
              <a:t>Create                </a:t>
            </a:r>
            <a:r>
              <a:rPr lang="en-US" dirty="0"/>
              <a:t>   </a:t>
            </a:r>
            <a:r>
              <a:rPr dirty="0"/>
              <a:t>with </a:t>
            </a:r>
          </a:p>
          <a:p>
            <a:endParaRPr dirty="0"/>
          </a:p>
          <a:p>
            <a:endParaRPr dirty="0"/>
          </a:p>
          <a:p>
            <a:endParaRPr dirty="0"/>
          </a:p>
          <a:p>
            <a:r>
              <a:rPr dirty="0"/>
              <a:t>Output </a:t>
            </a:r>
            <a:r>
              <a:rPr i="1" dirty="0"/>
              <a:t>X + P</a:t>
            </a:r>
          </a:p>
        </p:txBody>
      </p:sp>
      <p:sp>
        <p:nvSpPr>
          <p:cNvPr id="257" name="Slide Number"/>
          <p:cNvSpPr txBox="1"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9" rIns="45719" anchor="ctr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r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474746"/>
                </a:solidFill>
                <a:effectLst/>
                <a:uFillTx/>
                <a:latin typeface="+mj-lt"/>
                <a:ea typeface="+mj-ea"/>
                <a:cs typeface="+mj-cs"/>
                <a:sym typeface="Arial"/>
              </a:defRPr>
            </a:lvl1pPr>
            <a:lvl2pPr marL="0" marR="0" indent="45720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474746"/>
                </a:solidFill>
                <a:effectLst/>
                <a:uFillTx/>
                <a:latin typeface="+mj-lt"/>
                <a:ea typeface="+mj-ea"/>
                <a:cs typeface="+mj-cs"/>
                <a:sym typeface="Arial"/>
              </a:defRPr>
            </a:lvl2pPr>
            <a:lvl3pPr marL="0" marR="0" indent="91440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474746"/>
                </a:solidFill>
                <a:effectLst/>
                <a:uFillTx/>
                <a:latin typeface="+mj-lt"/>
                <a:ea typeface="+mj-ea"/>
                <a:cs typeface="+mj-cs"/>
                <a:sym typeface="Arial"/>
              </a:defRPr>
            </a:lvl3pPr>
            <a:lvl4pPr marL="0" marR="0" indent="137160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474746"/>
                </a:solidFill>
                <a:effectLst/>
                <a:uFillTx/>
                <a:latin typeface="+mj-lt"/>
                <a:ea typeface="+mj-ea"/>
                <a:cs typeface="+mj-cs"/>
                <a:sym typeface="Arial"/>
              </a:defRPr>
            </a:lvl4pPr>
            <a:lvl5pPr marL="0" marR="0" indent="182880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474746"/>
                </a:solidFill>
                <a:effectLst/>
                <a:uFillTx/>
                <a:latin typeface="+mj-lt"/>
                <a:ea typeface="+mj-ea"/>
                <a:cs typeface="+mj-cs"/>
                <a:sym typeface="Arial"/>
              </a:defRPr>
            </a:lvl5pPr>
            <a:lvl6pPr marL="0" marR="0" indent="228600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474746"/>
                </a:solidFill>
                <a:effectLst/>
                <a:uFillTx/>
                <a:latin typeface="+mj-lt"/>
                <a:ea typeface="+mj-ea"/>
                <a:cs typeface="+mj-cs"/>
                <a:sym typeface="Arial"/>
              </a:defRPr>
            </a:lvl6pPr>
            <a:lvl7pPr marL="0" marR="0" indent="274320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474746"/>
                </a:solidFill>
                <a:effectLst/>
                <a:uFillTx/>
                <a:latin typeface="+mj-lt"/>
                <a:ea typeface="+mj-ea"/>
                <a:cs typeface="+mj-cs"/>
                <a:sym typeface="Arial"/>
              </a:defRPr>
            </a:lvl7pPr>
            <a:lvl8pPr marL="0" marR="0" indent="320040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474746"/>
                </a:solidFill>
                <a:effectLst/>
                <a:uFillTx/>
                <a:latin typeface="+mj-lt"/>
                <a:ea typeface="+mj-ea"/>
                <a:cs typeface="+mj-cs"/>
                <a:sym typeface="Arial"/>
              </a:defRPr>
            </a:lvl8pPr>
            <a:lvl9pPr marL="0" marR="0" indent="365760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474746"/>
                </a:solidFill>
                <a:effectLst/>
                <a:uFillTx/>
                <a:latin typeface="+mj-lt"/>
                <a:ea typeface="+mj-ea"/>
                <a:cs typeface="+mj-cs"/>
                <a:sym typeface="Arial"/>
              </a:defRPr>
            </a:lvl9pPr>
          </a:lstStyle>
          <a:p>
            <a:fld id="{86CB4B4D-7CA3-9044-876B-883B54F8677D}" type="slidenum">
              <a:rPr lang="en-US" smtClean="0"/>
              <a:pPr/>
              <a:t>19</a:t>
            </a:fld>
            <a:endParaRPr/>
          </a:p>
        </p:txBody>
      </p:sp>
      <p:pic>
        <p:nvPicPr>
          <p:cNvPr id="258" name="Image" descr="Image"/>
          <p:cNvPicPr>
            <a:picLocks noChangeAspect="1"/>
          </p:cNvPicPr>
          <p:nvPr/>
        </p:nvPicPr>
        <p:blipFill>
          <a:blip r:embed="rId2"/>
          <a:srcRect l="50608" r="3337"/>
          <a:stretch>
            <a:fillRect/>
          </a:stretch>
        </p:blipFill>
        <p:spPr>
          <a:xfrm>
            <a:off x="6822214" y="1631866"/>
            <a:ext cx="2314143" cy="3209791"/>
          </a:xfrm>
          <a:prstGeom prst="rect">
            <a:avLst/>
          </a:prstGeom>
          <a:ln w="12700">
            <a:miter lim="400000"/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61" name="Equation"/>
              <p:cNvSpPr txBox="1"/>
              <p:nvPr/>
            </p:nvSpPr>
            <p:spPr>
              <a:xfrm>
                <a:off x="4291032" y="1380224"/>
                <a:ext cx="1187569" cy="344646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latinLnBrk="1">
                  <a:defRPr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22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sz="22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sz="2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sz="2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sz="2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𝑙</m:t>
                          </m:r>
                          <m:r>
                            <a:rPr sz="2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×</m:t>
                          </m:r>
                          <m:r>
                            <a:rPr sz="2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sup>
                      </m:sSup>
                    </m:oMath>
                  </m:oMathPara>
                </a14:m>
                <a:endParaRPr sz="2200" dirty="0"/>
              </a:p>
            </p:txBody>
          </p:sp>
        </mc:Choice>
        <mc:Fallback xmlns="">
          <p:sp>
            <p:nvSpPr>
              <p:cNvPr id="261" name="Equation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1032" y="1380224"/>
                <a:ext cx="1187569" cy="344646"/>
              </a:xfrm>
              <a:prstGeom prst="rect">
                <a:avLst/>
              </a:prstGeom>
              <a:blipFill>
                <a:blip r:embed="rId3"/>
                <a:stretch>
                  <a:fillRect l="-4211" r="-1053" b="-10714"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2" name="Equation"/>
              <p:cNvSpPr txBox="1"/>
              <p:nvPr/>
            </p:nvSpPr>
            <p:spPr>
              <a:xfrm>
                <a:off x="1892084" y="2169954"/>
                <a:ext cx="1179554" cy="344646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latinLnBrk="1">
                  <a:defRPr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22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sz="22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sz="2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sz="2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sz="2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𝑙</m:t>
                          </m:r>
                          <m:r>
                            <a:rPr sz="2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×</m:t>
                          </m:r>
                          <m:r>
                            <a:rPr sz="2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sup>
                      </m:sSup>
                    </m:oMath>
                  </m:oMathPara>
                </a14:m>
                <a:endParaRPr sz="2200" dirty="0"/>
              </a:p>
            </p:txBody>
          </p:sp>
        </mc:Choice>
        <mc:Fallback xmlns="">
          <p:sp>
            <p:nvSpPr>
              <p:cNvPr id="262" name="Equation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92084" y="2169954"/>
                <a:ext cx="1179554" cy="344646"/>
              </a:xfrm>
              <a:prstGeom prst="rect">
                <a:avLst/>
              </a:prstGeom>
              <a:blipFill>
                <a:blip r:embed="rId4"/>
                <a:stretch>
                  <a:fillRect l="-4255" r="-1064" b="-6897"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3" name="Equation"/>
              <p:cNvSpPr txBox="1"/>
              <p:nvPr/>
            </p:nvSpPr>
            <p:spPr>
              <a:xfrm>
                <a:off x="853070" y="2770456"/>
                <a:ext cx="2546659" cy="808170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latinLnBrk="1">
                  <a:defRPr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sz="2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2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sz="2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sz="2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,2</m:t>
                          </m:r>
                          <m:r>
                            <a:rPr sz="2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sz="22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sz="22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sin</m:t>
                      </m:r>
                      <m:r>
                        <a:rPr sz="22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sz="2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sz="2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num>
                        <m:den>
                          <m:sSup>
                            <m:sSupPr>
                              <m:ctrlPr>
                                <a:rPr sz="22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sz="22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10000</m:t>
                              </m:r>
                            </m:e>
                            <m:sup>
                              <m:f>
                                <m:fPr>
                                  <m:ctrlPr>
                                    <a:rPr sz="22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sz="22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sz="22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num>
                                <m:den>
                                  <m:r>
                                    <a:rPr sz="22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den>
                              </m:f>
                            </m:sup>
                          </m:sSup>
                        </m:den>
                      </m:f>
                      <m:r>
                        <a:rPr sz="22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sz="2200" dirty="0"/>
              </a:p>
            </p:txBody>
          </p:sp>
        </mc:Choice>
        <mc:Fallback xmlns="">
          <p:sp>
            <p:nvSpPr>
              <p:cNvPr id="263" name="Equation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3070" y="2770456"/>
                <a:ext cx="2546659" cy="808170"/>
              </a:xfrm>
              <a:prstGeom prst="rect">
                <a:avLst/>
              </a:prstGeom>
              <a:blipFill>
                <a:blip r:embed="rId5"/>
                <a:stretch>
                  <a:fillRect l="-1990" t="-1538" r="-3483" b="-10769"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4" name="Equation"/>
              <p:cNvSpPr txBox="1"/>
              <p:nvPr/>
            </p:nvSpPr>
            <p:spPr>
              <a:xfrm>
                <a:off x="3640019" y="2770456"/>
                <a:ext cx="2852832" cy="808170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latinLnBrk="1">
                  <a:defRPr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sz="2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2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sz="2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sz="2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,2</m:t>
                          </m:r>
                          <m:r>
                            <a:rPr sz="2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sz="2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sz="22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sz="22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cos</m:t>
                      </m:r>
                      <m:r>
                        <a:rPr sz="22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sz="2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sz="2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num>
                        <m:den>
                          <m:sSup>
                            <m:sSupPr>
                              <m:ctrlPr>
                                <a:rPr sz="22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sz="22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10000</m:t>
                              </m:r>
                            </m:e>
                            <m:sup>
                              <m:f>
                                <m:fPr>
                                  <m:ctrlPr>
                                    <a:rPr sz="22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sz="22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sz="22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num>
                                <m:den>
                                  <m:r>
                                    <a:rPr sz="22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den>
                              </m:f>
                            </m:sup>
                          </m:sSup>
                        </m:den>
                      </m:f>
                      <m:r>
                        <a:rPr sz="22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sz="2200" dirty="0"/>
              </a:p>
            </p:txBody>
          </p:sp>
        </mc:Choice>
        <mc:Fallback xmlns="">
          <p:sp>
            <p:nvSpPr>
              <p:cNvPr id="264" name="Equation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40019" y="2770456"/>
                <a:ext cx="2852832" cy="808170"/>
              </a:xfrm>
              <a:prstGeom prst="rect">
                <a:avLst/>
              </a:prstGeom>
              <a:blipFill>
                <a:blip r:embed="rId6"/>
                <a:stretch>
                  <a:fillRect l="-1327" t="-1538" r="-2655" b="-10769"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65" name="d2l-en (2) (dragged).pdf" descr="d2l-en (2) (dragged).pdf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481861" y="3934970"/>
            <a:ext cx="4360425" cy="2074893"/>
          </a:xfrm>
          <a:prstGeom prst="rect">
            <a:avLst/>
          </a:prstGeom>
          <a:ln w="12700">
            <a:miter lim="400000"/>
          </a:ln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5E5E641B-FC8C-B91F-E12B-ED3AF300448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35154" y="3952244"/>
            <a:ext cx="1930400" cy="3937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Predicting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Predicting</a:t>
            </a:r>
          </a:p>
        </p:txBody>
      </p:sp>
      <p:sp>
        <p:nvSpPr>
          <p:cNvPr id="268" name="Predict at time t:…"/>
          <p:cNvSpPr txBox="1">
            <a:spLocks noGrp="1"/>
          </p:cNvSpPr>
          <p:nvPr>
            <p:ph type="body" sz="half" idx="1"/>
          </p:nvPr>
        </p:nvSpPr>
        <p:spPr>
          <a:xfrm>
            <a:off x="340593" y="1866581"/>
            <a:ext cx="4186943" cy="3515828"/>
          </a:xfrm>
          <a:prstGeom prst="rect">
            <a:avLst/>
          </a:prstGeom>
        </p:spPr>
        <p:txBody>
          <a:bodyPr/>
          <a:lstStyle/>
          <a:p>
            <a:r>
              <a:t>Predict at time </a:t>
            </a:r>
            <a:r>
              <a:rPr i="1"/>
              <a:t>t</a:t>
            </a:r>
            <a:r>
              <a:t>:</a:t>
            </a:r>
          </a:p>
          <a:p>
            <a:pPr lvl="1"/>
            <a:r>
              <a:t>Inputs of previous times as keys and values</a:t>
            </a:r>
          </a:p>
          <a:p>
            <a:pPr lvl="1"/>
            <a:r>
              <a:t>Input at time </a:t>
            </a:r>
            <a:r>
              <a:rPr i="1"/>
              <a:t>t </a:t>
            </a:r>
            <a:r>
              <a:t>as query, as well as key and value, to predict output</a:t>
            </a:r>
          </a:p>
        </p:txBody>
      </p:sp>
      <p:sp>
        <p:nvSpPr>
          <p:cNvPr id="269" name="Slide Number"/>
          <p:cNvSpPr txBox="1">
            <a:spLocks noGrp="1"/>
          </p:cNvSpPr>
          <p:nvPr>
            <p:ph type="sldNum" sz="quarter" idx="12"/>
          </p:nvPr>
        </p:nvSpPr>
        <p:spPr>
          <a:xfrm>
            <a:off x="8305800" y="6400800"/>
            <a:ext cx="762001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9" rIns="45719" anchor="ctr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r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474746"/>
                </a:solidFill>
                <a:effectLst/>
                <a:uFillTx/>
                <a:latin typeface="+mj-lt"/>
                <a:ea typeface="+mj-ea"/>
                <a:cs typeface="+mj-cs"/>
                <a:sym typeface="Arial"/>
              </a:defRPr>
            </a:lvl1pPr>
            <a:lvl2pPr marL="0" marR="0" indent="45720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474746"/>
                </a:solidFill>
                <a:effectLst/>
                <a:uFillTx/>
                <a:latin typeface="+mj-lt"/>
                <a:ea typeface="+mj-ea"/>
                <a:cs typeface="+mj-cs"/>
                <a:sym typeface="Arial"/>
              </a:defRPr>
            </a:lvl2pPr>
            <a:lvl3pPr marL="0" marR="0" indent="91440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474746"/>
                </a:solidFill>
                <a:effectLst/>
                <a:uFillTx/>
                <a:latin typeface="+mj-lt"/>
                <a:ea typeface="+mj-ea"/>
                <a:cs typeface="+mj-cs"/>
                <a:sym typeface="Arial"/>
              </a:defRPr>
            </a:lvl3pPr>
            <a:lvl4pPr marL="0" marR="0" indent="137160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474746"/>
                </a:solidFill>
                <a:effectLst/>
                <a:uFillTx/>
                <a:latin typeface="+mj-lt"/>
                <a:ea typeface="+mj-ea"/>
                <a:cs typeface="+mj-cs"/>
                <a:sym typeface="Arial"/>
              </a:defRPr>
            </a:lvl4pPr>
            <a:lvl5pPr marL="0" marR="0" indent="182880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474746"/>
                </a:solidFill>
                <a:effectLst/>
                <a:uFillTx/>
                <a:latin typeface="+mj-lt"/>
                <a:ea typeface="+mj-ea"/>
                <a:cs typeface="+mj-cs"/>
                <a:sym typeface="Arial"/>
              </a:defRPr>
            </a:lvl5pPr>
            <a:lvl6pPr marL="0" marR="0" indent="228600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474746"/>
                </a:solidFill>
                <a:effectLst/>
                <a:uFillTx/>
                <a:latin typeface="+mj-lt"/>
                <a:ea typeface="+mj-ea"/>
                <a:cs typeface="+mj-cs"/>
                <a:sym typeface="Arial"/>
              </a:defRPr>
            </a:lvl6pPr>
            <a:lvl7pPr marL="0" marR="0" indent="274320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474746"/>
                </a:solidFill>
                <a:effectLst/>
                <a:uFillTx/>
                <a:latin typeface="+mj-lt"/>
                <a:ea typeface="+mj-ea"/>
                <a:cs typeface="+mj-cs"/>
                <a:sym typeface="Arial"/>
              </a:defRPr>
            </a:lvl7pPr>
            <a:lvl8pPr marL="0" marR="0" indent="320040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474746"/>
                </a:solidFill>
                <a:effectLst/>
                <a:uFillTx/>
                <a:latin typeface="+mj-lt"/>
                <a:ea typeface="+mj-ea"/>
                <a:cs typeface="+mj-cs"/>
                <a:sym typeface="Arial"/>
              </a:defRPr>
            </a:lvl8pPr>
            <a:lvl9pPr marL="0" marR="0" indent="365760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474746"/>
                </a:solidFill>
                <a:effectLst/>
                <a:uFillTx/>
                <a:latin typeface="+mj-lt"/>
                <a:ea typeface="+mj-ea"/>
                <a:cs typeface="+mj-cs"/>
                <a:sym typeface="Arial"/>
              </a:defRPr>
            </a:lvl9pPr>
          </a:lstStyle>
          <a:p>
            <a:fld id="{86CB4B4D-7CA3-9044-876B-883B54F8677D}" type="slidenum">
              <a:rPr lang="en-US" smtClean="0"/>
              <a:pPr/>
              <a:t>20</a:t>
            </a:fld>
            <a:endParaRPr dirty="0"/>
          </a:p>
        </p:txBody>
      </p:sp>
      <p:pic>
        <p:nvPicPr>
          <p:cNvPr id="270" name="Image" descr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5793" y="2438980"/>
            <a:ext cx="4186944" cy="2245173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EE09D9-6B4D-CC8A-39DC-F4C1ED1F5D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a large language model?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8B9F69B2-DCE5-3A1D-66CB-2C7F95BD3ED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57300" y="2970863"/>
            <a:ext cx="6972300" cy="2466975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FE14DC9-E5FD-7D70-D9EB-AB82384B61CF}"/>
              </a:ext>
            </a:extLst>
          </p:cNvPr>
          <p:cNvSpPr txBox="1"/>
          <p:nvPr/>
        </p:nvSpPr>
        <p:spPr>
          <a:xfrm>
            <a:off x="1063228" y="1771650"/>
            <a:ext cx="7623572" cy="13388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dirty="0">
                <a:latin typeface="Calibri" panose="020F0502020204030204" pitchFamily="34" charset="0"/>
                <a:cs typeface="Calibri" panose="020F0502020204030204" pitchFamily="34" charset="0"/>
              </a:rPr>
              <a:t>A neural network with:</a:t>
            </a:r>
          </a:p>
          <a:p>
            <a:r>
              <a:rPr lang="en-US" sz="2100" b="1" dirty="0">
                <a:latin typeface="Calibri" panose="020F0502020204030204" pitchFamily="34" charset="0"/>
                <a:cs typeface="Calibri" panose="020F0502020204030204" pitchFamily="34" charset="0"/>
              </a:rPr>
              <a:t>	Input</a:t>
            </a:r>
            <a:r>
              <a:rPr lang="en-US" sz="2100" dirty="0">
                <a:latin typeface="Calibri" panose="020F0502020204030204" pitchFamily="34" charset="0"/>
                <a:cs typeface="Calibri" panose="020F0502020204030204" pitchFamily="34" charset="0"/>
              </a:rPr>
              <a:t>: a context or prefix, </a:t>
            </a:r>
          </a:p>
          <a:p>
            <a:r>
              <a:rPr lang="en-US" sz="2100" b="1" dirty="0">
                <a:latin typeface="Calibri" panose="020F0502020204030204" pitchFamily="34" charset="0"/>
                <a:cs typeface="Calibri" panose="020F0502020204030204" pitchFamily="34" charset="0"/>
              </a:rPr>
              <a:t>	Output</a:t>
            </a:r>
            <a:r>
              <a:rPr lang="en-US" sz="2100" dirty="0">
                <a:latin typeface="Calibri" panose="020F0502020204030204" pitchFamily="34" charset="0"/>
                <a:cs typeface="Calibri" panose="020F0502020204030204" pitchFamily="34" charset="0"/>
              </a:rPr>
              <a:t>: a distribution over possible next words </a:t>
            </a:r>
          </a:p>
          <a:p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310510739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12B85F-A104-AABB-AB18-EBA5DE9027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BC9D62-E8B6-6CD3-3A03-FFD7128D83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461742"/>
            <a:ext cx="7772400" cy="1143000"/>
          </a:xfrm>
        </p:spPr>
        <p:txBody>
          <a:bodyPr/>
          <a:lstStyle/>
          <a:p>
            <a:r>
              <a:rPr lang="en-US" dirty="0"/>
              <a:t>LLMs can generate!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45237A5-A869-B874-4BD9-80A357871A1B}"/>
              </a:ext>
            </a:extLst>
          </p:cNvPr>
          <p:cNvSpPr txBox="1"/>
          <p:nvPr/>
        </p:nvSpPr>
        <p:spPr>
          <a:xfrm>
            <a:off x="609600" y="1276427"/>
            <a:ext cx="833761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A model that gives a probability distribution over next words can generate</a:t>
            </a:r>
          </a:p>
          <a:p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by repeatedly sampling from the distribution </a:t>
            </a:r>
          </a:p>
          <a:p>
            <a:endParaRPr lang="en-US" dirty="0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CFAB9F04-8970-65D4-E3C7-3B466DE0955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114550" y="2517771"/>
            <a:ext cx="5466229" cy="3429000"/>
          </a:xfrm>
        </p:spPr>
      </p:pic>
    </p:spTree>
    <p:extLst>
      <p:ext uri="{BB962C8B-B14F-4D97-AF65-F5344CB8AC3E}">
        <p14:creationId xmlns:p14="http://schemas.microsoft.com/office/powerpoint/2010/main" val="261255740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C9E112-7E49-BE15-2626-45D5F11283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52400"/>
            <a:ext cx="7772400" cy="1143000"/>
          </a:xfrm>
        </p:spPr>
        <p:txBody>
          <a:bodyPr/>
          <a:lstStyle/>
          <a:p>
            <a:r>
              <a:rPr lang="en-US" sz="4000" dirty="0"/>
              <a:t>Three architectures for large language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EF1146-912F-376B-1180-2D9E612D4B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22960" y="3964627"/>
            <a:ext cx="8096250" cy="1826573"/>
          </a:xfrm>
        </p:spPr>
        <p:txBody>
          <a:bodyPr>
            <a:normAutofit/>
          </a:bodyPr>
          <a:lstStyle/>
          <a:p>
            <a:r>
              <a:rPr lang="en-US" sz="3000" dirty="0"/>
              <a:t>Decoders		Encoders	   Encoder-decoders</a:t>
            </a:r>
          </a:p>
          <a:p>
            <a:r>
              <a:rPr lang="en-US" sz="3000" dirty="0"/>
              <a:t>GPT, Claude,	BERT family,  Flan-T5, Whisper</a:t>
            </a:r>
          </a:p>
          <a:p>
            <a:r>
              <a:rPr lang="en-US" sz="3000" dirty="0"/>
              <a:t>Llama		</a:t>
            </a:r>
            <a:r>
              <a:rPr lang="en-US" sz="3000" dirty="0" err="1"/>
              <a:t>HuBERT</a:t>
            </a:r>
            <a:endParaRPr lang="en-US" sz="30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3AC094E-0B5E-DC50-03D9-A8F2C6DE60E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0345"/>
          <a:stretch>
            <a:fillRect/>
          </a:stretch>
        </p:blipFill>
        <p:spPr>
          <a:xfrm>
            <a:off x="822960" y="1693222"/>
            <a:ext cx="7729442" cy="2021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752505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50F40764-4E30-4B5B-9257-73407649FF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Prompt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241433F-3D6C-05AE-6832-3092517185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/>
              <a:t>Prompt: a text string that a user issues to a language model to get the model to do something useful by conditional generation</a:t>
            </a:r>
          </a:p>
          <a:p>
            <a:r>
              <a:rPr lang="en-US" sz="2400" dirty="0"/>
              <a:t>Prompt engineering: the process of finding effective prompts for a task.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564220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C86025-88DA-97EF-EC52-5719FFF9A9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Prompts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C1397E-F27E-DB66-9C54-B92665624D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question: </a:t>
            </a:r>
          </a:p>
          <a:p>
            <a:r>
              <a:rPr lang="en-US" dirty="0">
                <a:solidFill>
                  <a:srgbClr val="061CFF"/>
                </a:solidFill>
                <a:latin typeface="Lucida Sans Typewriter" panose="020B0509030504030204" pitchFamily="49" charset="77"/>
              </a:rPr>
              <a:t>	What is a transformer network?</a:t>
            </a:r>
          </a:p>
          <a:p>
            <a:r>
              <a:rPr lang="en-US" dirty="0"/>
              <a:t>Perhaps structured:</a:t>
            </a:r>
          </a:p>
          <a:p>
            <a:r>
              <a:rPr lang="en-US" dirty="0">
                <a:solidFill>
                  <a:srgbClr val="061CFF"/>
                </a:solidFill>
                <a:latin typeface="Lucida Sans Typewriter" panose="020B0509030504030204" pitchFamily="49" charset="77"/>
              </a:rPr>
              <a:t> Q: What is a transformer network? A:</a:t>
            </a:r>
          </a:p>
          <a:p>
            <a:r>
              <a:rPr lang="en-US" dirty="0"/>
              <a:t>Or an instruction: </a:t>
            </a:r>
          </a:p>
          <a:p>
            <a:r>
              <a:rPr lang="en-US" dirty="0">
                <a:solidFill>
                  <a:srgbClr val="061CFF"/>
                </a:solidFill>
                <a:latin typeface="Lucida Sans Typewriter" panose="020B0509030504030204" pitchFamily="49" charset="77"/>
              </a:rPr>
              <a:t>  Translate the following sentence into Hindi: ‘Chop the garlic finely’.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3299378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E2912D-A118-5079-D10E-E43439FE48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1589" y="457200"/>
            <a:ext cx="7772400" cy="1143000"/>
          </a:xfrm>
        </p:spPr>
        <p:txBody>
          <a:bodyPr/>
          <a:lstStyle/>
          <a:p>
            <a:r>
              <a:rPr lang="en-US" dirty="0"/>
              <a:t>Three stages of training in LLMs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93D05179-7BB4-A051-E78B-47E0586F770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22350" y="1828800"/>
            <a:ext cx="7370879" cy="4097260"/>
          </a:xfrm>
        </p:spPr>
      </p:pic>
    </p:spTree>
    <p:extLst>
      <p:ext uri="{BB962C8B-B14F-4D97-AF65-F5344CB8AC3E}">
        <p14:creationId xmlns:p14="http://schemas.microsoft.com/office/powerpoint/2010/main" val="281023010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88FD22D-0739-073B-9509-049B413F9E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Finetuning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0E8FDCB9-9E55-0161-E9E4-867FF12FB4A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22722" y="2396084"/>
            <a:ext cx="7543800" cy="2751632"/>
          </a:xfrm>
        </p:spPr>
      </p:pic>
    </p:spTree>
    <p:extLst>
      <p:ext uri="{BB962C8B-B14F-4D97-AF65-F5344CB8AC3E}">
        <p14:creationId xmlns:p14="http://schemas.microsoft.com/office/powerpoint/2010/main" val="296613242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93E10A-8A37-F564-2228-4E0A38F181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"Finetuning" means 4 different things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1556F0-57C3-BD56-1EE0-9184B820D8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700" dirty="0">
                <a:latin typeface="Calibri" panose="020F0502020204030204" pitchFamily="34" charset="0"/>
                <a:cs typeface="Calibri" panose="020F0502020204030204" pitchFamily="34" charset="0"/>
              </a:rPr>
              <a:t>We'll discuss 1 here, and 3 in later lectures</a:t>
            </a:r>
          </a:p>
          <a:p>
            <a:r>
              <a:rPr lang="en-US" sz="2700" dirty="0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In all four cases, finetuning means:</a:t>
            </a:r>
          </a:p>
          <a:p>
            <a:r>
              <a:rPr lang="en-US" sz="2700" dirty="0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taking a pretrained model and further adapting some or all of its parameters to some new data</a:t>
            </a:r>
          </a:p>
          <a:p>
            <a:endParaRPr lang="en-US" sz="2700" dirty="0">
              <a:solidFill>
                <a:srgbClr val="0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97637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5529A8-3BFD-DD43-B193-219D4F718E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2960" y="976952"/>
            <a:ext cx="7978140" cy="680397"/>
          </a:xfrm>
        </p:spPr>
        <p:txBody>
          <a:bodyPr>
            <a:normAutofit fontScale="90000"/>
          </a:bodyPr>
          <a:lstStyle/>
          <a:p>
            <a:r>
              <a:rPr lang="en-US" dirty="0"/>
              <a:t>1. Finetuning as "continued pretraining" on new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BCC8EB-0073-A23C-71C8-C2AD3F43C1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25830" y="2514600"/>
            <a:ext cx="7772400" cy="3124200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Further train all the parameters of model on new data</a:t>
            </a:r>
          </a:p>
          <a:p>
            <a:pPr marL="640534" lvl="1" indent="-342900">
              <a:buFont typeface="Arial" panose="020B0604020202020204" pitchFamily="34" charset="0"/>
              <a:buChar char="•"/>
            </a:pPr>
            <a:r>
              <a:rPr lang="en-US" sz="2100" dirty="0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using the same method (word prediction) and loss function (cross-entropy loss) as for pretraining.</a:t>
            </a:r>
          </a:p>
          <a:p>
            <a:pPr marL="640534" lvl="1" indent="-342900">
              <a:buFont typeface="Arial" panose="020B0604020202020204" pitchFamily="34" charset="0"/>
              <a:buChar char="•"/>
            </a:pPr>
            <a:r>
              <a:rPr lang="en-US" sz="2100" dirty="0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as if the new data were at the tail end of the pretraining data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Hence sometimes called continued pretraining</a:t>
            </a:r>
            <a:endParaRPr lang="en-US" dirty="0">
              <a:solidFill>
                <a:srgbClr val="000000"/>
              </a:solidFill>
              <a:effectLst/>
              <a:latin typeface="Monaco" pitchFamily="2" charset="77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8827057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Vision Transforme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Vision Transformer</a:t>
            </a:r>
          </a:p>
        </p:txBody>
      </p:sp>
      <p:sp>
        <p:nvSpPr>
          <p:cNvPr id="273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30</a:t>
            </a:fld>
            <a:endParaRPr/>
          </a:p>
        </p:txBody>
      </p:sp>
      <p:pic>
        <p:nvPicPr>
          <p:cNvPr id="274" name="Screenshot 2024-07-01 at 5.53.46 PM.png" descr="Screenshot 2024-07-01 at 5.53.46 P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8648" y="857250"/>
            <a:ext cx="3301054" cy="5143501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31</a:t>
            </a:fld>
            <a:endParaRPr/>
          </a:p>
        </p:txBody>
      </p:sp>
      <p:pic>
        <p:nvPicPr>
          <p:cNvPr id="277" name="Screenshot 2024-07-01 at 5.25.12 PM.png" descr="Screenshot 2024-07-01 at 5.25.12 P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8304" y="762569"/>
            <a:ext cx="6527495" cy="5143501"/>
          </a:xfrm>
          <a:prstGeom prst="rect">
            <a:avLst/>
          </a:prstGeom>
          <a:ln w="12700">
            <a:miter lim="400000"/>
          </a:ln>
        </p:spPr>
      </p:pic>
      <p:sp>
        <p:nvSpPr>
          <p:cNvPr id="278" name="Model Architecture"/>
          <p:cNvSpPr txBox="1"/>
          <p:nvPr/>
        </p:nvSpPr>
        <p:spPr>
          <a:xfrm>
            <a:off x="175379" y="2379665"/>
            <a:ext cx="8205305" cy="5457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normAutofit/>
          </a:bodyPr>
          <a:lstStyle>
            <a:lvl1pPr>
              <a:defRPr sz="2800" b="1">
                <a:solidFill>
                  <a:srgbClr val="000000"/>
                </a:solidFill>
              </a:defRPr>
            </a:lvl1pPr>
          </a:lstStyle>
          <a:p>
            <a:r>
              <a:t>Model Architecture</a:t>
            </a:r>
          </a:p>
        </p:txBody>
      </p:sp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Blank Presentation">
  <a:themeElements>
    <a:clrScheme name="Blank Presentatio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Blank Presentation">
      <a:majorFont>
        <a:latin typeface="ITC Stone Sans Std Semibold"/>
        <a:ea typeface="ＭＳ Ｐゴシック"/>
        <a:cs typeface="ＭＳ Ｐゴシック"/>
      </a:majorFont>
      <a:minorFont>
        <a:latin typeface="ITC Stone Sans Std Semibold"/>
        <a:ea typeface="ＭＳ Ｐゴシック"/>
        <a:cs typeface="ＭＳ Ｐゴシック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4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Arial" pitchFamily="-101" charset="0"/>
            <a:ea typeface="ＭＳ Ｐゴシック" pitchFamily="-112" charset="-128"/>
            <a:cs typeface="ＭＳ Ｐゴシック" pitchFamily="-112" charset="-128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4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Arial" pitchFamily="-101" charset="0"/>
            <a:ea typeface="ＭＳ Ｐゴシック" pitchFamily="-112" charset="-128"/>
            <a:cs typeface="ＭＳ Ｐゴシック" pitchFamily="-112" charset="-128"/>
          </a:defRPr>
        </a:defPPr>
      </a:lstStyle>
    </a:lnDef>
  </a:objectDefaults>
  <a:extraClrSchemeLst>
    <a:extraClrScheme>
      <a:clrScheme name="Blank Presentatio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ank Presentation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713E39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BBAFAE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ank Presentation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ank Presentation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ank Presentation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ank Presentation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ank Presentation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Override1.xml><?xml version="1.0" encoding="utf-8"?>
<a:themeOverride xmlns:a="http://schemas.openxmlformats.org/drawingml/2006/main">
  <a:clrScheme name="">
    <a:dk1>
      <a:srgbClr val="000000"/>
    </a:dk1>
    <a:lt1>
      <a:srgbClr val="CF1E21"/>
    </a:lt1>
    <a:dk2>
      <a:srgbClr val="000000"/>
    </a:dk2>
    <a:lt2>
      <a:srgbClr val="808080"/>
    </a:lt2>
    <a:accent1>
      <a:srgbClr val="BBE0E3"/>
    </a:accent1>
    <a:accent2>
      <a:srgbClr val="333399"/>
    </a:accent2>
    <a:accent3>
      <a:srgbClr val="E4ABAB"/>
    </a:accent3>
    <a:accent4>
      <a:srgbClr val="000000"/>
    </a:accent4>
    <a:accent5>
      <a:srgbClr val="DAEDEF"/>
    </a:accent5>
    <a:accent6>
      <a:srgbClr val="2D2D8A"/>
    </a:accent6>
    <a:hlink>
      <a:srgbClr val="009999"/>
    </a:hlink>
    <a:folHlink>
      <a:srgbClr val="99CC00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otalTime>773</TotalTime>
  <Words>932</Words>
  <Application>Microsoft Macintosh PowerPoint</Application>
  <PresentationFormat>On-screen Show (4:3)</PresentationFormat>
  <Paragraphs>163</Paragraphs>
  <Slides>31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31</vt:i4>
      </vt:variant>
    </vt:vector>
  </HeadingPairs>
  <TitlesOfParts>
    <vt:vector size="40" baseType="lpstr">
      <vt:lpstr>Arial</vt:lpstr>
      <vt:lpstr>Calibri</vt:lpstr>
      <vt:lpstr>Cambria Math</vt:lpstr>
      <vt:lpstr>ITC Stone Sans Std Semibold</vt:lpstr>
      <vt:lpstr>Lucida Sans Typewriter</vt:lpstr>
      <vt:lpstr>Menlo Regular</vt:lpstr>
      <vt:lpstr>Monaco</vt:lpstr>
      <vt:lpstr>Blank Presentation</vt:lpstr>
      <vt:lpstr>Office Theme</vt:lpstr>
      <vt:lpstr>PowerPoint Presentation</vt:lpstr>
      <vt:lpstr>Attention</vt:lpstr>
      <vt:lpstr>Outline </vt:lpstr>
      <vt:lpstr>Motivation</vt:lpstr>
      <vt:lpstr>Attention Layer</vt:lpstr>
      <vt:lpstr>Attention Layer</vt:lpstr>
      <vt:lpstr>Dot Product Attention</vt:lpstr>
      <vt:lpstr>PowerPoint Presentation</vt:lpstr>
      <vt:lpstr>Multilayer Perception Attention</vt:lpstr>
      <vt:lpstr>Seq2seq with Attention</vt:lpstr>
      <vt:lpstr>Model Architecture</vt:lpstr>
      <vt:lpstr>Encoder/Decoder Details</vt:lpstr>
      <vt:lpstr>Transformer</vt:lpstr>
      <vt:lpstr>Self-attention</vt:lpstr>
      <vt:lpstr>Transformer Architecture</vt:lpstr>
      <vt:lpstr>Multi-Head Attention</vt:lpstr>
      <vt:lpstr>Position-wise Feed-Forward Networks</vt:lpstr>
      <vt:lpstr>Add and Norm</vt:lpstr>
      <vt:lpstr>Positional Encoding</vt:lpstr>
      <vt:lpstr>Predicting</vt:lpstr>
      <vt:lpstr>What is a large language model?</vt:lpstr>
      <vt:lpstr>LLMs can generate! </vt:lpstr>
      <vt:lpstr>Three architectures for large language models</vt:lpstr>
      <vt:lpstr>Prompt</vt:lpstr>
      <vt:lpstr>Prompts</vt:lpstr>
      <vt:lpstr>Three stages of training in LLMs</vt:lpstr>
      <vt:lpstr>Finetuning</vt:lpstr>
      <vt:lpstr>"Finetuning" means 4 different things</vt:lpstr>
      <vt:lpstr>1. Finetuning as "continued pretraining" on new data</vt:lpstr>
      <vt:lpstr>Vision Transformer</vt:lpstr>
      <vt:lpstr>PowerPoint Presentation</vt:lpstr>
    </vt:vector>
  </TitlesOfParts>
  <Company>Foundry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Brad Manier</dc:creator>
  <cp:lastModifiedBy>Yu, Dantong</cp:lastModifiedBy>
  <cp:revision>46</cp:revision>
  <dcterms:created xsi:type="dcterms:W3CDTF">2014-02-18T17:37:52Z</dcterms:created>
  <dcterms:modified xsi:type="dcterms:W3CDTF">2026-07-03T00:07:19Z</dcterms:modified>
</cp:coreProperties>
</file>